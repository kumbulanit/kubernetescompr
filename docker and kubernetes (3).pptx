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8"/>
  </p:notesMasterIdLst>
  <p:sldIdLst>
    <p:sldId id="420" r:id="rId2"/>
    <p:sldId id="421" r:id="rId3"/>
    <p:sldId id="425" r:id="rId4"/>
    <p:sldId id="538" r:id="rId5"/>
    <p:sldId id="382" r:id="rId6"/>
    <p:sldId id="383" r:id="rId7"/>
    <p:sldId id="384" r:id="rId8"/>
    <p:sldId id="387" r:id="rId9"/>
    <p:sldId id="546" r:id="rId10"/>
    <p:sldId id="393" r:id="rId11"/>
    <p:sldId id="1397" r:id="rId12"/>
    <p:sldId id="1398" r:id="rId13"/>
    <p:sldId id="1399" r:id="rId14"/>
    <p:sldId id="1400" r:id="rId15"/>
    <p:sldId id="1401" r:id="rId16"/>
    <p:sldId id="1406" r:id="rId17"/>
    <p:sldId id="1405" r:id="rId18"/>
    <p:sldId id="1404" r:id="rId19"/>
    <p:sldId id="1403" r:id="rId20"/>
    <p:sldId id="1402" r:id="rId21"/>
    <p:sldId id="1436" r:id="rId22"/>
    <p:sldId id="1440" r:id="rId23"/>
    <p:sldId id="1441" r:id="rId24"/>
    <p:sldId id="1442" r:id="rId25"/>
    <p:sldId id="1385" r:id="rId26"/>
    <p:sldId id="1439" r:id="rId27"/>
    <p:sldId id="1472" r:id="rId28"/>
    <p:sldId id="543" r:id="rId29"/>
    <p:sldId id="263" r:id="rId30"/>
    <p:sldId id="1378" r:id="rId31"/>
    <p:sldId id="1382" r:id="rId32"/>
    <p:sldId id="1381" r:id="rId33"/>
    <p:sldId id="1380" r:id="rId34"/>
    <p:sldId id="1379" r:id="rId35"/>
    <p:sldId id="1407" r:id="rId36"/>
    <p:sldId id="1408" r:id="rId37"/>
    <p:sldId id="1383" r:id="rId38"/>
    <p:sldId id="1409" r:id="rId39"/>
    <p:sldId id="1410" r:id="rId40"/>
    <p:sldId id="1411" r:id="rId41"/>
    <p:sldId id="1471" r:id="rId42"/>
    <p:sldId id="1412" r:id="rId43"/>
    <p:sldId id="1413" r:id="rId44"/>
    <p:sldId id="1414" r:id="rId45"/>
    <p:sldId id="1386" r:id="rId46"/>
    <p:sldId id="1415" r:id="rId47"/>
    <p:sldId id="1416" r:id="rId48"/>
    <p:sldId id="1387" r:id="rId49"/>
    <p:sldId id="1388" r:id="rId50"/>
    <p:sldId id="1389" r:id="rId51"/>
    <p:sldId id="1470" r:id="rId52"/>
    <p:sldId id="265" r:id="rId53"/>
    <p:sldId id="1417" r:id="rId54"/>
    <p:sldId id="1418" r:id="rId55"/>
    <p:sldId id="1390" r:id="rId56"/>
    <p:sldId id="1391" r:id="rId57"/>
    <p:sldId id="1419" r:id="rId58"/>
    <p:sldId id="1392" r:id="rId59"/>
    <p:sldId id="1393" r:id="rId60"/>
    <p:sldId id="1396" r:id="rId61"/>
    <p:sldId id="272" r:id="rId62"/>
    <p:sldId id="1394" r:id="rId63"/>
    <p:sldId id="1395" r:id="rId64"/>
    <p:sldId id="1420" r:id="rId65"/>
    <p:sldId id="1421" r:id="rId66"/>
    <p:sldId id="1422" r:id="rId67"/>
    <p:sldId id="1423" r:id="rId68"/>
    <p:sldId id="1424" r:id="rId69"/>
    <p:sldId id="1425" r:id="rId70"/>
    <p:sldId id="1426" r:id="rId71"/>
    <p:sldId id="1427" r:id="rId72"/>
    <p:sldId id="1429" r:id="rId73"/>
    <p:sldId id="1431" r:id="rId74"/>
    <p:sldId id="1432" r:id="rId75"/>
    <p:sldId id="1433" r:id="rId76"/>
    <p:sldId id="1434" r:id="rId77"/>
    <p:sldId id="1359" r:id="rId78"/>
    <p:sldId id="1377" r:id="rId79"/>
    <p:sldId id="1443" r:id="rId80"/>
    <p:sldId id="1444" r:id="rId81"/>
    <p:sldId id="1445" r:id="rId82"/>
    <p:sldId id="1446" r:id="rId83"/>
    <p:sldId id="1447" r:id="rId84"/>
    <p:sldId id="1448" r:id="rId85"/>
    <p:sldId id="1449" r:id="rId86"/>
    <p:sldId id="1450" r:id="rId87"/>
    <p:sldId id="1451" r:id="rId88"/>
    <p:sldId id="1452" r:id="rId89"/>
    <p:sldId id="1453" r:id="rId90"/>
    <p:sldId id="1454" r:id="rId91"/>
    <p:sldId id="1455" r:id="rId92"/>
    <p:sldId id="1456" r:id="rId93"/>
    <p:sldId id="1457" r:id="rId94"/>
    <p:sldId id="1458" r:id="rId95"/>
    <p:sldId id="1459" r:id="rId96"/>
    <p:sldId id="1460" r:id="rId97"/>
    <p:sldId id="1461" r:id="rId98"/>
    <p:sldId id="1462" r:id="rId99"/>
    <p:sldId id="1463" r:id="rId100"/>
    <p:sldId id="1464" r:id="rId101"/>
    <p:sldId id="1465" r:id="rId102"/>
    <p:sldId id="1466" r:id="rId103"/>
    <p:sldId id="1467" r:id="rId104"/>
    <p:sldId id="1469" r:id="rId105"/>
    <p:sldId id="380" r:id="rId106"/>
    <p:sldId id="1324" r:id="rId1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72" autoAdjust="0"/>
    <p:restoredTop sz="94726"/>
  </p:normalViewPr>
  <p:slideViewPr>
    <p:cSldViewPr>
      <p:cViewPr varScale="1">
        <p:scale>
          <a:sx n="120" d="100"/>
          <a:sy n="120" d="100"/>
        </p:scale>
        <p:origin x="456" y="1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B9C060-8281-4163-A2BB-A3D9744B7FB5}" type="datetimeFigureOut">
              <a:rPr lang="en-US" smtClean="0"/>
              <a:pPr/>
              <a:t>8/14/26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402988-1A42-488A-8201-48C06AEBE3BF}" type="slidenum">
              <a:rPr lang="en-US" smtClean="0"/>
              <a:pPr/>
              <a:t>‹#›</a:t>
            </a:fld>
            <a:endParaRPr lang="en-US"/>
          </a:p>
        </p:txBody>
      </p:sp>
    </p:spTree>
    <p:extLst>
      <p:ext uri="{BB962C8B-B14F-4D97-AF65-F5344CB8AC3E}">
        <p14:creationId xmlns:p14="http://schemas.microsoft.com/office/powerpoint/2010/main" val="2462506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CustomShape 1"/>
          <p:cNvSpPr/>
          <p:nvPr/>
        </p:nvSpPr>
        <p:spPr>
          <a:xfrm>
            <a:off x="3881329" y="8686473"/>
            <a:ext cx="2966824" cy="447382"/>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2000"/>
              </a:lnSpc>
            </a:pPr>
            <a:fld id="{84375E44-443E-4D45-8399-C4EFE0CCFF7E}" type="slidenum">
              <a:rPr lang="en-PH" sz="1300" spc="-1">
                <a:solidFill>
                  <a:srgbClr val="000000"/>
                </a:solidFill>
                <a:latin typeface="Times New Roman"/>
                <a:ea typeface="DejaVu Sans"/>
              </a:rPr>
              <a:pPr algn="r">
                <a:lnSpc>
                  <a:spcPct val="92000"/>
                </a:lnSpc>
              </a:pPr>
              <a:t>1</a:t>
            </a:fld>
            <a:endParaRPr lang="en-US" sz="1300" spc="-1" dirty="0">
              <a:solidFill>
                <a:srgbClr val="FFFFFF"/>
              </a:solidFill>
              <a:latin typeface="Arial"/>
            </a:endParaRPr>
          </a:p>
        </p:txBody>
      </p:sp>
      <p:sp>
        <p:nvSpPr>
          <p:cNvPr id="110" name="CustomShape 2"/>
          <p:cNvSpPr/>
          <p:nvPr/>
        </p:nvSpPr>
        <p:spPr>
          <a:xfrm>
            <a:off x="686435" y="4342582"/>
            <a:ext cx="5486718" cy="4114473"/>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sp>
      <p:sp>
        <p:nvSpPr>
          <p:cNvPr id="2" name="Notes Placeholder 1"/>
          <p:cNvSpPr>
            <a:spLocks noGrp="1"/>
          </p:cNvSpPr>
          <p:nvPr>
            <p:ph type="body" idx="1"/>
          </p:nvPr>
        </p:nvSpPr>
        <p:spPr/>
        <p:txBody>
          <a:bodyPr/>
          <a:lstStyle/>
          <a:p>
            <a:r>
              <a:rPr lang="en-US" dirty="0"/>
              <a:t>Good morning. Welcome to your training on Advanced Selenium Automation</a:t>
            </a:r>
            <a:r>
              <a:rPr lang="en-US" baseline="0" dirty="0"/>
              <a:t>, delivered by </a:t>
            </a:r>
            <a:r>
              <a:rPr lang="en-US" baseline="0" dirty="0" err="1"/>
              <a:t>NobleProg</a:t>
            </a:r>
            <a:endParaRPr lang="en-US" baseline="0" dirty="0"/>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NobleProg</a:t>
            </a:r>
            <a:r>
              <a:rPr lang="en-US" dirty="0"/>
              <a:t> has been</a:t>
            </a:r>
            <a:r>
              <a:rPr lang="en-US" baseline="0" dirty="0"/>
              <a:t> in training and consultancy for more than 12 years, with offices across 13 countries and over 500 trainers in different fields of expertise. We have served more than 5000 companies with over 46,000 satisfied delegates</a:t>
            </a:r>
            <a:endParaRPr lang="en-US" dirty="0"/>
          </a:p>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stomShape 1"/>
          <p:cNvSpPr/>
          <p:nvPr/>
        </p:nvSpPr>
        <p:spPr>
          <a:xfrm>
            <a:off x="3881329" y="8686473"/>
            <a:ext cx="2966824" cy="447382"/>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92000"/>
              </a:lnSpc>
            </a:pPr>
            <a:fld id="{2F52A1C2-3F01-425F-BCAE-2938919C5833}" type="slidenum">
              <a:rPr lang="en-PH" sz="1300" spc="-1">
                <a:solidFill>
                  <a:srgbClr val="000000"/>
                </a:solidFill>
                <a:latin typeface="Times New Roman"/>
                <a:ea typeface="DejaVu Sans"/>
              </a:rPr>
              <a:pPr algn="r">
                <a:lnSpc>
                  <a:spcPct val="92000"/>
                </a:lnSpc>
              </a:pPr>
              <a:t>2</a:t>
            </a:fld>
            <a:endParaRPr lang="en-US" sz="1300" spc="-1">
              <a:solidFill>
                <a:srgbClr val="FFFFFF"/>
              </a:solidFill>
              <a:latin typeface="Arial"/>
            </a:endParaRPr>
          </a:p>
        </p:txBody>
      </p:sp>
      <p:sp>
        <p:nvSpPr>
          <p:cNvPr id="112" name="CustomShape 2"/>
          <p:cNvSpPr/>
          <p:nvPr/>
        </p:nvSpPr>
        <p:spPr>
          <a:xfrm>
            <a:off x="686435" y="4342582"/>
            <a:ext cx="5486718" cy="4114473"/>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sp>
      <p:sp>
        <p:nvSpPr>
          <p:cNvPr id="2" name="Notes Placeholder 1"/>
          <p:cNvSpPr>
            <a:spLocks noGrp="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402988-1A42-488A-8201-48C06AEBE3BF}" type="slidenum">
              <a:rPr lang="en-US" smtClean="0"/>
              <a:pPr/>
              <a:t>71</a:t>
            </a:fld>
            <a:endParaRPr lang="en-US"/>
          </a:p>
        </p:txBody>
      </p:sp>
    </p:spTree>
    <p:extLst>
      <p:ext uri="{BB962C8B-B14F-4D97-AF65-F5344CB8AC3E}">
        <p14:creationId xmlns:p14="http://schemas.microsoft.com/office/powerpoint/2010/main" val="4188653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ZA" dirty="0"/>
          </a:p>
        </p:txBody>
      </p:sp>
      <p:sp>
        <p:nvSpPr>
          <p:cNvPr id="4" name="Slide Number Placeholder 3"/>
          <p:cNvSpPr>
            <a:spLocks noGrp="1"/>
          </p:cNvSpPr>
          <p:nvPr>
            <p:ph type="sldNum" sz="quarter" idx="10"/>
          </p:nvPr>
        </p:nvSpPr>
        <p:spPr/>
        <p:txBody>
          <a:bodyPr/>
          <a:lstStyle/>
          <a:p>
            <a:fld id="{B768BAE3-13C8-4A20-B43B-66FF552C44B6}" type="slidenum">
              <a:rPr lang="en-ZA" smtClean="0"/>
              <a:t>106</a:t>
            </a:fld>
            <a:endParaRPr lang="en-ZA" dirty="0"/>
          </a:p>
        </p:txBody>
      </p:sp>
    </p:spTree>
    <p:extLst>
      <p:ext uri="{BB962C8B-B14F-4D97-AF65-F5344CB8AC3E}">
        <p14:creationId xmlns:p14="http://schemas.microsoft.com/office/powerpoint/2010/main" val="11750814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bg>
      <p:bgPr>
        <a:blipFill dpi="0" rotWithShape="1">
          <a:blip r:embed="rId2" cstate="print">
            <a:alphaModFix amt="2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solidFill>
                  <a:srgbClr val="006EBE"/>
                </a:solidFill>
                <a:latin typeface="Raleway-v4020 Thin" pitchFamily="50" charset="-18"/>
              </a:defRPr>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414141"/>
                </a:solidFill>
                <a:latin typeface="Raleway-v4020 Black" pitchFamily="50"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TextBox 7"/>
          <p:cNvSpPr txBox="1"/>
          <p:nvPr userDrawn="1"/>
        </p:nvSpPr>
        <p:spPr>
          <a:xfrm>
            <a:off x="479376" y="332656"/>
            <a:ext cx="2733441" cy="830997"/>
          </a:xfrm>
          <a:prstGeom prst="rect">
            <a:avLst/>
          </a:prstGeom>
          <a:noFill/>
        </p:spPr>
        <p:txBody>
          <a:bodyPr wrap="none" rtlCol="0">
            <a:spAutoFit/>
          </a:bodyPr>
          <a:lstStyle/>
          <a:p>
            <a:r>
              <a:rPr lang="en-US" sz="4800" b="1" i="1" dirty="0" err="1">
                <a:solidFill>
                  <a:srgbClr val="006EBE"/>
                </a:solidFill>
                <a:latin typeface="Arial Narrow" panose="020B0606020202030204" pitchFamily="34" charset="0"/>
              </a:rPr>
              <a:t>NobleProg</a:t>
            </a:r>
            <a:endParaRPr lang="en-GB" sz="48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3862791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006EBE"/>
                </a:solidFill>
                <a:latin typeface="Raleway-v4020 Thin" pitchFamily="50" charset="-18"/>
              </a:defRPr>
            </a:lvl1pPr>
          </a:lstStyle>
          <a:p>
            <a:r>
              <a:rPr lang="en-US"/>
              <a:t>Click to edit Master title style</a:t>
            </a:r>
            <a:endParaRPr lang="en-GB" dirty="0"/>
          </a:p>
        </p:txBody>
      </p:sp>
      <p:sp>
        <p:nvSpPr>
          <p:cNvPr id="3" name="Content Placeholder 2"/>
          <p:cNvSpPr>
            <a:spLocks noGrp="1"/>
          </p:cNvSpPr>
          <p:nvPr>
            <p:ph idx="1"/>
          </p:nvPr>
        </p:nvSpPr>
        <p:spPr/>
        <p:txBody>
          <a:bodyPr/>
          <a:lstStyle>
            <a:lvl1pPr>
              <a:defRPr>
                <a:solidFill>
                  <a:srgbClr val="414141"/>
                </a:solidFill>
                <a:latin typeface="Raleway-v4020" pitchFamily="50" charset="-18"/>
              </a:defRPr>
            </a:lvl1pPr>
            <a:lvl2pPr>
              <a:defRPr>
                <a:solidFill>
                  <a:srgbClr val="414141"/>
                </a:solidFill>
                <a:latin typeface="Raleway-v4020" pitchFamily="50" charset="-18"/>
              </a:defRPr>
            </a:lvl2pPr>
            <a:lvl3pPr>
              <a:defRPr>
                <a:solidFill>
                  <a:srgbClr val="414141"/>
                </a:solidFill>
                <a:latin typeface="Raleway-v4020" pitchFamily="50" charset="-18"/>
              </a:defRPr>
            </a:lvl3pPr>
            <a:lvl4pPr>
              <a:defRPr>
                <a:solidFill>
                  <a:srgbClr val="414141"/>
                </a:solidFill>
                <a:latin typeface="Raleway-v4020" pitchFamily="50" charset="-18"/>
              </a:defRPr>
            </a:lvl4pPr>
            <a:lvl5pPr>
              <a:defRPr>
                <a:solidFill>
                  <a:srgbClr val="414141"/>
                </a:solidFill>
                <a:latin typeface="Raleway-v4020" pitchFamily="50" charset="-1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DD7D84E-0E76-444F-8C2F-83F1D9BD0C6E}" type="slidenum">
              <a:rPr lang="en-GB" smtClean="0"/>
              <a:pPr/>
              <a:t>‹#›</a:t>
            </a:fld>
            <a:endParaRPr lang="en-GB"/>
          </a:p>
        </p:txBody>
      </p:sp>
      <p:sp>
        <p:nvSpPr>
          <p:cNvPr id="7"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3091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62262"/>
          </a:xfrm>
        </p:spPr>
        <p:txBody>
          <a:bodyPr anchor="b"/>
          <a:lstStyle>
            <a:lvl1pPr>
              <a:defRPr sz="6000">
                <a:solidFill>
                  <a:srgbClr val="006EBE"/>
                </a:solidFill>
                <a:latin typeface="Raleway-v4020 Thin" pitchFamily="50" charset="-18"/>
              </a:defRPr>
            </a:lvl1pPr>
          </a:lstStyle>
          <a:p>
            <a:r>
              <a:rPr lang="en-US"/>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rgbClr val="414141"/>
                </a:solidFill>
                <a:latin typeface="Raleway-v4020 Black" pitchFamily="50" charset="-18"/>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DD7D84E-0E76-444F-8C2F-83F1D9BD0C6E}" type="slidenum">
              <a:rPr lang="en-GB" smtClean="0"/>
              <a:pPr/>
              <a:t>‹#›</a:t>
            </a:fld>
            <a:endParaRPr lang="en-GB"/>
          </a:p>
        </p:txBody>
      </p:sp>
      <p:sp>
        <p:nvSpPr>
          <p:cNvPr id="8"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275556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EBE"/>
                </a:solidFill>
                <a:latin typeface="Raleway-v4020 Thin" pitchFamily="50" charset="-18"/>
              </a:defRPr>
            </a:lvl1p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lvl1pPr>
              <a:defRPr sz="2800">
                <a:solidFill>
                  <a:srgbClr val="414141"/>
                </a:solidFill>
                <a:latin typeface="Raleway-v4020" pitchFamily="50" charset="-18"/>
              </a:defRPr>
            </a:lvl1pPr>
            <a:lvl2pPr>
              <a:defRPr sz="2400">
                <a:solidFill>
                  <a:srgbClr val="414141"/>
                </a:solidFill>
                <a:latin typeface="Raleway-v4020" pitchFamily="50" charset="-18"/>
              </a:defRPr>
            </a:lvl2pPr>
            <a:lvl3pPr>
              <a:defRPr sz="2000">
                <a:solidFill>
                  <a:srgbClr val="414141"/>
                </a:solidFill>
                <a:latin typeface="Raleway-v4020" pitchFamily="50" charset="-18"/>
              </a:defRPr>
            </a:lvl3pPr>
            <a:lvl4pPr>
              <a:defRPr sz="1800">
                <a:solidFill>
                  <a:srgbClr val="414141"/>
                </a:solidFill>
                <a:latin typeface="Raleway-v4020" pitchFamily="50" charset="-18"/>
              </a:defRPr>
            </a:lvl4pPr>
            <a:lvl5pPr>
              <a:defRPr sz="1800">
                <a:solidFill>
                  <a:srgbClr val="414141"/>
                </a:solidFill>
                <a:latin typeface="Raleway-v4020" pitchFamily="50" charset="-18"/>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lvl1pPr>
              <a:defRPr sz="2800">
                <a:solidFill>
                  <a:srgbClr val="414141"/>
                </a:solidFill>
                <a:latin typeface="Raleway-v4020" pitchFamily="50" charset="-18"/>
              </a:defRPr>
            </a:lvl1pPr>
            <a:lvl2pPr>
              <a:defRPr sz="2400">
                <a:solidFill>
                  <a:srgbClr val="414141"/>
                </a:solidFill>
                <a:latin typeface="Raleway-v4020" pitchFamily="50" charset="-18"/>
              </a:defRPr>
            </a:lvl2pPr>
            <a:lvl3pPr>
              <a:defRPr sz="2000">
                <a:solidFill>
                  <a:srgbClr val="414141"/>
                </a:solidFill>
                <a:latin typeface="Raleway-v4020" pitchFamily="50" charset="-18"/>
              </a:defRPr>
            </a:lvl3pPr>
            <a:lvl4pPr>
              <a:defRPr sz="1800">
                <a:solidFill>
                  <a:srgbClr val="414141"/>
                </a:solidFill>
                <a:latin typeface="Raleway-v4020" pitchFamily="50" charset="-18"/>
              </a:defRPr>
            </a:lvl4pPr>
            <a:lvl5pPr>
              <a:defRPr sz="1800">
                <a:solidFill>
                  <a:srgbClr val="414141"/>
                </a:solidFill>
                <a:latin typeface="Raleway-v4020" pitchFamily="50" charset="-18"/>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DD7D84E-0E76-444F-8C2F-83F1D9BD0C6E}" type="slidenum">
              <a:rPr lang="en-GB" smtClean="0"/>
              <a:pPr/>
              <a:t>‹#›</a:t>
            </a:fld>
            <a:endParaRPr lang="en-GB"/>
          </a:p>
        </p:txBody>
      </p:sp>
      <p:sp>
        <p:nvSpPr>
          <p:cNvPr id="9"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289537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831850" y="274638"/>
            <a:ext cx="10515600" cy="1143000"/>
          </a:xfrm>
        </p:spPr>
        <p:txBody>
          <a:bodyPr/>
          <a:lstStyle>
            <a:lvl1pPr>
              <a:defRPr>
                <a:solidFill>
                  <a:srgbClr val="006EBE"/>
                </a:solidFill>
                <a:latin typeface="Raleway-v4020 Thin" pitchFamily="50" charset="-18"/>
              </a:defRPr>
            </a:lvl1pPr>
          </a:lstStyle>
          <a:p>
            <a:r>
              <a:rPr lang="en-US"/>
              <a:t>Click to edit Master title style</a:t>
            </a:r>
            <a:endParaRPr lang="en-GB" dirty="0"/>
          </a:p>
        </p:txBody>
      </p:sp>
      <p:sp>
        <p:nvSpPr>
          <p:cNvPr id="3" name="Text Placeholder 2"/>
          <p:cNvSpPr>
            <a:spLocks noGrp="1"/>
          </p:cNvSpPr>
          <p:nvPr>
            <p:ph type="body" idx="1"/>
          </p:nvPr>
        </p:nvSpPr>
        <p:spPr>
          <a:xfrm>
            <a:off x="831850" y="1489075"/>
            <a:ext cx="5156200" cy="641350"/>
          </a:xfrm>
        </p:spPr>
        <p:txBody>
          <a:bodyPr anchor="b"/>
          <a:lstStyle>
            <a:lvl1pPr marL="0" indent="0">
              <a:buNone/>
              <a:defRPr sz="2400" b="1">
                <a:solidFill>
                  <a:srgbClr val="414141"/>
                </a:solidFill>
                <a:latin typeface="Raleway-v4020 Black" pitchFamily="50" charset="-1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0" y="2193925"/>
            <a:ext cx="5156200" cy="3978275"/>
          </a:xfrm>
        </p:spPr>
        <p:txBody>
          <a:bodyPr/>
          <a:lstStyle>
            <a:lvl1pPr>
              <a:defRPr sz="2400">
                <a:solidFill>
                  <a:srgbClr val="414141"/>
                </a:solidFill>
                <a:latin typeface="Raleway-v4020" pitchFamily="50" charset="-18"/>
              </a:defRPr>
            </a:lvl1pPr>
            <a:lvl2pPr>
              <a:defRPr sz="2000">
                <a:solidFill>
                  <a:srgbClr val="414141"/>
                </a:solidFill>
                <a:latin typeface="Raleway-v4020" pitchFamily="50" charset="-18"/>
              </a:defRPr>
            </a:lvl2pPr>
            <a:lvl3pPr>
              <a:defRPr sz="1800">
                <a:solidFill>
                  <a:srgbClr val="414141"/>
                </a:solidFill>
                <a:latin typeface="Raleway-v4020" pitchFamily="50" charset="-18"/>
              </a:defRPr>
            </a:lvl3pPr>
            <a:lvl4pPr>
              <a:defRPr sz="1600">
                <a:solidFill>
                  <a:srgbClr val="414141"/>
                </a:solidFill>
                <a:latin typeface="Raleway-v4020" pitchFamily="50" charset="-18"/>
              </a:defRPr>
            </a:lvl4pPr>
            <a:lvl5pPr>
              <a:defRPr sz="1600">
                <a:solidFill>
                  <a:srgbClr val="414141"/>
                </a:solidFill>
                <a:latin typeface="Raleway-v4020" pitchFamily="50" charset="-18"/>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89663" y="1489075"/>
            <a:ext cx="5157787" cy="641350"/>
          </a:xfrm>
        </p:spPr>
        <p:txBody>
          <a:bodyPr anchor="b"/>
          <a:lstStyle>
            <a:lvl1pPr marL="0" indent="0">
              <a:buNone/>
              <a:defRPr sz="2400" b="1">
                <a:solidFill>
                  <a:srgbClr val="414141"/>
                </a:solidFill>
                <a:latin typeface="Raleway-v4020 Black" pitchFamily="50" charset="-1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3" y="2193925"/>
            <a:ext cx="5157787" cy="3978275"/>
          </a:xfrm>
        </p:spPr>
        <p:txBody>
          <a:bodyPr/>
          <a:lstStyle>
            <a:lvl1pPr>
              <a:defRPr sz="2400">
                <a:solidFill>
                  <a:srgbClr val="414141"/>
                </a:solidFill>
                <a:latin typeface="Raleway-v4020" pitchFamily="50" charset="-18"/>
              </a:defRPr>
            </a:lvl1pPr>
            <a:lvl2pPr>
              <a:defRPr sz="2000">
                <a:solidFill>
                  <a:srgbClr val="414141"/>
                </a:solidFill>
                <a:latin typeface="Raleway-v4020" pitchFamily="50" charset="-18"/>
              </a:defRPr>
            </a:lvl2pPr>
            <a:lvl3pPr>
              <a:defRPr sz="1800">
                <a:solidFill>
                  <a:srgbClr val="414141"/>
                </a:solidFill>
                <a:latin typeface="Raleway-v4020" pitchFamily="50" charset="-18"/>
              </a:defRPr>
            </a:lvl3pPr>
            <a:lvl4pPr>
              <a:defRPr sz="1600">
                <a:solidFill>
                  <a:srgbClr val="414141"/>
                </a:solidFill>
                <a:latin typeface="Raleway-v4020" pitchFamily="50" charset="-18"/>
              </a:defRPr>
            </a:lvl4pPr>
            <a:lvl5pPr>
              <a:defRPr sz="1600">
                <a:solidFill>
                  <a:srgbClr val="414141"/>
                </a:solidFill>
                <a:latin typeface="Raleway-v4020" pitchFamily="50" charset="-18"/>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DD7D84E-0E76-444F-8C2F-83F1D9BD0C6E}" type="slidenum">
              <a:rPr lang="en-GB" smtClean="0"/>
              <a:pPr/>
              <a:t>‹#›</a:t>
            </a:fld>
            <a:endParaRPr lang="en-GB"/>
          </a:p>
        </p:txBody>
      </p:sp>
      <p:sp>
        <p:nvSpPr>
          <p:cNvPr id="11"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4244238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EBE"/>
                </a:solidFill>
                <a:latin typeface="Raleway-v4020 Thin" pitchFamily="50" charset="-18"/>
              </a:defRPr>
            </a:lvl1pPr>
          </a:lstStyle>
          <a:p>
            <a:r>
              <a:rPr lang="en-US"/>
              <a:t>Click to edit Master title style</a:t>
            </a:r>
            <a:endParaRPr lang="en-GB" dirty="0"/>
          </a:p>
        </p:txBody>
      </p:sp>
      <p:sp>
        <p:nvSpPr>
          <p:cNvPr id="3" name="Date Placeholder 2"/>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DD7D84E-0E76-444F-8C2F-83F1D9BD0C6E}" type="slidenum">
              <a:rPr lang="en-GB" smtClean="0"/>
              <a:pPr/>
              <a:t>‹#›</a:t>
            </a:fld>
            <a:endParaRPr lang="en-GB"/>
          </a:p>
        </p:txBody>
      </p:sp>
      <p:sp>
        <p:nvSpPr>
          <p:cNvPr id="7"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267509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DD7D84E-0E76-444F-8C2F-83F1D9BD0C6E}" type="slidenum">
              <a:rPr lang="en-GB" smtClean="0"/>
              <a:pPr/>
              <a:t>‹#›</a:t>
            </a:fld>
            <a:endParaRPr lang="en-GB"/>
          </a:p>
        </p:txBody>
      </p:sp>
      <p:sp>
        <p:nvSpPr>
          <p:cNvPr id="6"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909663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6EBE"/>
                </a:solidFill>
                <a:latin typeface="Raleway-v4020 Thin" pitchFamily="50" charset="-18"/>
              </a:defRPr>
            </a:lvl1pPr>
          </a:lstStyle>
          <a:p>
            <a:r>
              <a:rPr lang="en-US"/>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solidFill>
                  <a:srgbClr val="414141"/>
                </a:solidFill>
                <a:latin typeface="Raleway-v4020" pitchFamily="50" charset="-18"/>
              </a:defRPr>
            </a:lvl1pPr>
            <a:lvl2pPr>
              <a:defRPr sz="2800">
                <a:solidFill>
                  <a:srgbClr val="414141"/>
                </a:solidFill>
                <a:latin typeface="Raleway-v4020" pitchFamily="50" charset="-18"/>
              </a:defRPr>
            </a:lvl2pPr>
            <a:lvl3pPr>
              <a:defRPr sz="2400">
                <a:solidFill>
                  <a:srgbClr val="414141"/>
                </a:solidFill>
                <a:latin typeface="Raleway-v4020" pitchFamily="50" charset="-18"/>
              </a:defRPr>
            </a:lvl3pPr>
            <a:lvl4pPr>
              <a:defRPr sz="2000">
                <a:solidFill>
                  <a:srgbClr val="414141"/>
                </a:solidFill>
                <a:latin typeface="Raleway-v4020" pitchFamily="50" charset="-18"/>
              </a:defRPr>
            </a:lvl4pPr>
            <a:lvl5pPr>
              <a:defRPr sz="2000">
                <a:solidFill>
                  <a:srgbClr val="414141"/>
                </a:solidFill>
                <a:latin typeface="Raleway-v4020" pitchFamily="50" charset="-18"/>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solidFill>
                  <a:srgbClr val="414141"/>
                </a:solidFill>
                <a:latin typeface="Raleway-v4020" pitchFamily="50" charset="-1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DD7D84E-0E76-444F-8C2F-83F1D9BD0C6E}" type="slidenum">
              <a:rPr lang="en-GB" smtClean="0"/>
              <a:pPr/>
              <a:t>‹#›</a:t>
            </a:fld>
            <a:endParaRPr lang="en-GB"/>
          </a:p>
        </p:txBody>
      </p:sp>
      <p:sp>
        <p:nvSpPr>
          <p:cNvPr id="9"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3440333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6EBE"/>
                </a:solidFill>
                <a:latin typeface="Raleway-v4020 Thin" pitchFamily="50" charset="-18"/>
              </a:defRPr>
            </a:lvl1pPr>
          </a:lstStyle>
          <a:p>
            <a:r>
              <a:rPr lang="en-US"/>
              <a:t>Click to edit Master title style</a:t>
            </a:r>
            <a:endParaRPr lang="en-GB"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atin typeface="Raleway-v4020" pitchFamily="50" charset="-1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solidFill>
                  <a:srgbClr val="414141"/>
                </a:solidFill>
                <a:latin typeface="Trebuchet MS" panose="020B0603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DD7D84E-0E76-444F-8C2F-83F1D9BD0C6E}" type="slidenum">
              <a:rPr lang="en-GB" smtClean="0"/>
              <a:pPr/>
              <a:t>‹#›</a:t>
            </a:fld>
            <a:endParaRPr lang="en-GB"/>
          </a:p>
        </p:txBody>
      </p:sp>
      <p:sp>
        <p:nvSpPr>
          <p:cNvPr id="9"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800570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Raleway-v4020 Thin" pitchFamily="50" charset="-18"/>
              </a:defRPr>
            </a:lvl1pPr>
          </a:lstStyle>
          <a:p>
            <a:r>
              <a:rPr lang="en-US"/>
              <a:t>Click to edit Master title style</a:t>
            </a:r>
            <a:endParaRPr lang="en-GB" dirty="0"/>
          </a:p>
        </p:txBody>
      </p:sp>
      <p:sp>
        <p:nvSpPr>
          <p:cNvPr id="3" name="Vertical Text Placeholder 2"/>
          <p:cNvSpPr>
            <a:spLocks noGrp="1"/>
          </p:cNvSpPr>
          <p:nvPr>
            <p:ph type="body" orient="vert" idx="1"/>
          </p:nvPr>
        </p:nvSpPr>
        <p:spPr/>
        <p:txBody>
          <a:bodyPr vert="eaVert"/>
          <a:lstStyle>
            <a:lvl1pPr>
              <a:defRPr>
                <a:solidFill>
                  <a:srgbClr val="414141"/>
                </a:solidFill>
                <a:latin typeface="Raleway-v4020" pitchFamily="50" charset="-18"/>
              </a:defRPr>
            </a:lvl1pPr>
            <a:lvl2pPr>
              <a:defRPr>
                <a:solidFill>
                  <a:srgbClr val="414141"/>
                </a:solidFill>
                <a:latin typeface="Raleway-v4020" pitchFamily="50" charset="-18"/>
              </a:defRPr>
            </a:lvl2pPr>
            <a:lvl3pPr>
              <a:defRPr>
                <a:solidFill>
                  <a:srgbClr val="414141"/>
                </a:solidFill>
                <a:latin typeface="Raleway-v4020" pitchFamily="50" charset="-18"/>
              </a:defRPr>
            </a:lvl3pPr>
            <a:lvl4pPr>
              <a:defRPr>
                <a:solidFill>
                  <a:srgbClr val="414141"/>
                </a:solidFill>
                <a:latin typeface="Raleway-v4020" pitchFamily="50" charset="-18"/>
              </a:defRPr>
            </a:lvl4pPr>
            <a:lvl5pPr>
              <a:defRPr>
                <a:solidFill>
                  <a:srgbClr val="414141"/>
                </a:solidFill>
                <a:latin typeface="Raleway-v4020" pitchFamily="50" charset="-1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DD7D84E-0E76-444F-8C2F-83F1D9BD0C6E}" type="slidenum">
              <a:rPr lang="en-GB" smtClean="0"/>
              <a:pPr/>
              <a:t>‹#›</a:t>
            </a:fld>
            <a:endParaRPr lang="en-GB"/>
          </a:p>
        </p:txBody>
      </p:sp>
      <p:sp>
        <p:nvSpPr>
          <p:cNvPr id="8"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2537471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latin typeface="Raleway-v4020 Thin" pitchFamily="50" charset="-18"/>
              </a:defRPr>
            </a:lvl1pPr>
          </a:lstStyle>
          <a:p>
            <a:r>
              <a:rPr lang="en-US"/>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atin typeface="Raleway-v4020" pitchFamily="50" charset="-18"/>
              </a:defRPr>
            </a:lvl1pPr>
            <a:lvl2pPr>
              <a:defRPr>
                <a:latin typeface="Raleway-v4020" pitchFamily="50" charset="-18"/>
              </a:defRPr>
            </a:lvl2pPr>
            <a:lvl3pPr>
              <a:defRPr>
                <a:latin typeface="Raleway-v4020" pitchFamily="50" charset="-18"/>
              </a:defRPr>
            </a:lvl3pPr>
            <a:lvl4pPr>
              <a:defRPr>
                <a:latin typeface="Raleway-v4020" pitchFamily="50" charset="-18"/>
              </a:defRPr>
            </a:lvl4pPr>
            <a:lvl5pPr>
              <a:defRPr>
                <a:latin typeface="Raleway-v4020" pitchFamily="50" charset="-1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BF669CD5-EC14-4DE5-86A6-D9133CD12038}" type="datetimeFigureOut">
              <a:rPr lang="en-GB" smtClean="0"/>
              <a:pPr/>
              <a:t>14/08/2026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DD7D84E-0E76-444F-8C2F-83F1D9BD0C6E}" type="slidenum">
              <a:rPr lang="en-GB" smtClean="0"/>
              <a:pPr/>
              <a:t>‹#›</a:t>
            </a:fld>
            <a:endParaRPr lang="en-GB"/>
          </a:p>
        </p:txBody>
      </p:sp>
      <p:sp>
        <p:nvSpPr>
          <p:cNvPr id="8" name="TextBox 7"/>
          <p:cNvSpPr txBox="1"/>
          <p:nvPr userDrawn="1"/>
        </p:nvSpPr>
        <p:spPr>
          <a:xfrm>
            <a:off x="9539139" y="6156593"/>
            <a:ext cx="1885453" cy="584775"/>
          </a:xfrm>
          <a:prstGeom prst="rect">
            <a:avLst/>
          </a:prstGeom>
          <a:noFill/>
        </p:spPr>
        <p:txBody>
          <a:bodyPr wrap="none" rtlCol="0">
            <a:spAutoFit/>
          </a:bodyPr>
          <a:lstStyle/>
          <a:p>
            <a:r>
              <a:rPr lang="en-US" sz="3200" b="1" i="1" dirty="0" err="1">
                <a:solidFill>
                  <a:srgbClr val="006EBE"/>
                </a:solidFill>
                <a:latin typeface="Arial Narrow" panose="020B0606020202030204" pitchFamily="34" charset="0"/>
              </a:rPr>
              <a:t>NobleProg</a:t>
            </a:r>
            <a:endParaRPr lang="en-GB" sz="3200" b="1" i="1" dirty="0">
              <a:solidFill>
                <a:srgbClr val="006EBE"/>
              </a:solidFill>
              <a:latin typeface="Arial Narrow" panose="020B0606020202030204" pitchFamily="34" charset="0"/>
            </a:endParaRPr>
          </a:p>
        </p:txBody>
      </p:sp>
    </p:spTree>
    <p:extLst>
      <p:ext uri="{BB962C8B-B14F-4D97-AF65-F5344CB8AC3E}">
        <p14:creationId xmlns:p14="http://schemas.microsoft.com/office/powerpoint/2010/main" val="4089747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2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dirty="0"/>
              <a:t>Kliknij, aby edytować styl</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dirty="0"/>
              <a:t>Kliknij, aby edytować style wzorca tekstu</a:t>
            </a:r>
          </a:p>
          <a:p>
            <a:pPr lvl="1"/>
            <a:r>
              <a:rPr lang="pl-PL" dirty="0"/>
              <a:t>Drugi poziom</a:t>
            </a:r>
          </a:p>
          <a:p>
            <a:pPr lvl="2"/>
            <a:r>
              <a:rPr lang="pl-PL" dirty="0"/>
              <a:t>Trzeci poziom</a:t>
            </a:r>
          </a:p>
          <a:p>
            <a:pPr lvl="3"/>
            <a:r>
              <a:rPr lang="pl-PL" dirty="0"/>
              <a:t>Czwarty poziom</a:t>
            </a:r>
          </a:p>
          <a:p>
            <a:pPr lvl="4"/>
            <a:r>
              <a:rPr lang="pl-PL" dirty="0"/>
              <a:t>Piąty poziom</a:t>
            </a:r>
            <a:endParaRPr lang="en-GB" dirty="0"/>
          </a:p>
        </p:txBody>
      </p:sp>
      <p:sp>
        <p:nvSpPr>
          <p:cNvPr id="4" name="Date Placeholder 3"/>
          <p:cNvSpPr>
            <a:spLocks noGrp="1"/>
          </p:cNvSpPr>
          <p:nvPr>
            <p:ph type="dt" sz="half" idx="2"/>
          </p:nvPr>
        </p:nvSpPr>
        <p:spPr>
          <a:xfrm>
            <a:off x="911424" y="6356350"/>
            <a:ext cx="922867" cy="365125"/>
          </a:xfrm>
          <a:prstGeom prst="rect">
            <a:avLst/>
          </a:prstGeom>
        </p:spPr>
        <p:txBody>
          <a:bodyPr vert="horz" lIns="91440" tIns="45720" rIns="91440" bIns="45720" rtlCol="0" anchor="ctr"/>
          <a:lstStyle>
            <a:lvl1pPr algn="l">
              <a:defRPr sz="900">
                <a:solidFill>
                  <a:srgbClr val="414141"/>
                </a:solidFill>
                <a:latin typeface="Raleway-v4020" pitchFamily="50" charset="-18"/>
              </a:defRPr>
            </a:lvl1pPr>
          </a:lstStyle>
          <a:p>
            <a:fld id="{BF669CD5-EC14-4DE5-86A6-D9133CD12038}" type="datetimeFigureOut">
              <a:rPr lang="en-GB" smtClean="0"/>
              <a:pPr/>
              <a:t>14/08/2026</a:t>
            </a:fld>
            <a:endParaRPr lang="en-GB" dirty="0"/>
          </a:p>
        </p:txBody>
      </p:sp>
      <p:sp>
        <p:nvSpPr>
          <p:cNvPr id="5" name="Footer Placeholder 4"/>
          <p:cNvSpPr>
            <a:spLocks noGrp="1"/>
          </p:cNvSpPr>
          <p:nvPr>
            <p:ph type="ftr" sz="quarter" idx="3"/>
          </p:nvPr>
        </p:nvSpPr>
        <p:spPr>
          <a:xfrm>
            <a:off x="1915242" y="6356350"/>
            <a:ext cx="2895600" cy="365125"/>
          </a:xfrm>
          <a:prstGeom prst="rect">
            <a:avLst/>
          </a:prstGeom>
        </p:spPr>
        <p:txBody>
          <a:bodyPr vert="horz" lIns="91440" tIns="45720" rIns="91440" bIns="45720" rtlCol="0" anchor="ctr"/>
          <a:lstStyle>
            <a:lvl1pPr algn="ctr">
              <a:defRPr sz="900">
                <a:solidFill>
                  <a:srgbClr val="414141"/>
                </a:solidFill>
                <a:latin typeface="Raleway-v4020" pitchFamily="50" charset="-18"/>
              </a:defRPr>
            </a:lvl1pPr>
          </a:lstStyle>
          <a:p>
            <a:r>
              <a:rPr lang="en-US" dirty="0"/>
              <a:t>Footer</a:t>
            </a:r>
            <a:endParaRPr lang="en-GB" dirty="0"/>
          </a:p>
        </p:txBody>
      </p:sp>
      <p:sp>
        <p:nvSpPr>
          <p:cNvPr id="6" name="Slide Number Placeholder 5"/>
          <p:cNvSpPr>
            <a:spLocks noGrp="1"/>
          </p:cNvSpPr>
          <p:nvPr>
            <p:ph type="sldNum" sz="quarter" idx="4"/>
          </p:nvPr>
        </p:nvSpPr>
        <p:spPr>
          <a:xfrm>
            <a:off x="261431" y="6356350"/>
            <a:ext cx="577985" cy="365125"/>
          </a:xfrm>
          <a:prstGeom prst="rect">
            <a:avLst/>
          </a:prstGeom>
        </p:spPr>
        <p:txBody>
          <a:bodyPr vert="horz" lIns="91440" tIns="45720" rIns="91440" bIns="45720" rtlCol="0" anchor="ctr"/>
          <a:lstStyle>
            <a:lvl1pPr algn="r">
              <a:defRPr sz="1400">
                <a:solidFill>
                  <a:srgbClr val="006EBE"/>
                </a:solidFill>
                <a:latin typeface="Raleway-v4020" pitchFamily="50" charset="-18"/>
                <a:ea typeface="Adobe Fan Heiti Std B" panose="020B0700000000000000" pitchFamily="34" charset="-128"/>
              </a:defRPr>
            </a:lvl1pPr>
          </a:lstStyle>
          <a:p>
            <a:fld id="{6DD7D84E-0E76-444F-8C2F-83F1D9BD0C6E}" type="slidenum">
              <a:rPr lang="en-GB" smtClean="0"/>
              <a:pPr/>
              <a:t>‹#›</a:t>
            </a:fld>
            <a:endParaRPr lang="en-GB" dirty="0"/>
          </a:p>
        </p:txBody>
      </p:sp>
      <p:sp>
        <p:nvSpPr>
          <p:cNvPr id="9" name="TextBox 8"/>
          <p:cNvSpPr txBox="1"/>
          <p:nvPr/>
        </p:nvSpPr>
        <p:spPr>
          <a:xfrm>
            <a:off x="5383410" y="6356350"/>
            <a:ext cx="1774012" cy="569387"/>
          </a:xfrm>
          <a:prstGeom prst="rect">
            <a:avLst/>
          </a:prstGeom>
          <a:noFill/>
        </p:spPr>
        <p:txBody>
          <a:bodyPr wrap="none" rtlCol="0">
            <a:spAutoFit/>
          </a:bodyPr>
          <a:lstStyle/>
          <a:p>
            <a:pPr algn="ctr"/>
            <a:r>
              <a:rPr lang="en-GB" sz="1000" b="1" dirty="0" err="1">
                <a:solidFill>
                  <a:srgbClr val="414141"/>
                </a:solidFill>
                <a:latin typeface="Raleway-v4020" pitchFamily="50" charset="-18"/>
                <a:ea typeface="Adobe Fan Heiti Std B" panose="020B0700000000000000" pitchFamily="34" charset="-128"/>
              </a:rPr>
              <a:t>NobleProg</a:t>
            </a:r>
            <a:r>
              <a:rPr lang="en-GB" sz="1000" b="1" dirty="0">
                <a:solidFill>
                  <a:srgbClr val="414141"/>
                </a:solidFill>
                <a:latin typeface="Raleway-v4020" pitchFamily="50" charset="-18"/>
                <a:ea typeface="Adobe Fan Heiti Std B" panose="020B0700000000000000" pitchFamily="34" charset="-128"/>
              </a:rPr>
              <a:t>®</a:t>
            </a:r>
            <a:r>
              <a:rPr lang="en-GB" sz="1000" dirty="0">
                <a:solidFill>
                  <a:srgbClr val="414141"/>
                </a:solidFill>
                <a:latin typeface="Raleway-v4020" pitchFamily="50" charset="-18"/>
                <a:ea typeface="Adobe Fan Heiti Std B" panose="020B0700000000000000" pitchFamily="34" charset="-128"/>
              </a:rPr>
              <a:t> Limited 201</a:t>
            </a:r>
            <a:r>
              <a:rPr lang="pl-PL" sz="1000" dirty="0">
                <a:solidFill>
                  <a:srgbClr val="414141"/>
                </a:solidFill>
                <a:latin typeface="Raleway-v4020" pitchFamily="50" charset="-18"/>
                <a:ea typeface="Adobe Fan Heiti Std B" panose="020B0700000000000000" pitchFamily="34" charset="-128"/>
              </a:rPr>
              <a:t>7</a:t>
            </a:r>
            <a:r>
              <a:rPr lang="en-GB" sz="1000" dirty="0">
                <a:solidFill>
                  <a:srgbClr val="414141"/>
                </a:solidFill>
                <a:latin typeface="Raleway-v4020" pitchFamily="50" charset="-18"/>
                <a:ea typeface="Adobe Fan Heiti Std B" panose="020B0700000000000000" pitchFamily="34" charset="-128"/>
              </a:rPr>
              <a:t> </a:t>
            </a:r>
          </a:p>
          <a:p>
            <a:pPr algn="ctr"/>
            <a:r>
              <a:rPr lang="en-GB" sz="1000" dirty="0">
                <a:solidFill>
                  <a:srgbClr val="414141"/>
                </a:solidFill>
                <a:latin typeface="Raleway-v4020" pitchFamily="50" charset="-18"/>
                <a:ea typeface="Adobe Fan Heiti Std B" panose="020B0700000000000000" pitchFamily="34" charset="-128"/>
              </a:rPr>
              <a:t>All Rights Reserved</a:t>
            </a:r>
          </a:p>
          <a:p>
            <a:endParaRPr lang="en-GB" sz="1100" dirty="0">
              <a:solidFill>
                <a:srgbClr val="414141"/>
              </a:solidFill>
              <a:latin typeface="Raleway-v4020" pitchFamily="50" charset="-18"/>
              <a:ea typeface="Adobe Fan Heiti Std B" panose="020B0700000000000000" pitchFamily="34" charset="-128"/>
            </a:endParaRPr>
          </a:p>
        </p:txBody>
      </p:sp>
    </p:spTree>
    <p:extLst>
      <p:ext uri="{BB962C8B-B14F-4D97-AF65-F5344CB8AC3E}">
        <p14:creationId xmlns:p14="http://schemas.microsoft.com/office/powerpoint/2010/main" val="4064939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400" b="1" kern="1200">
          <a:solidFill>
            <a:srgbClr val="006EBE"/>
          </a:solidFill>
          <a:latin typeface="Raleway-v4020 Thin" pitchFamily="50" charset="-18"/>
          <a:ea typeface="Adobe Fan Heiti Std B" panose="020B0700000000000000" pitchFamily="34" charset="-128"/>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docker/getting-started.git" TargetMode="Externa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hyperlink" Target="https://www.techtarget.com/searchitoperations/video/Explore-the-basics-of-Kubernetes-cluster-networking"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Picture 1"/>
          <p:cNvPicPr/>
          <p:nvPr/>
        </p:nvPicPr>
        <p:blipFill>
          <a:blip r:embed="rId3" cstate="print"/>
          <a:stretch/>
        </p:blipFill>
        <p:spPr>
          <a:xfrm>
            <a:off x="15838" y="44280"/>
            <a:ext cx="12029993" cy="6767640"/>
          </a:xfrm>
          <a:prstGeom prst="rect">
            <a:avLst/>
          </a:prstGeom>
          <a:ln>
            <a:noFill/>
          </a:ln>
        </p:spPr>
      </p:pic>
    </p:spTree>
    <p:extLst>
      <p:ext uri="{BB962C8B-B14F-4D97-AF65-F5344CB8AC3E}">
        <p14:creationId xmlns:p14="http://schemas.microsoft.com/office/powerpoint/2010/main" val="422361323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1523682" y="1041480"/>
            <a:ext cx="9142809" cy="2387520"/>
          </a:xfrm>
          <a:prstGeom prst="rect">
            <a:avLst/>
          </a:prstGeom>
          <a:noFill/>
          <a:ln>
            <a:noFill/>
          </a:ln>
        </p:spPr>
        <p:txBody>
          <a:bodyPr lIns="90000" tIns="46800" rIns="90000" bIns="46800" anchor="b"/>
          <a:lstStyle/>
          <a:p>
            <a:endParaRPr lang="en-US" sz="1800" b="0" strike="noStrike" spc="-1">
              <a:solidFill>
                <a:srgbClr val="000000"/>
              </a:solidFill>
              <a:latin typeface="Calibri"/>
            </a:endParaRPr>
          </a:p>
        </p:txBody>
      </p:sp>
      <p:sp>
        <p:nvSpPr>
          <p:cNvPr id="97" name="TextShape 2"/>
          <p:cNvSpPr txBox="1"/>
          <p:nvPr/>
        </p:nvSpPr>
        <p:spPr>
          <a:xfrm>
            <a:off x="1523682" y="3601800"/>
            <a:ext cx="9142809" cy="1655640"/>
          </a:xfrm>
          <a:prstGeom prst="rect">
            <a:avLst/>
          </a:prstGeom>
          <a:noFill/>
          <a:ln>
            <a:noFill/>
          </a:ln>
        </p:spPr>
        <p:txBody>
          <a:bodyPr lIns="0" tIns="0" rIns="0" bIns="0"/>
          <a:lstStyle/>
          <a:p>
            <a:pPr algn="ctr">
              <a:spcBef>
                <a:spcPts val="1423"/>
              </a:spcBef>
            </a:pPr>
            <a:endParaRPr lang="en-US" sz="2800" b="0" strike="noStrike" spc="-1">
              <a:solidFill>
                <a:srgbClr val="414141"/>
              </a:solidFill>
              <a:latin typeface="Raleway-v4020"/>
            </a:endParaRPr>
          </a:p>
        </p:txBody>
      </p:sp>
      <p:pic>
        <p:nvPicPr>
          <p:cNvPr id="99" name="Picture 4"/>
          <p:cNvPicPr/>
          <p:nvPr/>
        </p:nvPicPr>
        <p:blipFill>
          <a:blip r:embed="rId3" cstate="print"/>
          <a:stretch/>
        </p:blipFill>
        <p:spPr>
          <a:xfrm>
            <a:off x="9201482" y="-3240"/>
            <a:ext cx="2946216" cy="1112760"/>
          </a:xfrm>
          <a:prstGeom prst="rect">
            <a:avLst/>
          </a:prstGeom>
          <a:ln>
            <a:noFill/>
          </a:ln>
        </p:spPr>
      </p:pic>
      <p:sp>
        <p:nvSpPr>
          <p:cNvPr id="2" name="Title 1">
            <a:extLst>
              <a:ext uri="{FF2B5EF4-FFF2-40B4-BE49-F238E27FC236}">
                <a16:creationId xmlns:a16="http://schemas.microsoft.com/office/drawing/2014/main" id="{6E86968F-3F66-8F41-8D3A-B68D89FE931F}"/>
              </a:ext>
            </a:extLst>
          </p:cNvPr>
          <p:cNvSpPr>
            <a:spLocks noGrp="1"/>
          </p:cNvSpPr>
          <p:nvPr>
            <p:ph type="ctrTitle"/>
          </p:nvPr>
        </p:nvSpPr>
        <p:spPr/>
        <p:txBody>
          <a:bodyPr/>
          <a:lstStyle/>
          <a:p>
            <a:r>
              <a:rPr lang="en-US" dirty="0"/>
              <a:t>Docker and Kubernetes</a:t>
            </a:r>
          </a:p>
        </p:txBody>
      </p:sp>
      <p:sp>
        <p:nvSpPr>
          <p:cNvPr id="3" name="Subtitle 2">
            <a:extLst>
              <a:ext uri="{FF2B5EF4-FFF2-40B4-BE49-F238E27FC236}">
                <a16:creationId xmlns:a16="http://schemas.microsoft.com/office/drawing/2014/main" id="{D5D5B53B-3494-A245-B76F-3C672C7D2302}"/>
              </a:ext>
            </a:extLst>
          </p:cNvPr>
          <p:cNvSpPr>
            <a:spLocks noGrp="1"/>
          </p:cNvSpPr>
          <p:nvPr>
            <p:ph type="subTitle" idx="1"/>
          </p:nvPr>
        </p:nvSpPr>
        <p:spPr/>
        <p:txBody>
          <a:bodyPr/>
          <a:lstStyle/>
          <a:p>
            <a:r>
              <a:rPr lang="en-US" dirty="0"/>
              <a:t>Trainer – </a:t>
            </a:r>
            <a:r>
              <a:rPr lang="en-US" dirty="0" err="1"/>
              <a:t>Kumbulani</a:t>
            </a:r>
            <a:r>
              <a:rPr lang="en-US" dirty="0"/>
              <a:t> Conrad Tshuma</a:t>
            </a:r>
          </a:p>
        </p:txBody>
      </p:sp>
    </p:spTree>
    <p:extLst>
      <p:ext uri="{BB962C8B-B14F-4D97-AF65-F5344CB8AC3E}">
        <p14:creationId xmlns:p14="http://schemas.microsoft.com/office/powerpoint/2010/main" val="359973977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6BA07-B80E-3D47-8C8E-7126C97867D7}"/>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EF776E38-94AE-5044-AD1D-0C8CFC109B61}"/>
              </a:ext>
            </a:extLst>
          </p:cNvPr>
          <p:cNvSpPr>
            <a:spLocks noGrp="1"/>
          </p:cNvSpPr>
          <p:nvPr>
            <p:ph idx="1"/>
          </p:nvPr>
        </p:nvSpPr>
        <p:spPr/>
        <p:txBody>
          <a:bodyPr>
            <a:normAutofit/>
          </a:bodyPr>
          <a:lstStyle/>
          <a:p>
            <a:pPr marL="514350" indent="-514350">
              <a:buAutoNum type="arabicPeriod"/>
            </a:pPr>
            <a:r>
              <a:rPr lang="en-ZA" b="0" i="0" dirty="0">
                <a:solidFill>
                  <a:srgbClr val="2F2F2F"/>
                </a:solidFill>
                <a:effectLst/>
                <a:latin typeface="Poppins" pitchFamily="2" charset="77"/>
              </a:rPr>
              <a:t>Docker and Linux container technology</a:t>
            </a:r>
          </a:p>
          <a:p>
            <a:pPr marL="514350" indent="-514350">
              <a:buAutoNum type="arabicPeriod"/>
            </a:pPr>
            <a:r>
              <a:rPr lang="en-ZA" b="0" i="0" dirty="0">
                <a:solidFill>
                  <a:srgbClr val="2F2F2F"/>
                </a:solidFill>
                <a:effectLst/>
                <a:latin typeface="Poppins" pitchFamily="2" charset="77"/>
              </a:rPr>
              <a:t>Kubernetes reference architecture and its main components</a:t>
            </a:r>
          </a:p>
          <a:p>
            <a:pPr marL="514350" indent="-514350">
              <a:buAutoNum type="arabicPeriod"/>
            </a:pPr>
            <a:r>
              <a:rPr lang="en-ZA" b="0" i="0" dirty="0">
                <a:solidFill>
                  <a:srgbClr val="2F2F2F"/>
                </a:solidFill>
                <a:effectLst/>
                <a:latin typeface="Poppins" pitchFamily="2" charset="77"/>
              </a:rPr>
              <a:t>Advanced controllers: Daemon Sets and Stateful Sets</a:t>
            </a:r>
          </a:p>
        </p:txBody>
      </p:sp>
    </p:spTree>
    <p:extLst>
      <p:ext uri="{BB962C8B-B14F-4D97-AF65-F5344CB8AC3E}">
        <p14:creationId xmlns:p14="http://schemas.microsoft.com/office/powerpoint/2010/main" val="1867804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B34F-A91C-7745-B25C-96A52EB8880D}"/>
              </a:ext>
            </a:extLst>
          </p:cNvPr>
          <p:cNvSpPr>
            <a:spLocks noGrp="1"/>
          </p:cNvSpPr>
          <p:nvPr>
            <p:ph type="title"/>
          </p:nvPr>
        </p:nvSpPr>
        <p:spPr>
          <a:xfrm>
            <a:off x="685800" y="2369288"/>
            <a:ext cx="10515600" cy="990600"/>
          </a:xfrm>
        </p:spPr>
        <p:txBody>
          <a:bodyPr>
            <a:normAutofit/>
          </a:bodyPr>
          <a:lstStyle/>
          <a:p>
            <a:pPr algn="ctr"/>
            <a:r>
              <a:rPr lang="en-US" sz="4400" dirty="0"/>
              <a:t>Day 1</a:t>
            </a:r>
          </a:p>
        </p:txBody>
      </p:sp>
    </p:spTree>
    <p:extLst>
      <p:ext uri="{BB962C8B-B14F-4D97-AF65-F5344CB8AC3E}">
        <p14:creationId xmlns:p14="http://schemas.microsoft.com/office/powerpoint/2010/main" val="2862053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Docker and Linux Technology?</a:t>
            </a:r>
          </a:p>
        </p:txBody>
      </p:sp>
      <p:pic>
        <p:nvPicPr>
          <p:cNvPr id="6" name="Picture 5" descr="A picture containing screenshot, graphics, design, illustration&#10;&#10;Description automatically generated">
            <a:extLst>
              <a:ext uri="{FF2B5EF4-FFF2-40B4-BE49-F238E27FC236}">
                <a16:creationId xmlns:a16="http://schemas.microsoft.com/office/drawing/2014/main" id="{151FB0B0-105B-5307-6F8A-7D27B6D0A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038" y="1447800"/>
            <a:ext cx="2818724" cy="2136775"/>
          </a:xfrm>
          <a:prstGeom prst="rect">
            <a:avLst/>
          </a:prstGeom>
          <a:noFill/>
        </p:spPr>
      </p:pic>
      <p:sp>
        <p:nvSpPr>
          <p:cNvPr id="3" name="Content Placeholder 2"/>
          <p:cNvSpPr>
            <a:spLocks noGrp="1"/>
          </p:cNvSpPr>
          <p:nvPr>
            <p:ph sz="half" idx="2"/>
          </p:nvPr>
        </p:nvSpPr>
        <p:spPr>
          <a:xfrm>
            <a:off x="6172200" y="1825625"/>
            <a:ext cx="5181600" cy="4351338"/>
          </a:xfrm>
        </p:spPr>
        <p:txBody>
          <a:bodyPr>
            <a:normAutofit/>
          </a:bodyPr>
          <a:lstStyle/>
          <a:p>
            <a:r>
              <a:rPr lang="en-ZA" sz="1500" b="0" i="0">
                <a:effectLst/>
              </a:rPr>
              <a:t>Docker is an open-source platform that allows you to automate the deployment, scaling, and management of applications using containerization. It provides a lightweight, isolated environment called a container, which packages an application and its dependencies together, ensuring that it runs consistently across different environments.</a:t>
            </a:r>
          </a:p>
          <a:p>
            <a:r>
              <a:rPr lang="en-ZA" sz="1500" b="0" i="0">
                <a:effectLst/>
              </a:rPr>
              <a:t>Linux, on the other hand, is an open-source operating system kernel that serves as the foundation for many different Linux distributions, such as Ubuntu, Fedora, and CentOS. Linux provides a powerful and flexible environment for running applications and managing resources. It is widely used in server environments and has become the dominant operating system for running Docker containers.</a:t>
            </a:r>
          </a:p>
        </p:txBody>
      </p:sp>
      <p:pic>
        <p:nvPicPr>
          <p:cNvPr id="8" name="Picture 7" descr="A picture containing penguin, clipart, cartoon&#10;&#10;Description automatically generated">
            <a:extLst>
              <a:ext uri="{FF2B5EF4-FFF2-40B4-BE49-F238E27FC236}">
                <a16:creationId xmlns:a16="http://schemas.microsoft.com/office/drawing/2014/main" id="{FABD586D-E344-7ADD-F9E2-75BA7E703D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662363"/>
            <a:ext cx="3200400" cy="2514600"/>
          </a:xfrm>
          <a:prstGeom prst="rect">
            <a:avLst/>
          </a:prstGeom>
        </p:spPr>
      </p:pic>
    </p:spTree>
    <p:extLst>
      <p:ext uri="{BB962C8B-B14F-4D97-AF65-F5344CB8AC3E}">
        <p14:creationId xmlns:p14="http://schemas.microsoft.com/office/powerpoint/2010/main" val="3342546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a:r>
              <a:rPr lang="en-ZA" b="0" i="0" dirty="0">
                <a:solidFill>
                  <a:srgbClr val="374151"/>
                </a:solidFill>
                <a:effectLst/>
                <a:latin typeface="Söhne"/>
              </a:rPr>
              <a:t>Docker leverages Linux containerization technologies, such as </a:t>
            </a:r>
            <a:r>
              <a:rPr lang="en-ZA" b="0" i="0" dirty="0" err="1">
                <a:solidFill>
                  <a:srgbClr val="374151"/>
                </a:solidFill>
                <a:effectLst/>
                <a:latin typeface="Söhne"/>
              </a:rPr>
              <a:t>cgroups</a:t>
            </a:r>
            <a:r>
              <a:rPr lang="en-ZA" b="0" i="0" dirty="0">
                <a:solidFill>
                  <a:srgbClr val="374151"/>
                </a:solidFill>
                <a:effectLst/>
                <a:latin typeface="Söhne"/>
              </a:rPr>
              <a:t> (control groups) and namespaces, which are built into the Linux kernel. These technologies provide the necessary isolation and resource management capabilities to run multiple containers on a single host.</a:t>
            </a:r>
          </a:p>
          <a:p>
            <a:pPr algn="l"/>
            <a:r>
              <a:rPr lang="en-ZA" b="0" i="0" dirty="0">
                <a:solidFill>
                  <a:srgbClr val="374151"/>
                </a:solidFill>
                <a:effectLst/>
                <a:latin typeface="Söhne"/>
              </a:rPr>
              <a:t>By using Docker on Linux, you can easily create, deploy, and manage applications in a consistent and reproducible manner. Docker allows you to define application dependencies, network settings, and other configurations in a </a:t>
            </a:r>
            <a:r>
              <a:rPr lang="en-ZA" b="0" i="0" dirty="0" err="1">
                <a:solidFill>
                  <a:srgbClr val="374151"/>
                </a:solidFill>
                <a:effectLst/>
                <a:latin typeface="Söhne"/>
              </a:rPr>
              <a:t>Dockerfile</a:t>
            </a:r>
            <a:r>
              <a:rPr lang="en-ZA" b="0" i="0" dirty="0">
                <a:solidFill>
                  <a:srgbClr val="374151"/>
                </a:solidFill>
                <a:effectLst/>
                <a:latin typeface="Söhne"/>
              </a:rPr>
              <a:t>, which can be used to build Docker images. These images can then be run as containers on any Linux host that has Docker installed, without worrying about differences in underlying operating systems or dependencies.</a:t>
            </a:r>
          </a:p>
          <a:p>
            <a:pPr algn="l"/>
            <a:r>
              <a:rPr lang="en-ZA" b="0" i="0" dirty="0">
                <a:solidFill>
                  <a:srgbClr val="374151"/>
                </a:solidFill>
                <a:effectLst/>
                <a:latin typeface="Söhne"/>
              </a:rPr>
              <a:t>Docker has gained popularity because it simplifies the deployment and management of applications, improves scalability, and enables efficient resource utilization. It also promotes the use of microservices architecture, where applications are broken down into smaller, loosely coupled components that can be developed, tested, and deployed independently.</a:t>
            </a:r>
          </a:p>
          <a:p>
            <a:pPr algn="l"/>
            <a:r>
              <a:rPr lang="en-ZA" b="0" i="0" dirty="0">
                <a:solidFill>
                  <a:srgbClr val="374151"/>
                </a:solidFill>
                <a:effectLst/>
                <a:latin typeface="Söhne"/>
              </a:rPr>
              <a:t>Overall, Docker and Linux technologies complement each other, with Docker relying on Linux containerization features to provide a portable and efficient platform for application deployment and management.</a:t>
            </a:r>
          </a:p>
        </p:txBody>
      </p:sp>
    </p:spTree>
    <p:extLst>
      <p:ext uri="{BB962C8B-B14F-4D97-AF65-F5344CB8AC3E}">
        <p14:creationId xmlns:p14="http://schemas.microsoft.com/office/powerpoint/2010/main" val="2570673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Docker Architecture </a:t>
            </a:r>
          </a:p>
        </p:txBody>
      </p:sp>
      <p:pic>
        <p:nvPicPr>
          <p:cNvPr id="5" name="Content Placeholder 4" descr="A diagram of a system&#10;&#10;Description automatically generated with low confidence">
            <a:extLst>
              <a:ext uri="{FF2B5EF4-FFF2-40B4-BE49-F238E27FC236}">
                <a16:creationId xmlns:a16="http://schemas.microsoft.com/office/drawing/2014/main" id="{07D34C58-8DA7-3916-442E-658433E257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2057400"/>
            <a:ext cx="4114800" cy="3567112"/>
          </a:xfrm>
        </p:spPr>
      </p:pic>
      <p:pic>
        <p:nvPicPr>
          <p:cNvPr id="7" name="Picture 6" descr="A picture containing text, screenshot, font, rectangle&#10;&#10;Description automatically generated">
            <a:extLst>
              <a:ext uri="{FF2B5EF4-FFF2-40B4-BE49-F238E27FC236}">
                <a16:creationId xmlns:a16="http://schemas.microsoft.com/office/drawing/2014/main" id="{7137C86B-0CC3-379A-05E8-122198CEA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2057400"/>
            <a:ext cx="6477000" cy="3591384"/>
          </a:xfrm>
          <a:prstGeom prst="rect">
            <a:avLst/>
          </a:prstGeom>
        </p:spPr>
      </p:pic>
    </p:spTree>
    <p:extLst>
      <p:ext uri="{BB962C8B-B14F-4D97-AF65-F5344CB8AC3E}">
        <p14:creationId xmlns:p14="http://schemas.microsoft.com/office/powerpoint/2010/main" val="1134786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533400"/>
            <a:ext cx="7162800" cy="655320"/>
          </a:xfrm>
        </p:spPr>
        <p:txBody>
          <a:bodyPr>
            <a:normAutofit fontScale="90000"/>
          </a:bodyPr>
          <a:lstStyle/>
          <a:p>
            <a:r>
              <a:rPr lang="en-US" dirty="0"/>
              <a:t>Docker Container lifecycle</a:t>
            </a:r>
          </a:p>
        </p:txBody>
      </p:sp>
      <p:sp>
        <p:nvSpPr>
          <p:cNvPr id="3" name="Content Placeholder 2"/>
          <p:cNvSpPr>
            <a:spLocks noGrp="1"/>
          </p:cNvSpPr>
          <p:nvPr>
            <p:ph idx="1"/>
          </p:nvPr>
        </p:nvSpPr>
        <p:spPr>
          <a:xfrm>
            <a:off x="533400" y="1413413"/>
            <a:ext cx="6187440" cy="3886200"/>
          </a:xfrm>
        </p:spPr>
        <p:txBody>
          <a:bodyPr>
            <a:normAutofit fontScale="40000" lnSpcReduction="20000"/>
          </a:bodyPr>
          <a:lstStyle/>
          <a:p>
            <a:pPr algn="l">
              <a:buFont typeface="+mj-lt"/>
              <a:buAutoNum type="arabicPeriod"/>
            </a:pPr>
            <a:r>
              <a:rPr lang="en-ZA" b="1" i="0" dirty="0">
                <a:solidFill>
                  <a:srgbClr val="374151"/>
                </a:solidFill>
                <a:effectLst/>
                <a:latin typeface="Söhne"/>
              </a:rPr>
              <a:t>Creating a container</a:t>
            </a:r>
            <a:r>
              <a:rPr lang="en-ZA" b="0" i="0" dirty="0">
                <a:solidFill>
                  <a:srgbClr val="374151"/>
                </a:solidFill>
                <a:effectLst/>
                <a:latin typeface="Söhne"/>
              </a:rPr>
              <a:t>: You start by creating a Docker container from an existing Docker image. An image is a read-only template that includes the application code, runtime, dependencies, and other required files. Using the docker run command, you can create a container based on an image, specifying various options such as port mappings, volume mounts, and environment variables.</a:t>
            </a:r>
          </a:p>
          <a:p>
            <a:pPr algn="l">
              <a:buFont typeface="+mj-lt"/>
              <a:buAutoNum type="arabicPeriod"/>
            </a:pPr>
            <a:r>
              <a:rPr lang="en-ZA" b="1" i="0" dirty="0">
                <a:solidFill>
                  <a:srgbClr val="374151"/>
                </a:solidFill>
                <a:effectLst/>
                <a:latin typeface="Söhne"/>
              </a:rPr>
              <a:t>Running a container</a:t>
            </a:r>
            <a:r>
              <a:rPr lang="en-ZA" b="0" i="0" dirty="0">
                <a:solidFill>
                  <a:srgbClr val="374151"/>
                </a:solidFill>
                <a:effectLst/>
                <a:latin typeface="Söhne"/>
              </a:rPr>
              <a:t>: Once a container is created, you can start it using the docker start command. The container will then run as a separate and isolated process on the host system, utilizing the allocated CPU, memory, and other resources.</a:t>
            </a:r>
          </a:p>
          <a:p>
            <a:pPr algn="l">
              <a:buFont typeface="+mj-lt"/>
              <a:buAutoNum type="arabicPeriod"/>
            </a:pPr>
            <a:r>
              <a:rPr lang="en-ZA" b="1" i="0" dirty="0">
                <a:solidFill>
                  <a:srgbClr val="374151"/>
                </a:solidFill>
                <a:effectLst/>
                <a:latin typeface="Söhne"/>
              </a:rPr>
              <a:t>Interacting with a container</a:t>
            </a:r>
            <a:r>
              <a:rPr lang="en-ZA" b="0" i="0" dirty="0">
                <a:solidFill>
                  <a:srgbClr val="374151"/>
                </a:solidFill>
                <a:effectLst/>
                <a:latin typeface="Söhne"/>
              </a:rPr>
              <a:t>: You can interact with a running container in various ways. The docker exec command allows you to execute commands inside a running container, providing a shell-like interface. You can also attach to a running container's console using the docker attach command to view its output or interact with the application running inside.</a:t>
            </a:r>
          </a:p>
          <a:p>
            <a:pPr algn="l">
              <a:buFont typeface="+mj-lt"/>
              <a:buAutoNum type="arabicPeriod"/>
            </a:pPr>
            <a:r>
              <a:rPr lang="en-ZA" b="1" i="0" dirty="0">
                <a:solidFill>
                  <a:srgbClr val="374151"/>
                </a:solidFill>
                <a:effectLst/>
                <a:latin typeface="Söhne"/>
              </a:rPr>
              <a:t>Monitoring container</a:t>
            </a:r>
            <a:r>
              <a:rPr lang="en-ZA" b="0" i="0" dirty="0">
                <a:solidFill>
                  <a:srgbClr val="374151"/>
                </a:solidFill>
                <a:effectLst/>
                <a:latin typeface="Söhne"/>
              </a:rPr>
              <a:t>: Docker provides several commands and options to monitor the health and performance of containers. The docker stats command shows real-time resource usage statistics for running containers, such as CPU and memory usage. You can also configure container-level logging and monitoring using third-party tools or Docker's built-in features.</a:t>
            </a:r>
          </a:p>
          <a:p>
            <a:pPr algn="l">
              <a:buFont typeface="+mj-lt"/>
              <a:buAutoNum type="arabicPeriod"/>
            </a:pPr>
            <a:r>
              <a:rPr lang="en-ZA" b="1" i="0" dirty="0">
                <a:solidFill>
                  <a:srgbClr val="374151"/>
                </a:solidFill>
                <a:effectLst/>
                <a:latin typeface="Söhne"/>
              </a:rPr>
              <a:t>Stopping a container</a:t>
            </a:r>
            <a:r>
              <a:rPr lang="en-ZA" b="0" i="0" dirty="0">
                <a:solidFill>
                  <a:srgbClr val="374151"/>
                </a:solidFill>
                <a:effectLst/>
                <a:latin typeface="Söhne"/>
              </a:rPr>
              <a:t>: To stop a running container, you can use the docker stop command, which sends a signal to the container's main process, allowing it to gracefully shut down. Alternatively, you can use the docker kill command to force-stop a container by sending a SIGKILL signal, terminating it immediately.</a:t>
            </a:r>
          </a:p>
          <a:p>
            <a:pPr algn="l">
              <a:buFont typeface="+mj-lt"/>
              <a:buAutoNum type="arabicPeriod"/>
            </a:pPr>
            <a:r>
              <a:rPr lang="en-ZA" b="1" i="0" dirty="0">
                <a:solidFill>
                  <a:srgbClr val="374151"/>
                </a:solidFill>
                <a:effectLst/>
                <a:latin typeface="Söhne"/>
              </a:rPr>
              <a:t>Restarting a container</a:t>
            </a:r>
            <a:r>
              <a:rPr lang="en-ZA" b="0" i="0" dirty="0">
                <a:solidFill>
                  <a:srgbClr val="374151"/>
                </a:solidFill>
                <a:effectLst/>
                <a:latin typeface="Söhne"/>
              </a:rPr>
              <a:t>: Docker provides options to automatically restart containers when they exit or when the Docker daemon restarts. By specifying the --restart flag with the docker run or docker update commands, you can define the restart policy for the container.</a:t>
            </a:r>
          </a:p>
          <a:p>
            <a:pPr algn="l">
              <a:buFont typeface="+mj-lt"/>
              <a:buAutoNum type="arabicPeriod"/>
            </a:pPr>
            <a:r>
              <a:rPr lang="en-ZA" b="1" i="0" dirty="0">
                <a:solidFill>
                  <a:srgbClr val="374151"/>
                </a:solidFill>
                <a:effectLst/>
                <a:latin typeface="Söhne"/>
              </a:rPr>
              <a:t>Removing a container</a:t>
            </a:r>
            <a:r>
              <a:rPr lang="en-ZA" b="0" i="0" dirty="0">
                <a:solidFill>
                  <a:srgbClr val="374151"/>
                </a:solidFill>
                <a:effectLst/>
                <a:latin typeface="Söhne"/>
              </a:rPr>
              <a:t>: When you no longer need a container, you can remove it using the docker rm command. This will delete the container and its associated resources, such as network settings and storage volumes. By default, you cannot remove a running container, so you need to stop it first or use the --force flag.</a:t>
            </a:r>
          </a:p>
        </p:txBody>
      </p:sp>
      <p:pic>
        <p:nvPicPr>
          <p:cNvPr id="6" name="Picture 5" descr="A diagram of a runner life cycle&#10;&#10;Description automatically generated with medium confidence">
            <a:extLst>
              <a:ext uri="{FF2B5EF4-FFF2-40B4-BE49-F238E27FC236}">
                <a16:creationId xmlns:a16="http://schemas.microsoft.com/office/drawing/2014/main" id="{208E4685-12FB-2590-A47B-B9A9E031E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188720"/>
            <a:ext cx="5029200" cy="4432696"/>
          </a:xfrm>
          <a:prstGeom prst="rect">
            <a:avLst/>
          </a:prstGeom>
        </p:spPr>
      </p:pic>
    </p:spTree>
    <p:extLst>
      <p:ext uri="{BB962C8B-B14F-4D97-AF65-F5344CB8AC3E}">
        <p14:creationId xmlns:p14="http://schemas.microsoft.com/office/powerpoint/2010/main" val="3622560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lgn="l">
              <a:buFont typeface="+mj-lt"/>
              <a:buAutoNum type="arabicPeriod"/>
            </a:pPr>
            <a:r>
              <a:rPr lang="en-ZA" b="1" i="0" dirty="0">
                <a:solidFill>
                  <a:srgbClr val="374151"/>
                </a:solidFill>
                <a:effectLst/>
                <a:latin typeface="Söhne"/>
              </a:rPr>
              <a:t>Pulling an image</a:t>
            </a:r>
            <a:r>
              <a:rPr lang="en-ZA" b="0" i="0" dirty="0">
                <a:solidFill>
                  <a:srgbClr val="374151"/>
                </a:solidFill>
                <a:effectLst/>
                <a:latin typeface="Söhne"/>
              </a:rPr>
              <a:t>: To download an image from a registry, you can use the docker pull command followed by the image name and optionally the tag. For example, </a:t>
            </a:r>
            <a:r>
              <a:rPr lang="en-ZA" b="1" i="0" dirty="0">
                <a:solidFill>
                  <a:srgbClr val="374151"/>
                </a:solidFill>
                <a:effectLst/>
                <a:latin typeface="Söhne"/>
              </a:rPr>
              <a:t>docker pull ubuntu </a:t>
            </a:r>
            <a:r>
              <a:rPr lang="en-ZA" b="0" i="0" dirty="0">
                <a:solidFill>
                  <a:srgbClr val="374151"/>
                </a:solidFill>
                <a:effectLst/>
                <a:latin typeface="Söhne"/>
              </a:rPr>
              <a:t>will download the latest Ubuntu image.</a:t>
            </a:r>
          </a:p>
          <a:p>
            <a:pPr algn="l">
              <a:buFont typeface="+mj-lt"/>
              <a:buAutoNum type="arabicPeriod"/>
            </a:pPr>
            <a:r>
              <a:rPr lang="en-ZA" b="1" i="0" dirty="0">
                <a:solidFill>
                  <a:srgbClr val="374151"/>
                </a:solidFill>
                <a:effectLst/>
                <a:latin typeface="Söhne"/>
              </a:rPr>
              <a:t>Listing images</a:t>
            </a:r>
            <a:r>
              <a:rPr lang="en-ZA" b="0" i="0" dirty="0">
                <a:solidFill>
                  <a:srgbClr val="374151"/>
                </a:solidFill>
                <a:effectLst/>
                <a:latin typeface="Söhne"/>
              </a:rPr>
              <a:t>: You can view the list of images on your local system using the </a:t>
            </a:r>
            <a:r>
              <a:rPr lang="en-ZA" b="1" i="0" dirty="0">
                <a:solidFill>
                  <a:srgbClr val="374151"/>
                </a:solidFill>
                <a:effectLst/>
                <a:latin typeface="Söhne"/>
              </a:rPr>
              <a:t>docker images </a:t>
            </a:r>
            <a:r>
              <a:rPr lang="en-ZA" b="0" i="0" dirty="0">
                <a:solidFill>
                  <a:srgbClr val="374151"/>
                </a:solidFill>
                <a:effectLst/>
                <a:latin typeface="Söhne"/>
              </a:rPr>
              <a:t>command. It will display the image ID, repository, tag, and size.</a:t>
            </a:r>
          </a:p>
          <a:p>
            <a:pPr algn="l">
              <a:buFont typeface="+mj-lt"/>
              <a:buAutoNum type="arabicPeriod"/>
            </a:pPr>
            <a:r>
              <a:rPr lang="en-ZA" b="1" i="0" dirty="0">
                <a:solidFill>
                  <a:srgbClr val="374151"/>
                </a:solidFill>
                <a:effectLst/>
                <a:latin typeface="Söhne"/>
              </a:rPr>
              <a:t>Building an image</a:t>
            </a:r>
            <a:r>
              <a:rPr lang="en-ZA" b="0" i="0" dirty="0">
                <a:solidFill>
                  <a:srgbClr val="374151"/>
                </a:solidFill>
                <a:effectLst/>
                <a:latin typeface="Söhne"/>
              </a:rPr>
              <a:t>: Docker allows you to build custom images using a </a:t>
            </a:r>
            <a:r>
              <a:rPr lang="en-ZA" b="0" i="0" dirty="0" err="1">
                <a:solidFill>
                  <a:srgbClr val="374151"/>
                </a:solidFill>
                <a:effectLst/>
                <a:latin typeface="Söhne"/>
              </a:rPr>
              <a:t>Dockerfile</a:t>
            </a:r>
            <a:r>
              <a:rPr lang="en-ZA" b="0" i="0" dirty="0">
                <a:solidFill>
                  <a:srgbClr val="374151"/>
                </a:solidFill>
                <a:effectLst/>
                <a:latin typeface="Söhne"/>
              </a:rPr>
              <a:t>, which contains instructions for building the image. The </a:t>
            </a:r>
            <a:r>
              <a:rPr lang="en-ZA" b="1" i="0" dirty="0">
                <a:solidFill>
                  <a:srgbClr val="374151"/>
                </a:solidFill>
                <a:effectLst/>
                <a:latin typeface="Söhne"/>
              </a:rPr>
              <a:t>docker build </a:t>
            </a:r>
            <a:r>
              <a:rPr lang="en-ZA" b="0" i="0" dirty="0">
                <a:solidFill>
                  <a:srgbClr val="374151"/>
                </a:solidFill>
                <a:effectLst/>
                <a:latin typeface="Söhne"/>
              </a:rPr>
              <a:t>command is used for this purpose. You provide the path to the directory containing the </a:t>
            </a:r>
            <a:r>
              <a:rPr lang="en-ZA" b="0" i="0" dirty="0" err="1">
                <a:solidFill>
                  <a:srgbClr val="374151"/>
                </a:solidFill>
                <a:effectLst/>
                <a:latin typeface="Söhne"/>
              </a:rPr>
              <a:t>Dockerfile</a:t>
            </a:r>
            <a:r>
              <a:rPr lang="en-ZA" b="0" i="0" dirty="0">
                <a:solidFill>
                  <a:srgbClr val="374151"/>
                </a:solidFill>
                <a:effectLst/>
                <a:latin typeface="Söhne"/>
              </a:rPr>
              <a:t> and Docker will execute the instructions to create the image.</a:t>
            </a:r>
          </a:p>
          <a:p>
            <a:pPr algn="l">
              <a:buFont typeface="+mj-lt"/>
              <a:buAutoNum type="arabicPeriod"/>
            </a:pPr>
            <a:r>
              <a:rPr lang="en-ZA" b="1" i="0" dirty="0">
                <a:solidFill>
                  <a:srgbClr val="374151"/>
                </a:solidFill>
                <a:effectLst/>
                <a:latin typeface="Söhne"/>
              </a:rPr>
              <a:t>Tagging an image</a:t>
            </a:r>
            <a:r>
              <a:rPr lang="en-ZA" b="0" i="0" dirty="0">
                <a:solidFill>
                  <a:srgbClr val="374151"/>
                </a:solidFill>
                <a:effectLst/>
                <a:latin typeface="Söhne"/>
              </a:rPr>
              <a:t>: You can tag an existing image with a custom tag using the docker tag command. This is useful when you want to give the image a more meaningful name or version. The command format is </a:t>
            </a:r>
            <a:r>
              <a:rPr lang="en-ZA" b="1" i="0" dirty="0">
                <a:solidFill>
                  <a:srgbClr val="374151"/>
                </a:solidFill>
                <a:effectLst/>
                <a:latin typeface="Söhne"/>
              </a:rPr>
              <a:t>docker tag SOURCE_IMAGE[:TAG] TARGET_IMAGE[:TAG].</a:t>
            </a:r>
          </a:p>
          <a:p>
            <a:pPr algn="l">
              <a:buFont typeface="+mj-lt"/>
              <a:buAutoNum type="arabicPeriod"/>
            </a:pPr>
            <a:r>
              <a:rPr lang="en-ZA" b="1" i="0" dirty="0">
                <a:solidFill>
                  <a:srgbClr val="374151"/>
                </a:solidFill>
                <a:effectLst/>
                <a:latin typeface="Söhne"/>
              </a:rPr>
              <a:t>Pushing an image</a:t>
            </a:r>
            <a:r>
              <a:rPr lang="en-ZA" b="0" i="0" dirty="0">
                <a:solidFill>
                  <a:srgbClr val="374151"/>
                </a:solidFill>
                <a:effectLst/>
                <a:latin typeface="Söhne"/>
              </a:rPr>
              <a:t>: If you have made changes to an image or created a new one, you can push it to a registry using the docker push command. This requires authentication with the registry. The command format is </a:t>
            </a:r>
            <a:r>
              <a:rPr lang="en-ZA" b="1" i="0" dirty="0">
                <a:solidFill>
                  <a:srgbClr val="374151"/>
                </a:solidFill>
                <a:effectLst/>
                <a:latin typeface="Söhne"/>
              </a:rPr>
              <a:t>docker push [OPTIONS] NAME[:TAG</a:t>
            </a:r>
            <a:r>
              <a:rPr lang="en-ZA" b="0" i="0" dirty="0">
                <a:solidFill>
                  <a:srgbClr val="374151"/>
                </a:solidFill>
                <a:effectLst/>
                <a:latin typeface="Söhne"/>
              </a:rPr>
              <a:t>].</a:t>
            </a:r>
          </a:p>
          <a:p>
            <a:pPr algn="l">
              <a:buFont typeface="+mj-lt"/>
              <a:buAutoNum type="arabicPeriod"/>
            </a:pPr>
            <a:r>
              <a:rPr lang="en-ZA" b="1" i="0" dirty="0">
                <a:solidFill>
                  <a:srgbClr val="374151"/>
                </a:solidFill>
                <a:effectLst/>
                <a:latin typeface="Söhne"/>
              </a:rPr>
              <a:t>Inspecting an image</a:t>
            </a:r>
            <a:r>
              <a:rPr lang="en-ZA" b="0" i="0" dirty="0">
                <a:solidFill>
                  <a:srgbClr val="374151"/>
                </a:solidFill>
                <a:effectLst/>
                <a:latin typeface="Söhne"/>
              </a:rPr>
              <a:t>: To get detailed information about an image, such as its metadata, layers, and exposed ports, you can use the </a:t>
            </a:r>
            <a:r>
              <a:rPr lang="en-ZA" b="1" i="0" dirty="0">
                <a:solidFill>
                  <a:srgbClr val="374151"/>
                </a:solidFill>
                <a:effectLst/>
                <a:latin typeface="Söhne"/>
              </a:rPr>
              <a:t>docker image inspect </a:t>
            </a:r>
            <a:r>
              <a:rPr lang="en-ZA" b="0" i="0" dirty="0">
                <a:solidFill>
                  <a:srgbClr val="374151"/>
                </a:solidFill>
                <a:effectLst/>
                <a:latin typeface="Söhne"/>
              </a:rPr>
              <a:t>command followed by the image name or ID.</a:t>
            </a:r>
          </a:p>
          <a:p>
            <a:pPr algn="l">
              <a:buFont typeface="+mj-lt"/>
              <a:buAutoNum type="arabicPeriod"/>
            </a:pPr>
            <a:r>
              <a:rPr lang="en-ZA" b="1" i="0" dirty="0">
                <a:solidFill>
                  <a:srgbClr val="374151"/>
                </a:solidFill>
                <a:effectLst/>
                <a:latin typeface="Söhne"/>
              </a:rPr>
              <a:t>Removing an image</a:t>
            </a:r>
            <a:r>
              <a:rPr lang="en-ZA" b="0" i="0" dirty="0">
                <a:solidFill>
                  <a:srgbClr val="374151"/>
                </a:solidFill>
                <a:effectLst/>
                <a:latin typeface="Söhne"/>
              </a:rPr>
              <a:t>: When you no longer need an image, you can remove it using </a:t>
            </a:r>
            <a:r>
              <a:rPr lang="en-ZA" b="1" i="0" dirty="0">
                <a:solidFill>
                  <a:srgbClr val="374151"/>
                </a:solidFill>
                <a:effectLst/>
                <a:latin typeface="Söhne"/>
              </a:rPr>
              <a:t>the docker </a:t>
            </a:r>
            <a:r>
              <a:rPr lang="en-ZA" b="1" i="0" dirty="0" err="1">
                <a:solidFill>
                  <a:srgbClr val="374151"/>
                </a:solidFill>
                <a:effectLst/>
                <a:latin typeface="Söhne"/>
              </a:rPr>
              <a:t>rmi</a:t>
            </a:r>
            <a:r>
              <a:rPr lang="en-ZA" b="1" i="0" dirty="0">
                <a:solidFill>
                  <a:srgbClr val="374151"/>
                </a:solidFill>
                <a:effectLst/>
                <a:latin typeface="Söhne"/>
              </a:rPr>
              <a:t> </a:t>
            </a:r>
            <a:r>
              <a:rPr lang="en-ZA" b="0" i="0" dirty="0">
                <a:solidFill>
                  <a:srgbClr val="374151"/>
                </a:solidFill>
                <a:effectLst/>
                <a:latin typeface="Söhne"/>
              </a:rPr>
              <a:t>command followed by the image name or ID. By default, Docker does not allow you to remove an image if it is being used by a running container. You can use </a:t>
            </a:r>
            <a:r>
              <a:rPr lang="en-ZA" b="1" i="0" dirty="0">
                <a:solidFill>
                  <a:srgbClr val="374151"/>
                </a:solidFill>
                <a:effectLst/>
                <a:latin typeface="Söhne"/>
              </a:rPr>
              <a:t>the --force </a:t>
            </a:r>
            <a:r>
              <a:rPr lang="en-ZA" b="0" i="0" dirty="0">
                <a:solidFill>
                  <a:srgbClr val="374151"/>
                </a:solidFill>
                <a:effectLst/>
                <a:latin typeface="Söhne"/>
              </a:rPr>
              <a:t>flag to forcibly remove the image.</a:t>
            </a:r>
          </a:p>
          <a:p>
            <a:pPr algn="l">
              <a:buFont typeface="+mj-lt"/>
              <a:buAutoNum type="arabicPeriod"/>
            </a:pPr>
            <a:r>
              <a:rPr lang="en-ZA" b="1" i="0" dirty="0">
                <a:solidFill>
                  <a:srgbClr val="374151"/>
                </a:solidFill>
                <a:effectLst/>
                <a:latin typeface="Söhne"/>
              </a:rPr>
              <a:t>Searching for images</a:t>
            </a:r>
            <a:r>
              <a:rPr lang="en-ZA" b="0" i="0" dirty="0">
                <a:solidFill>
                  <a:srgbClr val="374151"/>
                </a:solidFill>
                <a:effectLst/>
                <a:latin typeface="Söhne"/>
              </a:rPr>
              <a:t>: Docker Hub is a popular public registry for Docker images. You can search for images on Docker Hub using the docker search command followed by a keyword. For example, </a:t>
            </a:r>
            <a:r>
              <a:rPr lang="en-ZA" b="1" i="0" dirty="0">
                <a:solidFill>
                  <a:srgbClr val="374151"/>
                </a:solidFill>
                <a:effectLst/>
                <a:latin typeface="Söhne"/>
              </a:rPr>
              <a:t>docker search nginx </a:t>
            </a:r>
            <a:r>
              <a:rPr lang="en-ZA" b="0" i="0" dirty="0">
                <a:solidFill>
                  <a:srgbClr val="374151"/>
                </a:solidFill>
                <a:effectLst/>
                <a:latin typeface="Söhne"/>
              </a:rPr>
              <a:t>will list available NGINX images.</a:t>
            </a:r>
          </a:p>
          <a:p>
            <a:endParaRPr lang="en-US" dirty="0"/>
          </a:p>
        </p:txBody>
      </p:sp>
    </p:spTree>
    <p:extLst>
      <p:ext uri="{BB962C8B-B14F-4D97-AF65-F5344CB8AC3E}">
        <p14:creationId xmlns:p14="http://schemas.microsoft.com/office/powerpoint/2010/main" val="1884728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Default bridge network</a:t>
            </a:r>
            <a:r>
              <a:rPr lang="en-ZA" sz="2400" b="0" i="0" dirty="0">
                <a:solidFill>
                  <a:srgbClr val="374151"/>
                </a:solidFill>
                <a:effectLst/>
                <a:latin typeface="Söhne"/>
              </a:rPr>
              <a:t>: When you create a Docker container without explicitly specifying a network, it is connected to the default bridge network. Containers on the same bridge network can communicate with each other using IP addresses. Docker assigns IP addresses from the same subnet to containers connected to the default bridge network, allowing them to communicate directly using those IP addresses.</a:t>
            </a:r>
          </a:p>
          <a:p>
            <a:pPr eaLnBrk="0" hangingPunct="0"/>
            <a:endParaRPr lang="en-US" sz="2400" dirty="0">
              <a:solidFill>
                <a:schemeClr val="tx1">
                  <a:lumMod val="95000"/>
                  <a:lumOff val="5000"/>
                </a:schemeClr>
              </a:solidFill>
            </a:endParaRPr>
          </a:p>
        </p:txBody>
      </p:sp>
    </p:spTree>
    <p:extLst>
      <p:ext uri="{BB962C8B-B14F-4D97-AF65-F5344CB8AC3E}">
        <p14:creationId xmlns:p14="http://schemas.microsoft.com/office/powerpoint/2010/main" val="245944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Explicitly creating a network</a:t>
            </a:r>
            <a:r>
              <a:rPr lang="en-ZA" sz="2400" b="0" i="0" dirty="0">
                <a:solidFill>
                  <a:srgbClr val="374151"/>
                </a:solidFill>
                <a:effectLst/>
                <a:latin typeface="Söhne"/>
              </a:rPr>
              <a:t>: Docker allows you to create custom networks using the docker network create command. Containers connected to the same custom network can communicate with each other using their container names or container IP addresses. This enables you to group related containers together and isolate them from containers in other networks.</a:t>
            </a:r>
          </a:p>
          <a:p>
            <a:pPr eaLnBrk="0" hangingPunct="0"/>
            <a:endParaRPr lang="en-US" sz="2400" dirty="0">
              <a:solidFill>
                <a:schemeClr val="tx1">
                  <a:lumMod val="95000"/>
                  <a:lumOff val="5000"/>
                </a:schemeClr>
              </a:solidFill>
            </a:endParaRPr>
          </a:p>
        </p:txBody>
      </p:sp>
    </p:spTree>
    <p:extLst>
      <p:ext uri="{BB962C8B-B14F-4D97-AF65-F5344CB8AC3E}">
        <p14:creationId xmlns:p14="http://schemas.microsoft.com/office/powerpoint/2010/main" val="393375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Linking containers</a:t>
            </a:r>
            <a:r>
              <a:rPr lang="en-ZA" sz="2400" b="0" i="0" dirty="0">
                <a:solidFill>
                  <a:srgbClr val="374151"/>
                </a:solidFill>
                <a:effectLst/>
                <a:latin typeface="Söhne"/>
              </a:rPr>
              <a:t>: Container linking is a legacy feature in Docker that allows one container to access another container's exposed ports and environment variables. By using the --link option during container creation, you can establish a secure tunnel between containers. This method is discouraged in </a:t>
            </a:r>
            <a:r>
              <a:rPr lang="en-ZA" sz="2400" b="0" i="0" dirty="0" err="1">
                <a:solidFill>
                  <a:srgbClr val="374151"/>
                </a:solidFill>
                <a:effectLst/>
                <a:latin typeface="Söhne"/>
              </a:rPr>
              <a:t>favor</a:t>
            </a:r>
            <a:r>
              <a:rPr lang="en-ZA" sz="2400" b="0" i="0" dirty="0">
                <a:solidFill>
                  <a:srgbClr val="374151"/>
                </a:solidFill>
                <a:effectLst/>
                <a:latin typeface="Söhne"/>
              </a:rPr>
              <a:t> of using user-defined networks for better flexibility and control.</a:t>
            </a:r>
          </a:p>
          <a:p>
            <a:pPr eaLnBrk="0" hangingPunct="0"/>
            <a:endParaRPr lang="en-US" sz="2400" dirty="0">
              <a:solidFill>
                <a:schemeClr val="tx1">
                  <a:lumMod val="95000"/>
                  <a:lumOff val="5000"/>
                </a:schemeClr>
              </a:solidFill>
            </a:endParaRPr>
          </a:p>
        </p:txBody>
      </p:sp>
    </p:spTree>
    <p:extLst>
      <p:ext uri="{BB962C8B-B14F-4D97-AF65-F5344CB8AC3E}">
        <p14:creationId xmlns:p14="http://schemas.microsoft.com/office/powerpoint/2010/main" val="2758336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Container DNS</a:t>
            </a:r>
            <a:r>
              <a:rPr lang="en-ZA" sz="2400" b="0" i="0" dirty="0">
                <a:solidFill>
                  <a:srgbClr val="374151"/>
                </a:solidFill>
                <a:effectLst/>
                <a:latin typeface="Söhne"/>
              </a:rPr>
              <a:t>: Docker provides a built-in DNS resolution mechanism that enables containers to communicate using container names as hostnames. Each container has its own DNS resolver, and by default, Docker configures it to resolve container names to their IP addresses. This allows containers to communicate with each other using the container name as the hostname.</a:t>
            </a:r>
          </a:p>
          <a:p>
            <a:pPr eaLnBrk="0" hangingPunct="0"/>
            <a:endParaRPr lang="en-US" sz="2400" dirty="0">
              <a:solidFill>
                <a:schemeClr val="tx1">
                  <a:lumMod val="95000"/>
                  <a:lumOff val="5000"/>
                </a:schemeClr>
              </a:solidFill>
            </a:endParaRPr>
          </a:p>
        </p:txBody>
      </p:sp>
    </p:spTree>
    <p:extLst>
      <p:ext uri="{BB962C8B-B14F-4D97-AF65-F5344CB8AC3E}">
        <p14:creationId xmlns:p14="http://schemas.microsoft.com/office/powerpoint/2010/main" val="2981077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Service discovery</a:t>
            </a:r>
            <a:r>
              <a:rPr lang="en-ZA" sz="2400" b="0" i="0" dirty="0">
                <a:solidFill>
                  <a:srgbClr val="374151"/>
                </a:solidFill>
                <a:effectLst/>
                <a:latin typeface="Söhne"/>
              </a:rPr>
              <a:t>: Docker also supports service discovery mechanisms that enable containers to discover and communicate with each other dynamically. Docker Swarm, for example, provides a built-in DNS-based service discovery system, where containers can refer to services by their service names, and Docker automatically routes the requests to the appropriate containers.</a:t>
            </a:r>
          </a:p>
          <a:p>
            <a:pPr eaLnBrk="0" hangingPunct="0"/>
            <a:endParaRPr lang="en-US" sz="2400" dirty="0">
              <a:solidFill>
                <a:schemeClr val="tx1">
                  <a:lumMod val="95000"/>
                  <a:lumOff val="5000"/>
                </a:schemeClr>
              </a:solidFill>
            </a:endParaRPr>
          </a:p>
        </p:txBody>
      </p:sp>
    </p:spTree>
    <p:extLst>
      <p:ext uri="{BB962C8B-B14F-4D97-AF65-F5344CB8AC3E}">
        <p14:creationId xmlns:p14="http://schemas.microsoft.com/office/powerpoint/2010/main" val="1380144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1569660"/>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effectLst/>
                <a:latin typeface="Söhne"/>
              </a:rPr>
              <a:t>Container ports</a:t>
            </a:r>
            <a:r>
              <a:rPr lang="en-ZA" sz="2400" b="0" i="0" dirty="0">
                <a:solidFill>
                  <a:srgbClr val="374151"/>
                </a:solidFill>
                <a:effectLst/>
                <a:latin typeface="Söhne"/>
              </a:rPr>
              <a:t>: Containers can expose specific ports, and other containers or external systems can communicate with them through those ports. By using the </a:t>
            </a:r>
            <a:r>
              <a:rPr lang="en-ZA" sz="2400" dirty="0"/>
              <a:t>-p</a:t>
            </a:r>
            <a:r>
              <a:rPr lang="en-ZA" sz="2400" b="0" i="0" dirty="0">
                <a:solidFill>
                  <a:srgbClr val="374151"/>
                </a:solidFill>
                <a:effectLst/>
                <a:latin typeface="Söhne"/>
              </a:rPr>
              <a:t> or </a:t>
            </a:r>
            <a:r>
              <a:rPr lang="en-ZA" sz="2400" dirty="0"/>
              <a:t>--publish</a:t>
            </a:r>
            <a:r>
              <a:rPr lang="en-ZA" sz="2400" b="0" i="0" dirty="0">
                <a:solidFill>
                  <a:srgbClr val="374151"/>
                </a:solidFill>
                <a:effectLst/>
                <a:latin typeface="Söhne"/>
              </a:rPr>
              <a:t> option during container creation, you can map container ports to host ports, allowing external systems to access the container services</a:t>
            </a:r>
            <a:endParaRPr lang="en-US" sz="2400" dirty="0">
              <a:solidFill>
                <a:schemeClr val="tx1">
                  <a:lumMod val="95000"/>
                  <a:lumOff val="5000"/>
                </a:schemeClr>
              </a:solidFill>
            </a:endParaRPr>
          </a:p>
        </p:txBody>
      </p:sp>
    </p:spTree>
    <p:extLst>
      <p:ext uri="{BB962C8B-B14F-4D97-AF65-F5344CB8AC3E}">
        <p14:creationId xmlns:p14="http://schemas.microsoft.com/office/powerpoint/2010/main" val="3014281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9788" y="457200"/>
            <a:ext cx="3932237" cy="1600200"/>
          </a:xfrm>
        </p:spPr>
        <p:txBody>
          <a:bodyPr vert="horz" lIns="91440" tIns="45720" rIns="91440" bIns="45720" rtlCol="0" anchor="b">
            <a:normAutofit/>
          </a:bodyPr>
          <a:lstStyle/>
          <a:p>
            <a:r>
              <a:rPr lang="en-US"/>
              <a:t>Persistance</a:t>
            </a:r>
            <a:r>
              <a:rPr lang="en-US" dirty="0"/>
              <a:t> of data in containers</a:t>
            </a:r>
          </a:p>
        </p:txBody>
      </p:sp>
      <p:pic>
        <p:nvPicPr>
          <p:cNvPr id="3" name="Picture 2" descr="A diagram of a container cluster&#10;&#10;Description automatically generated with medium confidence">
            <a:extLst>
              <a:ext uri="{FF2B5EF4-FFF2-40B4-BE49-F238E27FC236}">
                <a16:creationId xmlns:a16="http://schemas.microsoft.com/office/drawing/2014/main" id="{42529000-2E06-DFE7-6708-42D5BCE64A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86" y="987425"/>
            <a:ext cx="5854204" cy="4873625"/>
          </a:xfrm>
          <a:prstGeom prst="rect">
            <a:avLst/>
          </a:prstGeom>
          <a:noFill/>
        </p:spPr>
      </p:pic>
      <p:sp>
        <p:nvSpPr>
          <p:cNvPr id="15364" name="Text Box 4"/>
          <p:cNvSpPr txBox="1">
            <a:spLocks noChangeArrowheads="1"/>
          </p:cNvSpPr>
          <p:nvPr/>
        </p:nvSpPr>
        <p:spPr bwMode="auto">
          <a:xfrm>
            <a:off x="839788" y="2101850"/>
            <a:ext cx="3932237" cy="3759200"/>
          </a:xfrm>
          <a:prstGeom prst="rect">
            <a:avLst/>
          </a:prstGeom>
        </p:spPr>
        <p:txBody>
          <a:bodyPr vert="horz" lIns="91440" tIns="45720" rIns="91440" bIns="45720" rtlCol="0">
            <a:normAutofit/>
          </a:bodyPr>
          <a:lstStyle/>
          <a:p>
            <a:pPr>
              <a:lnSpc>
                <a:spcPct val="90000"/>
              </a:lnSpc>
              <a:spcBef>
                <a:spcPct val="30000"/>
              </a:spcBef>
            </a:pPr>
            <a:r>
              <a:rPr lang="en-US" sz="1600" b="0" i="0" kern="1200">
                <a:solidFill>
                  <a:srgbClr val="414141"/>
                </a:solidFill>
                <a:effectLst/>
                <a:latin typeface="Trebuchet MS" panose="020B0603020202020204" pitchFamily="34" charset="0"/>
                <a:ea typeface="Adobe Fan Heiti Std B" panose="020B0700000000000000" pitchFamily="34" charset="-128"/>
                <a:cs typeface="+mn-cs"/>
              </a:rPr>
              <a:t>Data persistence in containers is an important consideration when working with Docker. Containers, by default, are designed to be ephemeral, meaning that any data written inside a container is temporary and will be lost when the container is removed or stopped. However, Docker provides several mechanisms to handle data persistence. Here are some common approaches:</a:t>
            </a:r>
            <a:endParaRPr lang="en-US" sz="1600" kern="1200">
              <a:solidFill>
                <a:srgbClr val="414141"/>
              </a:solidFill>
              <a:latin typeface="Trebuchet MS" panose="020B0603020202020204" pitchFamily="34" charset="0"/>
              <a:ea typeface="Adobe Fan Heiti Std B" panose="020B0700000000000000" pitchFamily="34" charset="-128"/>
              <a:cs typeface="+mn-cs"/>
            </a:endParaRPr>
          </a:p>
        </p:txBody>
      </p:sp>
    </p:spTree>
    <p:extLst>
      <p:ext uri="{BB962C8B-B14F-4D97-AF65-F5344CB8AC3E}">
        <p14:creationId xmlns:p14="http://schemas.microsoft.com/office/powerpoint/2010/main" val="359553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Volumes</a:t>
            </a:r>
            <a:r>
              <a:rPr lang="en-ZA" sz="2400" b="0" i="0" dirty="0">
                <a:solidFill>
                  <a:srgbClr val="374151"/>
                </a:solidFill>
                <a:effectLst/>
                <a:latin typeface="Söhne"/>
              </a:rPr>
              <a:t>: Volumes are the recommended way to handle data persistence in Docker containers. A volume is a separately managed directory on the host or within Docker's storage system that can be mounted into one or more containers. Volumes allow data to be stored outside the container's lifecycle, ensuring that it persists even if the container is removed. You can create and manage volumes using the docker volume command or by specifying volume mounts in the docker run command.</a:t>
            </a:r>
          </a:p>
        </p:txBody>
      </p:sp>
    </p:spTree>
    <p:extLst>
      <p:ext uri="{BB962C8B-B14F-4D97-AF65-F5344CB8AC3E}">
        <p14:creationId xmlns:p14="http://schemas.microsoft.com/office/powerpoint/2010/main" val="2536004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2308324"/>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Bind mounts</a:t>
            </a:r>
            <a:r>
              <a:rPr lang="en-ZA" sz="2400" b="0" i="0" dirty="0">
                <a:solidFill>
                  <a:srgbClr val="374151"/>
                </a:solidFill>
                <a:effectLst/>
                <a:latin typeface="Söhne"/>
              </a:rPr>
              <a:t>: Bind mounts provide a way to directly mount a directory from the host machine into a container. With bind mounts, the data is stored on the host file system, and any changes made inside the container are reflected on the host and vice versa. This allows you to leverage the host's file system for data persistence. Bind mounts are created by specifying the source and target directories in the docker run command using the -v or --volume flag.</a:t>
            </a:r>
          </a:p>
        </p:txBody>
      </p:sp>
    </p:spTree>
    <p:extLst>
      <p:ext uri="{BB962C8B-B14F-4D97-AF65-F5344CB8AC3E}">
        <p14:creationId xmlns:p14="http://schemas.microsoft.com/office/powerpoint/2010/main" val="2030946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1938992"/>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Named volumes</a:t>
            </a:r>
            <a:r>
              <a:rPr lang="en-ZA" sz="2400" b="0" i="0" dirty="0">
                <a:solidFill>
                  <a:srgbClr val="374151"/>
                </a:solidFill>
                <a:effectLst/>
                <a:latin typeface="Söhne"/>
              </a:rPr>
              <a:t>: Named volumes are a specific type of volume that is given a user-friendly name and managed by Docker. Named volumes abstract the underlying storage location, making it easier to manage and share data across containers. You can create and use named volumes using the docker volume command or by specifying the volume name in the docker run command.</a:t>
            </a:r>
          </a:p>
        </p:txBody>
      </p:sp>
    </p:spTree>
    <p:extLst>
      <p:ext uri="{BB962C8B-B14F-4D97-AF65-F5344CB8AC3E}">
        <p14:creationId xmlns:p14="http://schemas.microsoft.com/office/powerpoint/2010/main" val="927632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228600"/>
            <a:ext cx="10972800" cy="609600"/>
          </a:xfrm>
        </p:spPr>
        <p:txBody>
          <a:bodyPr>
            <a:normAutofit fontScale="90000"/>
          </a:bodyPr>
          <a:lstStyle/>
          <a:p>
            <a:r>
              <a:rPr lang="en-US" dirty="0"/>
              <a:t>Continue..</a:t>
            </a:r>
          </a:p>
        </p:txBody>
      </p:sp>
      <p:sp>
        <p:nvSpPr>
          <p:cNvPr id="15364" name="Text Box 4"/>
          <p:cNvSpPr txBox="1">
            <a:spLocks noChangeArrowheads="1"/>
          </p:cNvSpPr>
          <p:nvPr/>
        </p:nvSpPr>
        <p:spPr bwMode="auto">
          <a:xfrm>
            <a:off x="609600" y="990600"/>
            <a:ext cx="11430000" cy="1569660"/>
          </a:xfrm>
          <a:prstGeom prst="rect">
            <a:avLst/>
          </a:prstGeom>
          <a:noFill/>
          <a:ln w="12700">
            <a:noFill/>
            <a:miter lim="800000"/>
            <a:headEnd type="none" w="sm" len="sm"/>
            <a:tailEnd type="none" w="sm" len="sm"/>
          </a:ln>
          <a:effectLst/>
        </p:spPr>
        <p:txBody>
          <a:bodyPr wrap="square">
            <a:spAutoFit/>
          </a:bodyPr>
          <a:lstStyle/>
          <a:p>
            <a:pPr algn="l">
              <a:buFont typeface="+mj-lt"/>
              <a:buAutoNum type="arabicPeriod"/>
            </a:pPr>
            <a:r>
              <a:rPr lang="en-ZA" sz="2400" b="1" i="0" dirty="0">
                <a:solidFill>
                  <a:srgbClr val="374151"/>
                </a:solidFill>
                <a:effectLst/>
                <a:latin typeface="Söhne"/>
              </a:rPr>
              <a:t>Temporary storage</a:t>
            </a:r>
            <a:r>
              <a:rPr lang="en-ZA" sz="2400" b="0" i="0" dirty="0">
                <a:solidFill>
                  <a:srgbClr val="374151"/>
                </a:solidFill>
                <a:effectLst/>
                <a:latin typeface="Söhne"/>
              </a:rPr>
              <a:t>: Containers also have a temporary storage area called the container's filesystem. Data written to this filesystem will be lost when the container is removed. However, you can still use this temporary storage for temporary files or caches that do not need to persist.</a:t>
            </a:r>
          </a:p>
        </p:txBody>
      </p:sp>
    </p:spTree>
    <p:extLst>
      <p:ext uri="{BB962C8B-B14F-4D97-AF65-F5344CB8AC3E}">
        <p14:creationId xmlns:p14="http://schemas.microsoft.com/office/powerpoint/2010/main" val="1625137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196353"/>
            <a:ext cx="10972800" cy="609600"/>
          </a:xfrm>
        </p:spPr>
        <p:txBody>
          <a:bodyPr>
            <a:normAutofit fontScale="90000"/>
          </a:bodyPr>
          <a:lstStyle/>
          <a:p>
            <a:pPr algn="ctr"/>
            <a:r>
              <a:rPr lang="en-US" dirty="0"/>
              <a:t>EXERCISE……</a:t>
            </a:r>
          </a:p>
        </p:txBody>
      </p:sp>
    </p:spTree>
    <p:extLst>
      <p:ext uri="{BB962C8B-B14F-4D97-AF65-F5344CB8AC3E}">
        <p14:creationId xmlns:p14="http://schemas.microsoft.com/office/powerpoint/2010/main" val="2418456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763588" y="533400"/>
            <a:ext cx="10437812" cy="5638800"/>
          </a:xfrm>
        </p:spPr>
        <p:txBody>
          <a:bodyPr>
            <a:noAutofit/>
          </a:bodyPr>
          <a:lstStyle/>
          <a:p>
            <a:pPr algn="l"/>
            <a:r>
              <a:rPr lang="en-ZA" sz="1800" dirty="0"/>
              <a:t>pull a docker container- </a:t>
            </a:r>
            <a:r>
              <a:rPr lang="en-ZA" sz="1800" i="1" dirty="0"/>
              <a:t>docker pull</a:t>
            </a:r>
          </a:p>
          <a:p>
            <a:pPr algn="l"/>
            <a:r>
              <a:rPr lang="en-ZA" sz="1800" dirty="0"/>
              <a:t>Run a docker container- </a:t>
            </a:r>
            <a:r>
              <a:rPr lang="en-ZA" sz="1800" i="1" dirty="0"/>
              <a:t>docker run &lt;container name/ID&gt;</a:t>
            </a:r>
          </a:p>
          <a:p>
            <a:pPr algn="l"/>
            <a:r>
              <a:rPr lang="en-ZA" sz="1800" dirty="0"/>
              <a:t>Check the images on the host – </a:t>
            </a:r>
            <a:r>
              <a:rPr lang="en-ZA" sz="1800" i="1" dirty="0"/>
              <a:t>docker images</a:t>
            </a:r>
          </a:p>
          <a:p>
            <a:pPr algn="l"/>
            <a:r>
              <a:rPr lang="en-ZA" sz="1800" dirty="0"/>
              <a:t>Checking what containers are running – </a:t>
            </a:r>
            <a:r>
              <a:rPr lang="en-ZA" sz="1800" i="1" dirty="0"/>
              <a:t>docker </a:t>
            </a:r>
            <a:r>
              <a:rPr lang="en-ZA" sz="1800" i="1" dirty="0" err="1"/>
              <a:t>ps</a:t>
            </a:r>
            <a:r>
              <a:rPr lang="en-ZA" sz="1800" i="1" dirty="0"/>
              <a:t> -a</a:t>
            </a:r>
          </a:p>
          <a:p>
            <a:pPr algn="l"/>
            <a:r>
              <a:rPr lang="en-ZA" sz="1800" dirty="0"/>
              <a:t>Port forward – docker run  –p </a:t>
            </a:r>
            <a:r>
              <a:rPr lang="en-ZA" sz="1800" dirty="0" err="1"/>
              <a:t>hostport:containerport</a:t>
            </a:r>
            <a:r>
              <a:rPr lang="en-ZA" sz="1800" dirty="0"/>
              <a:t> &lt;container ID/Name&gt; </a:t>
            </a:r>
          </a:p>
          <a:p>
            <a:pPr algn="l"/>
            <a:r>
              <a:rPr lang="en-ZA" sz="1800" dirty="0"/>
              <a:t>Create a network - </a:t>
            </a:r>
            <a:r>
              <a:rPr lang="en-ZA" sz="1800" i="1" dirty="0"/>
              <a:t>docker create network</a:t>
            </a:r>
          </a:p>
          <a:p>
            <a:pPr algn="l"/>
            <a:r>
              <a:rPr lang="en-ZA" sz="1800" dirty="0"/>
              <a:t>Connect to a container – </a:t>
            </a:r>
            <a:r>
              <a:rPr lang="en-ZA" sz="1800" i="1" dirty="0"/>
              <a:t>docker exec –it &lt;container ID/Name&gt; /bin/bash</a:t>
            </a:r>
          </a:p>
          <a:p>
            <a:pPr algn="l"/>
            <a:r>
              <a:rPr lang="en-ZA" sz="1800" dirty="0"/>
              <a:t>Tag an image – </a:t>
            </a:r>
            <a:r>
              <a:rPr lang="en-ZA" sz="1800" i="1" dirty="0"/>
              <a:t>docker run –t &lt;name&gt; .</a:t>
            </a:r>
          </a:p>
          <a:p>
            <a:pPr algn="l"/>
            <a:r>
              <a:rPr lang="en-ZA" sz="1800" dirty="0"/>
              <a:t>Search for an image- </a:t>
            </a:r>
            <a:r>
              <a:rPr lang="en-ZA" sz="1800" i="1" dirty="0"/>
              <a:t>docker search &lt;image&gt;</a:t>
            </a:r>
          </a:p>
          <a:p>
            <a:pPr algn="l"/>
            <a:r>
              <a:rPr lang="en-ZA" sz="1800" dirty="0"/>
              <a:t>Remove images- </a:t>
            </a:r>
            <a:r>
              <a:rPr lang="en-ZA" sz="1800" i="1" dirty="0"/>
              <a:t>docker </a:t>
            </a:r>
            <a:r>
              <a:rPr lang="en-ZA" sz="1800" i="1" dirty="0" err="1"/>
              <a:t>rmi</a:t>
            </a:r>
            <a:r>
              <a:rPr lang="en-ZA" sz="1800" i="1" dirty="0"/>
              <a:t> &lt;container ID/Name&gt;</a:t>
            </a:r>
          </a:p>
          <a:p>
            <a:pPr algn="l"/>
            <a:endParaRPr lang="en-ZA" sz="1800" i="1" dirty="0"/>
          </a:p>
          <a:p>
            <a:pPr algn="l"/>
            <a:r>
              <a:rPr lang="en-ZA" sz="1800" i="1" dirty="0"/>
              <a:t>EXERCISE </a:t>
            </a:r>
          </a:p>
          <a:p>
            <a:pPr algn="l"/>
            <a:r>
              <a:rPr lang="en-ZA" sz="1800" i="1" dirty="0"/>
              <a:t>1)Pull a nginx image , and have it running , map it so you can see its contents on host web page</a:t>
            </a:r>
          </a:p>
          <a:p>
            <a:pPr algn="l"/>
            <a:endParaRPr lang="en-ZA" sz="1800" i="1" dirty="0"/>
          </a:p>
          <a:p>
            <a:pPr algn="l"/>
            <a:r>
              <a:rPr lang="en-ZA" sz="1800" i="1" dirty="0"/>
              <a:t>2)Create a </a:t>
            </a:r>
            <a:r>
              <a:rPr lang="en-ZA" sz="1800" i="1" dirty="0" err="1"/>
              <a:t>Dockerfile</a:t>
            </a:r>
            <a:r>
              <a:rPr lang="en-ZA" sz="1800" i="1" dirty="0"/>
              <a:t> that will pull an nginx image, and then copies the file </a:t>
            </a:r>
            <a:r>
              <a:rPr lang="en-ZA" sz="1800" i="1" dirty="0" err="1"/>
              <a:t>index.html</a:t>
            </a:r>
            <a:r>
              <a:rPr lang="en-ZA" sz="1800" i="1" dirty="0"/>
              <a:t>(should contain the below contents) to </a:t>
            </a:r>
            <a:r>
              <a:rPr lang="en-ZA" sz="2000" dirty="0"/>
              <a:t>/</a:t>
            </a:r>
            <a:r>
              <a:rPr lang="en-ZA" sz="2000" dirty="0" err="1"/>
              <a:t>usr</a:t>
            </a:r>
            <a:r>
              <a:rPr lang="en-ZA" sz="2000" dirty="0"/>
              <a:t>/share/nginx/html </a:t>
            </a:r>
            <a:r>
              <a:rPr lang="en-ZA" sz="1800" i="1" dirty="0"/>
              <a:t>and have it start the webserver, and show the contents of the file</a:t>
            </a:r>
          </a:p>
          <a:p>
            <a:pPr algn="l"/>
            <a:endParaRPr lang="en-ZA" sz="1800" dirty="0"/>
          </a:p>
          <a:p>
            <a:pPr algn="l"/>
            <a:br>
              <a:rPr lang="en-ZA" sz="1800" dirty="0"/>
            </a:br>
            <a:endParaRPr lang="en-ZA" sz="1800" dirty="0"/>
          </a:p>
          <a:p>
            <a:pPr marL="0" indent="0">
              <a:buNone/>
            </a:pPr>
            <a:endParaRPr lang="en-ZA" sz="1800" b="0" i="0" dirty="0">
              <a:effectLst/>
            </a:endParaRPr>
          </a:p>
          <a:p>
            <a:pPr marL="0" indent="0">
              <a:buNone/>
            </a:pPr>
            <a:endParaRPr lang="en-ZA" sz="1800" u="sng" dirty="0"/>
          </a:p>
          <a:p>
            <a:pPr marL="0" indent="0">
              <a:buNone/>
            </a:pPr>
            <a:endParaRPr lang="en-ZA" sz="1800" b="1" i="0" u="sng" dirty="0">
              <a:effectLst/>
            </a:endParaRPr>
          </a:p>
          <a:p>
            <a:pPr marL="0" indent="0">
              <a:buNone/>
            </a:pPr>
            <a:endParaRPr lang="en-ZA" sz="1800" b="1" i="0" u="sng" dirty="0">
              <a:effectLst/>
            </a:endParaRPr>
          </a:p>
        </p:txBody>
      </p:sp>
      <p:sp>
        <p:nvSpPr>
          <p:cNvPr id="10" name="TextBox 9">
            <a:extLst>
              <a:ext uri="{FF2B5EF4-FFF2-40B4-BE49-F238E27FC236}">
                <a16:creationId xmlns:a16="http://schemas.microsoft.com/office/drawing/2014/main" id="{EB41F961-B81D-FF15-9A67-43F95F734AB5}"/>
              </a:ext>
            </a:extLst>
          </p:cNvPr>
          <p:cNvSpPr txBox="1"/>
          <p:nvPr/>
        </p:nvSpPr>
        <p:spPr>
          <a:xfrm>
            <a:off x="990600" y="4648200"/>
            <a:ext cx="10210800" cy="646331"/>
          </a:xfrm>
          <a:prstGeom prst="rect">
            <a:avLst/>
          </a:prstGeom>
          <a:noFill/>
        </p:spPr>
        <p:txBody>
          <a:bodyPr wrap="square">
            <a:spAutoFit/>
          </a:bodyPr>
          <a:lstStyle/>
          <a:p>
            <a:br>
              <a:rPr lang="en-ZA" dirty="0"/>
            </a:br>
            <a:endParaRPr lang="en-ZA" b="0" i="0" dirty="0">
              <a:solidFill>
                <a:srgbClr val="374151"/>
              </a:solidFill>
              <a:effectLst/>
              <a:latin typeface="Söhne"/>
            </a:endParaRPr>
          </a:p>
        </p:txBody>
      </p:sp>
    </p:spTree>
    <p:extLst>
      <p:ext uri="{BB962C8B-B14F-4D97-AF65-F5344CB8AC3E}">
        <p14:creationId xmlns:p14="http://schemas.microsoft.com/office/powerpoint/2010/main" val="152967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763588" y="533400"/>
            <a:ext cx="10437812" cy="5638800"/>
          </a:xfrm>
        </p:spPr>
        <p:txBody>
          <a:bodyPr>
            <a:noAutofit/>
          </a:bodyPr>
          <a:lstStyle/>
          <a:p>
            <a:pPr algn="l"/>
            <a:r>
              <a:rPr lang="en-ZA" sz="2000" b="0" i="0" dirty="0" err="1">
                <a:solidFill>
                  <a:srgbClr val="1FBF51"/>
                </a:solidFill>
                <a:effectLst/>
                <a:latin typeface="Consolas" panose="020B0609020204030204" pitchFamily="49" charset="0"/>
              </a:rPr>
              <a:t>Index.</a:t>
            </a:r>
            <a:r>
              <a:rPr lang="en-ZA" sz="2000" dirty="0" err="1">
                <a:solidFill>
                  <a:srgbClr val="1FBF51"/>
                </a:solidFill>
                <a:latin typeface="Consolas" panose="020B0609020204030204" pitchFamily="49" charset="0"/>
              </a:rPr>
              <a:t>html</a:t>
            </a:r>
            <a:endParaRPr lang="en-ZA" sz="2000" b="0" i="0" dirty="0">
              <a:solidFill>
                <a:srgbClr val="1FBF51"/>
              </a:solidFill>
              <a:effectLst/>
              <a:latin typeface="Consolas" panose="020B0609020204030204" pitchFamily="49" charset="0"/>
            </a:endParaRPr>
          </a:p>
          <a:p>
            <a:pPr algn="l"/>
            <a:endParaRPr lang="en-ZA" sz="2000" dirty="0">
              <a:solidFill>
                <a:srgbClr val="1FBF51"/>
              </a:solidFill>
              <a:latin typeface="Consolas" panose="020B0609020204030204" pitchFamily="49" charset="0"/>
            </a:endParaRPr>
          </a:p>
          <a:p>
            <a:pPr algn="l"/>
            <a:r>
              <a:rPr lang="en-ZA" sz="1400" b="0" i="0" dirty="0">
                <a:solidFill>
                  <a:srgbClr val="1FBF51"/>
                </a:solidFill>
                <a:effectLst/>
                <a:latin typeface="Consolas" panose="020B0609020204030204" pitchFamily="49" charset="0"/>
              </a:rPr>
              <a:t># </a:t>
            </a:r>
            <a:r>
              <a:rPr lang="en-ZA" sz="1400" b="1" i="0" dirty="0">
                <a:solidFill>
                  <a:srgbClr val="97CE01"/>
                </a:solidFill>
                <a:effectLst/>
                <a:latin typeface="Consolas" panose="020B0609020204030204" pitchFamily="49" charset="0"/>
              </a:rPr>
              <a:t>curl http://localhost</a:t>
            </a:r>
            <a:r>
              <a:rPr lang="en-ZA" sz="1400" b="0" i="0" dirty="0">
                <a:solidFill>
                  <a:srgbClr val="1FBF51"/>
                </a:solidFill>
                <a:effectLst/>
                <a:latin typeface="Consolas" panose="020B0609020204030204" pitchFamily="49" charset="0"/>
              </a:rPr>
              <a:t> </a:t>
            </a:r>
          </a:p>
          <a:p>
            <a:pPr algn="l"/>
            <a:r>
              <a:rPr lang="en-ZA" sz="1400" b="0" i="0" dirty="0">
                <a:solidFill>
                  <a:srgbClr val="1FBF51"/>
                </a:solidFill>
                <a:effectLst/>
                <a:latin typeface="Consolas" panose="020B0609020204030204" pitchFamily="49" charset="0"/>
              </a:rPr>
              <a:t>&lt;!DOCTYPE html&gt; </a:t>
            </a:r>
          </a:p>
          <a:p>
            <a:pPr algn="l"/>
            <a:r>
              <a:rPr lang="en-ZA" sz="1400" b="0" i="0" dirty="0">
                <a:solidFill>
                  <a:srgbClr val="1FBF51"/>
                </a:solidFill>
                <a:effectLst/>
                <a:latin typeface="Consolas" panose="020B0609020204030204" pitchFamily="49" charset="0"/>
              </a:rPr>
              <a:t>&lt;html&gt; </a:t>
            </a:r>
          </a:p>
          <a:p>
            <a:pPr algn="l"/>
            <a:r>
              <a:rPr lang="en-ZA" sz="1400" b="0" i="0" dirty="0">
                <a:solidFill>
                  <a:srgbClr val="1FBF51"/>
                </a:solidFill>
                <a:effectLst/>
                <a:latin typeface="Consolas" panose="020B0609020204030204" pitchFamily="49" charset="0"/>
              </a:rPr>
              <a:t>&lt;head&gt; </a:t>
            </a:r>
          </a:p>
          <a:p>
            <a:pPr algn="l"/>
            <a:r>
              <a:rPr lang="en-ZA" sz="1400" b="0" i="0" dirty="0">
                <a:solidFill>
                  <a:srgbClr val="1FBF51"/>
                </a:solidFill>
                <a:effectLst/>
                <a:latin typeface="Consolas" panose="020B0609020204030204" pitchFamily="49" charset="0"/>
              </a:rPr>
              <a:t>&lt;title&gt;Welcome to nginx!&lt;/title&gt;</a:t>
            </a:r>
          </a:p>
          <a:p>
            <a:pPr algn="l"/>
            <a:r>
              <a:rPr lang="en-ZA" sz="1400" b="0" i="0" dirty="0">
                <a:solidFill>
                  <a:srgbClr val="1FBF51"/>
                </a:solidFill>
                <a:effectLst/>
                <a:latin typeface="Consolas" panose="020B0609020204030204" pitchFamily="49" charset="0"/>
              </a:rPr>
              <a:t>&lt;style&gt; body { width: 35em; margin: 0 auto; font-family: Tahoma, Verdana, Arial, sans-serif; } </a:t>
            </a:r>
          </a:p>
          <a:p>
            <a:pPr algn="l"/>
            <a:r>
              <a:rPr lang="en-ZA" sz="1400" b="0" i="0" dirty="0">
                <a:solidFill>
                  <a:srgbClr val="1FBF51"/>
                </a:solidFill>
                <a:effectLst/>
                <a:latin typeface="Consolas" panose="020B0609020204030204" pitchFamily="49" charset="0"/>
              </a:rPr>
              <a:t>&lt;/style&gt; </a:t>
            </a:r>
          </a:p>
          <a:p>
            <a:pPr algn="l"/>
            <a:r>
              <a:rPr lang="en-ZA" sz="1400" b="0" i="0" dirty="0">
                <a:solidFill>
                  <a:srgbClr val="1FBF51"/>
                </a:solidFill>
                <a:effectLst/>
                <a:latin typeface="Consolas" panose="020B0609020204030204" pitchFamily="49" charset="0"/>
              </a:rPr>
              <a:t>&lt;/head&gt; </a:t>
            </a:r>
          </a:p>
          <a:p>
            <a:pPr algn="l"/>
            <a:r>
              <a:rPr lang="en-ZA" sz="1400" b="0" i="0" dirty="0">
                <a:solidFill>
                  <a:srgbClr val="1FBF51"/>
                </a:solidFill>
                <a:effectLst/>
                <a:latin typeface="Consolas" panose="020B0609020204030204" pitchFamily="49" charset="0"/>
              </a:rPr>
              <a:t>&lt;body&gt; </a:t>
            </a:r>
          </a:p>
          <a:p>
            <a:pPr algn="l"/>
            <a:r>
              <a:rPr lang="en-ZA" sz="1400" b="0" i="0" dirty="0">
                <a:solidFill>
                  <a:srgbClr val="1FBF51"/>
                </a:solidFill>
                <a:effectLst/>
                <a:latin typeface="Consolas" panose="020B0609020204030204" pitchFamily="49" charset="0"/>
              </a:rPr>
              <a:t>&lt;h1&gt;Welcome to nginx!&lt;/h1&gt; </a:t>
            </a:r>
          </a:p>
          <a:p>
            <a:pPr algn="l"/>
            <a:r>
              <a:rPr lang="en-ZA" sz="1400" b="0" i="0" dirty="0">
                <a:solidFill>
                  <a:srgbClr val="1FBF51"/>
                </a:solidFill>
                <a:effectLst/>
                <a:latin typeface="Consolas" panose="020B0609020204030204" pitchFamily="49" charset="0"/>
              </a:rPr>
              <a:t>&lt;p&gt;If you see this page, the nginx web server is successfully installed and working. Further configuration is required.&lt;/p&gt;</a:t>
            </a:r>
          </a:p>
          <a:p>
            <a:pPr algn="l"/>
            <a:r>
              <a:rPr lang="en-ZA" sz="1400" b="0" i="0" dirty="0">
                <a:solidFill>
                  <a:srgbClr val="1FBF51"/>
                </a:solidFill>
                <a:effectLst/>
                <a:latin typeface="Consolas" panose="020B0609020204030204" pitchFamily="49" charset="0"/>
              </a:rPr>
              <a:t> &lt;p&gt;For online documentation and support please refer to &lt;a </a:t>
            </a:r>
            <a:r>
              <a:rPr lang="en-ZA" sz="1400" b="0" i="0" dirty="0" err="1">
                <a:solidFill>
                  <a:srgbClr val="1FBF51"/>
                </a:solidFill>
                <a:effectLst/>
                <a:latin typeface="Consolas" panose="020B0609020204030204" pitchFamily="49" charset="0"/>
              </a:rPr>
              <a:t>href</a:t>
            </a:r>
            <a:r>
              <a:rPr lang="en-ZA" sz="1400" b="0" i="0" dirty="0">
                <a:solidFill>
                  <a:srgbClr val="1FBF51"/>
                </a:solidFill>
                <a:effectLst/>
                <a:latin typeface="Consolas" panose="020B0609020204030204" pitchFamily="49" charset="0"/>
              </a:rPr>
              <a:t>="http://</a:t>
            </a:r>
            <a:r>
              <a:rPr lang="en-ZA" sz="1400" b="0" i="0" dirty="0" err="1">
                <a:solidFill>
                  <a:srgbClr val="1FBF51"/>
                </a:solidFill>
                <a:effectLst/>
                <a:latin typeface="Consolas" panose="020B0609020204030204" pitchFamily="49" charset="0"/>
              </a:rPr>
              <a:t>nginx.org</a:t>
            </a:r>
            <a:r>
              <a:rPr lang="en-ZA" sz="1400" b="0" i="0" dirty="0">
                <a:solidFill>
                  <a:srgbClr val="1FBF51"/>
                </a:solidFill>
                <a:effectLst/>
                <a:latin typeface="Consolas" panose="020B0609020204030204" pitchFamily="49" charset="0"/>
              </a:rPr>
              <a:t>/"&gt;</a:t>
            </a:r>
            <a:r>
              <a:rPr lang="en-ZA" sz="1400" b="0" i="0" dirty="0" err="1">
                <a:solidFill>
                  <a:srgbClr val="1FBF51"/>
                </a:solidFill>
                <a:effectLst/>
                <a:latin typeface="Consolas" panose="020B0609020204030204" pitchFamily="49" charset="0"/>
              </a:rPr>
              <a:t>nginx.org</a:t>
            </a:r>
            <a:r>
              <a:rPr lang="en-ZA" sz="1400" b="0" i="0" dirty="0">
                <a:solidFill>
                  <a:srgbClr val="1FBF51"/>
                </a:solidFill>
                <a:effectLst/>
                <a:latin typeface="Consolas" panose="020B0609020204030204" pitchFamily="49" charset="0"/>
              </a:rPr>
              <a:t>&lt;/a&gt;.&lt;</a:t>
            </a:r>
            <a:r>
              <a:rPr lang="en-ZA" sz="1400" b="0" i="0" dirty="0" err="1">
                <a:solidFill>
                  <a:srgbClr val="1FBF51"/>
                </a:solidFill>
                <a:effectLst/>
                <a:latin typeface="Consolas" panose="020B0609020204030204" pitchFamily="49" charset="0"/>
              </a:rPr>
              <a:t>br</a:t>
            </a:r>
            <a:r>
              <a:rPr lang="en-ZA" sz="1400" b="0" i="0" dirty="0">
                <a:solidFill>
                  <a:srgbClr val="1FBF51"/>
                </a:solidFill>
                <a:effectLst/>
                <a:latin typeface="Consolas" panose="020B0609020204030204" pitchFamily="49" charset="0"/>
              </a:rPr>
              <a:t>/&gt; Commercial support is available at &lt;a </a:t>
            </a:r>
            <a:r>
              <a:rPr lang="en-ZA" sz="1400" b="0" i="0" dirty="0" err="1">
                <a:solidFill>
                  <a:srgbClr val="1FBF51"/>
                </a:solidFill>
                <a:effectLst/>
                <a:latin typeface="Consolas" panose="020B0609020204030204" pitchFamily="49" charset="0"/>
              </a:rPr>
              <a:t>href</a:t>
            </a:r>
            <a:r>
              <a:rPr lang="en-ZA" sz="1400" b="0" i="0" dirty="0">
                <a:solidFill>
                  <a:srgbClr val="1FBF51"/>
                </a:solidFill>
                <a:effectLst/>
                <a:latin typeface="Consolas" panose="020B0609020204030204" pitchFamily="49" charset="0"/>
              </a:rPr>
              <a:t>="https://</a:t>
            </a:r>
            <a:r>
              <a:rPr lang="en-ZA" sz="1400" b="0" i="0" dirty="0" err="1">
                <a:solidFill>
                  <a:srgbClr val="1FBF51"/>
                </a:solidFill>
                <a:effectLst/>
                <a:latin typeface="Consolas" panose="020B0609020204030204" pitchFamily="49" charset="0"/>
              </a:rPr>
              <a:t>www.nginx.com</a:t>
            </a:r>
            <a:r>
              <a:rPr lang="en-ZA" sz="1400" b="0" i="0" dirty="0">
                <a:solidFill>
                  <a:srgbClr val="1FBF51"/>
                </a:solidFill>
                <a:effectLst/>
                <a:latin typeface="Consolas" panose="020B0609020204030204" pitchFamily="49" charset="0"/>
              </a:rPr>
              <a:t>/"&gt;</a:t>
            </a:r>
            <a:r>
              <a:rPr lang="en-ZA" sz="1400" b="0" i="0" dirty="0" err="1">
                <a:solidFill>
                  <a:srgbClr val="1FBF51"/>
                </a:solidFill>
                <a:effectLst/>
                <a:latin typeface="Consolas" panose="020B0609020204030204" pitchFamily="49" charset="0"/>
              </a:rPr>
              <a:t>nginx.com</a:t>
            </a:r>
            <a:r>
              <a:rPr lang="en-ZA" sz="1400" b="0" i="0" dirty="0">
                <a:solidFill>
                  <a:srgbClr val="1FBF51"/>
                </a:solidFill>
                <a:effectLst/>
                <a:latin typeface="Consolas" panose="020B0609020204030204" pitchFamily="49" charset="0"/>
              </a:rPr>
              <a:t>&lt;/a&gt;.&lt;/p&gt;</a:t>
            </a:r>
          </a:p>
          <a:p>
            <a:pPr algn="l"/>
            <a:r>
              <a:rPr lang="en-ZA" sz="1400" b="0" i="0" dirty="0">
                <a:solidFill>
                  <a:srgbClr val="1FBF51"/>
                </a:solidFill>
                <a:effectLst/>
                <a:latin typeface="Consolas" panose="020B0609020204030204" pitchFamily="49" charset="0"/>
              </a:rPr>
              <a:t> &lt;p&gt;&lt;</a:t>
            </a:r>
            <a:r>
              <a:rPr lang="en-ZA" sz="1400" b="0" i="0" dirty="0" err="1">
                <a:solidFill>
                  <a:srgbClr val="1FBF51"/>
                </a:solidFill>
                <a:effectLst/>
                <a:latin typeface="Consolas" panose="020B0609020204030204" pitchFamily="49" charset="0"/>
              </a:rPr>
              <a:t>em</a:t>
            </a:r>
            <a:r>
              <a:rPr lang="en-ZA" sz="1400" b="0" i="0" dirty="0">
                <a:solidFill>
                  <a:srgbClr val="1FBF51"/>
                </a:solidFill>
                <a:effectLst/>
                <a:latin typeface="Consolas" panose="020B0609020204030204" pitchFamily="49" charset="0"/>
              </a:rPr>
              <a:t>&gt;Thank you for using nginx.&lt;/</a:t>
            </a:r>
            <a:r>
              <a:rPr lang="en-ZA" sz="1400" b="0" i="0" dirty="0" err="1">
                <a:solidFill>
                  <a:srgbClr val="1FBF51"/>
                </a:solidFill>
                <a:effectLst/>
                <a:latin typeface="Consolas" panose="020B0609020204030204" pitchFamily="49" charset="0"/>
              </a:rPr>
              <a:t>em</a:t>
            </a:r>
            <a:r>
              <a:rPr lang="en-ZA" sz="1400" b="0" i="0" dirty="0">
                <a:solidFill>
                  <a:srgbClr val="1FBF51"/>
                </a:solidFill>
                <a:effectLst/>
                <a:latin typeface="Consolas" panose="020B0609020204030204" pitchFamily="49" charset="0"/>
              </a:rPr>
              <a:t>&gt;&lt;/p&gt; </a:t>
            </a:r>
          </a:p>
          <a:p>
            <a:pPr algn="l"/>
            <a:r>
              <a:rPr lang="en-ZA" sz="1400" b="0" i="0" dirty="0">
                <a:solidFill>
                  <a:srgbClr val="1FBF51"/>
                </a:solidFill>
                <a:effectLst/>
                <a:latin typeface="Consolas" panose="020B0609020204030204" pitchFamily="49" charset="0"/>
              </a:rPr>
              <a:t>&lt;/body&gt; </a:t>
            </a:r>
          </a:p>
          <a:p>
            <a:pPr algn="l"/>
            <a:r>
              <a:rPr lang="en-ZA" sz="1400" b="0" i="0" dirty="0">
                <a:solidFill>
                  <a:srgbClr val="1FBF51"/>
                </a:solidFill>
                <a:effectLst/>
                <a:latin typeface="Consolas" panose="020B0609020204030204" pitchFamily="49" charset="0"/>
              </a:rPr>
              <a:t>&lt;/html&gt;</a:t>
            </a:r>
            <a:endParaRPr lang="en-ZA" sz="1400" dirty="0"/>
          </a:p>
          <a:p>
            <a:pPr algn="l"/>
            <a:br>
              <a:rPr lang="en-ZA" sz="1800" dirty="0"/>
            </a:br>
            <a:endParaRPr lang="en-ZA" sz="1800" dirty="0"/>
          </a:p>
          <a:p>
            <a:pPr marL="0" indent="0">
              <a:buNone/>
            </a:pPr>
            <a:endParaRPr lang="en-ZA" sz="1800" b="0" i="0" dirty="0">
              <a:effectLst/>
            </a:endParaRPr>
          </a:p>
          <a:p>
            <a:pPr marL="0" indent="0">
              <a:buNone/>
            </a:pPr>
            <a:endParaRPr lang="en-ZA" sz="1800" u="sng" dirty="0"/>
          </a:p>
          <a:p>
            <a:pPr marL="0" indent="0">
              <a:buNone/>
            </a:pPr>
            <a:endParaRPr lang="en-ZA" sz="1800" b="1" i="0" u="sng" dirty="0">
              <a:effectLst/>
            </a:endParaRPr>
          </a:p>
          <a:p>
            <a:pPr marL="0" indent="0">
              <a:buNone/>
            </a:pPr>
            <a:endParaRPr lang="en-ZA" sz="1800" b="1" i="0" u="sng" dirty="0">
              <a:effectLst/>
            </a:endParaRPr>
          </a:p>
        </p:txBody>
      </p:sp>
      <p:sp>
        <p:nvSpPr>
          <p:cNvPr id="10" name="TextBox 9">
            <a:extLst>
              <a:ext uri="{FF2B5EF4-FFF2-40B4-BE49-F238E27FC236}">
                <a16:creationId xmlns:a16="http://schemas.microsoft.com/office/drawing/2014/main" id="{EB41F961-B81D-FF15-9A67-43F95F734AB5}"/>
              </a:ext>
            </a:extLst>
          </p:cNvPr>
          <p:cNvSpPr txBox="1"/>
          <p:nvPr/>
        </p:nvSpPr>
        <p:spPr>
          <a:xfrm>
            <a:off x="990600" y="4648200"/>
            <a:ext cx="10210800" cy="646331"/>
          </a:xfrm>
          <a:prstGeom prst="rect">
            <a:avLst/>
          </a:prstGeom>
          <a:noFill/>
        </p:spPr>
        <p:txBody>
          <a:bodyPr wrap="square">
            <a:spAutoFit/>
          </a:bodyPr>
          <a:lstStyle/>
          <a:p>
            <a:br>
              <a:rPr lang="en-ZA" dirty="0"/>
            </a:br>
            <a:endParaRPr lang="en-ZA" b="0" i="0" dirty="0">
              <a:solidFill>
                <a:srgbClr val="374151"/>
              </a:solidFill>
              <a:effectLst/>
              <a:latin typeface="Söhne"/>
            </a:endParaRPr>
          </a:p>
        </p:txBody>
      </p:sp>
    </p:spTree>
    <p:extLst>
      <p:ext uri="{BB962C8B-B14F-4D97-AF65-F5344CB8AC3E}">
        <p14:creationId xmlns:p14="http://schemas.microsoft.com/office/powerpoint/2010/main" val="3075168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763588" y="533400"/>
            <a:ext cx="10437812" cy="5638800"/>
          </a:xfrm>
        </p:spPr>
        <p:txBody>
          <a:bodyPr>
            <a:noAutofit/>
          </a:bodyPr>
          <a:lstStyle/>
          <a:p>
            <a:pPr marL="0" indent="0">
              <a:buNone/>
            </a:pPr>
            <a:r>
              <a:rPr lang="en-ZA" sz="1800" b="1" u="sng" dirty="0"/>
              <a:t>ANSWERS </a:t>
            </a:r>
          </a:p>
          <a:p>
            <a:pPr marL="0" indent="0">
              <a:buNone/>
            </a:pPr>
            <a:endParaRPr lang="en-ZA" sz="1800" b="1" i="0" u="sng" dirty="0">
              <a:effectLst/>
            </a:endParaRPr>
          </a:p>
          <a:p>
            <a:pPr marL="0" indent="0">
              <a:buNone/>
            </a:pPr>
            <a:r>
              <a:rPr lang="en-ZA" sz="1800" dirty="0"/>
              <a:t>Docker pull nginx</a:t>
            </a:r>
          </a:p>
          <a:p>
            <a:pPr marL="0" indent="0">
              <a:buNone/>
            </a:pPr>
            <a:r>
              <a:rPr lang="en-ZA" sz="1800" i="0" dirty="0">
                <a:effectLst/>
              </a:rPr>
              <a:t>Docker run –d nginx</a:t>
            </a:r>
          </a:p>
          <a:p>
            <a:pPr marL="0" indent="0">
              <a:buNone/>
            </a:pPr>
            <a:r>
              <a:rPr lang="en-ZA" sz="1800" dirty="0"/>
              <a:t>Docker run –d –p 8080:80 nginx </a:t>
            </a:r>
          </a:p>
          <a:p>
            <a:pPr marL="0" indent="0">
              <a:buNone/>
            </a:pPr>
            <a:endParaRPr lang="en-ZA" sz="1800" i="0" dirty="0">
              <a:effectLst/>
            </a:endParaRPr>
          </a:p>
          <a:p>
            <a:pPr marL="0" indent="0">
              <a:buNone/>
            </a:pPr>
            <a:endParaRPr lang="en-ZA" sz="1800" dirty="0"/>
          </a:p>
          <a:p>
            <a:pPr marL="0" indent="0">
              <a:buNone/>
            </a:pPr>
            <a:r>
              <a:rPr lang="en-ZA" sz="1800" i="0" dirty="0" err="1">
                <a:effectLst/>
              </a:rPr>
              <a:t>Dockerfile</a:t>
            </a:r>
            <a:r>
              <a:rPr lang="en-ZA" sz="1800" i="0" dirty="0">
                <a:effectLst/>
              </a:rPr>
              <a:t> </a:t>
            </a:r>
          </a:p>
          <a:p>
            <a:pPr marL="0" indent="0">
              <a:buNone/>
            </a:pPr>
            <a:r>
              <a:rPr lang="en-ZA" sz="2000" dirty="0"/>
              <a:t>FROM </a:t>
            </a:r>
            <a:r>
              <a:rPr lang="en-ZA" sz="2000" dirty="0" err="1"/>
              <a:t>nginx:latest</a:t>
            </a:r>
            <a:r>
              <a:rPr lang="en-ZA" sz="2000" dirty="0"/>
              <a:t> </a:t>
            </a:r>
          </a:p>
          <a:p>
            <a:pPr marL="0" indent="0">
              <a:buNone/>
            </a:pPr>
            <a:r>
              <a:rPr lang="en-ZA" sz="2000" dirty="0"/>
              <a:t>COPY ./</a:t>
            </a:r>
            <a:r>
              <a:rPr lang="en-ZA" sz="2000" dirty="0" err="1"/>
              <a:t>index.html</a:t>
            </a:r>
            <a:r>
              <a:rPr lang="en-ZA" sz="2000" dirty="0"/>
              <a:t> /</a:t>
            </a:r>
            <a:r>
              <a:rPr lang="en-ZA" sz="2000" dirty="0" err="1"/>
              <a:t>usr</a:t>
            </a:r>
            <a:r>
              <a:rPr lang="en-ZA" sz="2000" dirty="0"/>
              <a:t>/share/nginx/html/</a:t>
            </a:r>
            <a:r>
              <a:rPr lang="en-ZA" sz="2000" dirty="0" err="1"/>
              <a:t>index.html</a:t>
            </a:r>
            <a:endParaRPr lang="en-ZA" sz="1800" i="0" dirty="0">
              <a:effectLst/>
            </a:endParaRPr>
          </a:p>
        </p:txBody>
      </p:sp>
      <p:sp>
        <p:nvSpPr>
          <p:cNvPr id="10" name="TextBox 9">
            <a:extLst>
              <a:ext uri="{FF2B5EF4-FFF2-40B4-BE49-F238E27FC236}">
                <a16:creationId xmlns:a16="http://schemas.microsoft.com/office/drawing/2014/main" id="{EB41F961-B81D-FF15-9A67-43F95F734AB5}"/>
              </a:ext>
            </a:extLst>
          </p:cNvPr>
          <p:cNvSpPr txBox="1"/>
          <p:nvPr/>
        </p:nvSpPr>
        <p:spPr>
          <a:xfrm>
            <a:off x="990600" y="4648200"/>
            <a:ext cx="10210800" cy="646331"/>
          </a:xfrm>
          <a:prstGeom prst="rect">
            <a:avLst/>
          </a:prstGeom>
          <a:noFill/>
        </p:spPr>
        <p:txBody>
          <a:bodyPr wrap="square">
            <a:spAutoFit/>
          </a:bodyPr>
          <a:lstStyle/>
          <a:p>
            <a:br>
              <a:rPr lang="en-ZA" dirty="0"/>
            </a:br>
            <a:endParaRPr lang="en-ZA" b="0" i="0" dirty="0">
              <a:solidFill>
                <a:srgbClr val="374151"/>
              </a:solidFill>
              <a:effectLst/>
              <a:latin typeface="Söhne"/>
            </a:endParaRPr>
          </a:p>
        </p:txBody>
      </p:sp>
    </p:spTree>
    <p:extLst>
      <p:ext uri="{BB962C8B-B14F-4D97-AF65-F5344CB8AC3E}">
        <p14:creationId xmlns:p14="http://schemas.microsoft.com/office/powerpoint/2010/main" val="343677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763588" y="457200"/>
            <a:ext cx="10437812" cy="3192681"/>
          </a:xfrm>
        </p:spPr>
        <p:txBody>
          <a:bodyPr>
            <a:noAutofit/>
          </a:bodyPr>
          <a:lstStyle/>
          <a:p>
            <a:pPr marL="0" indent="0">
              <a:buNone/>
            </a:pPr>
            <a:r>
              <a:rPr lang="en-ZA" sz="1800" b="0" i="0" dirty="0">
                <a:effectLst/>
              </a:rPr>
              <a:t> Install Docker on windows or Linux </a:t>
            </a:r>
          </a:p>
          <a:p>
            <a:pPr marL="0" indent="0">
              <a:buNone/>
            </a:pPr>
            <a:endParaRPr lang="en-ZA" sz="1800" dirty="0"/>
          </a:p>
          <a:p>
            <a:pPr marL="0" indent="0">
              <a:buNone/>
            </a:pPr>
            <a:r>
              <a:rPr lang="en-ZA" sz="1800" b="0" i="0" dirty="0">
                <a:effectLst/>
              </a:rPr>
              <a:t>git clone </a:t>
            </a:r>
            <a:r>
              <a:rPr lang="en-ZA" sz="1800" b="0" i="0" dirty="0">
                <a:effectLst/>
                <a:hlinkClick r:id="rId2"/>
              </a:rPr>
              <a:t>https://github.com/docker/getting-started.git</a:t>
            </a:r>
            <a:endParaRPr lang="en-ZA" sz="1800" b="0" i="0" dirty="0">
              <a:effectLst/>
            </a:endParaRPr>
          </a:p>
          <a:p>
            <a:pPr marL="0" indent="0">
              <a:buNone/>
            </a:pPr>
            <a:endParaRPr lang="en-ZA" sz="1800" dirty="0"/>
          </a:p>
          <a:p>
            <a:pPr marL="0" indent="0">
              <a:buNone/>
            </a:pPr>
            <a:r>
              <a:rPr lang="en-ZA" sz="1800" b="0" i="0" dirty="0">
                <a:effectLst/>
              </a:rPr>
              <a:t>cd \path\to\app</a:t>
            </a:r>
          </a:p>
          <a:p>
            <a:pPr marL="0" indent="0">
              <a:buNone/>
            </a:pPr>
            <a:endParaRPr lang="en-ZA" sz="1800" dirty="0"/>
          </a:p>
          <a:p>
            <a:pPr marL="0" indent="0">
              <a:buNone/>
            </a:pPr>
            <a:r>
              <a:rPr lang="en-ZA" sz="1800" b="0" i="0" dirty="0">
                <a:effectLst/>
              </a:rPr>
              <a:t>type </a:t>
            </a:r>
            <a:r>
              <a:rPr lang="en-ZA" sz="1800" b="0" i="0" dirty="0" err="1">
                <a:effectLst/>
              </a:rPr>
              <a:t>nul</a:t>
            </a:r>
            <a:r>
              <a:rPr lang="en-ZA" sz="1800" b="0" i="0" dirty="0">
                <a:effectLst/>
              </a:rPr>
              <a:t> &gt; </a:t>
            </a:r>
            <a:r>
              <a:rPr lang="en-ZA" sz="1800" b="0" i="0" dirty="0" err="1">
                <a:effectLst/>
              </a:rPr>
              <a:t>Dockerfile</a:t>
            </a:r>
            <a:endParaRPr lang="en-ZA" sz="1800" b="0" i="0" dirty="0">
              <a:effectLst/>
            </a:endParaRPr>
          </a:p>
          <a:p>
            <a:pPr marL="0" indent="0">
              <a:buNone/>
            </a:pPr>
            <a:endParaRPr lang="en-ZA" sz="1800" dirty="0"/>
          </a:p>
          <a:p>
            <a:pPr marL="0" indent="0">
              <a:buNone/>
            </a:pPr>
            <a:r>
              <a:rPr lang="en-ZA" sz="1800" b="1" u="sng" dirty="0"/>
              <a:t>Add the below into </a:t>
            </a:r>
            <a:r>
              <a:rPr lang="en-ZA" sz="1800" b="1" u="sng" dirty="0" err="1"/>
              <a:t>Dockerfile</a:t>
            </a:r>
            <a:endParaRPr lang="en-ZA" sz="1800" b="1" u="sng" dirty="0"/>
          </a:p>
          <a:p>
            <a:pPr marL="0" indent="0">
              <a:buNone/>
            </a:pPr>
            <a:endParaRPr lang="en-ZA" sz="1800" dirty="0"/>
          </a:p>
          <a:p>
            <a:pPr marL="0" indent="0">
              <a:buNone/>
            </a:pPr>
            <a:r>
              <a:rPr lang="en-ZA" sz="1800" dirty="0"/>
              <a:t># </a:t>
            </a:r>
            <a:r>
              <a:rPr lang="en-ZA" sz="1800" b="1" dirty="0"/>
              <a:t>syntax=docker/dockerfile:1</a:t>
            </a:r>
          </a:p>
          <a:p>
            <a:pPr marL="0" indent="0">
              <a:buNone/>
            </a:pPr>
            <a:r>
              <a:rPr lang="en-ZA" sz="1800" dirty="0"/>
              <a:t>   </a:t>
            </a:r>
          </a:p>
          <a:p>
            <a:pPr marL="0" indent="0">
              <a:buNone/>
            </a:pPr>
            <a:r>
              <a:rPr lang="en-ZA" sz="1800" b="1" i="1" dirty="0"/>
              <a:t>FROM node:18-alpine</a:t>
            </a:r>
          </a:p>
          <a:p>
            <a:pPr marL="0" indent="0">
              <a:buNone/>
            </a:pPr>
            <a:r>
              <a:rPr lang="en-ZA" sz="1800" b="1" i="1" dirty="0"/>
              <a:t>WORKDIR /app</a:t>
            </a:r>
          </a:p>
          <a:p>
            <a:pPr marL="0" indent="0">
              <a:buNone/>
            </a:pPr>
            <a:r>
              <a:rPr lang="en-ZA" sz="1800" b="1" i="1" dirty="0"/>
              <a:t>COPY /</a:t>
            </a:r>
            <a:r>
              <a:rPr lang="en-ZA" sz="1800" b="1" i="1" dirty="0" err="1"/>
              <a:t>src</a:t>
            </a:r>
            <a:r>
              <a:rPr lang="en-ZA" sz="1800" b="1" i="1" dirty="0"/>
              <a:t>/ /app/</a:t>
            </a:r>
          </a:p>
          <a:p>
            <a:pPr marL="0" indent="0">
              <a:buNone/>
            </a:pPr>
            <a:r>
              <a:rPr lang="en-ZA" sz="1800" b="1" i="1" dirty="0"/>
              <a:t>RUN yarn install --production</a:t>
            </a:r>
          </a:p>
          <a:p>
            <a:pPr marL="0" indent="0">
              <a:buNone/>
            </a:pPr>
            <a:r>
              <a:rPr lang="en-ZA" sz="1800" b="1" i="1" dirty="0"/>
              <a:t>CMD ["node", "</a:t>
            </a:r>
            <a:r>
              <a:rPr lang="en-ZA" sz="1800" b="1" i="1" dirty="0" err="1"/>
              <a:t>src</a:t>
            </a:r>
            <a:r>
              <a:rPr lang="en-ZA" sz="1800" b="1" i="1" dirty="0"/>
              <a:t>/</a:t>
            </a:r>
            <a:r>
              <a:rPr lang="en-ZA" sz="1800" b="1" i="1" dirty="0" err="1"/>
              <a:t>index.js</a:t>
            </a:r>
            <a:r>
              <a:rPr lang="en-ZA" sz="1800" b="1" i="1" dirty="0"/>
              <a:t>"]</a:t>
            </a:r>
          </a:p>
          <a:p>
            <a:pPr marL="0" indent="0">
              <a:buNone/>
            </a:pPr>
            <a:r>
              <a:rPr lang="en-ZA" sz="1800" b="1" i="1" dirty="0"/>
              <a:t>EXPOSE 3000</a:t>
            </a:r>
          </a:p>
          <a:p>
            <a:pPr marL="0" indent="0">
              <a:buNone/>
            </a:pPr>
            <a:endParaRPr lang="en-ZA" sz="1800" dirty="0"/>
          </a:p>
          <a:p>
            <a:pPr marL="0" indent="0">
              <a:buNone/>
            </a:pPr>
            <a:endParaRPr lang="en-ZA" sz="1800" dirty="0"/>
          </a:p>
          <a:p>
            <a:pPr algn="l"/>
            <a:br>
              <a:rPr lang="en-ZA" sz="1800" dirty="0"/>
            </a:br>
            <a:endParaRPr lang="en-ZA" sz="1800" dirty="0"/>
          </a:p>
          <a:p>
            <a:pPr marL="0" indent="0">
              <a:buNone/>
            </a:pPr>
            <a:endParaRPr lang="en-ZA" sz="1800" b="0" i="0" dirty="0">
              <a:effectLst/>
            </a:endParaRPr>
          </a:p>
          <a:p>
            <a:pPr marL="0" indent="0">
              <a:buNone/>
            </a:pPr>
            <a:endParaRPr lang="en-ZA" sz="1800" u="sng" dirty="0"/>
          </a:p>
          <a:p>
            <a:pPr marL="0" indent="0">
              <a:buNone/>
            </a:pPr>
            <a:endParaRPr lang="en-ZA" sz="1800" b="1" i="0" u="sng" dirty="0">
              <a:effectLst/>
            </a:endParaRPr>
          </a:p>
          <a:p>
            <a:pPr marL="0" indent="0">
              <a:buNone/>
            </a:pPr>
            <a:endParaRPr lang="en-ZA" sz="1800" b="1" i="0" u="sng" dirty="0">
              <a:effectLst/>
            </a:endParaRPr>
          </a:p>
        </p:txBody>
      </p:sp>
      <p:sp>
        <p:nvSpPr>
          <p:cNvPr id="10" name="TextBox 9">
            <a:extLst>
              <a:ext uri="{FF2B5EF4-FFF2-40B4-BE49-F238E27FC236}">
                <a16:creationId xmlns:a16="http://schemas.microsoft.com/office/drawing/2014/main" id="{EB41F961-B81D-FF15-9A67-43F95F734AB5}"/>
              </a:ext>
            </a:extLst>
          </p:cNvPr>
          <p:cNvSpPr txBox="1"/>
          <p:nvPr/>
        </p:nvSpPr>
        <p:spPr>
          <a:xfrm>
            <a:off x="990600" y="4648200"/>
            <a:ext cx="10210800" cy="646331"/>
          </a:xfrm>
          <a:prstGeom prst="rect">
            <a:avLst/>
          </a:prstGeom>
          <a:noFill/>
        </p:spPr>
        <p:txBody>
          <a:bodyPr wrap="square">
            <a:spAutoFit/>
          </a:bodyPr>
          <a:lstStyle/>
          <a:p>
            <a:br>
              <a:rPr lang="en-ZA" dirty="0"/>
            </a:br>
            <a:endParaRPr lang="en-ZA" b="0" i="0" dirty="0">
              <a:solidFill>
                <a:srgbClr val="374151"/>
              </a:solidFill>
              <a:effectLst/>
              <a:latin typeface="Söhne"/>
            </a:endParaRPr>
          </a:p>
        </p:txBody>
      </p:sp>
    </p:spTree>
    <p:extLst>
      <p:ext uri="{BB962C8B-B14F-4D97-AF65-F5344CB8AC3E}">
        <p14:creationId xmlns:p14="http://schemas.microsoft.com/office/powerpoint/2010/main" val="98470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790482" y="1143000"/>
            <a:ext cx="10437812" cy="3192681"/>
          </a:xfrm>
        </p:spPr>
        <p:txBody>
          <a:bodyPr>
            <a:noAutofit/>
          </a:bodyPr>
          <a:lstStyle/>
          <a:p>
            <a:pPr algn="l"/>
            <a:r>
              <a:rPr lang="en-ZA" sz="1800" b="0" i="0" dirty="0">
                <a:effectLst/>
              </a:rPr>
              <a:t> </a:t>
            </a:r>
            <a:r>
              <a:rPr lang="en-ZA" sz="1800" b="0" i="0" dirty="0">
                <a:solidFill>
                  <a:srgbClr val="000000"/>
                </a:solidFill>
                <a:effectLst/>
                <a:latin typeface="Roboto" panose="02000000000000000000" pitchFamily="2" charset="0"/>
              </a:rPr>
              <a:t> Build the container image using the following commands:</a:t>
            </a:r>
          </a:p>
          <a:p>
            <a:pPr algn="l"/>
            <a:r>
              <a:rPr lang="en-ZA" sz="1800" b="0" i="0" dirty="0">
                <a:solidFill>
                  <a:srgbClr val="000000"/>
                </a:solidFill>
                <a:effectLst/>
                <a:latin typeface="Roboto" panose="02000000000000000000" pitchFamily="2" charset="0"/>
              </a:rPr>
              <a:t>In the terminal, change directory to the getting-started/app directory. Replace /path/to/app with the path to your getting-started/app directory.</a:t>
            </a:r>
          </a:p>
          <a:p>
            <a:pPr marL="0" indent="0">
              <a:buNone/>
            </a:pPr>
            <a:endParaRPr lang="en-ZA" sz="1800" dirty="0"/>
          </a:p>
          <a:p>
            <a:pPr marL="0" indent="0">
              <a:buNone/>
            </a:pPr>
            <a:r>
              <a:rPr lang="en-ZA" sz="1800" dirty="0"/>
              <a:t>cd /path/to/app</a:t>
            </a:r>
          </a:p>
          <a:p>
            <a:pPr marL="0" indent="0">
              <a:buNone/>
            </a:pPr>
            <a:endParaRPr lang="en-ZA" sz="1800" dirty="0"/>
          </a:p>
          <a:p>
            <a:pPr marL="0" indent="0">
              <a:buNone/>
            </a:pPr>
            <a:r>
              <a:rPr lang="en-ZA" sz="1800" dirty="0"/>
              <a:t>docker build -t getting-started .</a:t>
            </a:r>
          </a:p>
          <a:p>
            <a:pPr marL="0" indent="0">
              <a:buNone/>
            </a:pPr>
            <a:endParaRPr lang="en-ZA" sz="1800" dirty="0"/>
          </a:p>
          <a:p>
            <a:pPr algn="l"/>
            <a:r>
              <a:rPr lang="en-ZA" sz="1800" b="0" i="0" dirty="0">
                <a:solidFill>
                  <a:srgbClr val="000000"/>
                </a:solidFill>
                <a:effectLst/>
                <a:latin typeface="Roboto" panose="02000000000000000000" pitchFamily="2" charset="0"/>
              </a:rPr>
              <a:t>Start your container using the docker run command and specify the name of the image you just created:</a:t>
            </a:r>
          </a:p>
          <a:p>
            <a:pPr algn="l"/>
            <a:r>
              <a:rPr lang="en-ZA" sz="1800" b="0" i="0" dirty="0">
                <a:solidFill>
                  <a:srgbClr val="555555"/>
                </a:solidFill>
                <a:effectLst/>
                <a:latin typeface="Roboto" panose="02000000000000000000" pitchFamily="2" charset="0"/>
              </a:rPr>
              <a:t>$</a:t>
            </a:r>
            <a:endParaRPr lang="en-ZA" sz="1800" b="0" i="0" dirty="0">
              <a:solidFill>
                <a:srgbClr val="000000"/>
              </a:solidFill>
              <a:effectLst/>
              <a:latin typeface="Roboto" panose="02000000000000000000" pitchFamily="2" charset="0"/>
            </a:endParaRPr>
          </a:p>
          <a:p>
            <a:endParaRPr lang="en-ZA" sz="1800" dirty="0"/>
          </a:p>
          <a:p>
            <a:r>
              <a:rPr lang="en-ZA" sz="1800" dirty="0"/>
              <a:t>docker run -</a:t>
            </a:r>
            <a:r>
              <a:rPr lang="en-ZA" sz="1800" dirty="0" err="1"/>
              <a:t>dp</a:t>
            </a:r>
            <a:r>
              <a:rPr lang="en-ZA" sz="1800" dirty="0"/>
              <a:t> 3000:3000 getting-started</a:t>
            </a:r>
          </a:p>
          <a:p>
            <a:pPr marL="0" indent="0">
              <a:buNone/>
            </a:pPr>
            <a:endParaRPr lang="en-ZA" sz="1800" dirty="0"/>
          </a:p>
          <a:p>
            <a:pPr algn="l"/>
            <a:br>
              <a:rPr lang="en-ZA" sz="1800" dirty="0"/>
            </a:br>
            <a:endParaRPr lang="en-ZA" sz="1800" dirty="0"/>
          </a:p>
          <a:p>
            <a:pPr marL="0" indent="0">
              <a:buNone/>
            </a:pPr>
            <a:endParaRPr lang="en-ZA" sz="1800" b="0" i="0" dirty="0">
              <a:effectLst/>
            </a:endParaRPr>
          </a:p>
          <a:p>
            <a:pPr marL="0" indent="0">
              <a:buNone/>
            </a:pPr>
            <a:endParaRPr lang="en-ZA" sz="1800" u="sng" dirty="0"/>
          </a:p>
          <a:p>
            <a:pPr marL="0" indent="0">
              <a:buNone/>
            </a:pPr>
            <a:endParaRPr lang="en-ZA" sz="1800" b="1" i="0" u="sng" dirty="0">
              <a:effectLst/>
            </a:endParaRPr>
          </a:p>
          <a:p>
            <a:pPr marL="0" indent="0">
              <a:buNone/>
            </a:pPr>
            <a:endParaRPr lang="en-ZA" sz="1800" b="1" i="0" u="sng" dirty="0">
              <a:effectLst/>
            </a:endParaRPr>
          </a:p>
        </p:txBody>
      </p:sp>
      <p:sp>
        <p:nvSpPr>
          <p:cNvPr id="10" name="TextBox 9">
            <a:extLst>
              <a:ext uri="{FF2B5EF4-FFF2-40B4-BE49-F238E27FC236}">
                <a16:creationId xmlns:a16="http://schemas.microsoft.com/office/drawing/2014/main" id="{EB41F961-B81D-FF15-9A67-43F95F734AB5}"/>
              </a:ext>
            </a:extLst>
          </p:cNvPr>
          <p:cNvSpPr txBox="1"/>
          <p:nvPr/>
        </p:nvSpPr>
        <p:spPr>
          <a:xfrm>
            <a:off x="990600" y="4648200"/>
            <a:ext cx="10210800" cy="646331"/>
          </a:xfrm>
          <a:prstGeom prst="rect">
            <a:avLst/>
          </a:prstGeom>
          <a:noFill/>
        </p:spPr>
        <p:txBody>
          <a:bodyPr wrap="square">
            <a:spAutoFit/>
          </a:bodyPr>
          <a:lstStyle/>
          <a:p>
            <a:br>
              <a:rPr lang="en-ZA" dirty="0"/>
            </a:br>
            <a:endParaRPr lang="en-ZA" b="0" i="0" dirty="0">
              <a:solidFill>
                <a:srgbClr val="374151"/>
              </a:solidFill>
              <a:effectLst/>
              <a:latin typeface="Söhne"/>
            </a:endParaRPr>
          </a:p>
        </p:txBody>
      </p:sp>
    </p:spTree>
    <p:extLst>
      <p:ext uri="{BB962C8B-B14F-4D97-AF65-F5344CB8AC3E}">
        <p14:creationId xmlns:p14="http://schemas.microsoft.com/office/powerpoint/2010/main" val="1747702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FC9B9-1364-C653-E0CB-0F8B2D5D29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2F5A5-1F37-4BC2-46B2-7BCE25069732}"/>
              </a:ext>
            </a:extLst>
          </p:cNvPr>
          <p:cNvSpPr>
            <a:spLocks noGrp="1"/>
          </p:cNvSpPr>
          <p:nvPr>
            <p:ph type="body" sz="half" idx="2"/>
          </p:nvPr>
        </p:nvSpPr>
        <p:spPr>
          <a:xfrm>
            <a:off x="790482" y="1143000"/>
            <a:ext cx="10437812" cy="3192681"/>
          </a:xfrm>
        </p:spPr>
        <p:txBody>
          <a:bodyPr>
            <a:noAutofit/>
          </a:bodyPr>
          <a:lstStyle/>
          <a:p>
            <a:r>
              <a:rPr lang="en-ZA" sz="1800" dirty="0"/>
              <a:t>For all exercises please go to the below </a:t>
            </a:r>
            <a:r>
              <a:rPr lang="en-ZA" sz="1800" dirty="0" err="1"/>
              <a:t>github</a:t>
            </a:r>
            <a:r>
              <a:rPr lang="en-ZA" sz="1800" dirty="0"/>
              <a:t> repo </a:t>
            </a:r>
          </a:p>
          <a:p>
            <a:endParaRPr lang="en-ZA" sz="1800" dirty="0"/>
          </a:p>
          <a:p>
            <a:r>
              <a:rPr lang="en-ZA" sz="1800" dirty="0"/>
              <a:t>https://</a:t>
            </a:r>
            <a:r>
              <a:rPr lang="en-ZA" sz="1800" dirty="0" err="1"/>
              <a:t>github.com</a:t>
            </a:r>
            <a:r>
              <a:rPr lang="en-ZA" sz="1800" dirty="0"/>
              <a:t>/</a:t>
            </a:r>
            <a:r>
              <a:rPr lang="en-ZA" sz="1800" dirty="0" err="1"/>
              <a:t>kumbulanit</a:t>
            </a:r>
            <a:r>
              <a:rPr lang="en-ZA" sz="1800" dirty="0"/>
              <a:t>/docker-and-</a:t>
            </a:r>
            <a:r>
              <a:rPr lang="en-ZA" sz="1800" dirty="0" err="1"/>
              <a:t>kubernetes</a:t>
            </a:r>
            <a:r>
              <a:rPr lang="en-ZA" sz="1800" dirty="0"/>
              <a:t>-</a:t>
            </a:r>
            <a:r>
              <a:rPr lang="en-ZA" sz="1800"/>
              <a:t>trainning.git</a:t>
            </a:r>
            <a:endParaRPr lang="en-ZA" sz="1800" dirty="0"/>
          </a:p>
          <a:p>
            <a:pPr marL="0" indent="0">
              <a:buNone/>
            </a:pPr>
            <a:endParaRPr lang="en-ZA" sz="1800" dirty="0"/>
          </a:p>
          <a:p>
            <a:pPr algn="l"/>
            <a:br>
              <a:rPr lang="en-ZA" sz="1800" dirty="0"/>
            </a:br>
            <a:endParaRPr lang="en-ZA" sz="1800" dirty="0"/>
          </a:p>
          <a:p>
            <a:pPr marL="0" indent="0">
              <a:buNone/>
            </a:pPr>
            <a:endParaRPr lang="en-ZA" sz="1800" b="0" i="0" dirty="0">
              <a:effectLst/>
            </a:endParaRPr>
          </a:p>
          <a:p>
            <a:pPr marL="0" indent="0">
              <a:buNone/>
            </a:pPr>
            <a:endParaRPr lang="en-ZA" sz="1800" u="sng" dirty="0"/>
          </a:p>
          <a:p>
            <a:pPr marL="0" indent="0">
              <a:buNone/>
            </a:pPr>
            <a:endParaRPr lang="en-ZA" sz="1800" b="1" i="0" u="sng" dirty="0">
              <a:effectLst/>
            </a:endParaRPr>
          </a:p>
          <a:p>
            <a:pPr marL="0" indent="0">
              <a:buNone/>
            </a:pPr>
            <a:endParaRPr lang="en-ZA" sz="1800" b="1" i="0" u="sng" dirty="0">
              <a:effectLst/>
            </a:endParaRPr>
          </a:p>
        </p:txBody>
      </p:sp>
      <p:sp>
        <p:nvSpPr>
          <p:cNvPr id="10" name="TextBox 9">
            <a:extLst>
              <a:ext uri="{FF2B5EF4-FFF2-40B4-BE49-F238E27FC236}">
                <a16:creationId xmlns:a16="http://schemas.microsoft.com/office/drawing/2014/main" id="{03F86F44-B3C6-55EB-E70C-02082BC9CF55}"/>
              </a:ext>
            </a:extLst>
          </p:cNvPr>
          <p:cNvSpPr txBox="1"/>
          <p:nvPr/>
        </p:nvSpPr>
        <p:spPr>
          <a:xfrm>
            <a:off x="990600" y="4648200"/>
            <a:ext cx="10210800" cy="369332"/>
          </a:xfrm>
          <a:prstGeom prst="rect">
            <a:avLst/>
          </a:prstGeom>
          <a:noFill/>
        </p:spPr>
        <p:txBody>
          <a:bodyPr wrap="square">
            <a:spAutoFit/>
          </a:bodyPr>
          <a:lstStyle/>
          <a:p>
            <a:endParaRPr lang="en-ZA" b="0" i="0" dirty="0">
              <a:solidFill>
                <a:srgbClr val="374151"/>
              </a:solidFill>
              <a:effectLst/>
              <a:latin typeface="Söhne"/>
            </a:endParaRPr>
          </a:p>
        </p:txBody>
      </p:sp>
    </p:spTree>
    <p:extLst>
      <p:ext uri="{BB962C8B-B14F-4D97-AF65-F5344CB8AC3E}">
        <p14:creationId xmlns:p14="http://schemas.microsoft.com/office/powerpoint/2010/main" val="4025391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r>
              <a:rPr lang="en-US" dirty="0"/>
              <a:t>Container orchestration</a:t>
            </a:r>
          </a:p>
        </p:txBody>
      </p:sp>
      <p:sp>
        <p:nvSpPr>
          <p:cNvPr id="15364" name="Text Box 4"/>
          <p:cNvSpPr txBox="1">
            <a:spLocks noChangeArrowheads="1"/>
          </p:cNvSpPr>
          <p:nvPr/>
        </p:nvSpPr>
        <p:spPr bwMode="auto">
          <a:xfrm>
            <a:off x="838200" y="1825625"/>
            <a:ext cx="5181600" cy="4351338"/>
          </a:xfrm>
          <a:prstGeom prst="rect">
            <a:avLst/>
          </a:prstGeom>
        </p:spPr>
        <p:txBody>
          <a:bodyPr vert="horz" lIns="91440" tIns="45720" rIns="91440" bIns="45720" rtlCol="0">
            <a:normAutofit/>
          </a:bodyPr>
          <a:lstStyle/>
          <a:p>
            <a:pPr indent="-228600">
              <a:lnSpc>
                <a:spcPct val="90000"/>
              </a:lnSpc>
              <a:spcBef>
                <a:spcPct val="30000"/>
              </a:spcBef>
              <a:buFont typeface="Arial" panose="020B0604020202020204" pitchFamily="34" charset="0"/>
              <a:buChar char="•"/>
            </a:pPr>
            <a:r>
              <a:rPr lang="en-ZA" sz="2600" b="0" i="0">
                <a:solidFill>
                  <a:srgbClr val="414141"/>
                </a:solidFill>
                <a:effectLst/>
                <a:ea typeface="Adobe Fan Heiti Std B" panose="020B0700000000000000" pitchFamily="34" charset="-128"/>
              </a:rPr>
              <a:t>Container orchestration is the process of managing, deploying, and scaling containers in a clustered environment. It helps automate various tasks related to container management, such as provisioning, scaling, networking, and load balancing. When considering container orchestration, several requirements should be taken into account</a:t>
            </a:r>
            <a:endParaRPr lang="en-US" sz="2600">
              <a:solidFill>
                <a:srgbClr val="414141"/>
              </a:solidFill>
              <a:ea typeface="Adobe Fan Heiti Std B" panose="020B0700000000000000" pitchFamily="34" charset="-128"/>
            </a:endParaRPr>
          </a:p>
          <a:p>
            <a:pPr indent="-228600">
              <a:lnSpc>
                <a:spcPct val="90000"/>
              </a:lnSpc>
              <a:spcBef>
                <a:spcPct val="30000"/>
              </a:spcBef>
              <a:buFont typeface="Arial" panose="020B0604020202020204" pitchFamily="34" charset="0"/>
              <a:buChar char="•"/>
            </a:pPr>
            <a:endParaRPr lang="en-US" sz="2600">
              <a:solidFill>
                <a:srgbClr val="414141"/>
              </a:solidFill>
              <a:ea typeface="Adobe Fan Heiti Std B" panose="020B0700000000000000" pitchFamily="34" charset="-128"/>
            </a:endParaRPr>
          </a:p>
        </p:txBody>
      </p:sp>
      <p:pic>
        <p:nvPicPr>
          <p:cNvPr id="4" name="Picture 3" descr="A picture containing text, screenshot, font&#10;&#10;Description automatically generated">
            <a:extLst>
              <a:ext uri="{FF2B5EF4-FFF2-40B4-BE49-F238E27FC236}">
                <a16:creationId xmlns:a16="http://schemas.microsoft.com/office/drawing/2014/main" id="{E12D861F-1619-CC2F-1009-4CA05543B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110010"/>
            <a:ext cx="5181600" cy="3782568"/>
          </a:xfrm>
          <a:prstGeom prst="rect">
            <a:avLst/>
          </a:prstGeom>
          <a:noFill/>
        </p:spPr>
      </p:pic>
    </p:spTree>
    <p:extLst>
      <p:ext uri="{BB962C8B-B14F-4D97-AF65-F5344CB8AC3E}">
        <p14:creationId xmlns:p14="http://schemas.microsoft.com/office/powerpoint/2010/main" val="1652324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77500" lnSpcReduction="20000"/>
          </a:bodyPr>
          <a:lstStyle/>
          <a:p>
            <a:r>
              <a:rPr lang="en-ZA" b="1" i="0" dirty="0">
                <a:solidFill>
                  <a:schemeClr val="tx1"/>
                </a:solidFill>
                <a:effectLst/>
                <a:latin typeface="Söhne"/>
              </a:rPr>
              <a:t>High availability</a:t>
            </a:r>
            <a:r>
              <a:rPr lang="en-ZA" b="0" i="0" dirty="0">
                <a:solidFill>
                  <a:schemeClr val="tx1"/>
                </a:solidFill>
                <a:effectLst/>
                <a:latin typeface="Söhne"/>
              </a:rPr>
              <a:t>: The container orchestration platform should ensure that containers and applications are highly available, with mechanisms for rescheduling containers in the event of failures and automatic scaling to handle increased load.</a:t>
            </a:r>
          </a:p>
          <a:p>
            <a:r>
              <a:rPr lang="en-ZA" b="1" i="0" dirty="0">
                <a:solidFill>
                  <a:schemeClr val="tx1"/>
                </a:solidFill>
                <a:effectLst/>
                <a:latin typeface="Söhne"/>
              </a:rPr>
              <a:t>Scalability</a:t>
            </a:r>
            <a:r>
              <a:rPr lang="en-ZA" b="0" i="0" dirty="0">
                <a:solidFill>
                  <a:schemeClr val="tx1"/>
                </a:solidFill>
                <a:effectLst/>
                <a:latin typeface="Söhne"/>
              </a:rPr>
              <a:t>: The ability to scale containers horizontally, adding or removing instances of containers based on resource utilization or demand, is a critical requirement. The orchestration platform should provide scaling mechanisms to handle dynamic workloads.</a:t>
            </a:r>
          </a:p>
          <a:p>
            <a:r>
              <a:rPr lang="en-ZA" b="1" i="0" dirty="0">
                <a:solidFill>
                  <a:schemeClr val="tx1"/>
                </a:solidFill>
                <a:effectLst/>
                <a:latin typeface="Söhne"/>
              </a:rPr>
              <a:t>Service discovery and load balancing</a:t>
            </a:r>
            <a:r>
              <a:rPr lang="en-ZA" b="0" i="0" dirty="0">
                <a:solidFill>
                  <a:schemeClr val="tx1"/>
                </a:solidFill>
                <a:effectLst/>
                <a:latin typeface="Söhne"/>
              </a:rPr>
              <a:t>: Containers should be able to discover and communicate with each other efficiently. The orchestration platform should provide service discovery mechanisms to enable containers to find each other dynamically. Load balancing capabilities are also essential to distribute traffic across container instances.</a:t>
            </a:r>
          </a:p>
          <a:p>
            <a:r>
              <a:rPr lang="en-ZA" b="1" i="0" dirty="0">
                <a:solidFill>
                  <a:schemeClr val="tx1"/>
                </a:solidFill>
                <a:effectLst/>
                <a:latin typeface="Söhne"/>
              </a:rPr>
              <a:t>Networking and connectivity</a:t>
            </a:r>
            <a:r>
              <a:rPr lang="en-ZA" b="0" i="0" dirty="0">
                <a:solidFill>
                  <a:schemeClr val="tx1"/>
                </a:solidFill>
                <a:effectLst/>
                <a:latin typeface="Söhne"/>
              </a:rPr>
              <a:t>: Containers in a cluster should have network connectivity and be able to communicate securely. The orchestration platform should handle networking aspects, including container IP addressing, container-to-container communication, and connectivity with external networks.</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Requirements</a:t>
            </a:r>
          </a:p>
        </p:txBody>
      </p:sp>
    </p:spTree>
    <p:extLst>
      <p:ext uri="{BB962C8B-B14F-4D97-AF65-F5344CB8AC3E}">
        <p14:creationId xmlns:p14="http://schemas.microsoft.com/office/powerpoint/2010/main" val="606771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r>
              <a:rPr lang="en-ZA" sz="2000" b="1" i="0" dirty="0">
                <a:solidFill>
                  <a:schemeClr val="tx1"/>
                </a:solidFill>
                <a:effectLst/>
                <a:latin typeface="Söhne"/>
              </a:rPr>
              <a:t>Health monitoring and self-healing</a:t>
            </a:r>
            <a:r>
              <a:rPr lang="en-ZA" sz="2000" b="0" i="0" dirty="0">
                <a:solidFill>
                  <a:schemeClr val="tx1"/>
                </a:solidFill>
                <a:effectLst/>
                <a:latin typeface="Söhne"/>
              </a:rPr>
              <a:t>: Continuous monitoring of container health and automatic recovery in case of failures are crucial requirements. The orchestration platform should provide health checks, monitoring capabilities, and mechanisms to automatically restart or replace unhealthy containers.</a:t>
            </a:r>
          </a:p>
          <a:p>
            <a:r>
              <a:rPr lang="en-ZA" sz="2000" b="1" i="0" dirty="0">
                <a:solidFill>
                  <a:schemeClr val="tx1"/>
                </a:solidFill>
                <a:effectLst/>
                <a:latin typeface="Söhne"/>
              </a:rPr>
              <a:t>Rolling updates and rollback</a:t>
            </a:r>
            <a:r>
              <a:rPr lang="en-ZA" sz="2000" b="0" i="0" dirty="0">
                <a:solidFill>
                  <a:schemeClr val="tx1"/>
                </a:solidFill>
                <a:effectLst/>
                <a:latin typeface="Söhne"/>
              </a:rPr>
              <a:t>: The ability to perform rolling updates, where new container versions are gradually deployed while maintaining service availability, is important. Additionally, the orchestration platform should support rollback mechanisms to revert to a previous version if issues arise during an update.</a:t>
            </a:r>
          </a:p>
          <a:p>
            <a:r>
              <a:rPr lang="en-ZA" sz="2000" b="1" i="0" dirty="0">
                <a:solidFill>
                  <a:schemeClr val="tx1"/>
                </a:solidFill>
                <a:effectLst/>
                <a:latin typeface="Söhne"/>
              </a:rPr>
              <a:t>Security and access control</a:t>
            </a:r>
            <a:r>
              <a:rPr lang="en-ZA" sz="2000" b="0" i="0" dirty="0">
                <a:solidFill>
                  <a:schemeClr val="tx1"/>
                </a:solidFill>
                <a:effectLst/>
                <a:latin typeface="Söhne"/>
              </a:rPr>
              <a:t>: Container orchestration platforms should provide robust security features, including secure container runtime environments, isolation between containers, and access control mechanisms for managing user and application permissions.</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Continue</a:t>
            </a:r>
          </a:p>
        </p:txBody>
      </p:sp>
    </p:spTree>
    <p:extLst>
      <p:ext uri="{BB962C8B-B14F-4D97-AF65-F5344CB8AC3E}">
        <p14:creationId xmlns:p14="http://schemas.microsoft.com/office/powerpoint/2010/main" val="3734327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77500" lnSpcReduction="20000"/>
          </a:bodyPr>
          <a:lstStyle/>
          <a:p>
            <a:pPr algn="l"/>
            <a:r>
              <a:rPr lang="en-ZA" sz="3100" b="0" i="0" dirty="0">
                <a:solidFill>
                  <a:schemeClr val="tx1"/>
                </a:solidFill>
                <a:effectLst/>
                <a:latin typeface="Söhne"/>
              </a:rPr>
              <a:t>There are several container orchestration options available, including:</a:t>
            </a:r>
          </a:p>
          <a:p>
            <a:pPr algn="l">
              <a:buFont typeface="+mj-lt"/>
              <a:buAutoNum type="arabicPeriod"/>
            </a:pPr>
            <a:r>
              <a:rPr lang="en-ZA" sz="3100" b="1" i="0" dirty="0">
                <a:solidFill>
                  <a:schemeClr val="tx1"/>
                </a:solidFill>
                <a:effectLst/>
                <a:latin typeface="Söhne"/>
              </a:rPr>
              <a:t>Kubernetes</a:t>
            </a:r>
            <a:r>
              <a:rPr lang="en-ZA" sz="3100" b="0" i="0" dirty="0">
                <a:solidFill>
                  <a:schemeClr val="tx1"/>
                </a:solidFill>
                <a:effectLst/>
                <a:latin typeface="Söhne"/>
              </a:rPr>
              <a:t>: Kubernetes is the most popular container orchestration platform, offering comprehensive features and a large ecosystem. It provides all the required functionalities for managing containerized applications at scale.</a:t>
            </a:r>
          </a:p>
          <a:p>
            <a:pPr algn="l">
              <a:buFont typeface="+mj-lt"/>
              <a:buAutoNum type="arabicPeriod"/>
            </a:pPr>
            <a:r>
              <a:rPr lang="en-ZA" sz="3100" b="1" i="0" dirty="0">
                <a:solidFill>
                  <a:schemeClr val="tx1"/>
                </a:solidFill>
                <a:effectLst/>
                <a:latin typeface="Söhne"/>
              </a:rPr>
              <a:t>Docker Swarm</a:t>
            </a:r>
            <a:r>
              <a:rPr lang="en-ZA" sz="3100" b="0" i="0" dirty="0">
                <a:solidFill>
                  <a:schemeClr val="tx1"/>
                </a:solidFill>
                <a:effectLst/>
                <a:latin typeface="Söhne"/>
              </a:rPr>
              <a:t>: Docker Swarm is Docker's native orchestration solution, which offers a simpler and lightweight alternative to Kubernetes. It integrates well with the Docker ecosystem and is suitable for smaller deployments.</a:t>
            </a:r>
          </a:p>
          <a:p>
            <a:pPr algn="l">
              <a:buFont typeface="+mj-lt"/>
              <a:buAutoNum type="arabicPeriod"/>
            </a:pPr>
            <a:r>
              <a:rPr lang="en-ZA" sz="3100" b="1" i="0" dirty="0">
                <a:solidFill>
                  <a:schemeClr val="tx1"/>
                </a:solidFill>
                <a:effectLst/>
                <a:latin typeface="Söhne"/>
              </a:rPr>
              <a:t>Apache Mesos</a:t>
            </a:r>
            <a:r>
              <a:rPr lang="en-ZA" sz="3100" b="0" i="0" dirty="0">
                <a:solidFill>
                  <a:schemeClr val="tx1"/>
                </a:solidFill>
                <a:effectLst/>
                <a:latin typeface="Söhne"/>
              </a:rPr>
              <a:t>: Apache Mesos is a distributed systems kernel that can handle various workloads, including containers. It provides advanced features for managing and scheduling containers alongside other applications.</a:t>
            </a:r>
          </a:p>
          <a:p>
            <a:pPr algn="l">
              <a:buFont typeface="+mj-lt"/>
              <a:buAutoNum type="arabicPeriod"/>
            </a:pPr>
            <a:r>
              <a:rPr lang="en-ZA" sz="3100" b="1" i="0" dirty="0" err="1">
                <a:solidFill>
                  <a:schemeClr val="tx1"/>
                </a:solidFill>
                <a:effectLst/>
                <a:latin typeface="Söhne"/>
              </a:rPr>
              <a:t>HashiCorp</a:t>
            </a:r>
            <a:r>
              <a:rPr lang="en-ZA" sz="3100" b="1" i="0" dirty="0">
                <a:solidFill>
                  <a:schemeClr val="tx1"/>
                </a:solidFill>
                <a:effectLst/>
                <a:latin typeface="Söhne"/>
              </a:rPr>
              <a:t> Nomad</a:t>
            </a:r>
            <a:r>
              <a:rPr lang="en-ZA" sz="3100" b="0" i="0" dirty="0">
                <a:solidFill>
                  <a:schemeClr val="tx1"/>
                </a:solidFill>
                <a:effectLst/>
                <a:latin typeface="Söhne"/>
              </a:rPr>
              <a:t>: Nomad is a lightweight and flexible orchestration platform that supports container and non-container workloads. It focuses on simplicity and ease of use, while still offering robust features.</a:t>
            </a:r>
            <a:br>
              <a:rPr lang="en-ZA" dirty="0"/>
            </a:br>
            <a:endParaRPr lang="en-ZA" sz="1600" b="0" i="0" dirty="0">
              <a:solidFill>
                <a:srgbClr val="374151"/>
              </a:solidFill>
              <a:effectLst/>
              <a:latin typeface="Söhne"/>
            </a:endParaRP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Container Orchestration tools</a:t>
            </a:r>
          </a:p>
        </p:txBody>
      </p:sp>
    </p:spTree>
    <p:extLst>
      <p:ext uri="{BB962C8B-B14F-4D97-AF65-F5344CB8AC3E}">
        <p14:creationId xmlns:p14="http://schemas.microsoft.com/office/powerpoint/2010/main" val="3593483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39788" y="457200"/>
            <a:ext cx="3932237" cy="1600200"/>
          </a:xfrm>
        </p:spPr>
        <p:txBody>
          <a:bodyPr anchor="b">
            <a:normAutofit/>
          </a:bodyPr>
          <a:lstStyle/>
          <a:p>
            <a:r>
              <a:rPr lang="en-US" dirty="0"/>
              <a:t>Introduction to Kubernetes</a:t>
            </a:r>
            <a:endParaRPr lang="en-US"/>
          </a:p>
        </p:txBody>
      </p:sp>
      <p:pic>
        <p:nvPicPr>
          <p:cNvPr id="4" name="Graphic 3">
            <a:extLst>
              <a:ext uri="{FF2B5EF4-FFF2-40B4-BE49-F238E27FC236}">
                <a16:creationId xmlns:a16="http://schemas.microsoft.com/office/drawing/2014/main" id="{1EB17B3A-03E9-52EC-0F4E-5B86E66CC1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83188" y="1982250"/>
            <a:ext cx="6172200" cy="2883975"/>
          </a:xfrm>
          <a:prstGeom prst="rect">
            <a:avLst/>
          </a:prstGeom>
        </p:spPr>
      </p:pic>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839788" y="2101850"/>
            <a:ext cx="3932237" cy="3759200"/>
          </a:xfrm>
        </p:spPr>
        <p:txBody>
          <a:bodyPr>
            <a:normAutofit/>
          </a:bodyPr>
          <a:lstStyle/>
          <a:p>
            <a:r>
              <a:rPr lang="en-ZA" b="0" i="0">
                <a:effectLst/>
              </a:rPr>
              <a:t>Kubernetes is an open-source container orchestration platform initially developed by Google. It provides a robust and scalable environment for automating the deployment, scaling, and management of containerized applications. Kubernetes, often abbreviated as K8s (as there are eight letters between "K" and "s" in "Kubernetes"), has gained significant popularity and has become the de facto standard for container orchestration.</a:t>
            </a:r>
            <a:endParaRPr lang="en-US" b="1"/>
          </a:p>
        </p:txBody>
      </p:sp>
    </p:spTree>
    <p:extLst>
      <p:ext uri="{BB962C8B-B14F-4D97-AF65-F5344CB8AC3E}">
        <p14:creationId xmlns:p14="http://schemas.microsoft.com/office/powerpoint/2010/main" val="3711671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55000" lnSpcReduction="20000"/>
          </a:bodyPr>
          <a:lstStyle/>
          <a:p>
            <a:pPr algn="l">
              <a:buFont typeface="+mj-lt"/>
              <a:buAutoNum type="arabicPeriod"/>
            </a:pPr>
            <a:r>
              <a:rPr lang="en-ZA" b="1" i="0" dirty="0">
                <a:solidFill>
                  <a:schemeClr val="tx1"/>
                </a:solidFill>
                <a:effectLst/>
                <a:latin typeface="Söhne"/>
              </a:rPr>
              <a:t>Container management</a:t>
            </a:r>
            <a:r>
              <a:rPr lang="en-ZA" b="0" i="0" dirty="0">
                <a:solidFill>
                  <a:schemeClr val="tx1"/>
                </a:solidFill>
                <a:effectLst/>
                <a:latin typeface="Söhne"/>
              </a:rPr>
              <a:t>: Kubernetes manages the lifecycle of containers, allowing you to easily deploy, scale, update, and remove containers. It abstracts the underlying infrastructure and provides a consistent and standardized way of interacting with containers.</a:t>
            </a:r>
          </a:p>
          <a:p>
            <a:pPr algn="l">
              <a:buFont typeface="+mj-lt"/>
              <a:buAutoNum type="arabicPeriod"/>
            </a:pPr>
            <a:r>
              <a:rPr lang="en-ZA" b="1" i="0" dirty="0">
                <a:solidFill>
                  <a:schemeClr val="tx1"/>
                </a:solidFill>
                <a:effectLst/>
                <a:latin typeface="Söhne"/>
              </a:rPr>
              <a:t>Orchestration</a:t>
            </a:r>
            <a:r>
              <a:rPr lang="en-ZA" b="0" i="0" dirty="0">
                <a:solidFill>
                  <a:schemeClr val="tx1"/>
                </a:solidFill>
                <a:effectLst/>
                <a:latin typeface="Söhne"/>
              </a:rPr>
              <a:t>: Kubernetes automates the scheduling and placement of containers across a cluster of machines. It ensures that the desired number of container instances are running, distributes workloads evenly, and handles container health monitoring, self-healing, and rescheduling.</a:t>
            </a:r>
          </a:p>
          <a:p>
            <a:pPr algn="l">
              <a:buFont typeface="+mj-lt"/>
              <a:buAutoNum type="arabicPeriod"/>
            </a:pPr>
            <a:r>
              <a:rPr lang="en-ZA" b="1" i="0" dirty="0">
                <a:solidFill>
                  <a:schemeClr val="tx1"/>
                </a:solidFill>
                <a:effectLst/>
                <a:latin typeface="Söhne"/>
              </a:rPr>
              <a:t>Scaling and load balancing</a:t>
            </a:r>
            <a:r>
              <a:rPr lang="en-ZA" b="0" i="0" dirty="0">
                <a:solidFill>
                  <a:schemeClr val="tx1"/>
                </a:solidFill>
                <a:effectLst/>
                <a:latin typeface="Söhne"/>
              </a:rPr>
              <a:t>: Kubernetes provides horizontal scaling capabilities, allowing you to scale up or down the number of container instances based on resource utilization or application demand. It also includes built-in load balancing mechanisms to distribute network traffic across container instances.</a:t>
            </a:r>
          </a:p>
          <a:p>
            <a:pPr algn="l">
              <a:buFont typeface="+mj-lt"/>
              <a:buAutoNum type="arabicPeriod"/>
            </a:pPr>
            <a:r>
              <a:rPr lang="en-ZA" b="1" i="0" dirty="0">
                <a:solidFill>
                  <a:schemeClr val="tx1"/>
                </a:solidFill>
                <a:effectLst/>
                <a:latin typeface="Söhne"/>
              </a:rPr>
              <a:t>Service discovery</a:t>
            </a:r>
            <a:r>
              <a:rPr lang="en-ZA" b="0" i="0" dirty="0">
                <a:solidFill>
                  <a:schemeClr val="tx1"/>
                </a:solidFill>
                <a:effectLst/>
                <a:latin typeface="Söhne"/>
              </a:rPr>
              <a:t>: Kubernetes provides service discovery capabilities, allowing containers to easily discover and communicate with each other within a cluster. It assigns a unique DNS name to each service, and containers can discover other services using DNS or environment variables.</a:t>
            </a:r>
          </a:p>
          <a:p>
            <a:pPr algn="l">
              <a:buFont typeface="+mj-lt"/>
              <a:buAutoNum type="arabicPeriod"/>
            </a:pPr>
            <a:r>
              <a:rPr lang="en-ZA" b="1" i="0" dirty="0">
                <a:solidFill>
                  <a:schemeClr val="tx1"/>
                </a:solidFill>
                <a:effectLst/>
                <a:latin typeface="Söhne"/>
              </a:rPr>
              <a:t>Rolling updates and rollback</a:t>
            </a:r>
            <a:r>
              <a:rPr lang="en-ZA" b="0" i="0" dirty="0">
                <a:solidFill>
                  <a:schemeClr val="tx1"/>
                </a:solidFill>
                <a:effectLst/>
                <a:latin typeface="Söhne"/>
              </a:rPr>
              <a:t>: Kubernetes supports rolling updates, enabling you to perform updates to applications without causing downtime. It gradually replaces old container instances with new ones, ensuring high availability. In case of issues during an update, Kubernetes supports rollback mechanisms to revert to a previous stable version.</a:t>
            </a:r>
          </a:p>
          <a:p>
            <a:pPr algn="l">
              <a:buFont typeface="+mj-lt"/>
              <a:buAutoNum type="arabicPeriod"/>
            </a:pPr>
            <a:r>
              <a:rPr lang="en-ZA" b="1" i="0" dirty="0">
                <a:solidFill>
                  <a:schemeClr val="tx1"/>
                </a:solidFill>
                <a:effectLst/>
                <a:latin typeface="Söhne"/>
              </a:rPr>
              <a:t>Storage orchestration</a:t>
            </a:r>
            <a:r>
              <a:rPr lang="en-ZA" b="0" i="0" dirty="0">
                <a:solidFill>
                  <a:schemeClr val="tx1"/>
                </a:solidFill>
                <a:effectLst/>
                <a:latin typeface="Söhne"/>
              </a:rPr>
              <a:t>: Kubernetes integrates with different storage systems and provides mechanisms for managing persistent storage volumes. It supports dynamic provisioning of storage, allowing applications to request and use storage resources dynamically.</a:t>
            </a:r>
          </a:p>
          <a:p>
            <a:pPr algn="l">
              <a:buFont typeface="+mj-lt"/>
              <a:buAutoNum type="arabicPeriod"/>
            </a:pPr>
            <a:r>
              <a:rPr lang="en-ZA" b="1" i="0" dirty="0">
                <a:solidFill>
                  <a:schemeClr val="tx1"/>
                </a:solidFill>
                <a:effectLst/>
                <a:latin typeface="Söhne"/>
              </a:rPr>
              <a:t>Secrets and configuration management</a:t>
            </a:r>
            <a:r>
              <a:rPr lang="en-ZA" b="0" i="0" dirty="0">
                <a:solidFill>
                  <a:schemeClr val="tx1"/>
                </a:solidFill>
                <a:effectLst/>
                <a:latin typeface="Söhne"/>
              </a:rPr>
              <a:t>: Kubernetes provides built-in mechanisms for managing sensitive information, such as passwords, API keys, and SSL certificates, as secrets. It also supports configuration management through </a:t>
            </a:r>
            <a:r>
              <a:rPr lang="en-ZA" b="0" i="0" dirty="0" err="1">
                <a:solidFill>
                  <a:schemeClr val="tx1"/>
                </a:solidFill>
                <a:effectLst/>
                <a:latin typeface="Söhne"/>
              </a:rPr>
              <a:t>ConfigMaps</a:t>
            </a:r>
            <a:r>
              <a:rPr lang="en-ZA" b="0" i="0" dirty="0">
                <a:solidFill>
                  <a:schemeClr val="tx1"/>
                </a:solidFill>
                <a:effectLst/>
                <a:latin typeface="Söhne"/>
              </a:rPr>
              <a:t>, allowing you to manage application configurations separately from the container images</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Kubernetes Key Features</a:t>
            </a:r>
          </a:p>
        </p:txBody>
      </p:sp>
    </p:spTree>
    <p:extLst>
      <p:ext uri="{BB962C8B-B14F-4D97-AF65-F5344CB8AC3E}">
        <p14:creationId xmlns:p14="http://schemas.microsoft.com/office/powerpoint/2010/main" val="761757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r>
              <a:rPr lang="en-ZA" b="1" i="0" dirty="0">
                <a:solidFill>
                  <a:schemeClr val="tx1"/>
                </a:solidFill>
                <a:effectLst/>
                <a:latin typeface="Söhne"/>
              </a:rPr>
              <a:t>Pods</a:t>
            </a:r>
            <a:r>
              <a:rPr lang="en-ZA" b="0" i="0" dirty="0">
                <a:solidFill>
                  <a:schemeClr val="tx1"/>
                </a:solidFill>
                <a:effectLst/>
                <a:latin typeface="Söhne"/>
              </a:rPr>
              <a:t>: A pod is the smallest and most basic unit in Kubernetes. It represents a single instance of a running process in the cluster. A pod can contain one or more tightly coupled containers that share the same network namespace, IP address, and storage volumes. Pods are used to deploy and manage containerized applications.</a:t>
            </a:r>
          </a:p>
          <a:p>
            <a:r>
              <a:rPr lang="en-ZA" b="1" i="0" dirty="0">
                <a:solidFill>
                  <a:schemeClr val="tx1"/>
                </a:solidFill>
                <a:effectLst/>
                <a:latin typeface="Söhne"/>
              </a:rPr>
              <a:t>Labels</a:t>
            </a:r>
            <a:r>
              <a:rPr lang="en-ZA" b="0" i="0" dirty="0">
                <a:solidFill>
                  <a:schemeClr val="tx1"/>
                </a:solidFill>
                <a:effectLst/>
                <a:latin typeface="Söhne"/>
              </a:rPr>
              <a:t>: Labels are key-value pairs attached to Kubernetes objects like pods, services, and deployments. Labels are used to identify and organize resources. They can be used for grouping, selecting, and filtering objects when working with Kubernetes operations like scaling, updating, or deleting resources.</a:t>
            </a:r>
          </a:p>
          <a:p>
            <a:pPr marL="0" indent="0">
              <a:buNone/>
            </a:pPr>
            <a:endParaRPr lang="en-US" sz="2200" b="1" dirty="0"/>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Kubernetes Core Concepts</a:t>
            </a:r>
          </a:p>
        </p:txBody>
      </p:sp>
    </p:spTree>
    <p:extLst>
      <p:ext uri="{BB962C8B-B14F-4D97-AF65-F5344CB8AC3E}">
        <p14:creationId xmlns:p14="http://schemas.microsoft.com/office/powerpoint/2010/main" val="3678184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92500" lnSpcReduction="10000"/>
          </a:bodyPr>
          <a:lstStyle/>
          <a:p>
            <a:r>
              <a:rPr lang="en-ZA" b="1" i="0" dirty="0">
                <a:solidFill>
                  <a:schemeClr val="tx1"/>
                </a:solidFill>
                <a:effectLst/>
                <a:latin typeface="Söhne"/>
              </a:rPr>
              <a:t>Controllers</a:t>
            </a:r>
            <a:r>
              <a:rPr lang="en-ZA" b="0" i="0" dirty="0">
                <a:solidFill>
                  <a:schemeClr val="tx1"/>
                </a:solidFill>
                <a:effectLst/>
                <a:latin typeface="Söhne"/>
              </a:rPr>
              <a:t>: Controllers are responsible for managing the desired state of Kubernetes objects. They ensure that the actual state matches the desired state by creating, updating, and deleting resources as needed. Some commonly used controllers are:</a:t>
            </a:r>
          </a:p>
          <a:p>
            <a:pPr marL="742950" lvl="1" indent="-285750" algn="l">
              <a:buFont typeface="+mj-lt"/>
              <a:buAutoNum type="arabicPeriod"/>
            </a:pPr>
            <a:r>
              <a:rPr lang="en-ZA" b="1" i="0" dirty="0" err="1">
                <a:solidFill>
                  <a:schemeClr val="tx1"/>
                </a:solidFill>
                <a:effectLst/>
                <a:latin typeface="Söhne"/>
              </a:rPr>
              <a:t>ReplicationController</a:t>
            </a:r>
            <a:r>
              <a:rPr lang="en-ZA" b="0" i="0" dirty="0">
                <a:solidFill>
                  <a:schemeClr val="tx1"/>
                </a:solidFill>
                <a:effectLst/>
                <a:latin typeface="Söhne"/>
              </a:rPr>
              <a:t>: Ensures that a specified number of pod replicas are running at all times.</a:t>
            </a:r>
          </a:p>
          <a:p>
            <a:pPr marL="742950" lvl="1" indent="-285750" algn="l">
              <a:buFont typeface="+mj-lt"/>
              <a:buAutoNum type="arabicPeriod"/>
            </a:pPr>
            <a:r>
              <a:rPr lang="en-ZA" b="1" i="0" dirty="0">
                <a:solidFill>
                  <a:schemeClr val="tx1"/>
                </a:solidFill>
                <a:effectLst/>
                <a:latin typeface="Söhne"/>
              </a:rPr>
              <a:t>Deployment</a:t>
            </a:r>
            <a:r>
              <a:rPr lang="en-ZA" b="0" i="0" dirty="0">
                <a:solidFill>
                  <a:schemeClr val="tx1"/>
                </a:solidFill>
                <a:effectLst/>
                <a:latin typeface="Söhne"/>
              </a:rPr>
              <a:t>: Provides declarative updates for pods and manages their rollout and rollback.</a:t>
            </a:r>
          </a:p>
          <a:p>
            <a:pPr marL="742950" lvl="1" indent="-285750" algn="l">
              <a:buFont typeface="+mj-lt"/>
              <a:buAutoNum type="arabicPeriod"/>
            </a:pPr>
            <a:r>
              <a:rPr lang="en-ZA" b="1" i="0" dirty="0" err="1">
                <a:solidFill>
                  <a:schemeClr val="tx1"/>
                </a:solidFill>
                <a:effectLst/>
                <a:latin typeface="Söhne"/>
              </a:rPr>
              <a:t>StatefulSet</a:t>
            </a:r>
            <a:r>
              <a:rPr lang="en-ZA" b="0" i="0" dirty="0">
                <a:solidFill>
                  <a:schemeClr val="tx1"/>
                </a:solidFill>
                <a:effectLst/>
                <a:latin typeface="Söhne"/>
              </a:rPr>
              <a:t>: Manages the deployment of stateful applications, ensuring stable network identities and ordered deployment.</a:t>
            </a:r>
          </a:p>
          <a:p>
            <a:pPr marL="742950" lvl="1" indent="-285750" algn="l">
              <a:buFont typeface="+mj-lt"/>
              <a:buAutoNum type="arabicPeriod"/>
            </a:pPr>
            <a:r>
              <a:rPr lang="en-ZA" b="1" i="0" dirty="0" err="1">
                <a:solidFill>
                  <a:schemeClr val="tx1"/>
                </a:solidFill>
                <a:effectLst/>
                <a:latin typeface="Söhne"/>
              </a:rPr>
              <a:t>DaemonSet</a:t>
            </a:r>
            <a:r>
              <a:rPr lang="en-ZA" b="0" i="0" dirty="0">
                <a:solidFill>
                  <a:schemeClr val="tx1"/>
                </a:solidFill>
                <a:effectLst/>
                <a:latin typeface="Söhne"/>
              </a:rPr>
              <a:t>: Ensures that a copy of a pod runs on every node in the cluster.</a:t>
            </a:r>
          </a:p>
          <a:p>
            <a:pPr marL="742950" lvl="1" indent="-285750" algn="l">
              <a:buFont typeface="+mj-lt"/>
              <a:buAutoNum type="arabicPeriod"/>
            </a:pPr>
            <a:r>
              <a:rPr lang="en-ZA" b="1" i="0" dirty="0">
                <a:solidFill>
                  <a:schemeClr val="tx1"/>
                </a:solidFill>
                <a:effectLst/>
                <a:latin typeface="Söhne"/>
              </a:rPr>
              <a:t>Job</a:t>
            </a:r>
            <a:r>
              <a:rPr lang="en-ZA" b="0" i="0" dirty="0">
                <a:solidFill>
                  <a:schemeClr val="tx1"/>
                </a:solidFill>
                <a:effectLst/>
                <a:latin typeface="Söhne"/>
              </a:rPr>
              <a:t>: Runs a task or set of tasks to completion, such as batch processing or data migration.</a:t>
            </a:r>
          </a:p>
          <a:p>
            <a:pPr marL="0" indent="0">
              <a:buNone/>
            </a:pPr>
            <a:endParaRPr lang="en-US" sz="2200" b="1" dirty="0"/>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Continue….</a:t>
            </a:r>
          </a:p>
        </p:txBody>
      </p:sp>
    </p:spTree>
    <p:extLst>
      <p:ext uri="{BB962C8B-B14F-4D97-AF65-F5344CB8AC3E}">
        <p14:creationId xmlns:p14="http://schemas.microsoft.com/office/powerpoint/2010/main" val="3812600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92500" lnSpcReduction="20000"/>
          </a:bodyPr>
          <a:lstStyle/>
          <a:p>
            <a:r>
              <a:rPr lang="en-ZA" b="1" i="0" dirty="0">
                <a:solidFill>
                  <a:schemeClr val="tx1"/>
                </a:solidFill>
                <a:effectLst/>
                <a:latin typeface="Söhne"/>
              </a:rPr>
              <a:t>Services</a:t>
            </a:r>
            <a:r>
              <a:rPr lang="en-ZA" b="0" i="0" dirty="0">
                <a:solidFill>
                  <a:schemeClr val="tx1"/>
                </a:solidFill>
                <a:effectLst/>
                <a:latin typeface="Söhne"/>
              </a:rPr>
              <a:t>: Services enable networking and communication between pods and external entities. They define a stable virtual IP address and DNS name that can load balance traffic to a set of pods based on labels. Services can be exposed internally within the cluster or externally to the outside world.</a:t>
            </a:r>
          </a:p>
          <a:p>
            <a:r>
              <a:rPr lang="en-ZA" b="1" i="0" dirty="0">
                <a:solidFill>
                  <a:schemeClr val="tx1"/>
                </a:solidFill>
                <a:effectLst/>
                <a:latin typeface="Söhne"/>
              </a:rPr>
              <a:t>Secrets</a:t>
            </a:r>
            <a:r>
              <a:rPr lang="en-ZA" b="0" i="0" dirty="0">
                <a:solidFill>
                  <a:schemeClr val="tx1"/>
                </a:solidFill>
                <a:effectLst/>
                <a:latin typeface="Söhne"/>
              </a:rPr>
              <a:t>: Secrets are used to store sensitive information, such as passwords, API keys, or certificates, securely within the cluster. Secrets are base64-encoded data and can be accessed by pods as environment variables or mounted as files.</a:t>
            </a:r>
          </a:p>
          <a:p>
            <a:r>
              <a:rPr lang="en-ZA" b="1" i="0" dirty="0">
                <a:solidFill>
                  <a:schemeClr val="tx1"/>
                </a:solidFill>
                <a:effectLst/>
                <a:latin typeface="Söhne"/>
              </a:rPr>
              <a:t>Persistent Volumes (PV)</a:t>
            </a:r>
            <a:r>
              <a:rPr lang="en-ZA" b="0" i="0" dirty="0">
                <a:solidFill>
                  <a:schemeClr val="tx1"/>
                </a:solidFill>
                <a:effectLst/>
                <a:latin typeface="Söhne"/>
              </a:rPr>
              <a:t> and </a:t>
            </a:r>
            <a:r>
              <a:rPr lang="en-ZA" b="1" i="0" dirty="0">
                <a:solidFill>
                  <a:schemeClr val="tx1"/>
                </a:solidFill>
                <a:effectLst/>
                <a:latin typeface="Söhne"/>
              </a:rPr>
              <a:t>Persistent Volume Claims (PVC)</a:t>
            </a:r>
            <a:r>
              <a:rPr lang="en-ZA" b="0" i="0" dirty="0">
                <a:solidFill>
                  <a:schemeClr val="tx1"/>
                </a:solidFill>
                <a:effectLst/>
                <a:latin typeface="Söhne"/>
              </a:rPr>
              <a:t>: Persistent Volumes provide a way to store data outside of pods and retain it even if the pods are terminated. Persistent Volume Claims are requests for a Persistent Volume with specific characteristics (e.g., size, access mode). PVCs are used by pods to request and use the storage provided by PVs.</a:t>
            </a:r>
          </a:p>
          <a:p>
            <a:pPr marL="0" indent="0">
              <a:buNone/>
            </a:pPr>
            <a:endParaRPr lang="en-US" sz="2200" b="1" dirty="0"/>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Continue…</a:t>
            </a:r>
          </a:p>
        </p:txBody>
      </p:sp>
    </p:spTree>
    <p:extLst>
      <p:ext uri="{BB962C8B-B14F-4D97-AF65-F5344CB8AC3E}">
        <p14:creationId xmlns:p14="http://schemas.microsoft.com/office/powerpoint/2010/main" val="1954934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algn="l">
              <a:buFont typeface="+mj-lt"/>
              <a:buAutoNum type="arabicPeriod"/>
            </a:pPr>
            <a:r>
              <a:rPr lang="en-ZA" b="1" i="0" dirty="0">
                <a:solidFill>
                  <a:schemeClr val="tx1"/>
                </a:solidFill>
                <a:effectLst/>
                <a:latin typeface="Söhne"/>
              </a:rPr>
              <a:t>Namespaces</a:t>
            </a:r>
            <a:r>
              <a:rPr lang="en-ZA" b="0" i="0" dirty="0">
                <a:solidFill>
                  <a:schemeClr val="tx1"/>
                </a:solidFill>
                <a:effectLst/>
                <a:latin typeface="Söhne"/>
              </a:rPr>
              <a:t>: Namespaces provide a way to logically divide a cluster into multiple virtual clusters. They are used to separate resources and provide isolation and resource allocation within a cluster. Namespaces help manage and organize resources, prevent naming conflicts, and control access and resource usage.</a:t>
            </a:r>
          </a:p>
          <a:p>
            <a:pPr algn="l">
              <a:buFont typeface="+mj-lt"/>
              <a:buAutoNum type="arabicPeriod"/>
            </a:pPr>
            <a:r>
              <a:rPr lang="en-ZA" b="1" i="0" dirty="0">
                <a:solidFill>
                  <a:schemeClr val="tx1"/>
                </a:solidFill>
                <a:effectLst/>
                <a:latin typeface="Söhne"/>
              </a:rPr>
              <a:t>Resource Quotas</a:t>
            </a:r>
            <a:r>
              <a:rPr lang="en-ZA" b="0" i="0" dirty="0">
                <a:solidFill>
                  <a:schemeClr val="tx1"/>
                </a:solidFill>
                <a:effectLst/>
                <a:latin typeface="Söhne"/>
              </a:rPr>
              <a:t>: Resource Quotas allow you to limit and allocate resources (CPU, memory, storage) within a namespace. They ensure that one namespace doesn't consume excessive resources and affect the overall cluster performance</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Continue….</a:t>
            </a:r>
          </a:p>
        </p:txBody>
      </p:sp>
    </p:spTree>
    <p:extLst>
      <p:ext uri="{BB962C8B-B14F-4D97-AF65-F5344CB8AC3E}">
        <p14:creationId xmlns:p14="http://schemas.microsoft.com/office/powerpoint/2010/main" val="6842038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Continue…</a:t>
            </a:r>
          </a:p>
        </p:txBody>
      </p:sp>
      <p:sp>
        <p:nvSpPr>
          <p:cNvPr id="3" name="Content Placeholder 2">
            <a:extLst>
              <a:ext uri="{FF2B5EF4-FFF2-40B4-BE49-F238E27FC236}">
                <a16:creationId xmlns:a16="http://schemas.microsoft.com/office/drawing/2014/main" id="{3D98DA00-1865-47DA-9C55-6AA34B4896C6}"/>
              </a:ext>
            </a:extLst>
          </p:cNvPr>
          <p:cNvSpPr>
            <a:spLocks noGrp="1"/>
          </p:cNvSpPr>
          <p:nvPr>
            <p:ph type="body" sz="half" idx="2"/>
          </p:nvPr>
        </p:nvSpPr>
        <p:spPr>
          <a:xfrm>
            <a:off x="990600" y="1337994"/>
            <a:ext cx="10437812" cy="871806"/>
          </a:xfrm>
        </p:spPr>
        <p:txBody>
          <a:bodyPr>
            <a:normAutofit/>
          </a:bodyPr>
          <a:lstStyle/>
          <a:p>
            <a:pPr marL="171450" indent="-171450">
              <a:buFont typeface="Arial" panose="020B0604020202020204" pitchFamily="34" charset="0"/>
              <a:buChar char="•"/>
            </a:pPr>
            <a:r>
              <a:rPr lang="en-ZA" sz="1200" b="0" i="0" dirty="0">
                <a:effectLst/>
              </a:rPr>
              <a:t> </a:t>
            </a:r>
            <a:r>
              <a:rPr lang="en-ZA" sz="1600" b="1" i="0" dirty="0">
                <a:solidFill>
                  <a:srgbClr val="374151"/>
                </a:solidFill>
                <a:effectLst/>
                <a:latin typeface="Söhne"/>
              </a:rPr>
              <a:t>Pods</a:t>
            </a:r>
            <a:r>
              <a:rPr lang="en-ZA" sz="1600" b="0" i="0" dirty="0">
                <a:solidFill>
                  <a:srgbClr val="374151"/>
                </a:solidFill>
                <a:effectLst/>
                <a:latin typeface="Söhne"/>
              </a:rPr>
              <a:t>: Pods are the fundamental building blocks of Kubernetes and represent a single instance of a running process or workload. A pod can contain one or more containers that share the same network namespace, IP address, and storage volumes. Pods are scheduled onto worker nodes, and the containers within a pod are co-located and co-scheduled.</a:t>
            </a:r>
          </a:p>
          <a:p>
            <a:pPr marL="0" indent="0">
              <a:buNone/>
            </a:pPr>
            <a:endParaRPr lang="en-ZA" sz="1200" b="1" i="0" u="sng" dirty="0">
              <a:effectLst/>
            </a:endParaRP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2200940"/>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Services</a:t>
            </a:r>
            <a:r>
              <a:rPr lang="en-ZA" b="0" i="0" dirty="0">
                <a:solidFill>
                  <a:srgbClr val="374151"/>
                </a:solidFill>
                <a:effectLst/>
                <a:latin typeface="Söhne"/>
              </a:rPr>
              <a:t>: Services provide a stable network endpoint to access a group of pods. They abstract the underlying pod instances and provide load balancing and service discovery mechanisms. Services can be exposed internally within the cluster or externally to the outside world, allowing connectivity to the pods and their applications.</a:t>
            </a:r>
          </a:p>
        </p:txBody>
      </p:sp>
      <p:sp>
        <p:nvSpPr>
          <p:cNvPr id="10" name="TextBox 9">
            <a:extLst>
              <a:ext uri="{FF2B5EF4-FFF2-40B4-BE49-F238E27FC236}">
                <a16:creationId xmlns:a16="http://schemas.microsoft.com/office/drawing/2014/main" id="{EB41F961-B81D-FF15-9A67-43F95F734AB5}"/>
              </a:ext>
            </a:extLst>
          </p:cNvPr>
          <p:cNvSpPr txBox="1"/>
          <p:nvPr/>
        </p:nvSpPr>
        <p:spPr>
          <a:xfrm>
            <a:off x="802574" y="3456732"/>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Ingress</a:t>
            </a:r>
            <a:r>
              <a:rPr lang="en-ZA" b="0" i="0" dirty="0">
                <a:solidFill>
                  <a:srgbClr val="374151"/>
                </a:solidFill>
                <a:effectLst/>
                <a:latin typeface="Söhne"/>
              </a:rPr>
              <a:t>: Ingress is an optional component that serves as an entry point for external traffic into the cluster. It provides routing rules and load balancing for incoming requests to different services based on hostnames, paths, or other criteria. Ingress controllers, such as Nginx Ingress or </a:t>
            </a:r>
            <a:r>
              <a:rPr lang="en-ZA" b="0" i="0" dirty="0" err="1">
                <a:solidFill>
                  <a:srgbClr val="374151"/>
                </a:solidFill>
                <a:effectLst/>
                <a:latin typeface="Söhne"/>
              </a:rPr>
              <a:t>Traefik</a:t>
            </a:r>
            <a:r>
              <a:rPr lang="en-ZA" b="0" i="0" dirty="0">
                <a:solidFill>
                  <a:srgbClr val="374151"/>
                </a:solidFill>
                <a:effectLst/>
                <a:latin typeface="Söhne"/>
              </a:rPr>
              <a:t>, are responsible for implementing and managing the ingress rules.</a:t>
            </a:r>
          </a:p>
        </p:txBody>
      </p:sp>
      <p:sp>
        <p:nvSpPr>
          <p:cNvPr id="4" name="TextBox 3">
            <a:extLst>
              <a:ext uri="{FF2B5EF4-FFF2-40B4-BE49-F238E27FC236}">
                <a16:creationId xmlns:a16="http://schemas.microsoft.com/office/drawing/2014/main" id="{0B701855-CFFB-063C-DACB-2F0DD747F2B5}"/>
              </a:ext>
            </a:extLst>
          </p:cNvPr>
          <p:cNvSpPr txBox="1"/>
          <p:nvPr/>
        </p:nvSpPr>
        <p:spPr>
          <a:xfrm>
            <a:off x="816751" y="4613382"/>
            <a:ext cx="10210800" cy="923330"/>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Volumes</a:t>
            </a:r>
            <a:r>
              <a:rPr lang="en-ZA" b="0" i="0" dirty="0">
                <a:solidFill>
                  <a:srgbClr val="374151"/>
                </a:solidFill>
                <a:effectLst/>
                <a:latin typeface="Söhne"/>
              </a:rPr>
              <a:t>: Volumes provide a way to store and persist data in Kubernetes. They are attached to pods and provide storage that survives container restarts and rescheduling. Kubernetes supports various volume types, such as </a:t>
            </a:r>
            <a:r>
              <a:rPr lang="en-ZA" b="0" i="0" dirty="0" err="1">
                <a:solidFill>
                  <a:srgbClr val="374151"/>
                </a:solidFill>
                <a:effectLst/>
                <a:latin typeface="Söhne"/>
              </a:rPr>
              <a:t>hostPath</a:t>
            </a:r>
            <a:r>
              <a:rPr lang="en-ZA" b="0" i="0" dirty="0">
                <a:solidFill>
                  <a:srgbClr val="374151"/>
                </a:solidFill>
                <a:effectLst/>
                <a:latin typeface="Söhne"/>
              </a:rPr>
              <a:t>, </a:t>
            </a:r>
            <a:r>
              <a:rPr lang="en-ZA" b="0" i="0" dirty="0" err="1">
                <a:solidFill>
                  <a:srgbClr val="374151"/>
                </a:solidFill>
                <a:effectLst/>
                <a:latin typeface="Söhne"/>
              </a:rPr>
              <a:t>emptyDir</a:t>
            </a:r>
            <a:r>
              <a:rPr lang="en-ZA" b="0" i="0" dirty="0">
                <a:solidFill>
                  <a:srgbClr val="374151"/>
                </a:solidFill>
                <a:effectLst/>
                <a:latin typeface="Söhne"/>
              </a:rPr>
              <a:t>, </a:t>
            </a:r>
            <a:r>
              <a:rPr lang="en-ZA" b="0" i="0" dirty="0" err="1">
                <a:solidFill>
                  <a:srgbClr val="374151"/>
                </a:solidFill>
                <a:effectLst/>
                <a:latin typeface="Söhne"/>
              </a:rPr>
              <a:t>persistentVolumeClaim</a:t>
            </a:r>
            <a:r>
              <a:rPr lang="en-ZA" b="0" i="0" dirty="0">
                <a:solidFill>
                  <a:srgbClr val="374151"/>
                </a:solidFill>
                <a:effectLst/>
                <a:latin typeface="Söhne"/>
              </a:rPr>
              <a:t> (PVC), and cloud provider-specific volumes.</a:t>
            </a:r>
          </a:p>
        </p:txBody>
      </p:sp>
    </p:spTree>
    <p:extLst>
      <p:ext uri="{BB962C8B-B14F-4D97-AF65-F5344CB8AC3E}">
        <p14:creationId xmlns:p14="http://schemas.microsoft.com/office/powerpoint/2010/main" val="1291189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Continue…</a:t>
            </a: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2350253"/>
            <a:ext cx="10210800" cy="923330"/>
          </a:xfrm>
          <a:prstGeom prst="rect">
            <a:avLst/>
          </a:prstGeom>
          <a:noFill/>
        </p:spPr>
        <p:txBody>
          <a:bodyPr wrap="square">
            <a:spAutoFit/>
          </a:bodyPr>
          <a:lstStyle/>
          <a:p>
            <a:pPr marL="285750" indent="-285750" algn="l">
              <a:buFont typeface="Arial" panose="020B0604020202020204" pitchFamily="34" charset="0"/>
              <a:buChar char="•"/>
            </a:pPr>
            <a:r>
              <a:rPr lang="en-ZA" b="1" i="0" dirty="0" err="1">
                <a:solidFill>
                  <a:srgbClr val="374151"/>
                </a:solidFill>
                <a:effectLst/>
                <a:latin typeface="Söhne"/>
              </a:rPr>
              <a:t>ConfigMaps</a:t>
            </a:r>
            <a:r>
              <a:rPr lang="en-ZA" b="0" i="0" dirty="0">
                <a:solidFill>
                  <a:srgbClr val="374151"/>
                </a:solidFill>
                <a:effectLst/>
                <a:latin typeface="Söhne"/>
              </a:rPr>
              <a:t>: </a:t>
            </a:r>
            <a:r>
              <a:rPr lang="en-ZA" b="0" i="0" dirty="0" err="1">
                <a:solidFill>
                  <a:srgbClr val="374151"/>
                </a:solidFill>
                <a:effectLst/>
                <a:latin typeface="Söhne"/>
              </a:rPr>
              <a:t>ConfigMaps</a:t>
            </a:r>
            <a:r>
              <a:rPr lang="en-ZA" b="0" i="0" dirty="0">
                <a:solidFill>
                  <a:srgbClr val="374151"/>
                </a:solidFill>
                <a:effectLst/>
                <a:latin typeface="Söhne"/>
              </a:rPr>
              <a:t> store configuration data that can be consumed by pods as environment variables or mounted as files. They allow decoupling of configuration from the container image, making it easier to manage and update configurations independently.</a:t>
            </a:r>
          </a:p>
        </p:txBody>
      </p:sp>
      <p:sp>
        <p:nvSpPr>
          <p:cNvPr id="10" name="TextBox 9">
            <a:extLst>
              <a:ext uri="{FF2B5EF4-FFF2-40B4-BE49-F238E27FC236}">
                <a16:creationId xmlns:a16="http://schemas.microsoft.com/office/drawing/2014/main" id="{EB41F961-B81D-FF15-9A67-43F95F734AB5}"/>
              </a:ext>
            </a:extLst>
          </p:cNvPr>
          <p:cNvSpPr txBox="1"/>
          <p:nvPr/>
        </p:nvSpPr>
        <p:spPr>
          <a:xfrm>
            <a:off x="802574" y="3456732"/>
            <a:ext cx="10210800" cy="646331"/>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Secrets</a:t>
            </a:r>
            <a:r>
              <a:rPr lang="en-ZA" b="0" i="0" dirty="0">
                <a:solidFill>
                  <a:srgbClr val="374151"/>
                </a:solidFill>
                <a:effectLst/>
                <a:latin typeface="Söhne"/>
              </a:rPr>
              <a:t>: Secrets store sensitive information, such as passwords, API keys, or certificates, securely within the cluster. They are similar to </a:t>
            </a:r>
            <a:r>
              <a:rPr lang="en-ZA" b="0" i="0" dirty="0" err="1">
                <a:solidFill>
                  <a:srgbClr val="374151"/>
                </a:solidFill>
                <a:effectLst/>
                <a:latin typeface="Söhne"/>
              </a:rPr>
              <a:t>ConfigMaps</a:t>
            </a:r>
            <a:r>
              <a:rPr lang="en-ZA" b="0" i="0" dirty="0">
                <a:solidFill>
                  <a:srgbClr val="374151"/>
                </a:solidFill>
                <a:effectLst/>
                <a:latin typeface="Söhne"/>
              </a:rPr>
              <a:t> but are encoded and encrypted to protect sensitive data.</a:t>
            </a:r>
          </a:p>
        </p:txBody>
      </p:sp>
      <p:sp>
        <p:nvSpPr>
          <p:cNvPr id="4" name="TextBox 3">
            <a:extLst>
              <a:ext uri="{FF2B5EF4-FFF2-40B4-BE49-F238E27FC236}">
                <a16:creationId xmlns:a16="http://schemas.microsoft.com/office/drawing/2014/main" id="{0B701855-CFFB-063C-DACB-2F0DD747F2B5}"/>
              </a:ext>
            </a:extLst>
          </p:cNvPr>
          <p:cNvSpPr txBox="1"/>
          <p:nvPr/>
        </p:nvSpPr>
        <p:spPr>
          <a:xfrm>
            <a:off x="816751" y="4613382"/>
            <a:ext cx="10210800" cy="923330"/>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Monitoring and logging</a:t>
            </a:r>
            <a:r>
              <a:rPr lang="en-ZA" b="0" i="0" dirty="0">
                <a:solidFill>
                  <a:srgbClr val="374151"/>
                </a:solidFill>
                <a:effectLst/>
                <a:latin typeface="Söhne"/>
              </a:rPr>
              <a:t>: Monitoring and logging tools are crucial components of a Kubernetes reference architecture. Popular solutions like Prometheus, Grafana, and ELK (Elasticsearch, Logstash, and Kibana) are commonly used to collect and </a:t>
            </a:r>
            <a:r>
              <a:rPr lang="en-ZA" b="0" i="0" dirty="0" err="1">
                <a:solidFill>
                  <a:srgbClr val="374151"/>
                </a:solidFill>
                <a:effectLst/>
                <a:latin typeface="Söhne"/>
              </a:rPr>
              <a:t>analyze</a:t>
            </a:r>
            <a:r>
              <a:rPr lang="en-ZA" b="0" i="0" dirty="0">
                <a:solidFill>
                  <a:srgbClr val="374151"/>
                </a:solidFill>
                <a:effectLst/>
                <a:latin typeface="Söhne"/>
              </a:rPr>
              <a:t> metrics, logs, and events from the cluster and its applications.</a:t>
            </a:r>
          </a:p>
        </p:txBody>
      </p:sp>
      <p:sp>
        <p:nvSpPr>
          <p:cNvPr id="2" name="TextBox 1">
            <a:extLst>
              <a:ext uri="{FF2B5EF4-FFF2-40B4-BE49-F238E27FC236}">
                <a16:creationId xmlns:a16="http://schemas.microsoft.com/office/drawing/2014/main" id="{A3B0927A-E17F-38B3-EBB2-383E6AA4691D}"/>
              </a:ext>
            </a:extLst>
          </p:cNvPr>
          <p:cNvSpPr txBox="1"/>
          <p:nvPr/>
        </p:nvSpPr>
        <p:spPr>
          <a:xfrm>
            <a:off x="839788" y="1178520"/>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effectLst/>
                <a:latin typeface="Söhne"/>
              </a:rPr>
              <a:t>Controllers</a:t>
            </a:r>
            <a:r>
              <a:rPr lang="en-ZA" b="0" i="0" dirty="0">
                <a:solidFill>
                  <a:srgbClr val="374151"/>
                </a:solidFill>
                <a:effectLst/>
                <a:latin typeface="Söhne"/>
              </a:rPr>
              <a:t>: Controllers manage the desired state of different Kubernetes objects and ensure that the actual state matches the desired state. Controllers include Deployment, </a:t>
            </a:r>
            <a:r>
              <a:rPr lang="en-ZA" b="0" i="0" dirty="0" err="1">
                <a:solidFill>
                  <a:srgbClr val="374151"/>
                </a:solidFill>
                <a:effectLst/>
                <a:latin typeface="Söhne"/>
              </a:rPr>
              <a:t>StatefulSet</a:t>
            </a:r>
            <a:r>
              <a:rPr lang="en-ZA" b="0" i="0" dirty="0">
                <a:solidFill>
                  <a:srgbClr val="374151"/>
                </a:solidFill>
                <a:effectLst/>
                <a:latin typeface="Söhne"/>
              </a:rPr>
              <a:t>, </a:t>
            </a:r>
            <a:r>
              <a:rPr lang="en-ZA" b="0" i="0" dirty="0" err="1">
                <a:solidFill>
                  <a:srgbClr val="374151"/>
                </a:solidFill>
                <a:effectLst/>
                <a:latin typeface="Söhne"/>
              </a:rPr>
              <a:t>ReplicaSet</a:t>
            </a:r>
            <a:r>
              <a:rPr lang="en-ZA" b="0" i="0" dirty="0">
                <a:solidFill>
                  <a:srgbClr val="374151"/>
                </a:solidFill>
                <a:effectLst/>
                <a:latin typeface="Söhne"/>
              </a:rPr>
              <a:t>, and </a:t>
            </a:r>
            <a:r>
              <a:rPr lang="en-ZA" b="0" i="0" dirty="0" err="1">
                <a:solidFill>
                  <a:srgbClr val="374151"/>
                </a:solidFill>
                <a:effectLst/>
                <a:latin typeface="Söhne"/>
              </a:rPr>
              <a:t>DaemonSet</a:t>
            </a:r>
            <a:r>
              <a:rPr lang="en-ZA" b="0" i="0" dirty="0">
                <a:solidFill>
                  <a:srgbClr val="374151"/>
                </a:solidFill>
                <a:effectLst/>
                <a:latin typeface="Söhne"/>
              </a:rPr>
              <a:t>, among others. They handle tasks such as scaling, rolling updates, and self-healing of the pods and applications</a:t>
            </a:r>
          </a:p>
        </p:txBody>
      </p:sp>
    </p:spTree>
    <p:extLst>
      <p:ext uri="{BB962C8B-B14F-4D97-AF65-F5344CB8AC3E}">
        <p14:creationId xmlns:p14="http://schemas.microsoft.com/office/powerpoint/2010/main" val="2929643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Continue…</a:t>
            </a: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1077914"/>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Authentication and authorization</a:t>
            </a:r>
            <a:r>
              <a:rPr lang="en-ZA" b="0" i="0" dirty="0">
                <a:solidFill>
                  <a:srgbClr val="374151"/>
                </a:solidFill>
                <a:effectLst/>
                <a:latin typeface="Söhne"/>
              </a:rPr>
              <a:t>: Kubernetes provides mechanisms for authentication and authorization to secure cluster access. This includes integration with identity providers (such as LDAP or OIDC), role-based access control (RBAC), and other authentication methods like client certificates or service accounts.</a:t>
            </a:r>
          </a:p>
        </p:txBody>
      </p:sp>
    </p:spTree>
    <p:extLst>
      <p:ext uri="{BB962C8B-B14F-4D97-AF65-F5344CB8AC3E}">
        <p14:creationId xmlns:p14="http://schemas.microsoft.com/office/powerpoint/2010/main" val="2746826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B34F-A91C-7745-B25C-96A52EB8880D}"/>
              </a:ext>
            </a:extLst>
          </p:cNvPr>
          <p:cNvSpPr>
            <a:spLocks noGrp="1"/>
          </p:cNvSpPr>
          <p:nvPr>
            <p:ph type="title"/>
          </p:nvPr>
        </p:nvSpPr>
        <p:spPr>
          <a:xfrm>
            <a:off x="685800" y="2369288"/>
            <a:ext cx="10515600" cy="990600"/>
          </a:xfrm>
        </p:spPr>
        <p:txBody>
          <a:bodyPr>
            <a:normAutofit/>
          </a:bodyPr>
          <a:lstStyle/>
          <a:p>
            <a:pPr algn="ctr"/>
            <a:r>
              <a:rPr lang="en-US" sz="4400"/>
              <a:t>Day 2</a:t>
            </a:r>
            <a:endParaRPr lang="en-US" sz="4400" dirty="0"/>
          </a:p>
        </p:txBody>
      </p:sp>
    </p:spTree>
    <p:extLst>
      <p:ext uri="{BB962C8B-B14F-4D97-AF65-F5344CB8AC3E}">
        <p14:creationId xmlns:p14="http://schemas.microsoft.com/office/powerpoint/2010/main" val="2464329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Containers network model in Kubernetes</a:t>
            </a: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1077914"/>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0" i="0" dirty="0">
                <a:solidFill>
                  <a:srgbClr val="374151"/>
                </a:solidFill>
                <a:effectLst/>
                <a:latin typeface="Söhne"/>
              </a:rPr>
              <a:t>In Kubernetes, the container network model provides networking capabilities and allows communication between pods and services within a cluster. It abstracts the underlying network infrastructure and provides a unified networking model for containerized applications. The key components of the container network model in Kubernetes are as follows</a:t>
            </a:r>
          </a:p>
        </p:txBody>
      </p:sp>
      <p:sp>
        <p:nvSpPr>
          <p:cNvPr id="3" name="TextBox 2">
            <a:extLst>
              <a:ext uri="{FF2B5EF4-FFF2-40B4-BE49-F238E27FC236}">
                <a16:creationId xmlns:a16="http://schemas.microsoft.com/office/drawing/2014/main" id="{01B6EE8C-9C19-AC3A-9DD6-12ADA2C638C3}"/>
              </a:ext>
            </a:extLst>
          </p:cNvPr>
          <p:cNvSpPr txBox="1"/>
          <p:nvPr/>
        </p:nvSpPr>
        <p:spPr>
          <a:xfrm>
            <a:off x="802574" y="2450552"/>
            <a:ext cx="10098974"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Pod Network</a:t>
            </a:r>
            <a:r>
              <a:rPr lang="en-ZA" b="0" i="0" dirty="0">
                <a:solidFill>
                  <a:srgbClr val="374151"/>
                </a:solidFill>
                <a:effectLst/>
                <a:latin typeface="Söhne"/>
              </a:rPr>
              <a:t>: A pod network is a virtual network overlay that connects pods within a Kubernetes cluster. It allows pods to communicate with each other directly using IP addresses. Each pod gets its own IP address, and containers within the pod share the same network namespace, enabling them to communicate over the loopback interface.</a:t>
            </a:r>
          </a:p>
        </p:txBody>
      </p:sp>
      <p:sp>
        <p:nvSpPr>
          <p:cNvPr id="4" name="TextBox 3">
            <a:extLst>
              <a:ext uri="{FF2B5EF4-FFF2-40B4-BE49-F238E27FC236}">
                <a16:creationId xmlns:a16="http://schemas.microsoft.com/office/drawing/2014/main" id="{64FC3014-FFE3-E5BB-0694-B657914DB14E}"/>
              </a:ext>
            </a:extLst>
          </p:cNvPr>
          <p:cNvSpPr txBox="1"/>
          <p:nvPr/>
        </p:nvSpPr>
        <p:spPr>
          <a:xfrm>
            <a:off x="802574" y="3650881"/>
            <a:ext cx="10098974" cy="2308324"/>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Container Network Interface (CNI)</a:t>
            </a:r>
            <a:r>
              <a:rPr lang="en-ZA" b="0" i="0" dirty="0">
                <a:solidFill>
                  <a:srgbClr val="374151"/>
                </a:solidFill>
                <a:effectLst/>
                <a:latin typeface="Söhne"/>
              </a:rPr>
              <a:t>: CNI is a specification that defines how networking is implemented for containers in a cluster. It allows different networking plugins to be used in a Kubernetes cluster. Networking plugins, also known as CNI plugins, provide the implementation of the network model by creating virtual network interfaces, managing IP addresses, and setting up network routing rules for pods.</a:t>
            </a:r>
          </a:p>
          <a:p>
            <a:pPr marL="285750" indent="-285750">
              <a:buFont typeface="Arial" panose="020B0604020202020204" pitchFamily="34" charset="0"/>
              <a:buChar char="•"/>
            </a:pPr>
            <a:r>
              <a:rPr lang="en-ZA" b="0" i="0" dirty="0">
                <a:solidFill>
                  <a:srgbClr val="666666"/>
                </a:solidFill>
                <a:effectLst/>
                <a:latin typeface="Arial" panose="020B0604020202020204" pitchFamily="34" charset="0"/>
              </a:rPr>
              <a:t>The type of </a:t>
            </a:r>
            <a:r>
              <a:rPr lang="en-ZA" b="0" i="0" u="sng" dirty="0">
                <a:solidFill>
                  <a:srgbClr val="007CAD"/>
                </a:solidFill>
                <a:effectLst/>
                <a:latin typeface="Arial" panose="020B0604020202020204" pitchFamily="34" charset="0"/>
                <a:hlinkClick r:id="rId2"/>
              </a:rPr>
              <a:t>cluster networking</a:t>
            </a:r>
            <a:r>
              <a:rPr lang="en-ZA" b="0" i="0" dirty="0">
                <a:solidFill>
                  <a:srgbClr val="666666"/>
                </a:solidFill>
                <a:effectLst/>
                <a:latin typeface="Arial" panose="020B0604020202020204" pitchFamily="34" charset="0"/>
              </a:rPr>
              <a:t> used in the context of containers and Kubernetes must address four distinct types of communications: pod-to-pod, pod-to-service, external-to-service and tightly coupled container-to-container.</a:t>
            </a:r>
            <a:r>
              <a:rPr lang="en-ZA" b="0" i="0" dirty="0">
                <a:solidFill>
                  <a:srgbClr val="374151"/>
                </a:solidFill>
                <a:effectLst/>
                <a:latin typeface="Söhne"/>
              </a:rPr>
              <a:t>(</a:t>
            </a:r>
            <a:r>
              <a:rPr lang="en-ZA" b="0" i="0" dirty="0" err="1">
                <a:solidFill>
                  <a:srgbClr val="374151"/>
                </a:solidFill>
                <a:effectLst/>
                <a:latin typeface="Söhne"/>
              </a:rPr>
              <a:t>e.g</a:t>
            </a:r>
            <a:r>
              <a:rPr lang="en-ZA" b="0" i="0" dirty="0">
                <a:solidFill>
                  <a:srgbClr val="374151"/>
                </a:solidFill>
                <a:effectLst/>
                <a:latin typeface="Söhne"/>
              </a:rPr>
              <a:t> Calico, </a:t>
            </a:r>
            <a:r>
              <a:rPr lang="en-ZA" b="0" i="0" dirty="0" err="1">
                <a:solidFill>
                  <a:srgbClr val="374151"/>
                </a:solidFill>
                <a:effectLst/>
                <a:latin typeface="Söhne"/>
              </a:rPr>
              <a:t>weave,contiv,multus</a:t>
            </a:r>
            <a:r>
              <a:rPr lang="en-ZA" b="0" i="0" dirty="0">
                <a:solidFill>
                  <a:srgbClr val="374151"/>
                </a:solidFill>
                <a:effectLst/>
                <a:latin typeface="Söhne"/>
              </a:rPr>
              <a:t>)</a:t>
            </a:r>
          </a:p>
        </p:txBody>
      </p:sp>
    </p:spTree>
    <p:extLst>
      <p:ext uri="{BB962C8B-B14F-4D97-AF65-F5344CB8AC3E}">
        <p14:creationId xmlns:p14="http://schemas.microsoft.com/office/powerpoint/2010/main" val="3073032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Containers network model in Kubernetes</a:t>
            </a: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1077914"/>
            <a:ext cx="10210800" cy="1477328"/>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Network Overlay</a:t>
            </a:r>
            <a:r>
              <a:rPr lang="en-ZA" b="0" i="0" dirty="0">
                <a:solidFill>
                  <a:srgbClr val="374151"/>
                </a:solidFill>
                <a:effectLst/>
                <a:latin typeface="Söhne"/>
              </a:rPr>
              <a:t>: Kubernetes uses a network overlay to create a virtual network that spans across all the nodes in the cluster. It allows pods running on different nodes to communicate with each other seamlessly, even though they may be running on different physical or virtual machines. Network overlays use encapsulation techniques, such as VXLAN, Geneve, or IP-in-IP, to encapsulate and transport the network packets between pods across the cluster.</a:t>
            </a:r>
          </a:p>
        </p:txBody>
      </p:sp>
      <p:sp>
        <p:nvSpPr>
          <p:cNvPr id="3" name="TextBox 2">
            <a:extLst>
              <a:ext uri="{FF2B5EF4-FFF2-40B4-BE49-F238E27FC236}">
                <a16:creationId xmlns:a16="http://schemas.microsoft.com/office/drawing/2014/main" id="{01B6EE8C-9C19-AC3A-9DD6-12ADA2C638C3}"/>
              </a:ext>
            </a:extLst>
          </p:cNvPr>
          <p:cNvSpPr txBox="1"/>
          <p:nvPr/>
        </p:nvSpPr>
        <p:spPr>
          <a:xfrm>
            <a:off x="802574" y="2450552"/>
            <a:ext cx="10098974"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effectLst/>
                <a:latin typeface="Söhne"/>
              </a:rPr>
              <a:t>Service Discovery</a:t>
            </a:r>
            <a:r>
              <a:rPr lang="en-ZA" b="0" i="0" dirty="0">
                <a:solidFill>
                  <a:srgbClr val="374151"/>
                </a:solidFill>
                <a:effectLst/>
                <a:latin typeface="Söhne"/>
              </a:rPr>
              <a:t>: Services in Kubernetes provide a stable endpoint for accessing a group of pods. When a service is created, it gets an IP address and DNS name. Service discovery mechanisms, such as DNS or environment variables, allow other pods or external entities to discover and communicate with the service using the service's IP or DNS name</a:t>
            </a:r>
          </a:p>
        </p:txBody>
      </p:sp>
      <p:sp>
        <p:nvSpPr>
          <p:cNvPr id="4" name="TextBox 3">
            <a:extLst>
              <a:ext uri="{FF2B5EF4-FFF2-40B4-BE49-F238E27FC236}">
                <a16:creationId xmlns:a16="http://schemas.microsoft.com/office/drawing/2014/main" id="{64FC3014-FFE3-E5BB-0694-B657914DB14E}"/>
              </a:ext>
            </a:extLst>
          </p:cNvPr>
          <p:cNvSpPr txBox="1"/>
          <p:nvPr/>
        </p:nvSpPr>
        <p:spPr>
          <a:xfrm>
            <a:off x="802574" y="3650881"/>
            <a:ext cx="10098974"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Service Load Balancing</a:t>
            </a:r>
            <a:r>
              <a:rPr lang="en-ZA" b="0" i="0" dirty="0">
                <a:solidFill>
                  <a:srgbClr val="374151"/>
                </a:solidFill>
                <a:effectLst/>
                <a:latin typeface="Söhne"/>
              </a:rPr>
              <a:t>: Kubernetes provides built-in load balancing for services. Incoming traffic to a service is load balanced across the pods that are part of the service. This load balancing ensures that requests are distributed evenly across the available pods, improving availability and scalability of the application.</a:t>
            </a:r>
          </a:p>
        </p:txBody>
      </p:sp>
      <p:sp>
        <p:nvSpPr>
          <p:cNvPr id="2" name="TextBox 1">
            <a:extLst>
              <a:ext uri="{FF2B5EF4-FFF2-40B4-BE49-F238E27FC236}">
                <a16:creationId xmlns:a16="http://schemas.microsoft.com/office/drawing/2014/main" id="{65BCBC2D-87BD-FF55-F68F-6778328C0C66}"/>
              </a:ext>
            </a:extLst>
          </p:cNvPr>
          <p:cNvSpPr txBox="1"/>
          <p:nvPr/>
        </p:nvSpPr>
        <p:spPr>
          <a:xfrm>
            <a:off x="802574" y="4760697"/>
            <a:ext cx="10098974" cy="923330"/>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Ingress</a:t>
            </a:r>
            <a:r>
              <a:rPr lang="en-ZA" b="0" i="0" dirty="0">
                <a:solidFill>
                  <a:srgbClr val="374151"/>
                </a:solidFill>
                <a:effectLst/>
                <a:latin typeface="Söhne"/>
              </a:rPr>
              <a:t>: Ingress in Kubernetes provides a way to expose HTTP and HTTPS services to the outside world. Ingress controllers, such as Nginx Ingress or </a:t>
            </a:r>
            <a:r>
              <a:rPr lang="en-ZA" b="0" i="0" dirty="0" err="1">
                <a:solidFill>
                  <a:srgbClr val="374151"/>
                </a:solidFill>
                <a:effectLst/>
                <a:latin typeface="Söhne"/>
              </a:rPr>
              <a:t>Traefik</a:t>
            </a:r>
            <a:r>
              <a:rPr lang="en-ZA" b="0" i="0" dirty="0">
                <a:solidFill>
                  <a:srgbClr val="374151"/>
                </a:solidFill>
                <a:effectLst/>
                <a:latin typeface="Söhne"/>
              </a:rPr>
              <a:t>, handle the incoming traffic and route it to the appropriate services within the cluster based on rules defined in the Ingress resource.</a:t>
            </a:r>
          </a:p>
        </p:txBody>
      </p:sp>
    </p:spTree>
    <p:extLst>
      <p:ext uri="{BB962C8B-B14F-4D97-AF65-F5344CB8AC3E}">
        <p14:creationId xmlns:p14="http://schemas.microsoft.com/office/powerpoint/2010/main" val="508797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a:xfrm>
            <a:off x="802574" y="304800"/>
            <a:ext cx="11160826" cy="685800"/>
          </a:xfrm>
        </p:spPr>
        <p:txBody>
          <a:bodyPr anchor="b">
            <a:normAutofit/>
          </a:bodyPr>
          <a:lstStyle/>
          <a:p>
            <a:r>
              <a:rPr lang="en-US" dirty="0"/>
              <a:t>Containers network model in Kubernetes</a:t>
            </a:r>
          </a:p>
        </p:txBody>
      </p:sp>
      <p:sp>
        <p:nvSpPr>
          <p:cNvPr id="8" name="TextBox 7">
            <a:extLst>
              <a:ext uri="{FF2B5EF4-FFF2-40B4-BE49-F238E27FC236}">
                <a16:creationId xmlns:a16="http://schemas.microsoft.com/office/drawing/2014/main" id="{67DB9D80-3D45-3A26-A835-1DDEB1364B5D}"/>
              </a:ext>
            </a:extLst>
          </p:cNvPr>
          <p:cNvSpPr txBox="1"/>
          <p:nvPr/>
        </p:nvSpPr>
        <p:spPr>
          <a:xfrm>
            <a:off x="802574" y="1077914"/>
            <a:ext cx="10210800" cy="1200329"/>
          </a:xfrm>
          <a:prstGeom prst="rect">
            <a:avLst/>
          </a:prstGeom>
          <a:noFill/>
        </p:spPr>
        <p:txBody>
          <a:bodyPr wrap="square">
            <a:spAutoFit/>
          </a:bodyPr>
          <a:lstStyle/>
          <a:p>
            <a:pPr marL="285750" indent="-285750" algn="l">
              <a:buFont typeface="Arial" panose="020B0604020202020204" pitchFamily="34" charset="0"/>
              <a:buChar char="•"/>
            </a:pPr>
            <a:r>
              <a:rPr lang="en-ZA" b="1" i="0" dirty="0">
                <a:solidFill>
                  <a:srgbClr val="374151"/>
                </a:solidFill>
                <a:effectLst/>
                <a:latin typeface="Söhne"/>
              </a:rPr>
              <a:t>Network Policies</a:t>
            </a:r>
            <a:r>
              <a:rPr lang="en-ZA" b="0" i="0" dirty="0">
                <a:solidFill>
                  <a:srgbClr val="374151"/>
                </a:solidFill>
                <a:effectLst/>
                <a:latin typeface="Söhne"/>
              </a:rPr>
              <a:t>: Network policies in Kubernetes allow fine-grained control over network traffic between pods. They provide a declarative way to specify ingress and egress rules, defining what traffic is allowed or denied based on source IP, destination IP, ports, and other parameters. Network policies help enforce security and isolation within the cluster.</a:t>
            </a:r>
          </a:p>
        </p:txBody>
      </p:sp>
    </p:spTree>
    <p:extLst>
      <p:ext uri="{BB962C8B-B14F-4D97-AF65-F5344CB8AC3E}">
        <p14:creationId xmlns:p14="http://schemas.microsoft.com/office/powerpoint/2010/main" val="1802992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marL="0" indent="0">
              <a:buNone/>
            </a:pPr>
            <a:r>
              <a:rPr lang="en-ZA" b="0" i="0" dirty="0">
                <a:solidFill>
                  <a:srgbClr val="2F2F2F"/>
                </a:solidFill>
                <a:effectLst/>
                <a:latin typeface="Poppins" pitchFamily="2" charset="77"/>
              </a:rPr>
              <a:t> </a:t>
            </a:r>
            <a:endParaRPr lang="en-ZA" b="0" i="0" dirty="0">
              <a:solidFill>
                <a:srgbClr val="374151"/>
              </a:solidFill>
              <a:effectLst/>
              <a:latin typeface="Söhne"/>
            </a:endParaRP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normAutofit fontScale="90000"/>
          </a:bodyPr>
          <a:lstStyle/>
          <a:p>
            <a:pPr algn="ctr"/>
            <a:r>
              <a:rPr lang="en-US" dirty="0"/>
              <a:t>Service </a:t>
            </a:r>
            <a:r>
              <a:rPr lang="en-US" dirty="0" err="1"/>
              <a:t>Discovery,scaling</a:t>
            </a:r>
            <a:r>
              <a:rPr lang="en-US" dirty="0"/>
              <a:t>, load balancing</a:t>
            </a:r>
          </a:p>
        </p:txBody>
      </p:sp>
      <p:sp>
        <p:nvSpPr>
          <p:cNvPr id="2" name="TextBox 1">
            <a:extLst>
              <a:ext uri="{FF2B5EF4-FFF2-40B4-BE49-F238E27FC236}">
                <a16:creationId xmlns:a16="http://schemas.microsoft.com/office/drawing/2014/main" id="{6A65A3A8-7A9C-8BD4-0379-A175E62391B3}"/>
              </a:ext>
            </a:extLst>
          </p:cNvPr>
          <p:cNvSpPr txBox="1"/>
          <p:nvPr/>
        </p:nvSpPr>
        <p:spPr>
          <a:xfrm>
            <a:off x="381000" y="1524000"/>
            <a:ext cx="11658600" cy="4801314"/>
          </a:xfrm>
          <a:prstGeom prst="rect">
            <a:avLst/>
          </a:prstGeom>
          <a:noFill/>
        </p:spPr>
        <p:txBody>
          <a:bodyPr wrap="square" rtlCol="0">
            <a:spAutoFit/>
          </a:bodyPr>
          <a:lstStyle/>
          <a:p>
            <a:pPr algn="l"/>
            <a:r>
              <a:rPr lang="en-ZA" b="1" i="0" dirty="0">
                <a:solidFill>
                  <a:srgbClr val="374151"/>
                </a:solidFill>
                <a:effectLst/>
                <a:latin typeface="Söhne"/>
              </a:rPr>
              <a:t>Service Discovery</a:t>
            </a:r>
            <a:r>
              <a:rPr lang="en-ZA" b="0" i="0" dirty="0">
                <a:solidFill>
                  <a:srgbClr val="374151"/>
                </a:solidFill>
                <a:effectLst/>
                <a:latin typeface="Söhne"/>
              </a:rPr>
              <a:t>: Service discovery is the process of dynamically locating and accessing services within a cluster or network. In Kubernetes, services act as an abstraction layer that provides a stable and virtual IP address for a group of pods. Service discovery mechanisms in Kubernetes include:</a:t>
            </a:r>
          </a:p>
          <a:p>
            <a:pPr algn="l"/>
            <a:endParaRPr lang="en-ZA" dirty="0">
              <a:solidFill>
                <a:srgbClr val="374151"/>
              </a:solidFill>
              <a:latin typeface="Söhne"/>
            </a:endParaRPr>
          </a:p>
          <a:p>
            <a:pPr algn="l"/>
            <a:endParaRPr lang="en-ZA" b="0" i="0" dirty="0">
              <a:solidFill>
                <a:srgbClr val="374151"/>
              </a:solidFill>
              <a:effectLst/>
              <a:latin typeface="Söhne"/>
            </a:endParaRPr>
          </a:p>
          <a:p>
            <a:pPr algn="l">
              <a:buFont typeface="+mj-lt"/>
              <a:buAutoNum type="arabicPeriod"/>
            </a:pPr>
            <a:r>
              <a:rPr lang="en-ZA" b="1" i="0" dirty="0">
                <a:solidFill>
                  <a:srgbClr val="374151"/>
                </a:solidFill>
                <a:effectLst/>
                <a:latin typeface="Söhne"/>
              </a:rPr>
              <a:t>DNS-based Service Discovery</a:t>
            </a:r>
            <a:r>
              <a:rPr lang="en-ZA" b="0" i="0" dirty="0">
                <a:solidFill>
                  <a:srgbClr val="374151"/>
                </a:solidFill>
                <a:effectLst/>
                <a:latin typeface="Söhne"/>
              </a:rPr>
              <a:t>: Kubernetes assigns a DNS name to each service in the cluster. Other pods or external entities can use this DNS name to resolve the IP address of the service and establish communication.</a:t>
            </a:r>
          </a:p>
          <a:p>
            <a:pPr algn="l"/>
            <a:endParaRPr lang="en-ZA" dirty="0">
              <a:solidFill>
                <a:srgbClr val="374151"/>
              </a:solidFill>
              <a:latin typeface="Söhne"/>
            </a:endParaRPr>
          </a:p>
          <a:p>
            <a:pPr algn="l"/>
            <a:endParaRPr lang="en-ZA" b="0" i="0" dirty="0">
              <a:solidFill>
                <a:srgbClr val="374151"/>
              </a:solidFill>
              <a:effectLst/>
              <a:latin typeface="Söhne"/>
            </a:endParaRPr>
          </a:p>
          <a:p>
            <a:pPr algn="l">
              <a:buFont typeface="+mj-lt"/>
              <a:buAutoNum type="arabicPeriod"/>
            </a:pPr>
            <a:r>
              <a:rPr lang="en-ZA" b="1" i="0" dirty="0">
                <a:solidFill>
                  <a:srgbClr val="374151"/>
                </a:solidFill>
                <a:effectLst/>
                <a:latin typeface="Söhne"/>
              </a:rPr>
              <a:t>Environment Variables</a:t>
            </a:r>
            <a:r>
              <a:rPr lang="en-ZA" b="0" i="0" dirty="0">
                <a:solidFill>
                  <a:srgbClr val="374151"/>
                </a:solidFill>
                <a:effectLst/>
                <a:latin typeface="Söhne"/>
              </a:rPr>
              <a:t>: Kubernetes automatically sets environment variables for each service within a pod. These variables contain the IP address and port of the service, allowing applications to directly communicate with the service using the environment variables.</a:t>
            </a:r>
          </a:p>
          <a:p>
            <a:pPr algn="l"/>
            <a:endParaRPr lang="en-ZA" b="0" i="0" dirty="0">
              <a:solidFill>
                <a:srgbClr val="374151"/>
              </a:solidFill>
              <a:effectLst/>
              <a:latin typeface="Söhne"/>
            </a:endParaRPr>
          </a:p>
          <a:p>
            <a:pPr algn="l"/>
            <a:r>
              <a:rPr lang="en-ZA" b="0" i="0" dirty="0">
                <a:solidFill>
                  <a:srgbClr val="374151"/>
                </a:solidFill>
                <a:effectLst/>
                <a:latin typeface="Söhne"/>
              </a:rPr>
              <a:t>Service discovery enables easy communication and decouples the service consumers from the specific IP addresses or pod instances. It simplifies the management of dynamic environments where pods may be created, terminated, or scaled up/down dynamically.</a:t>
            </a:r>
          </a:p>
          <a:p>
            <a:endParaRPr lang="en-US" dirty="0"/>
          </a:p>
        </p:txBody>
      </p:sp>
    </p:spTree>
    <p:extLst>
      <p:ext uri="{BB962C8B-B14F-4D97-AF65-F5344CB8AC3E}">
        <p14:creationId xmlns:p14="http://schemas.microsoft.com/office/powerpoint/2010/main" val="4019305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marL="0" indent="0">
              <a:buNone/>
            </a:pPr>
            <a:r>
              <a:rPr lang="en-ZA" b="0" i="0" dirty="0">
                <a:solidFill>
                  <a:srgbClr val="2F2F2F"/>
                </a:solidFill>
                <a:effectLst/>
                <a:latin typeface="Poppins" pitchFamily="2" charset="77"/>
              </a:rPr>
              <a:t> </a:t>
            </a:r>
            <a:endParaRPr lang="en-ZA" b="0" i="0" dirty="0">
              <a:solidFill>
                <a:srgbClr val="374151"/>
              </a:solidFill>
              <a:effectLst/>
              <a:latin typeface="Söhne"/>
            </a:endParaRP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normAutofit fontScale="90000"/>
          </a:bodyPr>
          <a:lstStyle/>
          <a:p>
            <a:pPr algn="ctr"/>
            <a:r>
              <a:rPr lang="en-US" dirty="0"/>
              <a:t>Service </a:t>
            </a:r>
            <a:r>
              <a:rPr lang="en-US" dirty="0" err="1"/>
              <a:t>Discovery,scaling</a:t>
            </a:r>
            <a:r>
              <a:rPr lang="en-US" dirty="0"/>
              <a:t>, load balancing</a:t>
            </a:r>
          </a:p>
        </p:txBody>
      </p:sp>
      <p:sp>
        <p:nvSpPr>
          <p:cNvPr id="2" name="TextBox 1">
            <a:extLst>
              <a:ext uri="{FF2B5EF4-FFF2-40B4-BE49-F238E27FC236}">
                <a16:creationId xmlns:a16="http://schemas.microsoft.com/office/drawing/2014/main" id="{6A65A3A8-7A9C-8BD4-0379-A175E62391B3}"/>
              </a:ext>
            </a:extLst>
          </p:cNvPr>
          <p:cNvSpPr txBox="1"/>
          <p:nvPr/>
        </p:nvSpPr>
        <p:spPr>
          <a:xfrm>
            <a:off x="381000" y="1524000"/>
            <a:ext cx="11658600" cy="5078313"/>
          </a:xfrm>
          <a:prstGeom prst="rect">
            <a:avLst/>
          </a:prstGeom>
          <a:noFill/>
        </p:spPr>
        <p:txBody>
          <a:bodyPr wrap="square" rtlCol="0">
            <a:spAutoFit/>
          </a:bodyPr>
          <a:lstStyle/>
          <a:p>
            <a:pPr algn="l"/>
            <a:r>
              <a:rPr lang="en-ZA" b="1" i="0" dirty="0">
                <a:solidFill>
                  <a:srgbClr val="374151"/>
                </a:solidFill>
                <a:effectLst/>
                <a:latin typeface="Söhne"/>
              </a:rPr>
              <a:t>Scaling</a:t>
            </a:r>
            <a:r>
              <a:rPr lang="en-ZA" b="0" i="0" dirty="0">
                <a:solidFill>
                  <a:srgbClr val="374151"/>
                </a:solidFill>
                <a:effectLst/>
                <a:latin typeface="Söhne"/>
              </a:rPr>
              <a:t>: Scaling refers to the ability to adjust the number of running instances (replicas) of a service based on application demand. Kubernetes provides multiple scaling mechanisms:</a:t>
            </a:r>
          </a:p>
          <a:p>
            <a:pPr algn="l"/>
            <a:endParaRPr lang="en-ZA" b="0" i="0" dirty="0">
              <a:solidFill>
                <a:srgbClr val="374151"/>
              </a:solidFill>
              <a:effectLst/>
              <a:latin typeface="Söhne"/>
            </a:endParaRPr>
          </a:p>
          <a:p>
            <a:pPr marL="285750" indent="-285750" algn="l">
              <a:buFont typeface="Arial" panose="020B0604020202020204" pitchFamily="34" charset="0"/>
              <a:buChar char="•"/>
            </a:pPr>
            <a:r>
              <a:rPr lang="en-ZA" b="1" i="0" dirty="0">
                <a:solidFill>
                  <a:srgbClr val="374151"/>
                </a:solidFill>
                <a:effectLst/>
                <a:latin typeface="Söhne"/>
              </a:rPr>
              <a:t>Horizontal Pod </a:t>
            </a:r>
            <a:r>
              <a:rPr lang="en-ZA" b="1" i="0" dirty="0" err="1">
                <a:solidFill>
                  <a:srgbClr val="374151"/>
                </a:solidFill>
                <a:effectLst/>
                <a:latin typeface="Söhne"/>
              </a:rPr>
              <a:t>Autoscaler</a:t>
            </a:r>
            <a:r>
              <a:rPr lang="en-ZA" b="1" i="0" dirty="0">
                <a:solidFill>
                  <a:srgbClr val="374151"/>
                </a:solidFill>
                <a:effectLst/>
                <a:latin typeface="Söhne"/>
              </a:rPr>
              <a:t> (HPA)</a:t>
            </a:r>
            <a:r>
              <a:rPr lang="en-ZA" b="0" i="0" dirty="0">
                <a:solidFill>
                  <a:srgbClr val="374151"/>
                </a:solidFill>
                <a:effectLst/>
                <a:latin typeface="Söhne"/>
              </a:rPr>
              <a:t>: HPA automatically scales the number of pod replicas based on CPU utilization or custom metrics defined by the user. It uses the metrics to calculate the desired number of replicas and scales them up or down accordingly.</a:t>
            </a:r>
          </a:p>
          <a:p>
            <a:pPr marL="285750" indent="-285750" algn="l">
              <a:buFont typeface="Arial" panose="020B0604020202020204" pitchFamily="34" charset="0"/>
              <a:buChar char="•"/>
            </a:pPr>
            <a:endParaRPr lang="en-ZA" b="0" i="0" dirty="0">
              <a:solidFill>
                <a:srgbClr val="374151"/>
              </a:solidFill>
              <a:effectLst/>
              <a:latin typeface="Söhne"/>
            </a:endParaRPr>
          </a:p>
          <a:p>
            <a:pPr marL="285750" indent="-285750" algn="l">
              <a:buFont typeface="Arial" panose="020B0604020202020204" pitchFamily="34" charset="0"/>
              <a:buChar char="•"/>
            </a:pPr>
            <a:r>
              <a:rPr lang="en-ZA" b="1" i="0" dirty="0">
                <a:solidFill>
                  <a:srgbClr val="374151"/>
                </a:solidFill>
                <a:effectLst/>
                <a:latin typeface="Söhne"/>
              </a:rPr>
              <a:t>Vertical Pod </a:t>
            </a:r>
            <a:r>
              <a:rPr lang="en-ZA" b="1" i="0" dirty="0" err="1">
                <a:solidFill>
                  <a:srgbClr val="374151"/>
                </a:solidFill>
                <a:effectLst/>
                <a:latin typeface="Söhne"/>
              </a:rPr>
              <a:t>Autoscaler</a:t>
            </a:r>
            <a:r>
              <a:rPr lang="en-ZA" b="1" i="0" dirty="0">
                <a:solidFill>
                  <a:srgbClr val="374151"/>
                </a:solidFill>
                <a:effectLst/>
                <a:latin typeface="Söhne"/>
              </a:rPr>
              <a:t> (VPA)</a:t>
            </a:r>
            <a:r>
              <a:rPr lang="en-ZA" b="0" i="0" dirty="0">
                <a:solidFill>
                  <a:srgbClr val="374151"/>
                </a:solidFill>
                <a:effectLst/>
                <a:latin typeface="Söhne"/>
              </a:rPr>
              <a:t>: VPA adjusts the resource allocations (CPU and memory) of individual pods based on their resource usage patterns. It ensures that each pod gets the required resources for optimal performance.</a:t>
            </a:r>
          </a:p>
          <a:p>
            <a:pPr marL="285750" indent="-285750" algn="l">
              <a:buFont typeface="Arial" panose="020B0604020202020204" pitchFamily="34" charset="0"/>
              <a:buChar char="•"/>
            </a:pPr>
            <a:endParaRPr lang="en-ZA" b="0" i="0" dirty="0">
              <a:solidFill>
                <a:srgbClr val="374151"/>
              </a:solidFill>
              <a:effectLst/>
              <a:latin typeface="Söhne"/>
            </a:endParaRPr>
          </a:p>
          <a:p>
            <a:pPr marL="285750" indent="-285750" algn="l">
              <a:buFont typeface="Arial" panose="020B0604020202020204" pitchFamily="34" charset="0"/>
              <a:buChar char="•"/>
            </a:pPr>
            <a:r>
              <a:rPr lang="en-ZA" b="1" i="0" dirty="0">
                <a:solidFill>
                  <a:srgbClr val="374151"/>
                </a:solidFill>
                <a:effectLst/>
                <a:latin typeface="Söhne"/>
              </a:rPr>
              <a:t>Cluster </a:t>
            </a:r>
            <a:r>
              <a:rPr lang="en-ZA" b="1" i="0" dirty="0" err="1">
                <a:solidFill>
                  <a:srgbClr val="374151"/>
                </a:solidFill>
                <a:effectLst/>
                <a:latin typeface="Söhne"/>
              </a:rPr>
              <a:t>Autoscaler</a:t>
            </a:r>
            <a:r>
              <a:rPr lang="en-ZA" b="0" i="0" dirty="0">
                <a:solidFill>
                  <a:srgbClr val="374151"/>
                </a:solidFill>
                <a:effectLst/>
                <a:latin typeface="Söhne"/>
              </a:rPr>
              <a:t>: Cluster </a:t>
            </a:r>
            <a:r>
              <a:rPr lang="en-ZA" b="0" i="0" dirty="0" err="1">
                <a:solidFill>
                  <a:srgbClr val="374151"/>
                </a:solidFill>
                <a:effectLst/>
                <a:latin typeface="Söhne"/>
              </a:rPr>
              <a:t>Autoscaler</a:t>
            </a:r>
            <a:r>
              <a:rPr lang="en-ZA" b="0" i="0" dirty="0">
                <a:solidFill>
                  <a:srgbClr val="374151"/>
                </a:solidFill>
                <a:effectLst/>
                <a:latin typeface="Söhne"/>
              </a:rPr>
              <a:t> adjusts the size of the Kubernetes cluster by adding or removing nodes based on the resource demands of the applications running in the cluster. It helps ensure that sufficient resources are available to handle workload spikes and optimize resource utilization.</a:t>
            </a:r>
          </a:p>
          <a:p>
            <a:pPr algn="l"/>
            <a:endParaRPr lang="en-ZA" b="0" i="0" dirty="0">
              <a:solidFill>
                <a:srgbClr val="374151"/>
              </a:solidFill>
              <a:effectLst/>
              <a:latin typeface="Söhne"/>
            </a:endParaRPr>
          </a:p>
          <a:p>
            <a:pPr algn="l"/>
            <a:r>
              <a:rPr lang="en-ZA" b="0" i="0" dirty="0">
                <a:solidFill>
                  <a:srgbClr val="374151"/>
                </a:solidFill>
                <a:effectLst/>
                <a:latin typeface="Söhne"/>
              </a:rPr>
              <a:t>Scaling in Kubernetes allows applications to handle increased traffic or workload by dynamically provisioning additional replicas or resources. It ensures high availability, improved performance, and efficient resource utilization.</a:t>
            </a:r>
          </a:p>
          <a:p>
            <a:br>
              <a:rPr lang="en-ZA" dirty="0"/>
            </a:br>
            <a:endParaRPr lang="en-US" dirty="0"/>
          </a:p>
        </p:txBody>
      </p:sp>
    </p:spTree>
    <p:extLst>
      <p:ext uri="{BB962C8B-B14F-4D97-AF65-F5344CB8AC3E}">
        <p14:creationId xmlns:p14="http://schemas.microsoft.com/office/powerpoint/2010/main" val="1413414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marL="0" indent="0">
              <a:buNone/>
            </a:pPr>
            <a:r>
              <a:rPr lang="en-ZA" b="0" i="0" dirty="0">
                <a:solidFill>
                  <a:srgbClr val="2F2F2F"/>
                </a:solidFill>
                <a:effectLst/>
                <a:latin typeface="Poppins" pitchFamily="2" charset="77"/>
              </a:rPr>
              <a:t> </a:t>
            </a:r>
            <a:endParaRPr lang="en-ZA" b="0" i="0" dirty="0">
              <a:solidFill>
                <a:srgbClr val="374151"/>
              </a:solidFill>
              <a:effectLst/>
              <a:latin typeface="Söhne"/>
            </a:endParaRP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normAutofit fontScale="90000"/>
          </a:bodyPr>
          <a:lstStyle/>
          <a:p>
            <a:pPr algn="ctr"/>
            <a:r>
              <a:rPr lang="en-US" dirty="0"/>
              <a:t>Service </a:t>
            </a:r>
            <a:r>
              <a:rPr lang="en-US" dirty="0" err="1"/>
              <a:t>Discovery,scaling</a:t>
            </a:r>
            <a:r>
              <a:rPr lang="en-US" dirty="0"/>
              <a:t>, load balancing</a:t>
            </a:r>
          </a:p>
        </p:txBody>
      </p:sp>
      <p:sp>
        <p:nvSpPr>
          <p:cNvPr id="2" name="TextBox 1">
            <a:extLst>
              <a:ext uri="{FF2B5EF4-FFF2-40B4-BE49-F238E27FC236}">
                <a16:creationId xmlns:a16="http://schemas.microsoft.com/office/drawing/2014/main" id="{6A65A3A8-7A9C-8BD4-0379-A175E62391B3}"/>
              </a:ext>
            </a:extLst>
          </p:cNvPr>
          <p:cNvSpPr txBox="1"/>
          <p:nvPr/>
        </p:nvSpPr>
        <p:spPr>
          <a:xfrm>
            <a:off x="381000" y="1524000"/>
            <a:ext cx="11658600" cy="4339650"/>
          </a:xfrm>
          <a:prstGeom prst="rect">
            <a:avLst/>
          </a:prstGeom>
          <a:noFill/>
        </p:spPr>
        <p:txBody>
          <a:bodyPr wrap="square" rtlCol="0">
            <a:spAutoFit/>
          </a:bodyPr>
          <a:lstStyle/>
          <a:p>
            <a:pPr algn="l"/>
            <a:r>
              <a:rPr lang="en-ZA" sz="2000" b="1" i="0" dirty="0">
                <a:solidFill>
                  <a:srgbClr val="374151"/>
                </a:solidFill>
                <a:effectLst/>
                <a:latin typeface="Söhne"/>
              </a:rPr>
              <a:t>Load Balancing</a:t>
            </a:r>
            <a:r>
              <a:rPr lang="en-ZA" sz="2000" b="0" i="0" dirty="0">
                <a:solidFill>
                  <a:srgbClr val="374151"/>
                </a:solidFill>
                <a:effectLst/>
                <a:latin typeface="Söhne"/>
              </a:rPr>
              <a:t>: Load balancing distributes network traffic across multiple instances of a service to ensure optimal utilization and availability. Kubernetes offers built-in load balancing mechanisms:</a:t>
            </a:r>
          </a:p>
          <a:p>
            <a:pPr algn="l"/>
            <a:endParaRPr lang="en-ZA" sz="2000" b="0" i="0" dirty="0">
              <a:solidFill>
                <a:srgbClr val="374151"/>
              </a:solidFill>
              <a:effectLst/>
              <a:latin typeface="Söhne"/>
            </a:endParaRPr>
          </a:p>
          <a:p>
            <a:pPr marL="285750" indent="-285750" algn="l">
              <a:buFont typeface="Arial" panose="020B0604020202020204" pitchFamily="34" charset="0"/>
              <a:buChar char="•"/>
            </a:pPr>
            <a:r>
              <a:rPr lang="en-ZA" sz="2000" b="1" i="0" dirty="0">
                <a:solidFill>
                  <a:srgbClr val="374151"/>
                </a:solidFill>
                <a:effectLst/>
                <a:latin typeface="Söhne"/>
              </a:rPr>
              <a:t>Service Load Balancer</a:t>
            </a:r>
            <a:r>
              <a:rPr lang="en-ZA" sz="2000" b="0" i="0" dirty="0">
                <a:solidFill>
                  <a:srgbClr val="374151"/>
                </a:solidFill>
                <a:effectLst/>
                <a:latin typeface="Söhne"/>
              </a:rPr>
              <a:t>: Kubernetes assigns a virtual IP address to each service, and incoming traffic is load balanced across the available pod replicas associated with that service. The load balancing algorithm ensures that requests are distributed evenly, preventing any single replica from being overwhelmed.</a:t>
            </a:r>
          </a:p>
          <a:p>
            <a:pPr marL="285750" indent="-285750" algn="l">
              <a:buFont typeface="Arial" panose="020B0604020202020204" pitchFamily="34" charset="0"/>
              <a:buChar char="•"/>
            </a:pPr>
            <a:r>
              <a:rPr lang="en-ZA" sz="2000" b="1" i="0" dirty="0">
                <a:solidFill>
                  <a:srgbClr val="374151"/>
                </a:solidFill>
                <a:effectLst/>
                <a:latin typeface="Söhne"/>
              </a:rPr>
              <a:t>Ingress Controller</a:t>
            </a:r>
            <a:r>
              <a:rPr lang="en-ZA" sz="2000" b="0" i="0" dirty="0">
                <a:solidFill>
                  <a:srgbClr val="374151"/>
                </a:solidFill>
                <a:effectLst/>
                <a:latin typeface="Söhne"/>
              </a:rPr>
              <a:t>: Ingress provides external access to services within the cluster and includes load balancing capabilities. Ingress controllers, such as Nginx Ingress or </a:t>
            </a:r>
            <a:r>
              <a:rPr lang="en-ZA" sz="2000" b="0" i="0" dirty="0" err="1">
                <a:solidFill>
                  <a:srgbClr val="374151"/>
                </a:solidFill>
                <a:effectLst/>
                <a:latin typeface="Söhne"/>
              </a:rPr>
              <a:t>Traefik</a:t>
            </a:r>
            <a:r>
              <a:rPr lang="en-ZA" sz="2000" b="0" i="0" dirty="0">
                <a:solidFill>
                  <a:srgbClr val="374151"/>
                </a:solidFill>
                <a:effectLst/>
                <a:latin typeface="Söhne"/>
              </a:rPr>
              <a:t>, handle incoming traffic and distribute it to the appropriate services based on routing rules defined in the Ingress resource.</a:t>
            </a:r>
          </a:p>
          <a:p>
            <a:pPr algn="l"/>
            <a:endParaRPr lang="en-ZA" sz="2000" dirty="0">
              <a:solidFill>
                <a:srgbClr val="374151"/>
              </a:solidFill>
              <a:latin typeface="Söhne"/>
            </a:endParaRPr>
          </a:p>
          <a:p>
            <a:pPr algn="l"/>
            <a:r>
              <a:rPr lang="en-ZA" sz="2000" b="0" i="0" dirty="0">
                <a:solidFill>
                  <a:srgbClr val="374151"/>
                </a:solidFill>
                <a:effectLst/>
                <a:latin typeface="Söhne"/>
              </a:rPr>
              <a:t>Load balancing in Kubernetes improves application scalability, availability, and fault tolerance. It ensures that traffic is evenly distributed, eliminates single points of failure, and improves overall performance.</a:t>
            </a:r>
          </a:p>
          <a:p>
            <a:br>
              <a:rPr lang="en-ZA" dirty="0"/>
            </a:br>
            <a:endParaRPr lang="en-US" dirty="0"/>
          </a:p>
        </p:txBody>
      </p:sp>
    </p:spTree>
    <p:extLst>
      <p:ext uri="{BB962C8B-B14F-4D97-AF65-F5344CB8AC3E}">
        <p14:creationId xmlns:p14="http://schemas.microsoft.com/office/powerpoint/2010/main" val="1557461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marL="0" indent="0">
              <a:buNone/>
            </a:pPr>
            <a:r>
              <a:rPr lang="en-ZA" sz="2400" b="0" i="0" dirty="0">
                <a:solidFill>
                  <a:srgbClr val="2F2F2F"/>
                </a:solidFill>
                <a:effectLst/>
                <a:latin typeface="Poppins" pitchFamily="2" charset="77"/>
              </a:rPr>
              <a:t> </a:t>
            </a:r>
            <a:r>
              <a:rPr lang="en-ZA" sz="2400" b="0" i="0" dirty="0">
                <a:solidFill>
                  <a:srgbClr val="374151"/>
                </a:solidFill>
                <a:effectLst/>
                <a:latin typeface="Söhne"/>
              </a:rPr>
              <a:t>In Kubernetes, DNS (Domain Name System) is a widely used and recommended mechanism for service discovery. Kubernetes assigns a DNS name to each service within the cluster, making it easier for other pods or external entities to locate and communicate with the services.</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DNS for Delivery Service</a:t>
            </a:r>
          </a:p>
        </p:txBody>
      </p:sp>
    </p:spTree>
    <p:extLst>
      <p:ext uri="{BB962C8B-B14F-4D97-AF65-F5344CB8AC3E}">
        <p14:creationId xmlns:p14="http://schemas.microsoft.com/office/powerpoint/2010/main" val="29053281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70000" lnSpcReduction="20000"/>
          </a:bodyPr>
          <a:lstStyle/>
          <a:p>
            <a:pPr marL="0" indent="0">
              <a:buNone/>
            </a:pPr>
            <a:endParaRPr lang="en-ZA" b="0" i="0" dirty="0">
              <a:solidFill>
                <a:srgbClr val="374151"/>
              </a:solidFill>
              <a:effectLst/>
              <a:latin typeface="Söhne"/>
            </a:endParaRPr>
          </a:p>
          <a:p>
            <a:pPr algn="l"/>
            <a:r>
              <a:rPr lang="en-ZA" b="0" i="0" dirty="0">
                <a:solidFill>
                  <a:srgbClr val="374151"/>
                </a:solidFill>
                <a:effectLst/>
                <a:latin typeface="Söhne"/>
              </a:rPr>
              <a:t>Here's how DNS-based service discovery works in Kubernetes:</a:t>
            </a:r>
          </a:p>
          <a:p>
            <a:pPr algn="l">
              <a:buFont typeface="+mj-lt"/>
              <a:buAutoNum type="arabicPeriod"/>
            </a:pPr>
            <a:r>
              <a:rPr lang="en-ZA" b="1" i="0" dirty="0">
                <a:solidFill>
                  <a:srgbClr val="374151"/>
                </a:solidFill>
                <a:effectLst/>
                <a:latin typeface="Söhne"/>
              </a:rPr>
              <a:t>Service DNS Names</a:t>
            </a:r>
            <a:r>
              <a:rPr lang="en-ZA" b="0" i="0" dirty="0">
                <a:solidFill>
                  <a:srgbClr val="374151"/>
                </a:solidFill>
                <a:effectLst/>
                <a:latin typeface="Söhne"/>
              </a:rPr>
              <a:t>: When a service is created in Kubernetes, it is assigned a DNS name. The DNS name is in the format &lt;service-name&gt;.&lt;namespace&gt;.</a:t>
            </a:r>
            <a:r>
              <a:rPr lang="en-ZA" b="0" i="0" dirty="0" err="1">
                <a:solidFill>
                  <a:srgbClr val="374151"/>
                </a:solidFill>
                <a:effectLst/>
                <a:latin typeface="Söhne"/>
              </a:rPr>
              <a:t>svc.cluster.local</a:t>
            </a:r>
            <a:r>
              <a:rPr lang="en-ZA" b="0" i="0" dirty="0">
                <a:solidFill>
                  <a:srgbClr val="374151"/>
                </a:solidFill>
                <a:effectLst/>
                <a:latin typeface="Söhne"/>
              </a:rPr>
              <a:t>. For example, if you have a service named "my-service" in the "default" namespace, its DNS name would be "my-</a:t>
            </a:r>
            <a:r>
              <a:rPr lang="en-ZA" b="0" i="0" dirty="0" err="1">
                <a:solidFill>
                  <a:srgbClr val="374151"/>
                </a:solidFill>
                <a:effectLst/>
                <a:latin typeface="Söhne"/>
              </a:rPr>
              <a:t>service.default.svc.cluster.local</a:t>
            </a:r>
            <a:r>
              <a:rPr lang="en-ZA" b="0" i="0" dirty="0">
                <a:solidFill>
                  <a:srgbClr val="374151"/>
                </a:solidFill>
                <a:effectLst/>
                <a:latin typeface="Söhne"/>
              </a:rPr>
              <a:t>".</a:t>
            </a:r>
          </a:p>
          <a:p>
            <a:pPr algn="l">
              <a:buFont typeface="+mj-lt"/>
              <a:buAutoNum type="arabicPeriod"/>
            </a:pPr>
            <a:r>
              <a:rPr lang="en-ZA" b="1" i="0" dirty="0">
                <a:solidFill>
                  <a:srgbClr val="374151"/>
                </a:solidFill>
                <a:effectLst/>
                <a:latin typeface="Söhne"/>
              </a:rPr>
              <a:t>Pod DNS Resolution</a:t>
            </a:r>
            <a:r>
              <a:rPr lang="en-ZA" b="0" i="0" dirty="0">
                <a:solidFill>
                  <a:srgbClr val="374151"/>
                </a:solidFill>
                <a:effectLst/>
                <a:latin typeface="Söhne"/>
              </a:rPr>
              <a:t>: Every pod in the cluster is configured with a DNS resolver that knows how to resolve these service DNS names. When a pod needs to communicate with a service, it can simply use the DNS name, and the DNS resolver in the pod will resolve it to the appropriate IP address.</a:t>
            </a:r>
          </a:p>
          <a:p>
            <a:pPr algn="l">
              <a:buFont typeface="+mj-lt"/>
              <a:buAutoNum type="arabicPeriod"/>
            </a:pPr>
            <a:r>
              <a:rPr lang="en-ZA" b="1" i="0" dirty="0">
                <a:solidFill>
                  <a:srgbClr val="374151"/>
                </a:solidFill>
                <a:effectLst/>
                <a:latin typeface="Söhne"/>
              </a:rPr>
              <a:t>DNS Caching</a:t>
            </a:r>
            <a:r>
              <a:rPr lang="en-ZA" b="0" i="0" dirty="0">
                <a:solidFill>
                  <a:srgbClr val="374151"/>
                </a:solidFill>
                <a:effectLst/>
                <a:latin typeface="Söhne"/>
              </a:rPr>
              <a:t>: Kubernetes deploys a DNS server, often called "</a:t>
            </a:r>
            <a:r>
              <a:rPr lang="en-ZA" b="0" i="0" dirty="0" err="1">
                <a:solidFill>
                  <a:srgbClr val="374151"/>
                </a:solidFill>
                <a:effectLst/>
                <a:latin typeface="Söhne"/>
              </a:rPr>
              <a:t>kube-dns</a:t>
            </a:r>
            <a:r>
              <a:rPr lang="en-ZA" b="0" i="0" dirty="0">
                <a:solidFill>
                  <a:srgbClr val="374151"/>
                </a:solidFill>
                <a:effectLst/>
                <a:latin typeface="Söhne"/>
              </a:rPr>
              <a:t>" or "</a:t>
            </a:r>
            <a:r>
              <a:rPr lang="en-ZA" b="0" i="0" dirty="0" err="1">
                <a:solidFill>
                  <a:srgbClr val="374151"/>
                </a:solidFill>
                <a:effectLst/>
                <a:latin typeface="Söhne"/>
              </a:rPr>
              <a:t>coredns</a:t>
            </a:r>
            <a:r>
              <a:rPr lang="en-ZA" b="0" i="0" dirty="0">
                <a:solidFill>
                  <a:srgbClr val="374151"/>
                </a:solidFill>
                <a:effectLst/>
                <a:latin typeface="Söhne"/>
              </a:rPr>
              <a:t>," within the cluster. This DNS server is responsible for resolving service DNS names to their corresponding IP addresses. It caches DNS responses, which improves performance and reduces the load on the DNS infrastructure.</a:t>
            </a:r>
          </a:p>
          <a:p>
            <a:pPr algn="l">
              <a:buFont typeface="+mj-lt"/>
              <a:buAutoNum type="arabicPeriod"/>
            </a:pPr>
            <a:r>
              <a:rPr lang="en-ZA" b="1" i="0" dirty="0">
                <a:solidFill>
                  <a:srgbClr val="374151"/>
                </a:solidFill>
                <a:effectLst/>
                <a:latin typeface="Söhne"/>
              </a:rPr>
              <a:t>Service-to-Service Communication</a:t>
            </a:r>
            <a:r>
              <a:rPr lang="en-ZA" b="0" i="0" dirty="0">
                <a:solidFill>
                  <a:srgbClr val="374151"/>
                </a:solidFill>
                <a:effectLst/>
                <a:latin typeface="Söhne"/>
              </a:rPr>
              <a:t>: When a pod wants to communicate with a service, it can use the DNS name of the service as the endpoint. The DNS resolver in the pod resolves the DNS name to an IP address, allowing the pod to establish a connection with the desired service.</a:t>
            </a:r>
          </a:p>
          <a:p>
            <a:pPr algn="l">
              <a:buFont typeface="Arial" panose="020B0604020202020204" pitchFamily="34" charset="0"/>
              <a:buChar char="•"/>
            </a:pPr>
            <a:endParaRPr lang="en-ZA" b="0" i="0" dirty="0">
              <a:solidFill>
                <a:srgbClr val="374151"/>
              </a:solidFill>
              <a:effectLst/>
              <a:latin typeface="Söhne"/>
            </a:endParaRP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Continue..</a:t>
            </a:r>
          </a:p>
        </p:txBody>
      </p:sp>
    </p:spTree>
    <p:extLst>
      <p:ext uri="{BB962C8B-B14F-4D97-AF65-F5344CB8AC3E}">
        <p14:creationId xmlns:p14="http://schemas.microsoft.com/office/powerpoint/2010/main" val="2902083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fontScale="85000" lnSpcReduction="20000"/>
          </a:bodyPr>
          <a:lstStyle/>
          <a:p>
            <a:pPr marL="0" indent="0">
              <a:buNone/>
            </a:pPr>
            <a:endParaRPr lang="en-ZA" b="0" i="0" dirty="0">
              <a:solidFill>
                <a:srgbClr val="374151"/>
              </a:solidFill>
              <a:effectLst/>
              <a:latin typeface="Söhne"/>
            </a:endParaRPr>
          </a:p>
          <a:p>
            <a:pPr algn="l"/>
            <a:r>
              <a:rPr lang="en-ZA" b="0" i="0" dirty="0">
                <a:solidFill>
                  <a:srgbClr val="374151"/>
                </a:solidFill>
                <a:effectLst/>
                <a:latin typeface="Söhne"/>
              </a:rPr>
              <a:t>DNS-based service discovery in Kubernetes simplifies the communication between services by abstracting the underlying IP addresses and providing a consistent and stable DNS name for each service. This decoupling enables dynamic scaling, load balancing, and seamless updates of services without impacting the consuming pods.</a:t>
            </a:r>
          </a:p>
          <a:p>
            <a:pPr algn="l"/>
            <a:r>
              <a:rPr lang="en-ZA" b="0" i="0" dirty="0">
                <a:solidFill>
                  <a:srgbClr val="374151"/>
                </a:solidFill>
                <a:effectLst/>
                <a:latin typeface="Söhne"/>
              </a:rPr>
              <a:t>It's important to note that DNS resolution within a Kubernetes cluster is automatically configured, and pods can access services using the DNS names without any additional setup. External entities, however, may require additional configuration or DNS integration to resolve the service DNS names from outside the cluster.</a:t>
            </a:r>
          </a:p>
          <a:p>
            <a:pPr algn="l"/>
            <a:r>
              <a:rPr lang="en-ZA" b="0" i="0" dirty="0">
                <a:solidFill>
                  <a:srgbClr val="374151"/>
                </a:solidFill>
                <a:effectLst/>
                <a:latin typeface="Söhne"/>
              </a:rPr>
              <a:t>DNS-based service discovery is a fundamental mechanism in Kubernetes that allows for flexible and dynamic communication between services within a cluster, contributing to the overall scalability and manageability of containerized applications.</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To note…</a:t>
            </a:r>
          </a:p>
        </p:txBody>
      </p:sp>
    </p:spTree>
    <p:extLst>
      <p:ext uri="{BB962C8B-B14F-4D97-AF65-F5344CB8AC3E}">
        <p14:creationId xmlns:p14="http://schemas.microsoft.com/office/powerpoint/2010/main" val="1131507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8DA00-1865-47DA-9C55-6AA34B4896C6}"/>
              </a:ext>
            </a:extLst>
          </p:cNvPr>
          <p:cNvSpPr>
            <a:spLocks noGrp="1"/>
          </p:cNvSpPr>
          <p:nvPr>
            <p:ph idx="1"/>
          </p:nvPr>
        </p:nvSpPr>
        <p:spPr/>
        <p:txBody>
          <a:bodyPr>
            <a:normAutofit/>
          </a:bodyPr>
          <a:lstStyle/>
          <a:p>
            <a:pPr marL="0" indent="0">
              <a:buNone/>
            </a:pPr>
            <a:endParaRPr lang="en-ZA" b="0" i="0" dirty="0">
              <a:solidFill>
                <a:srgbClr val="374151"/>
              </a:solidFill>
              <a:effectLst/>
              <a:latin typeface="Söhne"/>
            </a:endParaRPr>
          </a:p>
          <a:p>
            <a:pPr algn="l"/>
            <a:r>
              <a:rPr lang="en-ZA" b="0" i="0" dirty="0">
                <a:solidFill>
                  <a:srgbClr val="374151"/>
                </a:solidFill>
                <a:effectLst/>
                <a:latin typeface="Söhne"/>
              </a:rPr>
              <a:t>Create a docker-compose file that will have an </a:t>
            </a:r>
            <a:r>
              <a:rPr lang="en-ZA" b="0" i="0" dirty="0" err="1">
                <a:solidFill>
                  <a:srgbClr val="374151"/>
                </a:solidFill>
                <a:effectLst/>
                <a:latin typeface="Söhne"/>
              </a:rPr>
              <a:t>ngoni</a:t>
            </a:r>
            <a:r>
              <a:rPr lang="en-ZA" b="0" i="0" dirty="0">
                <a:solidFill>
                  <a:srgbClr val="374151"/>
                </a:solidFill>
                <a:effectLst/>
                <a:latin typeface="Söhne"/>
              </a:rPr>
              <a:t> web server and a database server #hint install docker compose first</a:t>
            </a:r>
          </a:p>
        </p:txBody>
      </p:sp>
      <p:sp>
        <p:nvSpPr>
          <p:cNvPr id="5" name="Title 4">
            <a:extLst>
              <a:ext uri="{FF2B5EF4-FFF2-40B4-BE49-F238E27FC236}">
                <a16:creationId xmlns:a16="http://schemas.microsoft.com/office/drawing/2014/main" id="{0410AD45-29BF-4433-8D38-B4BE6F261CDA}"/>
              </a:ext>
            </a:extLst>
          </p:cNvPr>
          <p:cNvSpPr>
            <a:spLocks noGrp="1"/>
          </p:cNvSpPr>
          <p:nvPr>
            <p:ph type="title"/>
          </p:nvPr>
        </p:nvSpPr>
        <p:spPr/>
        <p:txBody>
          <a:bodyPr/>
          <a:lstStyle/>
          <a:p>
            <a:pPr algn="ctr"/>
            <a:r>
              <a:rPr lang="en-US" dirty="0"/>
              <a:t>Exercise</a:t>
            </a:r>
          </a:p>
        </p:txBody>
      </p:sp>
    </p:spTree>
    <p:extLst>
      <p:ext uri="{BB962C8B-B14F-4D97-AF65-F5344CB8AC3E}">
        <p14:creationId xmlns:p14="http://schemas.microsoft.com/office/powerpoint/2010/main" val="3874842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fontScale="90000"/>
          </a:bodyPr>
          <a:lstStyle/>
          <a:p>
            <a:r>
              <a:rPr lang="en-ZA" i="0" dirty="0">
                <a:solidFill>
                  <a:srgbClr val="0070C0"/>
                </a:solidFill>
                <a:effectLst/>
                <a:latin typeface="Poppins" pitchFamily="2" charset="77"/>
              </a:rPr>
              <a:t>Ingress controller and reverse proxy</a:t>
            </a:r>
            <a:endParaRPr lang="en-US" dirty="0">
              <a:solidFill>
                <a:srgbClr val="0070C0"/>
              </a:solidFill>
            </a:endParaRP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p:txBody>
          <a:bodyPr>
            <a:normAutofit fontScale="92500" lnSpcReduction="20000"/>
          </a:bodyPr>
          <a:lstStyle/>
          <a:p>
            <a:pPr algn="l"/>
            <a:r>
              <a:rPr lang="en-ZA" b="1" i="0" dirty="0">
                <a:solidFill>
                  <a:srgbClr val="374151"/>
                </a:solidFill>
                <a:effectLst/>
                <a:latin typeface="Söhne"/>
              </a:rPr>
              <a:t>Ingress Controller</a:t>
            </a:r>
            <a:r>
              <a:rPr lang="en-ZA" b="0" i="0" dirty="0">
                <a:solidFill>
                  <a:srgbClr val="374151"/>
                </a:solidFill>
                <a:effectLst/>
                <a:latin typeface="Söhne"/>
              </a:rPr>
              <a:t>: An Ingress controller in Kubernetes is a component that manages the inbound network traffic and acts as an entry point to the cluster. It works in conjunction with the Ingress resource, which defines the rules and configuration for routing external requests to the appropriate services within the cluster.</a:t>
            </a:r>
          </a:p>
          <a:p>
            <a:pPr algn="l"/>
            <a:r>
              <a:rPr lang="en-ZA" b="0" i="0" dirty="0">
                <a:solidFill>
                  <a:srgbClr val="374151"/>
                </a:solidFill>
                <a:effectLst/>
                <a:latin typeface="Söhne"/>
              </a:rPr>
              <a:t>The Ingress controller typically runs as a separate pod or set of pods in the cluster and monitors the Ingress resources. It interprets the Ingress rules and applies them to configure the underlying reverse proxy or load balancer to handle incoming traffic. The controller ensures that the traffic is properly routed to the specified services based on the defined rules.</a:t>
            </a:r>
          </a:p>
          <a:p>
            <a:pPr algn="l"/>
            <a:r>
              <a:rPr lang="en-ZA" b="0" i="0" dirty="0">
                <a:solidFill>
                  <a:srgbClr val="374151"/>
                </a:solidFill>
                <a:effectLst/>
                <a:latin typeface="Söhne"/>
              </a:rPr>
              <a:t>The Ingress controller integrates with the underlying cloud infrastructure or networking solution to expose the services externally. It may leverage a reverse proxy or load balancing mechanism to distribute traffic to the appropriate backend services.</a:t>
            </a:r>
          </a:p>
          <a:p>
            <a:endParaRPr lang="en-US" dirty="0"/>
          </a:p>
        </p:txBody>
      </p:sp>
    </p:spTree>
    <p:extLst>
      <p:ext uri="{BB962C8B-B14F-4D97-AF65-F5344CB8AC3E}">
        <p14:creationId xmlns:p14="http://schemas.microsoft.com/office/powerpoint/2010/main" val="12502103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fontScale="90000"/>
          </a:bodyPr>
          <a:lstStyle/>
          <a:p>
            <a:r>
              <a:rPr lang="en-ZA" i="0" dirty="0">
                <a:solidFill>
                  <a:srgbClr val="0070C0"/>
                </a:solidFill>
                <a:effectLst/>
                <a:latin typeface="Poppins" pitchFamily="2" charset="77"/>
              </a:rPr>
              <a:t>Ingress controller and reverse proxy</a:t>
            </a:r>
            <a:endParaRPr lang="en-US" dirty="0">
              <a:solidFill>
                <a:srgbClr val="0070C0"/>
              </a:solidFill>
            </a:endParaRP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p:txBody>
          <a:bodyPr>
            <a:normAutofit fontScale="85000" lnSpcReduction="20000"/>
          </a:bodyPr>
          <a:lstStyle/>
          <a:p>
            <a:pPr algn="l"/>
            <a:r>
              <a:rPr lang="en-ZA" b="1" i="0" dirty="0">
                <a:solidFill>
                  <a:srgbClr val="374151"/>
                </a:solidFill>
                <a:effectLst/>
                <a:latin typeface="Söhne"/>
              </a:rPr>
              <a:t>Reverse Proxy</a:t>
            </a:r>
            <a:r>
              <a:rPr lang="en-ZA" b="0" i="0" dirty="0">
                <a:solidFill>
                  <a:srgbClr val="374151"/>
                </a:solidFill>
                <a:effectLst/>
                <a:latin typeface="Söhne"/>
              </a:rPr>
              <a:t>: A reverse proxy is a server or software component that sits between clients and backend services. It receives incoming requests from clients and forwards them to the appropriate backend servers based on the request's content, routing rules, or other criteria. The reverse proxy acts as an intermediary, handling client requests on behalf of the backend services.</a:t>
            </a:r>
          </a:p>
          <a:p>
            <a:pPr algn="l"/>
            <a:r>
              <a:rPr lang="en-ZA" b="0" i="0" dirty="0">
                <a:solidFill>
                  <a:srgbClr val="374151"/>
                </a:solidFill>
                <a:effectLst/>
                <a:latin typeface="Söhne"/>
              </a:rPr>
              <a:t>In the context of Kubernetes, the Ingress controller often incorporates a reverse proxy to </a:t>
            </a:r>
            <a:r>
              <a:rPr lang="en-ZA" b="0" i="0" dirty="0" err="1">
                <a:solidFill>
                  <a:srgbClr val="374151"/>
                </a:solidFill>
                <a:effectLst/>
                <a:latin typeface="Söhne"/>
              </a:rPr>
              <a:t>fulfill</a:t>
            </a:r>
            <a:r>
              <a:rPr lang="en-ZA" b="0" i="0" dirty="0">
                <a:solidFill>
                  <a:srgbClr val="374151"/>
                </a:solidFill>
                <a:effectLst/>
                <a:latin typeface="Söhne"/>
              </a:rPr>
              <a:t> its responsibilities. The reverse proxy, such as Nginx, </a:t>
            </a:r>
            <a:r>
              <a:rPr lang="en-ZA" b="0" i="0" dirty="0" err="1">
                <a:solidFill>
                  <a:srgbClr val="374151"/>
                </a:solidFill>
                <a:effectLst/>
                <a:latin typeface="Söhne"/>
              </a:rPr>
              <a:t>HAProxy</a:t>
            </a:r>
            <a:r>
              <a:rPr lang="en-ZA" b="0" i="0" dirty="0">
                <a:solidFill>
                  <a:srgbClr val="374151"/>
                </a:solidFill>
                <a:effectLst/>
                <a:latin typeface="Söhne"/>
              </a:rPr>
              <a:t>, or </a:t>
            </a:r>
            <a:r>
              <a:rPr lang="en-ZA" b="0" i="0" dirty="0" err="1">
                <a:solidFill>
                  <a:srgbClr val="374151"/>
                </a:solidFill>
                <a:effectLst/>
                <a:latin typeface="Söhne"/>
              </a:rPr>
              <a:t>Traefik</a:t>
            </a:r>
            <a:r>
              <a:rPr lang="en-ZA" b="0" i="0" dirty="0">
                <a:solidFill>
                  <a:srgbClr val="374151"/>
                </a:solidFill>
                <a:effectLst/>
                <a:latin typeface="Söhne"/>
              </a:rPr>
              <a:t>, is responsible for receiving incoming HTTP or HTTPS requests and forwarding them to the relevant services within the cluster based on the Ingress rules.</a:t>
            </a:r>
          </a:p>
          <a:p>
            <a:pPr algn="l"/>
            <a:r>
              <a:rPr lang="en-ZA" b="0" i="0" dirty="0">
                <a:solidFill>
                  <a:srgbClr val="374151"/>
                </a:solidFill>
                <a:effectLst/>
                <a:latin typeface="Söhne"/>
              </a:rPr>
              <a:t>The reverse proxy performs tasks such as load balancing, SSL termination, request routing, and sometimes even caching. It acts as a single entry point for external traffic, providing a unified access point to multiple services running within the cluster.</a:t>
            </a:r>
          </a:p>
          <a:p>
            <a:endParaRPr lang="en-US" dirty="0"/>
          </a:p>
        </p:txBody>
      </p:sp>
    </p:spTree>
    <p:extLst>
      <p:ext uri="{BB962C8B-B14F-4D97-AF65-F5344CB8AC3E}">
        <p14:creationId xmlns:p14="http://schemas.microsoft.com/office/powerpoint/2010/main" val="3004967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fontScale="90000"/>
          </a:bodyPr>
          <a:lstStyle/>
          <a:p>
            <a:r>
              <a:rPr lang="en-ZA" i="0" dirty="0">
                <a:solidFill>
                  <a:srgbClr val="0070C0"/>
                </a:solidFill>
                <a:effectLst/>
                <a:latin typeface="Poppins" pitchFamily="2" charset="77"/>
              </a:rPr>
              <a:t>Ingress controller and reverse proxy</a:t>
            </a:r>
            <a:endParaRPr lang="en-US" dirty="0">
              <a:solidFill>
                <a:srgbClr val="0070C0"/>
              </a:solidFill>
            </a:endParaRP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p:txBody>
          <a:bodyPr>
            <a:normAutofit/>
          </a:bodyPr>
          <a:lstStyle/>
          <a:p>
            <a:pPr algn="l"/>
            <a:r>
              <a:rPr lang="en-ZA" b="0" i="0" dirty="0">
                <a:solidFill>
                  <a:srgbClr val="374151"/>
                </a:solidFill>
                <a:effectLst/>
                <a:latin typeface="Söhne"/>
              </a:rPr>
              <a:t>By using an Ingress controller with a reverse proxy, Kubernetes simplifies the configuration and management of external access to services. It enables traffic routing based on rules defined in the Ingress resource, allows for SSL termination, and provides additional features like load balancing and request routing based on hostnames or paths.</a:t>
            </a:r>
          </a:p>
          <a:p>
            <a:pPr algn="l"/>
            <a:r>
              <a:rPr lang="en-ZA" b="0" i="0" dirty="0">
                <a:solidFill>
                  <a:srgbClr val="374151"/>
                </a:solidFill>
                <a:effectLst/>
                <a:latin typeface="Söhne"/>
              </a:rPr>
              <a:t>Together, the Ingress controller and reverse proxy form a crucial part of Kubernetes networking infrastructure, facilitating the secure and controlled exposure of services to external clients while handling traffic routing and distribution within the cluster.</a:t>
            </a:r>
          </a:p>
          <a:p>
            <a:endParaRPr lang="en-US" dirty="0"/>
          </a:p>
        </p:txBody>
      </p:sp>
    </p:spTree>
    <p:extLst>
      <p:ext uri="{BB962C8B-B14F-4D97-AF65-F5344CB8AC3E}">
        <p14:creationId xmlns:p14="http://schemas.microsoft.com/office/powerpoint/2010/main" val="32579894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fontScale="90000"/>
          </a:bodyPr>
          <a:lstStyle/>
          <a:p>
            <a:r>
              <a:rPr lang="en-ZA" i="0" dirty="0">
                <a:solidFill>
                  <a:srgbClr val="0070C0"/>
                </a:solidFill>
                <a:effectLst/>
                <a:latin typeface="Söhne"/>
              </a:rPr>
              <a:t>Persistence of application state and the data volume model in Kubernetes</a:t>
            </a:r>
            <a:endParaRPr lang="en-US" dirty="0">
              <a:solidFill>
                <a:srgbClr val="0070C0"/>
              </a:solidFill>
            </a:endParaRP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a:xfrm>
            <a:off x="838200" y="1825625"/>
            <a:ext cx="10515600" cy="2136775"/>
          </a:xfrm>
        </p:spPr>
        <p:txBody>
          <a:bodyPr/>
          <a:lstStyle/>
          <a:p>
            <a:r>
              <a:rPr lang="en-ZA" b="0" i="0" dirty="0">
                <a:solidFill>
                  <a:srgbClr val="374151"/>
                </a:solidFill>
                <a:effectLst/>
                <a:latin typeface="Söhne"/>
              </a:rPr>
              <a:t>In Kubernetes, the persistence of application state and data is crucial for many applications. Kubernetes provides a data volume model that allows you to attach persistent storage to containers and maintain data across container restarts, rescheduling, or even pod failures. </a:t>
            </a:r>
            <a:endParaRPr lang="en-US" dirty="0"/>
          </a:p>
        </p:txBody>
      </p:sp>
    </p:spTree>
    <p:extLst>
      <p:ext uri="{BB962C8B-B14F-4D97-AF65-F5344CB8AC3E}">
        <p14:creationId xmlns:p14="http://schemas.microsoft.com/office/powerpoint/2010/main" val="24499832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a:bodyPr>
          <a:lstStyle/>
          <a:p>
            <a:r>
              <a:rPr lang="en-US" dirty="0"/>
              <a:t>Setting up </a:t>
            </a:r>
            <a:r>
              <a:rPr lang="en-US" dirty="0" err="1"/>
              <a:t>Devops</a:t>
            </a:r>
            <a:r>
              <a:rPr lang="en-US" dirty="0"/>
              <a:t> Infrastructure</a:t>
            </a: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a:xfrm>
            <a:off x="838200" y="1825625"/>
            <a:ext cx="10515600" cy="2974975"/>
          </a:xfrm>
        </p:spPr>
        <p:txBody>
          <a:bodyPr/>
          <a:lstStyle/>
          <a:p>
            <a:r>
              <a:rPr lang="en-ZA" b="1" i="0" dirty="0">
                <a:effectLst/>
                <a:latin typeface="Söhne"/>
              </a:rPr>
              <a:t>Persistence of Application State</a:t>
            </a:r>
            <a:r>
              <a:rPr lang="en-ZA" b="0" i="0" dirty="0">
                <a:solidFill>
                  <a:srgbClr val="374151"/>
                </a:solidFill>
                <a:effectLst/>
                <a:latin typeface="Söhne"/>
              </a:rPr>
              <a:t>: Application state refers to any data or information that needs to be preserved across different instances of an application or containers. Examples of application state include databases, file systems, configuration files, user uploads, and logs. Kubernetes provides mechanisms to ensure the persistence of application state, such as:</a:t>
            </a:r>
            <a:endParaRPr lang="en-US" dirty="0"/>
          </a:p>
        </p:txBody>
      </p:sp>
    </p:spTree>
    <p:extLst>
      <p:ext uri="{BB962C8B-B14F-4D97-AF65-F5344CB8AC3E}">
        <p14:creationId xmlns:p14="http://schemas.microsoft.com/office/powerpoint/2010/main" val="1155968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a:xfrm>
            <a:off x="838200" y="609600"/>
            <a:ext cx="10515600" cy="4724399"/>
          </a:xfrm>
        </p:spPr>
        <p:txBody>
          <a:bodyPr>
            <a:noAutofit/>
          </a:bodyPr>
          <a:lstStyle/>
          <a:p>
            <a:r>
              <a:rPr lang="en-ZA" sz="2200" b="1" i="0" dirty="0">
                <a:solidFill>
                  <a:srgbClr val="374151"/>
                </a:solidFill>
                <a:effectLst/>
                <a:latin typeface="Söhne"/>
              </a:rPr>
              <a:t>Persistent Volumes</a:t>
            </a:r>
            <a:r>
              <a:rPr lang="en-ZA" sz="2200" b="0" i="0" dirty="0">
                <a:solidFill>
                  <a:srgbClr val="374151"/>
                </a:solidFill>
                <a:effectLst/>
                <a:latin typeface="Söhne"/>
              </a:rPr>
              <a:t>: A Persistent Volume (PV) is a cluster-wide storage resource provisioned by the cluster administrator. It represents a piece of networked storage in the cluster that can be dynamically allocated and attached to pods. PVs are decoupled from pods and can exist independently of the pod lifecycle, allowing data to persist even if a pod is terminated or rescheduled.</a:t>
            </a:r>
          </a:p>
          <a:p>
            <a:r>
              <a:rPr lang="en-ZA" sz="2200" b="1" i="0" dirty="0">
                <a:solidFill>
                  <a:srgbClr val="374151"/>
                </a:solidFill>
                <a:effectLst/>
                <a:latin typeface="Söhne"/>
              </a:rPr>
              <a:t>Persistent Volume Claims</a:t>
            </a:r>
            <a:r>
              <a:rPr lang="en-ZA" sz="2200" b="0" i="0" dirty="0">
                <a:solidFill>
                  <a:srgbClr val="374151"/>
                </a:solidFill>
                <a:effectLst/>
                <a:latin typeface="Söhne"/>
              </a:rPr>
              <a:t>: A Persistent Volume Claim (PVC) is a request for storage by a pod. PVCs are created by users or automatically generated by controllers (like </a:t>
            </a:r>
            <a:r>
              <a:rPr lang="en-ZA" sz="2200" b="0" i="0" dirty="0" err="1">
                <a:solidFill>
                  <a:srgbClr val="374151"/>
                </a:solidFill>
                <a:effectLst/>
                <a:latin typeface="Söhne"/>
              </a:rPr>
              <a:t>StatefulSets</a:t>
            </a:r>
            <a:r>
              <a:rPr lang="en-ZA" sz="2200" b="0" i="0" dirty="0">
                <a:solidFill>
                  <a:srgbClr val="374151"/>
                </a:solidFill>
                <a:effectLst/>
                <a:latin typeface="Söhne"/>
              </a:rPr>
              <a:t> or Deployments) to request a specific amount and type of storage. PVCs bind to available PVs, providing the requested storage to the pod that requested it.</a:t>
            </a:r>
          </a:p>
          <a:p>
            <a:r>
              <a:rPr lang="en-ZA" sz="2200" b="1" i="0" dirty="0" err="1">
                <a:solidFill>
                  <a:srgbClr val="374151"/>
                </a:solidFill>
                <a:effectLst/>
                <a:latin typeface="Söhne"/>
              </a:rPr>
              <a:t>StatefulSets</a:t>
            </a:r>
            <a:r>
              <a:rPr lang="en-ZA" sz="2200" b="0" i="0" dirty="0">
                <a:solidFill>
                  <a:srgbClr val="374151"/>
                </a:solidFill>
                <a:effectLst/>
                <a:latin typeface="Söhne"/>
              </a:rPr>
              <a:t>: </a:t>
            </a:r>
            <a:r>
              <a:rPr lang="en-ZA" sz="2200" b="0" i="0" dirty="0" err="1">
                <a:solidFill>
                  <a:srgbClr val="374151"/>
                </a:solidFill>
                <a:effectLst/>
                <a:latin typeface="Söhne"/>
              </a:rPr>
              <a:t>StatefulSets</a:t>
            </a:r>
            <a:r>
              <a:rPr lang="en-ZA" sz="2200" b="0" i="0" dirty="0">
                <a:solidFill>
                  <a:srgbClr val="374151"/>
                </a:solidFill>
                <a:effectLst/>
                <a:latin typeface="Söhne"/>
              </a:rPr>
              <a:t> are a type of controller in Kubernetes designed for stateful applications. </a:t>
            </a:r>
            <a:r>
              <a:rPr lang="en-ZA" sz="2200" b="0" i="0" dirty="0" err="1">
                <a:solidFill>
                  <a:srgbClr val="374151"/>
                </a:solidFill>
                <a:effectLst/>
                <a:latin typeface="Söhne"/>
              </a:rPr>
              <a:t>StatefulSets</a:t>
            </a:r>
            <a:r>
              <a:rPr lang="en-ZA" sz="2200" b="0" i="0" dirty="0">
                <a:solidFill>
                  <a:srgbClr val="374151"/>
                </a:solidFill>
                <a:effectLst/>
                <a:latin typeface="Söhne"/>
              </a:rPr>
              <a:t> allow you to manage the deployment of pods in a consistent and predictable manner while maintaining stable network identities and persistent storage. Each pod in a </a:t>
            </a:r>
            <a:r>
              <a:rPr lang="en-ZA" sz="2200" b="0" i="0" dirty="0" err="1">
                <a:solidFill>
                  <a:srgbClr val="374151"/>
                </a:solidFill>
                <a:effectLst/>
                <a:latin typeface="Söhne"/>
              </a:rPr>
              <a:t>StatefulSet</a:t>
            </a:r>
            <a:r>
              <a:rPr lang="en-ZA" sz="2200" b="0" i="0" dirty="0">
                <a:solidFill>
                  <a:srgbClr val="374151"/>
                </a:solidFill>
                <a:effectLst/>
                <a:latin typeface="Söhne"/>
              </a:rPr>
              <a:t> is assigned a unique ordinal index, and they can maintain their identity and state across rescheduling or restarts.</a:t>
            </a:r>
          </a:p>
        </p:txBody>
      </p:sp>
    </p:spTree>
    <p:extLst>
      <p:ext uri="{BB962C8B-B14F-4D97-AF65-F5344CB8AC3E}">
        <p14:creationId xmlns:p14="http://schemas.microsoft.com/office/powerpoint/2010/main" val="3018552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p:txBody>
          <a:bodyPr>
            <a:normAutofit/>
          </a:bodyPr>
          <a:lstStyle/>
          <a:p>
            <a:r>
              <a:rPr lang="en-ZA" b="0" i="0" dirty="0">
                <a:solidFill>
                  <a:srgbClr val="374151"/>
                </a:solidFill>
                <a:effectLst/>
                <a:latin typeface="Söhne"/>
              </a:rPr>
              <a:t>These mechanisms help ensure the persistence and availability of application state in Kubernetes. By using Persistent Volumes, Persistent Volume Claims, and </a:t>
            </a:r>
            <a:r>
              <a:rPr lang="en-ZA" b="0" i="0" dirty="0" err="1">
                <a:solidFill>
                  <a:srgbClr val="374151"/>
                </a:solidFill>
                <a:effectLst/>
                <a:latin typeface="Söhne"/>
              </a:rPr>
              <a:t>StatefulSets</a:t>
            </a:r>
            <a:r>
              <a:rPr lang="en-ZA" b="0" i="0" dirty="0">
                <a:solidFill>
                  <a:srgbClr val="374151"/>
                </a:solidFill>
                <a:effectLst/>
                <a:latin typeface="Söhne"/>
              </a:rPr>
              <a:t>, you can reliably manage and store application data, even in the event of pod failures or rescheduling.</a:t>
            </a:r>
            <a:endParaRPr lang="en-US" dirty="0"/>
          </a:p>
        </p:txBody>
      </p:sp>
    </p:spTree>
    <p:extLst>
      <p:ext uri="{BB962C8B-B14F-4D97-AF65-F5344CB8AC3E}">
        <p14:creationId xmlns:p14="http://schemas.microsoft.com/office/powerpoint/2010/main" val="39213610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8E88-282E-4F60-B8E8-56A0B0756E9D}"/>
              </a:ext>
            </a:extLst>
          </p:cNvPr>
          <p:cNvSpPr>
            <a:spLocks noGrp="1"/>
          </p:cNvSpPr>
          <p:nvPr>
            <p:ph type="title"/>
          </p:nvPr>
        </p:nvSpPr>
        <p:spPr>
          <a:xfrm>
            <a:off x="838200" y="365125"/>
            <a:ext cx="10515600" cy="1325563"/>
          </a:xfrm>
        </p:spPr>
        <p:txBody>
          <a:bodyPr>
            <a:normAutofit/>
          </a:bodyPr>
          <a:lstStyle/>
          <a:p>
            <a:r>
              <a:rPr lang="en-US" dirty="0"/>
              <a:t>Data Volume</a:t>
            </a:r>
          </a:p>
        </p:txBody>
      </p:sp>
      <p:sp>
        <p:nvSpPr>
          <p:cNvPr id="4" name="Content Placeholder 3">
            <a:extLst>
              <a:ext uri="{FF2B5EF4-FFF2-40B4-BE49-F238E27FC236}">
                <a16:creationId xmlns:a16="http://schemas.microsoft.com/office/drawing/2014/main" id="{FCCAF483-91D7-BB0C-17F0-D4F806B56406}"/>
              </a:ext>
            </a:extLst>
          </p:cNvPr>
          <p:cNvSpPr>
            <a:spLocks noGrp="1"/>
          </p:cNvSpPr>
          <p:nvPr>
            <p:ph idx="1"/>
          </p:nvPr>
        </p:nvSpPr>
        <p:spPr/>
        <p:txBody>
          <a:bodyPr>
            <a:normAutofit/>
          </a:bodyPr>
          <a:lstStyle/>
          <a:p>
            <a:pPr algn="l"/>
            <a:r>
              <a:rPr lang="en-ZA" b="1" i="0" dirty="0">
                <a:effectLst/>
                <a:latin typeface="Söhne"/>
              </a:rPr>
              <a:t>Data Volume Model</a:t>
            </a:r>
            <a:r>
              <a:rPr lang="en-ZA" b="0" i="0" dirty="0">
                <a:solidFill>
                  <a:srgbClr val="374151"/>
                </a:solidFill>
                <a:effectLst/>
                <a:latin typeface="Söhne"/>
              </a:rPr>
              <a:t>: The data volume model in Kubernetes provides a way to attach persistent storage to containers within a pod. It allows containers to read from and write to the same shared data volume, enabling data to persist and be accessible across container restarts or pod rescheduling. Kubernetes offers various volume types to support different storage solutions, including:</a:t>
            </a:r>
            <a:br>
              <a:rPr lang="en-ZA" dirty="0"/>
            </a:br>
            <a:r>
              <a:rPr lang="en-ZA" b="0" i="0" dirty="0">
                <a:solidFill>
                  <a:srgbClr val="374151"/>
                </a:solidFill>
                <a:effectLst/>
                <a:latin typeface="Söhne"/>
              </a:rPr>
              <a:t>.</a:t>
            </a:r>
          </a:p>
          <a:p>
            <a:pPr marL="0" indent="0">
              <a:buNone/>
            </a:pPr>
            <a:endParaRPr lang="en-US" dirty="0"/>
          </a:p>
        </p:txBody>
      </p:sp>
    </p:spTree>
    <p:extLst>
      <p:ext uri="{BB962C8B-B14F-4D97-AF65-F5344CB8AC3E}">
        <p14:creationId xmlns:p14="http://schemas.microsoft.com/office/powerpoint/2010/main" val="42755532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US" dirty="0"/>
              <a:t>Data Volumes solutions:</a:t>
            </a: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fontScale="85000" lnSpcReduction="10000"/>
          </a:bodyPr>
          <a:lstStyle/>
          <a:p>
            <a:pPr algn="l">
              <a:buFont typeface="+mj-lt"/>
              <a:buAutoNum type="arabicPeriod"/>
            </a:pPr>
            <a:r>
              <a:rPr lang="en-ZA" b="1" i="0" dirty="0" err="1">
                <a:solidFill>
                  <a:srgbClr val="374151"/>
                </a:solidFill>
                <a:effectLst/>
                <a:latin typeface="Söhne"/>
              </a:rPr>
              <a:t>HostPath</a:t>
            </a:r>
            <a:r>
              <a:rPr lang="en-ZA" b="0" i="0" dirty="0">
                <a:solidFill>
                  <a:srgbClr val="374151"/>
                </a:solidFill>
                <a:effectLst/>
                <a:latin typeface="Söhne"/>
              </a:rPr>
              <a:t>: </a:t>
            </a:r>
            <a:r>
              <a:rPr lang="en-ZA" b="0" i="0" dirty="0" err="1">
                <a:solidFill>
                  <a:srgbClr val="374151"/>
                </a:solidFill>
                <a:effectLst/>
                <a:latin typeface="Söhne"/>
              </a:rPr>
              <a:t>HostPath</a:t>
            </a:r>
            <a:r>
              <a:rPr lang="en-ZA" b="0" i="0" dirty="0">
                <a:solidFill>
                  <a:srgbClr val="374151"/>
                </a:solidFill>
                <a:effectLst/>
                <a:latin typeface="Söhne"/>
              </a:rPr>
              <a:t> volumes mount a directory from the host node's filesystem into the pod. It allows sharing data between the host and the pod but is limited to a specific node.</a:t>
            </a:r>
          </a:p>
          <a:p>
            <a:pPr algn="l">
              <a:buFont typeface="+mj-lt"/>
              <a:buAutoNum type="arabicPeriod"/>
            </a:pPr>
            <a:r>
              <a:rPr lang="en-ZA" b="1" i="0" dirty="0" err="1">
                <a:solidFill>
                  <a:srgbClr val="374151"/>
                </a:solidFill>
                <a:effectLst/>
                <a:latin typeface="Söhne"/>
              </a:rPr>
              <a:t>EmptyDir</a:t>
            </a:r>
            <a:r>
              <a:rPr lang="en-ZA" b="0" i="0" dirty="0">
                <a:solidFill>
                  <a:srgbClr val="374151"/>
                </a:solidFill>
                <a:effectLst/>
                <a:latin typeface="Söhne"/>
              </a:rPr>
              <a:t>: </a:t>
            </a:r>
            <a:r>
              <a:rPr lang="en-ZA" b="0" i="0" dirty="0" err="1">
                <a:solidFill>
                  <a:srgbClr val="374151"/>
                </a:solidFill>
                <a:effectLst/>
                <a:latin typeface="Söhne"/>
              </a:rPr>
              <a:t>EmptyDir</a:t>
            </a:r>
            <a:r>
              <a:rPr lang="en-ZA" b="0" i="0" dirty="0">
                <a:solidFill>
                  <a:srgbClr val="374151"/>
                </a:solidFill>
                <a:effectLst/>
                <a:latin typeface="Söhne"/>
              </a:rPr>
              <a:t> volumes are ephemeral storage attached to a pod. They are created when a pod is scheduled and exist as long as the pod is running. Data in </a:t>
            </a:r>
            <a:r>
              <a:rPr lang="en-ZA" b="0" i="0" dirty="0" err="1">
                <a:solidFill>
                  <a:srgbClr val="374151"/>
                </a:solidFill>
                <a:effectLst/>
                <a:latin typeface="Söhne"/>
              </a:rPr>
              <a:t>EmptyDir</a:t>
            </a:r>
            <a:r>
              <a:rPr lang="en-ZA" b="0" i="0" dirty="0">
                <a:solidFill>
                  <a:srgbClr val="374151"/>
                </a:solidFill>
                <a:effectLst/>
                <a:latin typeface="Söhne"/>
              </a:rPr>
              <a:t> volumes is lost when the pod is terminated or rescheduled.</a:t>
            </a:r>
          </a:p>
          <a:p>
            <a:pPr algn="l">
              <a:buFont typeface="+mj-lt"/>
              <a:buAutoNum type="arabicPeriod"/>
            </a:pPr>
            <a:r>
              <a:rPr lang="en-ZA" b="1" i="0" dirty="0" err="1">
                <a:solidFill>
                  <a:srgbClr val="374151"/>
                </a:solidFill>
                <a:effectLst/>
                <a:latin typeface="Söhne"/>
              </a:rPr>
              <a:t>PersistentVolumeClaim</a:t>
            </a:r>
            <a:r>
              <a:rPr lang="en-ZA" b="0" i="0" dirty="0">
                <a:solidFill>
                  <a:srgbClr val="374151"/>
                </a:solidFill>
                <a:effectLst/>
                <a:latin typeface="Söhne"/>
              </a:rPr>
              <a:t>: </a:t>
            </a:r>
            <a:r>
              <a:rPr lang="en-ZA" b="0" i="0" dirty="0" err="1">
                <a:solidFill>
                  <a:srgbClr val="374151"/>
                </a:solidFill>
                <a:effectLst/>
                <a:latin typeface="Söhne"/>
              </a:rPr>
              <a:t>PersistentVolumeClaim</a:t>
            </a:r>
            <a:r>
              <a:rPr lang="en-ZA" b="0" i="0" dirty="0">
                <a:solidFill>
                  <a:srgbClr val="374151"/>
                </a:solidFill>
                <a:effectLst/>
                <a:latin typeface="Söhne"/>
              </a:rPr>
              <a:t> volumes allow pods to request and use persistent storage from available Persistent Volumes in the cluster. They provide a higher level of persistence and durability for application data.</a:t>
            </a:r>
          </a:p>
          <a:p>
            <a:pPr algn="l">
              <a:buFont typeface="+mj-lt"/>
              <a:buAutoNum type="arabicPeriod"/>
            </a:pPr>
            <a:r>
              <a:rPr lang="en-ZA" b="1" i="0" dirty="0">
                <a:solidFill>
                  <a:srgbClr val="374151"/>
                </a:solidFill>
                <a:effectLst/>
                <a:latin typeface="Söhne"/>
              </a:rPr>
              <a:t>Cloud Provider-Specific Volumes</a:t>
            </a:r>
            <a:r>
              <a:rPr lang="en-ZA" b="0" i="0" dirty="0">
                <a:solidFill>
                  <a:srgbClr val="374151"/>
                </a:solidFill>
                <a:effectLst/>
                <a:latin typeface="Söhne"/>
              </a:rPr>
              <a:t>: Kubernetes integrates with various cloud providers and offers volume plugins specific to each cloud provider's storage offerings. These volume types enable you to use cloud-specific storage options like AWS EBS, Azure Disk, or Google Cloud Persistent Disk.</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18075916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CFB6E-8E62-49DE-AD29-A4DE720C6FA8}"/>
              </a:ext>
            </a:extLst>
          </p:cNvPr>
          <p:cNvSpPr>
            <a:spLocks noGrp="1"/>
          </p:cNvSpPr>
          <p:nvPr>
            <p:ph sz="half" idx="2"/>
          </p:nvPr>
        </p:nvSpPr>
        <p:spPr>
          <a:xfrm>
            <a:off x="838200" y="1253331"/>
            <a:ext cx="10515600" cy="4351338"/>
          </a:xfrm>
        </p:spPr>
        <p:txBody>
          <a:bodyPr>
            <a:normAutofit/>
          </a:bodyPr>
          <a:lstStyle/>
          <a:p>
            <a:pPr algn="l"/>
            <a:r>
              <a:rPr lang="en-ZA" b="0" i="0" dirty="0">
                <a:solidFill>
                  <a:srgbClr val="374151"/>
                </a:solidFill>
                <a:effectLst/>
                <a:latin typeface="Söhne"/>
              </a:rPr>
              <a:t>By utilizing the data volume model in Kubernetes, you can ensure that your applications have access to persistent and shared storage, enabling the persistence of application state and data across container lifecycles.</a:t>
            </a:r>
          </a:p>
          <a:p>
            <a:pPr algn="l"/>
            <a:r>
              <a:rPr lang="en-ZA" b="0" i="0" dirty="0">
                <a:solidFill>
                  <a:srgbClr val="374151"/>
                </a:solidFill>
                <a:effectLst/>
                <a:latin typeface="Söhne"/>
              </a:rPr>
              <a:t>It's worth noting that managing and configuring the underlying storage infrastructure, including PVs and storage classes, is typically the responsibility of the cluster administrator. Users or application developers can request storage resources through PVCs and utilize them in their pods to achieve persistence.</a:t>
            </a:r>
          </a:p>
        </p:txBody>
      </p:sp>
    </p:spTree>
    <p:extLst>
      <p:ext uri="{BB962C8B-B14F-4D97-AF65-F5344CB8AC3E}">
        <p14:creationId xmlns:p14="http://schemas.microsoft.com/office/powerpoint/2010/main" val="11863164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Söhne"/>
              </a:rPr>
              <a:t>Storage backend in Kubernetes: local, NFS, </a:t>
            </a:r>
            <a:r>
              <a:rPr lang="en-ZA" i="0" dirty="0" err="1">
                <a:solidFill>
                  <a:srgbClr val="0070C0"/>
                </a:solidFill>
                <a:effectLst/>
                <a:latin typeface="Söhne"/>
              </a:rPr>
              <a:t>GlusterFS</a:t>
            </a:r>
            <a:r>
              <a:rPr lang="en-ZA" i="0" dirty="0">
                <a:solidFill>
                  <a:srgbClr val="0070C0"/>
                </a:solidFill>
                <a:effectLst/>
                <a:latin typeface="Söhne"/>
              </a:rPr>
              <a:t>, </a:t>
            </a:r>
            <a:r>
              <a:rPr lang="en-ZA" i="0" dirty="0" err="1">
                <a:solidFill>
                  <a:srgbClr val="0070C0"/>
                </a:solidFill>
                <a:effectLst/>
                <a:latin typeface="Söhne"/>
              </a:rPr>
              <a:t>Ceph</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fontScale="85000" lnSpcReduction="20000"/>
          </a:bodyPr>
          <a:lstStyle/>
          <a:p>
            <a:pPr marL="0" indent="0">
              <a:buNone/>
            </a:pPr>
            <a:r>
              <a:rPr lang="en-ZA" b="0" i="0" dirty="0">
                <a:solidFill>
                  <a:srgbClr val="374151"/>
                </a:solidFill>
                <a:effectLst/>
                <a:latin typeface="Söhne"/>
              </a:rPr>
              <a:t>In Kubernetes, there are various storage backends available to provide persistent storage for applications. Let's explore some common storage backends used in Kubernetes:</a:t>
            </a:r>
          </a:p>
          <a:p>
            <a:r>
              <a:rPr lang="en-ZA" b="1" i="0" dirty="0">
                <a:solidFill>
                  <a:srgbClr val="374151"/>
                </a:solidFill>
                <a:effectLst/>
                <a:latin typeface="Söhne"/>
              </a:rPr>
              <a:t>Local Storage</a:t>
            </a:r>
            <a:r>
              <a:rPr lang="en-ZA" b="0" i="0" dirty="0">
                <a:solidFill>
                  <a:srgbClr val="374151"/>
                </a:solidFill>
                <a:effectLst/>
                <a:latin typeface="Söhne"/>
              </a:rPr>
              <a:t>: Local storage refers to using the local disks available on the Kubernetes worker nodes as storage for pods. It is typically used for non-critical or stateless applications. Local storage is mounted directly into pods, and the data stored on local disks is tied to the specific node. It is not suitable for scenarios that require data replication or data availability across multiple nodes.</a:t>
            </a:r>
          </a:p>
          <a:p>
            <a:r>
              <a:rPr lang="en-ZA" b="1" i="0" dirty="0">
                <a:solidFill>
                  <a:srgbClr val="374151"/>
                </a:solidFill>
                <a:effectLst/>
                <a:latin typeface="Söhne"/>
              </a:rPr>
              <a:t>NFS (Network File System)</a:t>
            </a:r>
            <a:r>
              <a:rPr lang="en-ZA" b="0" i="0" dirty="0">
                <a:solidFill>
                  <a:srgbClr val="374151"/>
                </a:solidFill>
                <a:effectLst/>
                <a:latin typeface="Söhne"/>
              </a:rPr>
              <a:t>: NFS is a distributed file system protocol that allows remote file systems to be mounted over a network. In Kubernetes, you can use NFS as a storage backend by mounting NFS shares into pods. NFS provides a shared and centralized storage solution, allowing multiple pods to access and share the same data. It offers the advantage of scalability and data availability across multiple nodes.</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23824512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US" dirty="0"/>
              <a:t>Storage…</a:t>
            </a: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fontScale="92500" lnSpcReduction="10000"/>
          </a:bodyPr>
          <a:lstStyle/>
          <a:p>
            <a:r>
              <a:rPr lang="en-ZA" b="1" i="0" dirty="0" err="1">
                <a:solidFill>
                  <a:srgbClr val="374151"/>
                </a:solidFill>
                <a:effectLst/>
                <a:latin typeface="Söhne"/>
              </a:rPr>
              <a:t>GlusterFS</a:t>
            </a:r>
            <a:r>
              <a:rPr lang="en-ZA" b="0" i="0" dirty="0">
                <a:solidFill>
                  <a:srgbClr val="374151"/>
                </a:solidFill>
                <a:effectLst/>
                <a:latin typeface="Söhne"/>
              </a:rPr>
              <a:t>: </a:t>
            </a:r>
            <a:r>
              <a:rPr lang="en-ZA" b="0" i="0" dirty="0" err="1">
                <a:solidFill>
                  <a:srgbClr val="374151"/>
                </a:solidFill>
                <a:effectLst/>
                <a:latin typeface="Söhne"/>
              </a:rPr>
              <a:t>GlusterFS</a:t>
            </a:r>
            <a:r>
              <a:rPr lang="en-ZA" b="0" i="0" dirty="0">
                <a:solidFill>
                  <a:srgbClr val="374151"/>
                </a:solidFill>
                <a:effectLst/>
                <a:latin typeface="Söhne"/>
              </a:rPr>
              <a:t> is an open-source distributed file system that can be used as a storage backend in Kubernetes. It provides a scalable and fault-tolerant storage solution by aggregating multiple storage servers into a single, unified namespace. </a:t>
            </a:r>
            <a:r>
              <a:rPr lang="en-ZA" b="0" i="0" dirty="0" err="1">
                <a:solidFill>
                  <a:srgbClr val="374151"/>
                </a:solidFill>
                <a:effectLst/>
                <a:latin typeface="Söhne"/>
              </a:rPr>
              <a:t>GlusterFS</a:t>
            </a:r>
            <a:r>
              <a:rPr lang="en-ZA" b="0" i="0" dirty="0">
                <a:solidFill>
                  <a:srgbClr val="374151"/>
                </a:solidFill>
                <a:effectLst/>
                <a:latin typeface="Söhne"/>
              </a:rPr>
              <a:t> volumes can be mounted into pods, enabling data sharing and replication across multiple nodes. It offers features like dynamic provisioning, data redundancy, and high availability.</a:t>
            </a:r>
          </a:p>
          <a:p>
            <a:r>
              <a:rPr lang="en-ZA" b="1" i="0" dirty="0" err="1">
                <a:solidFill>
                  <a:srgbClr val="374151"/>
                </a:solidFill>
                <a:effectLst/>
                <a:latin typeface="Söhne"/>
              </a:rPr>
              <a:t>Ceph</a:t>
            </a:r>
            <a:r>
              <a:rPr lang="en-ZA" b="0" i="0" dirty="0">
                <a:solidFill>
                  <a:srgbClr val="374151"/>
                </a:solidFill>
                <a:effectLst/>
                <a:latin typeface="Söhne"/>
              </a:rPr>
              <a:t>: </a:t>
            </a:r>
            <a:r>
              <a:rPr lang="en-ZA" b="0" i="0" dirty="0" err="1">
                <a:solidFill>
                  <a:srgbClr val="374151"/>
                </a:solidFill>
                <a:effectLst/>
                <a:latin typeface="Söhne"/>
              </a:rPr>
              <a:t>Ceph</a:t>
            </a:r>
            <a:r>
              <a:rPr lang="en-ZA" b="0" i="0" dirty="0">
                <a:solidFill>
                  <a:srgbClr val="374151"/>
                </a:solidFill>
                <a:effectLst/>
                <a:latin typeface="Söhne"/>
              </a:rPr>
              <a:t> is a distributed storage system that provides object, block, and file storage. It offers high scalability, fault tolerance, and performance. In Kubernetes, </a:t>
            </a:r>
            <a:r>
              <a:rPr lang="en-ZA" b="0" i="0" dirty="0" err="1">
                <a:solidFill>
                  <a:srgbClr val="374151"/>
                </a:solidFill>
                <a:effectLst/>
                <a:latin typeface="Söhne"/>
              </a:rPr>
              <a:t>Ceph</a:t>
            </a:r>
            <a:r>
              <a:rPr lang="en-ZA" b="0" i="0" dirty="0">
                <a:solidFill>
                  <a:srgbClr val="374151"/>
                </a:solidFill>
                <a:effectLst/>
                <a:latin typeface="Söhne"/>
              </a:rPr>
              <a:t> can be used as a storage backend by utilizing the RBD (RADOS Block Device) and </a:t>
            </a:r>
            <a:r>
              <a:rPr lang="en-ZA" b="0" i="0" dirty="0" err="1">
                <a:solidFill>
                  <a:srgbClr val="374151"/>
                </a:solidFill>
                <a:effectLst/>
                <a:latin typeface="Söhne"/>
              </a:rPr>
              <a:t>CephFS</a:t>
            </a:r>
            <a:r>
              <a:rPr lang="en-ZA" b="0" i="0" dirty="0">
                <a:solidFill>
                  <a:srgbClr val="374151"/>
                </a:solidFill>
                <a:effectLst/>
                <a:latin typeface="Söhne"/>
              </a:rPr>
              <a:t> (</a:t>
            </a:r>
            <a:r>
              <a:rPr lang="en-ZA" b="0" i="0" dirty="0" err="1">
                <a:solidFill>
                  <a:srgbClr val="374151"/>
                </a:solidFill>
                <a:effectLst/>
                <a:latin typeface="Söhne"/>
              </a:rPr>
              <a:t>Ceph</a:t>
            </a:r>
            <a:r>
              <a:rPr lang="en-ZA" b="0" i="0" dirty="0">
                <a:solidFill>
                  <a:srgbClr val="374151"/>
                </a:solidFill>
                <a:effectLst/>
                <a:latin typeface="Söhne"/>
              </a:rPr>
              <a:t> File System) volume plugins. RBD volumes allow you to use </a:t>
            </a:r>
            <a:r>
              <a:rPr lang="en-ZA" b="0" i="0" dirty="0" err="1">
                <a:solidFill>
                  <a:srgbClr val="374151"/>
                </a:solidFill>
                <a:effectLst/>
                <a:latin typeface="Söhne"/>
              </a:rPr>
              <a:t>Ceph</a:t>
            </a:r>
            <a:r>
              <a:rPr lang="en-ZA" b="0" i="0" dirty="0">
                <a:solidFill>
                  <a:srgbClr val="374151"/>
                </a:solidFill>
                <a:effectLst/>
                <a:latin typeface="Söhne"/>
              </a:rPr>
              <a:t> as a distributed block storage solution, while </a:t>
            </a:r>
            <a:r>
              <a:rPr lang="en-ZA" b="0" i="0" dirty="0" err="1">
                <a:solidFill>
                  <a:srgbClr val="374151"/>
                </a:solidFill>
                <a:effectLst/>
                <a:latin typeface="Söhne"/>
              </a:rPr>
              <a:t>CephFS</a:t>
            </a:r>
            <a:r>
              <a:rPr lang="en-ZA" b="0" i="0" dirty="0">
                <a:solidFill>
                  <a:srgbClr val="374151"/>
                </a:solidFill>
                <a:effectLst/>
                <a:latin typeface="Söhne"/>
              </a:rPr>
              <a:t> volumes provide a shared file system for pods.</a:t>
            </a:r>
          </a:p>
          <a:p>
            <a:pPr marL="0" indent="0">
              <a:buNone/>
            </a:pPr>
            <a:endParaRPr lang="en-US" dirty="0"/>
          </a:p>
        </p:txBody>
      </p:sp>
    </p:spTree>
    <p:extLst>
      <p:ext uri="{BB962C8B-B14F-4D97-AF65-F5344CB8AC3E}">
        <p14:creationId xmlns:p14="http://schemas.microsoft.com/office/powerpoint/2010/main" val="38190814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US" dirty="0"/>
              <a:t>Storage…</a:t>
            </a: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fontScale="92500" lnSpcReduction="10000"/>
          </a:bodyPr>
          <a:lstStyle/>
          <a:p>
            <a:pPr algn="l"/>
            <a:r>
              <a:rPr lang="en-ZA" b="0" i="0" dirty="0">
                <a:solidFill>
                  <a:srgbClr val="374151"/>
                </a:solidFill>
                <a:effectLst/>
                <a:latin typeface="Söhne"/>
              </a:rPr>
              <a:t>These are just a few examples of storage backends commonly used in Kubernetes. There are other storage solutions available, including cloud-specific storage options like AWS EBS, Azure Disk, or Google Cloud Persistent Disk, as well as specialized distributed storage systems like </a:t>
            </a:r>
            <a:r>
              <a:rPr lang="en-ZA" b="0" i="0" dirty="0" err="1">
                <a:solidFill>
                  <a:srgbClr val="374151"/>
                </a:solidFill>
                <a:effectLst/>
                <a:latin typeface="Söhne"/>
              </a:rPr>
              <a:t>Portworx</a:t>
            </a:r>
            <a:r>
              <a:rPr lang="en-ZA" b="0" i="0" dirty="0">
                <a:solidFill>
                  <a:srgbClr val="374151"/>
                </a:solidFill>
                <a:effectLst/>
                <a:latin typeface="Söhne"/>
              </a:rPr>
              <a:t> or </a:t>
            </a:r>
            <a:r>
              <a:rPr lang="en-ZA" b="0" i="0" dirty="0" err="1">
                <a:solidFill>
                  <a:srgbClr val="374151"/>
                </a:solidFill>
                <a:effectLst/>
                <a:latin typeface="Söhne"/>
              </a:rPr>
              <a:t>OpenEBS</a:t>
            </a:r>
            <a:r>
              <a:rPr lang="en-ZA" b="0" i="0" dirty="0">
                <a:solidFill>
                  <a:srgbClr val="374151"/>
                </a:solidFill>
                <a:effectLst/>
                <a:latin typeface="Söhne"/>
              </a:rPr>
              <a:t>.</a:t>
            </a:r>
          </a:p>
          <a:p>
            <a:pPr algn="l"/>
            <a:r>
              <a:rPr lang="en-ZA" b="0" i="0" dirty="0">
                <a:solidFill>
                  <a:srgbClr val="374151"/>
                </a:solidFill>
                <a:effectLst/>
                <a:latin typeface="Söhne"/>
              </a:rPr>
              <a:t>It's important to note that the choice of storage backend depends on factors such as the application's requirements, performance needs, scalability, data durability, and the available infrastructure. Additionally, the configuration and management of storage backends are typically handled by the cluster administrator, while users or application developers can leverage the persistent storage options provided by the storage backend through Persistent Volumes and Persistent Volume Claims in their applications.</a:t>
            </a:r>
          </a:p>
          <a:p>
            <a:pPr marL="0" indent="0">
              <a:buNone/>
            </a:pPr>
            <a:endParaRPr lang="en-US" dirty="0"/>
          </a:p>
        </p:txBody>
      </p:sp>
    </p:spTree>
    <p:extLst>
      <p:ext uri="{BB962C8B-B14F-4D97-AF65-F5344CB8AC3E}">
        <p14:creationId xmlns:p14="http://schemas.microsoft.com/office/powerpoint/2010/main" val="1707073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ZA" i="0" dirty="0">
                <a:solidFill>
                  <a:srgbClr val="0070C0"/>
                </a:solidFill>
                <a:effectLst/>
                <a:latin typeface="Poppins" pitchFamily="2" charset="77"/>
              </a:rPr>
              <a:t>Cluster management</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a:bodyPr>
          <a:lstStyle/>
          <a:p>
            <a:pPr algn="l"/>
            <a:r>
              <a:rPr lang="en-ZA" sz="3200" b="0" i="0" dirty="0">
                <a:solidFill>
                  <a:srgbClr val="374151"/>
                </a:solidFill>
                <a:effectLst/>
                <a:latin typeface="Söhne"/>
              </a:rPr>
              <a:t>Cluster management in Kubernetes involves the administration and coordination of resources, applications, and infrastructure within a Kubernetes cluster. It includes tasks such as cluster setup, configuration, monitoring, scaling, upgrading, and ensuring the overall health and performance of the cluster</a:t>
            </a:r>
            <a:endParaRPr lang="en-US" sz="3200" dirty="0"/>
          </a:p>
        </p:txBody>
      </p:sp>
    </p:spTree>
    <p:extLst>
      <p:ext uri="{BB962C8B-B14F-4D97-AF65-F5344CB8AC3E}">
        <p14:creationId xmlns:p14="http://schemas.microsoft.com/office/powerpoint/2010/main" val="39038590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ZA" i="0" dirty="0">
                <a:solidFill>
                  <a:srgbClr val="0070C0"/>
                </a:solidFill>
                <a:effectLst/>
                <a:latin typeface="Poppins" pitchFamily="2" charset="77"/>
              </a:rPr>
              <a:t>Cluster management</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p:txBody>
          <a:bodyPr>
            <a:normAutofit lnSpcReduction="10000"/>
          </a:bodyPr>
          <a:lstStyle/>
          <a:p>
            <a:r>
              <a:rPr lang="en-ZA" sz="2000" b="1" i="0" dirty="0">
                <a:solidFill>
                  <a:srgbClr val="374151"/>
                </a:solidFill>
                <a:effectLst/>
                <a:latin typeface="Söhne"/>
              </a:rPr>
              <a:t>Cluster Setup and Configuration</a:t>
            </a:r>
            <a:r>
              <a:rPr lang="en-ZA" sz="2000" b="0" i="0" dirty="0">
                <a:solidFill>
                  <a:srgbClr val="374151"/>
                </a:solidFill>
                <a:effectLst/>
                <a:latin typeface="Söhne"/>
              </a:rPr>
              <a:t>: Cluster management starts with setting up a Kubernetes cluster, which involves provisioning and configuring the necessary infrastructure, including master nodes and worker nodes. This includes installing Kubernetes components like the API server, controller manager, scheduler, and </a:t>
            </a:r>
            <a:r>
              <a:rPr lang="en-ZA" sz="2000" b="0" i="0" dirty="0" err="1">
                <a:solidFill>
                  <a:srgbClr val="374151"/>
                </a:solidFill>
                <a:effectLst/>
                <a:latin typeface="Söhne"/>
              </a:rPr>
              <a:t>etcd</a:t>
            </a:r>
            <a:r>
              <a:rPr lang="en-ZA" sz="2000" b="0" i="0" dirty="0">
                <a:solidFill>
                  <a:srgbClr val="374151"/>
                </a:solidFill>
                <a:effectLst/>
                <a:latin typeface="Söhne"/>
              </a:rPr>
              <a:t>. Cluster configuration includes defining networking, authentication, and authorization policies, as well as configuring storage, logging, and monitoring solutions.</a:t>
            </a:r>
          </a:p>
          <a:p>
            <a:r>
              <a:rPr lang="en-ZA" sz="2000" b="1" i="0" dirty="0">
                <a:solidFill>
                  <a:srgbClr val="374151"/>
                </a:solidFill>
                <a:effectLst/>
                <a:latin typeface="Söhne"/>
              </a:rPr>
              <a:t>Cluster Monitoring</a:t>
            </a:r>
            <a:r>
              <a:rPr lang="en-ZA" sz="2000" b="0" i="0" dirty="0">
                <a:solidFill>
                  <a:srgbClr val="374151"/>
                </a:solidFill>
                <a:effectLst/>
                <a:latin typeface="Söhne"/>
              </a:rPr>
              <a:t>: Monitoring is essential for cluster management to ensure the health and performance of the cluster. Monitoring tools like Prometheus, Grafana, or the Kubernetes Dashboard can be used to collect and visualize cluster metrics, resource utilization, and application performance. Monitoring helps identify and resolve issues, optimize resource allocation, and plan for cluster scaling.</a:t>
            </a:r>
          </a:p>
          <a:p>
            <a:r>
              <a:rPr lang="en-ZA" sz="2000" b="1" i="0" dirty="0">
                <a:solidFill>
                  <a:srgbClr val="374151"/>
                </a:solidFill>
                <a:effectLst/>
                <a:latin typeface="Söhne"/>
              </a:rPr>
              <a:t>Cluster Scaling</a:t>
            </a:r>
            <a:r>
              <a:rPr lang="en-ZA" sz="2000" b="0" i="0" dirty="0">
                <a:solidFill>
                  <a:srgbClr val="374151"/>
                </a:solidFill>
                <a:effectLst/>
                <a:latin typeface="Söhne"/>
              </a:rPr>
              <a:t>: Kubernetes enables horizontal scaling of applications by adding or removing pods. Cluster management involves scaling the cluster itself by adjusting the number of worker nodes based on resource requirements and application demands. Cluster autoscaling mechanisms, such as the Kubernetes Cluster </a:t>
            </a:r>
            <a:r>
              <a:rPr lang="en-ZA" sz="2000" b="0" i="0" dirty="0" err="1">
                <a:solidFill>
                  <a:srgbClr val="374151"/>
                </a:solidFill>
                <a:effectLst/>
                <a:latin typeface="Söhne"/>
              </a:rPr>
              <a:t>Autoscaler</a:t>
            </a:r>
            <a:r>
              <a:rPr lang="en-ZA" sz="2000" b="0" i="0" dirty="0">
                <a:solidFill>
                  <a:srgbClr val="374151"/>
                </a:solidFill>
                <a:effectLst/>
                <a:latin typeface="Söhne"/>
              </a:rPr>
              <a:t>, can automatically add or remove nodes based on resource utilization.</a:t>
            </a:r>
          </a:p>
        </p:txBody>
      </p:sp>
    </p:spTree>
    <p:extLst>
      <p:ext uri="{BB962C8B-B14F-4D97-AF65-F5344CB8AC3E}">
        <p14:creationId xmlns:p14="http://schemas.microsoft.com/office/powerpoint/2010/main" val="18393407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ZA" i="0" dirty="0">
                <a:solidFill>
                  <a:srgbClr val="0070C0"/>
                </a:solidFill>
                <a:effectLst/>
                <a:latin typeface="Poppins" pitchFamily="2" charset="77"/>
              </a:rPr>
              <a:t>Cluster management</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10515600" cy="4117975"/>
          </a:xfrm>
        </p:spPr>
        <p:txBody>
          <a:bodyPr>
            <a:noAutofit/>
          </a:bodyPr>
          <a:lstStyle/>
          <a:p>
            <a:r>
              <a:rPr lang="en-ZA" sz="1600" b="1" i="0" dirty="0">
                <a:solidFill>
                  <a:srgbClr val="374151"/>
                </a:solidFill>
                <a:effectLst/>
                <a:latin typeface="Söhne"/>
              </a:rPr>
              <a:t>Cluster Upgrades and Maintenance</a:t>
            </a:r>
            <a:r>
              <a:rPr lang="en-ZA" sz="1600" b="0" i="0" dirty="0">
                <a:solidFill>
                  <a:srgbClr val="374151"/>
                </a:solidFill>
                <a:effectLst/>
                <a:latin typeface="Söhne"/>
              </a:rPr>
              <a:t>: Keeping the cluster up to date with the latest Kubernetes version and security patches is crucial. Cluster management involves planning and executing cluster upgrades, which may include upgrading Kubernetes components, underlying infrastructure, or node operating systems. Cluster maintenance also involves performing periodic health checks, addressing node failures, managing backups, and ensuring data durability.</a:t>
            </a:r>
          </a:p>
          <a:p>
            <a:r>
              <a:rPr lang="en-ZA" sz="1600" b="1" i="0" dirty="0">
                <a:solidFill>
                  <a:srgbClr val="374151"/>
                </a:solidFill>
                <a:effectLst/>
                <a:latin typeface="Söhne"/>
              </a:rPr>
              <a:t>High Availability and Fault Tolerance</a:t>
            </a:r>
            <a:r>
              <a:rPr lang="en-ZA" sz="1600" b="0" i="0" dirty="0">
                <a:solidFill>
                  <a:srgbClr val="374151"/>
                </a:solidFill>
                <a:effectLst/>
                <a:latin typeface="Söhne"/>
              </a:rPr>
              <a:t>: Cluster management includes configuring high availability and fault tolerance mechanisms to ensure that the cluster remains operational in the event of component or node failures. This may involve setting up multiple master nodes, using replication for critical components like </a:t>
            </a:r>
            <a:r>
              <a:rPr lang="en-ZA" sz="1600" b="0" i="0" dirty="0" err="1">
                <a:solidFill>
                  <a:srgbClr val="374151"/>
                </a:solidFill>
                <a:effectLst/>
                <a:latin typeface="Söhne"/>
              </a:rPr>
              <a:t>etcd</a:t>
            </a:r>
            <a:r>
              <a:rPr lang="en-ZA" sz="1600" b="0" i="0" dirty="0">
                <a:solidFill>
                  <a:srgbClr val="374151"/>
                </a:solidFill>
                <a:effectLst/>
                <a:latin typeface="Söhne"/>
              </a:rPr>
              <a:t>, and configuring pod rescheduling or workload failover mechanisms.</a:t>
            </a:r>
          </a:p>
          <a:p>
            <a:r>
              <a:rPr lang="en-ZA" sz="1600" b="1" i="0" dirty="0">
                <a:solidFill>
                  <a:srgbClr val="374151"/>
                </a:solidFill>
                <a:effectLst/>
                <a:latin typeface="Söhne"/>
              </a:rPr>
              <a:t>Access and Security</a:t>
            </a:r>
            <a:r>
              <a:rPr lang="en-ZA" sz="1600" b="0" i="0" dirty="0">
                <a:solidFill>
                  <a:srgbClr val="374151"/>
                </a:solidFill>
                <a:effectLst/>
                <a:latin typeface="Söhne"/>
              </a:rPr>
              <a:t>: Managing access control and security is essential for cluster management. This includes managing authentication and authorization mechanisms, securing network communication within the cluster, and configuring RBAC (Role-Based Access Control) policies to control user and application access to cluster resources. Secure configuration of secrets, encryption at rest, and network policies are also part of cluster security.</a:t>
            </a:r>
          </a:p>
          <a:p>
            <a:r>
              <a:rPr lang="en-ZA" sz="1600" b="1" i="0" dirty="0">
                <a:solidFill>
                  <a:srgbClr val="374151"/>
                </a:solidFill>
                <a:effectLst/>
                <a:latin typeface="Söhne"/>
              </a:rPr>
              <a:t>Cluster Backup and Disaster Recovery</a:t>
            </a:r>
            <a:r>
              <a:rPr lang="en-ZA" sz="1600" b="0" i="0" dirty="0">
                <a:solidFill>
                  <a:srgbClr val="374151"/>
                </a:solidFill>
                <a:effectLst/>
                <a:latin typeface="Söhne"/>
              </a:rPr>
              <a:t>: Cluster management involves implementing backup and disaster recovery strategies to protect cluster data and ensure business continuity. This may include taking regular backups of persistent data volumes, replicating critical components, and defining disaster recovery plans to restore the cluster in case of catastrophic events.</a:t>
            </a:r>
          </a:p>
        </p:txBody>
      </p:sp>
    </p:spTree>
    <p:extLst>
      <p:ext uri="{BB962C8B-B14F-4D97-AF65-F5344CB8AC3E}">
        <p14:creationId xmlns:p14="http://schemas.microsoft.com/office/powerpoint/2010/main" val="4309330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lstStyle/>
          <a:p>
            <a:r>
              <a:rPr lang="en-ZA" i="0" dirty="0">
                <a:solidFill>
                  <a:srgbClr val="0070C0"/>
                </a:solidFill>
                <a:effectLst/>
                <a:latin typeface="Poppins" pitchFamily="2" charset="77"/>
              </a:rPr>
              <a:t>Cluster management</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10515600" cy="2212975"/>
          </a:xfrm>
        </p:spPr>
        <p:txBody>
          <a:bodyPr>
            <a:noAutofit/>
          </a:bodyPr>
          <a:lstStyle/>
          <a:p>
            <a:r>
              <a:rPr lang="en-ZA" sz="1800" b="0" i="0" dirty="0">
                <a:solidFill>
                  <a:srgbClr val="374151"/>
                </a:solidFill>
                <a:effectLst/>
                <a:latin typeface="Söhne"/>
              </a:rPr>
              <a:t>Cluster management in Kubernetes requires expertise in infrastructure provisioning, networking, security, monitoring, and operations. It involves a combination of manual tasks and automation using tools like </a:t>
            </a:r>
            <a:r>
              <a:rPr lang="en-ZA" sz="1800" b="0" i="0" dirty="0" err="1">
                <a:solidFill>
                  <a:srgbClr val="374151"/>
                </a:solidFill>
                <a:effectLst/>
                <a:latin typeface="Söhne"/>
              </a:rPr>
              <a:t>kubectl</a:t>
            </a:r>
            <a:r>
              <a:rPr lang="en-ZA" sz="1800" b="0" i="0" dirty="0">
                <a:solidFill>
                  <a:srgbClr val="374151"/>
                </a:solidFill>
                <a:effectLst/>
                <a:latin typeface="Söhne"/>
              </a:rPr>
              <a:t>, Kubernetes Operators, and cluster management platforms like Rancher, OpenShift, or GKE (Google Kubernetes Engine). Effective cluster management ensures the stability, performance, and reliability of Kubernetes clusters, enabling smooth operation of containerized applications.</a:t>
            </a:r>
          </a:p>
        </p:txBody>
      </p:sp>
    </p:spTree>
    <p:extLst>
      <p:ext uri="{BB962C8B-B14F-4D97-AF65-F5344CB8AC3E}">
        <p14:creationId xmlns:p14="http://schemas.microsoft.com/office/powerpoint/2010/main" val="31678618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10515600" cy="1603375"/>
          </a:xfrm>
        </p:spPr>
        <p:txBody>
          <a:bodyPr>
            <a:noAutofit/>
          </a:bodyPr>
          <a:lstStyle/>
          <a:p>
            <a:r>
              <a:rPr lang="en-ZA" b="0" i="0" dirty="0">
                <a:solidFill>
                  <a:srgbClr val="374151"/>
                </a:solidFill>
                <a:effectLst/>
                <a:latin typeface="Söhne"/>
              </a:rPr>
              <a:t>To deploy applications and services on a Kubernetes cluster, you can follow these general steps:</a:t>
            </a:r>
          </a:p>
        </p:txBody>
      </p:sp>
    </p:spTree>
    <p:extLst>
      <p:ext uri="{BB962C8B-B14F-4D97-AF65-F5344CB8AC3E}">
        <p14:creationId xmlns:p14="http://schemas.microsoft.com/office/powerpoint/2010/main" val="16899559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4800600" cy="4498975"/>
          </a:xfrm>
        </p:spPr>
        <p:txBody>
          <a:bodyPr>
            <a:noAutofit/>
          </a:bodyPr>
          <a:lstStyle/>
          <a:p>
            <a:pPr algn="l">
              <a:buFont typeface="+mj-lt"/>
              <a:buAutoNum type="arabicPeriod"/>
            </a:pPr>
            <a:r>
              <a:rPr lang="en-ZA" sz="2400" b="1" i="0" dirty="0">
                <a:solidFill>
                  <a:srgbClr val="374151"/>
                </a:solidFill>
                <a:effectLst/>
                <a:latin typeface="Söhne"/>
              </a:rPr>
              <a:t>Containerize Your Application</a:t>
            </a:r>
            <a:r>
              <a:rPr lang="en-ZA" sz="2400" b="0" i="0" dirty="0">
                <a:solidFill>
                  <a:srgbClr val="374151"/>
                </a:solidFill>
                <a:effectLst/>
                <a:latin typeface="Söhne"/>
              </a:rPr>
              <a:t>: First, you need to containerize your application by creating a Docker image. This involves writing a </a:t>
            </a:r>
            <a:r>
              <a:rPr lang="en-ZA" sz="2400" b="0" i="0" dirty="0" err="1">
                <a:solidFill>
                  <a:srgbClr val="374151"/>
                </a:solidFill>
                <a:effectLst/>
                <a:latin typeface="Söhne"/>
              </a:rPr>
              <a:t>Dockerfile</a:t>
            </a:r>
            <a:r>
              <a:rPr lang="en-ZA" sz="2400" b="0" i="0" dirty="0">
                <a:solidFill>
                  <a:srgbClr val="374151"/>
                </a:solidFill>
                <a:effectLst/>
                <a:latin typeface="Söhne"/>
              </a:rPr>
              <a:t> that specifies the application's dependencies, configurations, and build process. Build the Docker image and push it to a container registry like Docker Hub or a private registry accessible to your Kubernetes cluster.</a:t>
            </a:r>
          </a:p>
        </p:txBody>
      </p:sp>
      <p:sp>
        <p:nvSpPr>
          <p:cNvPr id="4" name="Content Placeholder 2">
            <a:extLst>
              <a:ext uri="{FF2B5EF4-FFF2-40B4-BE49-F238E27FC236}">
                <a16:creationId xmlns:a16="http://schemas.microsoft.com/office/drawing/2014/main" id="{3AA21562-2128-EE24-05D1-47204BBBD2FB}"/>
              </a:ext>
            </a:extLst>
          </p:cNvPr>
          <p:cNvSpPr txBox="1">
            <a:spLocks/>
          </p:cNvSpPr>
          <p:nvPr/>
        </p:nvSpPr>
        <p:spPr>
          <a:xfrm>
            <a:off x="5638800" y="1825625"/>
            <a:ext cx="6019800" cy="3203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ZA" sz="1600" dirty="0"/>
          </a:p>
          <a:p>
            <a:pPr marL="0" indent="0">
              <a:buNone/>
            </a:pPr>
            <a:r>
              <a:rPr lang="en-ZA" sz="1600" dirty="0"/>
              <a:t>FROM </a:t>
            </a:r>
            <a:r>
              <a:rPr lang="en-ZA" sz="1600" dirty="0" err="1"/>
              <a:t>nginx:latest</a:t>
            </a:r>
            <a:r>
              <a:rPr lang="en-ZA" sz="1600" dirty="0"/>
              <a:t> </a:t>
            </a:r>
          </a:p>
          <a:p>
            <a:pPr marL="0" indent="0">
              <a:buNone/>
            </a:pPr>
            <a:r>
              <a:rPr lang="en-ZA" sz="1600" dirty="0"/>
              <a:t>COPY ./</a:t>
            </a:r>
            <a:r>
              <a:rPr lang="en-ZA" sz="1600" dirty="0" err="1"/>
              <a:t>index.html</a:t>
            </a:r>
            <a:r>
              <a:rPr lang="en-ZA" sz="1600" dirty="0"/>
              <a:t> /</a:t>
            </a:r>
            <a:r>
              <a:rPr lang="en-ZA" sz="1600" dirty="0" err="1"/>
              <a:t>usr</a:t>
            </a:r>
            <a:r>
              <a:rPr lang="en-ZA" sz="1600" dirty="0"/>
              <a:t>/share/nginx/html/</a:t>
            </a:r>
            <a:r>
              <a:rPr lang="en-ZA" sz="1600" dirty="0" err="1"/>
              <a:t>index.html</a:t>
            </a:r>
            <a:endParaRPr lang="en-ZA" sz="1600" dirty="0"/>
          </a:p>
          <a:p>
            <a:pPr marL="0" indent="0">
              <a:buNone/>
            </a:pPr>
            <a:endParaRPr lang="en-ZA" sz="1600" dirty="0">
              <a:solidFill>
                <a:srgbClr val="374151"/>
              </a:solidFill>
              <a:latin typeface="Söhne"/>
            </a:endParaRPr>
          </a:p>
          <a:p>
            <a:pPr marL="0" indent="0">
              <a:buNone/>
            </a:pPr>
            <a:endParaRPr lang="en-ZA" sz="1600" dirty="0">
              <a:solidFill>
                <a:srgbClr val="374151"/>
              </a:solidFill>
              <a:latin typeface="Söhne"/>
            </a:endParaRPr>
          </a:p>
        </p:txBody>
      </p:sp>
    </p:spTree>
    <p:extLst>
      <p:ext uri="{BB962C8B-B14F-4D97-AF65-F5344CB8AC3E}">
        <p14:creationId xmlns:p14="http://schemas.microsoft.com/office/powerpoint/2010/main" val="10536081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5029200" cy="3736975"/>
          </a:xfrm>
        </p:spPr>
        <p:txBody>
          <a:bodyPr>
            <a:noAutofit/>
          </a:bodyPr>
          <a:lstStyle/>
          <a:p>
            <a:pPr algn="l">
              <a:buFont typeface="+mj-lt"/>
              <a:buAutoNum type="arabicPeriod"/>
            </a:pPr>
            <a:r>
              <a:rPr lang="en-ZA" sz="2400" b="1" i="0" dirty="0">
                <a:solidFill>
                  <a:srgbClr val="374151"/>
                </a:solidFill>
                <a:effectLst/>
                <a:latin typeface="Söhne"/>
              </a:rPr>
              <a:t>Create Kubernetes Deployment YAML</a:t>
            </a:r>
            <a:r>
              <a:rPr lang="en-ZA" sz="2400" b="0" i="0" dirty="0">
                <a:solidFill>
                  <a:srgbClr val="374151"/>
                </a:solidFill>
                <a:effectLst/>
                <a:latin typeface="Söhne"/>
              </a:rPr>
              <a:t>: Create a Kubernetes Deployment YAML file that describes the desired state of your application deployment. The YAML file typically includes specifications for the container image, ports, environment variables, resource requirements, and other configuration options. It defines the number of replicas (pods) to be created for the application.</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6248400" y="1981200"/>
            <a:ext cx="5105400" cy="4401205"/>
          </a:xfrm>
          <a:prstGeom prst="rect">
            <a:avLst/>
          </a:prstGeom>
          <a:noFill/>
        </p:spPr>
        <p:txBody>
          <a:bodyPr wrap="square" rtlCol="0">
            <a:spAutoFit/>
          </a:bodyPr>
          <a:lstStyle/>
          <a:p>
            <a:r>
              <a:rPr lang="en-ZA" sz="1400" dirty="0"/>
              <a:t>--- </a:t>
            </a:r>
            <a:r>
              <a:rPr lang="en-ZA" sz="1400" dirty="0" err="1"/>
              <a:t>apiVersion</a:t>
            </a:r>
            <a:r>
              <a:rPr lang="en-ZA" sz="1400" dirty="0"/>
              <a:t>: apps/v1 </a:t>
            </a:r>
          </a:p>
          <a:p>
            <a:r>
              <a:rPr lang="en-ZA" sz="1400" dirty="0"/>
              <a:t>kind: Deployment </a:t>
            </a:r>
          </a:p>
          <a:p>
            <a:r>
              <a:rPr lang="en-ZA" sz="1400" dirty="0"/>
              <a:t>metadata: </a:t>
            </a:r>
          </a:p>
          <a:p>
            <a:r>
              <a:rPr lang="en-ZA" sz="1400" dirty="0"/>
              <a:t>      name: my-nginx </a:t>
            </a:r>
          </a:p>
          <a:p>
            <a:r>
              <a:rPr lang="en-ZA" sz="1400" dirty="0"/>
              <a:t>      labels: </a:t>
            </a:r>
          </a:p>
          <a:p>
            <a:r>
              <a:rPr lang="en-ZA" sz="1400" dirty="0"/>
              <a:t>          app: nginx </a:t>
            </a:r>
          </a:p>
          <a:p>
            <a:r>
              <a:rPr lang="en-ZA" sz="1400" dirty="0"/>
              <a:t>spec: </a:t>
            </a:r>
          </a:p>
          <a:p>
            <a:r>
              <a:rPr lang="en-ZA" sz="1400" dirty="0"/>
              <a:t>     replicas: 4 </a:t>
            </a:r>
          </a:p>
          <a:p>
            <a:r>
              <a:rPr lang="en-ZA" sz="1400" dirty="0"/>
              <a:t>     selector: </a:t>
            </a:r>
          </a:p>
          <a:p>
            <a:r>
              <a:rPr lang="en-ZA" sz="1400" dirty="0"/>
              <a:t>          </a:t>
            </a:r>
            <a:r>
              <a:rPr lang="en-ZA" sz="1400" dirty="0" err="1"/>
              <a:t>matchLabels</a:t>
            </a:r>
            <a:r>
              <a:rPr lang="en-ZA" sz="1400" dirty="0"/>
              <a:t>: </a:t>
            </a:r>
          </a:p>
          <a:p>
            <a:r>
              <a:rPr lang="en-ZA" sz="1400" dirty="0"/>
              <a:t>                app: nginx </a:t>
            </a:r>
          </a:p>
          <a:p>
            <a:r>
              <a:rPr lang="en-ZA" sz="1400" dirty="0"/>
              <a:t>      template: </a:t>
            </a:r>
          </a:p>
          <a:p>
            <a:r>
              <a:rPr lang="en-ZA" sz="1400" dirty="0"/>
              <a:t>          metadata: </a:t>
            </a:r>
          </a:p>
          <a:p>
            <a:r>
              <a:rPr lang="en-ZA" sz="1400" dirty="0"/>
              <a:t>                labels: </a:t>
            </a:r>
          </a:p>
          <a:p>
            <a:r>
              <a:rPr lang="en-ZA" sz="1400" dirty="0"/>
              <a:t>                    app: nginx </a:t>
            </a:r>
          </a:p>
          <a:p>
            <a:r>
              <a:rPr lang="en-ZA" sz="1400" dirty="0"/>
              <a:t>           spec: containers:</a:t>
            </a:r>
          </a:p>
          <a:p>
            <a:r>
              <a:rPr lang="en-ZA" sz="1400" dirty="0"/>
              <a:t>           - name: nginx </a:t>
            </a:r>
          </a:p>
          <a:p>
            <a:r>
              <a:rPr lang="en-ZA" sz="1400" dirty="0"/>
              <a:t>           image: </a:t>
            </a:r>
            <a:r>
              <a:rPr lang="en-ZA" sz="1400" dirty="0" err="1"/>
              <a:t>nginx:latest</a:t>
            </a:r>
            <a:r>
              <a:rPr lang="en-ZA" sz="1400" dirty="0"/>
              <a:t> </a:t>
            </a:r>
          </a:p>
          <a:p>
            <a:r>
              <a:rPr lang="en-ZA" sz="1400" dirty="0"/>
              <a:t>           ports: </a:t>
            </a:r>
          </a:p>
          <a:p>
            <a:r>
              <a:rPr lang="en-ZA" sz="1400" dirty="0"/>
              <a:t>           - </a:t>
            </a:r>
            <a:r>
              <a:rPr lang="en-ZA" sz="1400" dirty="0" err="1"/>
              <a:t>containerPort</a:t>
            </a:r>
            <a:r>
              <a:rPr lang="en-ZA" sz="1400" dirty="0"/>
              <a:t>: 80</a:t>
            </a:r>
            <a:endParaRPr lang="en-US" sz="1400" dirty="0"/>
          </a:p>
        </p:txBody>
      </p:sp>
    </p:spTree>
    <p:extLst>
      <p:ext uri="{BB962C8B-B14F-4D97-AF65-F5344CB8AC3E}">
        <p14:creationId xmlns:p14="http://schemas.microsoft.com/office/powerpoint/2010/main" val="17308583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5029200" cy="3736975"/>
          </a:xfrm>
        </p:spPr>
        <p:txBody>
          <a:bodyPr>
            <a:noAutofit/>
          </a:bodyPr>
          <a:lstStyle/>
          <a:p>
            <a:pPr algn="l">
              <a:buFont typeface="+mj-lt"/>
              <a:buAutoNum type="arabicPeriod"/>
            </a:pPr>
            <a:r>
              <a:rPr lang="en-ZA" b="1" i="0" dirty="0">
                <a:effectLst/>
                <a:latin typeface="Söhne"/>
              </a:rPr>
              <a:t>Apply the Deployment</a:t>
            </a:r>
            <a:r>
              <a:rPr lang="en-ZA" b="0" i="0" dirty="0">
                <a:solidFill>
                  <a:srgbClr val="374151"/>
                </a:solidFill>
                <a:effectLst/>
                <a:latin typeface="Söhne"/>
              </a:rPr>
              <a:t>: Use the </a:t>
            </a:r>
            <a:r>
              <a:rPr lang="en-ZA" dirty="0" err="1"/>
              <a:t>kubectl</a:t>
            </a:r>
            <a:r>
              <a:rPr lang="en-ZA" dirty="0"/>
              <a:t> apply</a:t>
            </a:r>
            <a:r>
              <a:rPr lang="en-ZA" b="0" i="0" dirty="0">
                <a:solidFill>
                  <a:srgbClr val="374151"/>
                </a:solidFill>
                <a:effectLst/>
                <a:latin typeface="Söhne"/>
              </a:rPr>
              <a:t> command to apply the Deployment YAML file and create the desired number of pods running your application.</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6477000" y="2438400"/>
            <a:ext cx="5105400" cy="615553"/>
          </a:xfrm>
          <a:prstGeom prst="rect">
            <a:avLst/>
          </a:prstGeom>
          <a:noFill/>
        </p:spPr>
        <p:txBody>
          <a:bodyPr wrap="square" rtlCol="0">
            <a:spAutoFit/>
          </a:bodyPr>
          <a:lstStyle/>
          <a:p>
            <a:r>
              <a:rPr lang="en-US" sz="2000" dirty="0" err="1"/>
              <a:t>kubectl</a:t>
            </a:r>
            <a:r>
              <a:rPr lang="en-US" sz="2000" dirty="0"/>
              <a:t> apply -f </a:t>
            </a:r>
            <a:r>
              <a:rPr lang="en-US" sz="2000" dirty="0" err="1"/>
              <a:t>deployment.yaml</a:t>
            </a:r>
            <a:endParaRPr lang="en-US" sz="2000" dirty="0"/>
          </a:p>
          <a:p>
            <a:endParaRPr lang="en-US" sz="1400" dirty="0"/>
          </a:p>
        </p:txBody>
      </p:sp>
    </p:spTree>
    <p:extLst>
      <p:ext uri="{BB962C8B-B14F-4D97-AF65-F5344CB8AC3E}">
        <p14:creationId xmlns:p14="http://schemas.microsoft.com/office/powerpoint/2010/main" val="11978178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5029200" cy="3736975"/>
          </a:xfrm>
        </p:spPr>
        <p:txBody>
          <a:bodyPr>
            <a:noAutofit/>
          </a:bodyPr>
          <a:lstStyle/>
          <a:p>
            <a:pPr algn="l">
              <a:buFont typeface="+mj-lt"/>
              <a:buAutoNum type="arabicPeriod"/>
            </a:pPr>
            <a:r>
              <a:rPr lang="en-ZA" sz="2400" b="1" i="0" dirty="0">
                <a:solidFill>
                  <a:srgbClr val="374151"/>
                </a:solidFill>
                <a:effectLst/>
                <a:latin typeface="Söhne"/>
              </a:rPr>
              <a:t>Expose the Service</a:t>
            </a:r>
            <a:r>
              <a:rPr lang="en-ZA" sz="2400" b="0" i="0" dirty="0">
                <a:solidFill>
                  <a:srgbClr val="374151"/>
                </a:solidFill>
                <a:effectLst/>
                <a:latin typeface="Söhne"/>
              </a:rPr>
              <a:t>: If you want to make your application accessible from outside the cluster, you need to expose it using a Service. Create a Service YAML file that specifies the desired networking configuration, such as the service type (</a:t>
            </a:r>
            <a:r>
              <a:rPr lang="en-ZA" sz="2400" b="0" i="0" dirty="0" err="1">
                <a:solidFill>
                  <a:srgbClr val="374151"/>
                </a:solidFill>
                <a:effectLst/>
                <a:latin typeface="Söhne"/>
              </a:rPr>
              <a:t>NodePort</a:t>
            </a:r>
            <a:r>
              <a:rPr lang="en-ZA" sz="2400" b="0" i="0" dirty="0">
                <a:solidFill>
                  <a:srgbClr val="374151"/>
                </a:solidFill>
                <a:effectLst/>
                <a:latin typeface="Söhne"/>
              </a:rPr>
              <a:t>, </a:t>
            </a:r>
            <a:r>
              <a:rPr lang="en-ZA" sz="2400" b="0" i="0" dirty="0" err="1">
                <a:solidFill>
                  <a:srgbClr val="374151"/>
                </a:solidFill>
                <a:effectLst/>
                <a:latin typeface="Söhne"/>
              </a:rPr>
              <a:t>LoadBalancer</a:t>
            </a:r>
            <a:r>
              <a:rPr lang="en-ZA" sz="2400" b="0" i="0" dirty="0">
                <a:solidFill>
                  <a:srgbClr val="374151"/>
                </a:solidFill>
                <a:effectLst/>
                <a:latin typeface="Söhne"/>
              </a:rPr>
              <a:t>, or </a:t>
            </a:r>
            <a:r>
              <a:rPr lang="en-ZA" sz="2400" b="0" i="0" dirty="0" err="1">
                <a:solidFill>
                  <a:srgbClr val="374151"/>
                </a:solidFill>
                <a:effectLst/>
                <a:latin typeface="Söhne"/>
              </a:rPr>
              <a:t>ClusterIP</a:t>
            </a:r>
            <a:r>
              <a:rPr lang="en-ZA" sz="2400" b="0" i="0" dirty="0">
                <a:solidFill>
                  <a:srgbClr val="374151"/>
                </a:solidFill>
                <a:effectLst/>
                <a:latin typeface="Söhne"/>
              </a:rPr>
              <a:t>), ports, and target port. Apply the Service YAML file using </a:t>
            </a:r>
            <a:r>
              <a:rPr lang="en-ZA" sz="2400" b="0" i="0" dirty="0" err="1">
                <a:solidFill>
                  <a:srgbClr val="374151"/>
                </a:solidFill>
                <a:effectLst/>
                <a:latin typeface="Söhne"/>
              </a:rPr>
              <a:t>kubectl</a:t>
            </a:r>
            <a:r>
              <a:rPr lang="en-ZA" sz="2400" b="0" i="0" dirty="0">
                <a:solidFill>
                  <a:srgbClr val="374151"/>
                </a:solidFill>
                <a:effectLst/>
                <a:latin typeface="Söhne"/>
              </a:rPr>
              <a:t> apply to create the service.</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6248400" y="1981200"/>
            <a:ext cx="5105400" cy="2677656"/>
          </a:xfrm>
          <a:prstGeom prst="rect">
            <a:avLst/>
          </a:prstGeom>
          <a:noFill/>
        </p:spPr>
        <p:txBody>
          <a:bodyPr wrap="square" rtlCol="0">
            <a:spAutoFit/>
          </a:bodyPr>
          <a:lstStyle/>
          <a:p>
            <a:r>
              <a:rPr lang="en-ZA" sz="1400" dirty="0" err="1"/>
              <a:t>apiVersion</a:t>
            </a:r>
            <a:r>
              <a:rPr lang="en-ZA" sz="1400" dirty="0"/>
              <a:t>: v1 </a:t>
            </a:r>
          </a:p>
          <a:p>
            <a:r>
              <a:rPr lang="en-ZA" sz="1400" dirty="0"/>
              <a:t>kind: Service </a:t>
            </a:r>
          </a:p>
          <a:p>
            <a:r>
              <a:rPr lang="en-ZA" sz="1400" dirty="0"/>
              <a:t>metadata:</a:t>
            </a:r>
          </a:p>
          <a:p>
            <a:r>
              <a:rPr lang="en-ZA" sz="1400" dirty="0"/>
              <a:t>       name: my-nginx-svc</a:t>
            </a:r>
          </a:p>
          <a:p>
            <a:r>
              <a:rPr lang="en-ZA" sz="1400" dirty="0"/>
              <a:t>       labels: </a:t>
            </a:r>
          </a:p>
          <a:p>
            <a:r>
              <a:rPr lang="en-ZA" sz="1400" dirty="0"/>
              <a:t>           app: nginx </a:t>
            </a:r>
          </a:p>
          <a:p>
            <a:r>
              <a:rPr lang="en-ZA" sz="1400" dirty="0"/>
              <a:t>spec:</a:t>
            </a:r>
          </a:p>
          <a:p>
            <a:r>
              <a:rPr lang="en-ZA" sz="1400" dirty="0"/>
              <a:t>    type: </a:t>
            </a:r>
            <a:r>
              <a:rPr lang="en-ZA" sz="1400" dirty="0" err="1"/>
              <a:t>LoadBalancer</a:t>
            </a:r>
            <a:r>
              <a:rPr lang="en-ZA" sz="1400" dirty="0"/>
              <a:t> </a:t>
            </a:r>
          </a:p>
          <a:p>
            <a:r>
              <a:rPr lang="en-ZA" sz="1400" dirty="0"/>
              <a:t>     ports: </a:t>
            </a:r>
          </a:p>
          <a:p>
            <a:r>
              <a:rPr lang="en-ZA" sz="1400" dirty="0"/>
              <a:t>     - port: 80 </a:t>
            </a:r>
          </a:p>
          <a:p>
            <a:r>
              <a:rPr lang="en-ZA" sz="1400" dirty="0"/>
              <a:t>     selector: </a:t>
            </a:r>
          </a:p>
          <a:p>
            <a:r>
              <a:rPr lang="en-ZA" sz="1400" dirty="0"/>
              <a:t>         app: nginx</a:t>
            </a:r>
            <a:endParaRPr lang="en-US" sz="1400" dirty="0"/>
          </a:p>
        </p:txBody>
      </p:sp>
    </p:spTree>
    <p:extLst>
      <p:ext uri="{BB962C8B-B14F-4D97-AF65-F5344CB8AC3E}">
        <p14:creationId xmlns:p14="http://schemas.microsoft.com/office/powerpoint/2010/main" val="29894933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5029200" cy="3736975"/>
          </a:xfrm>
        </p:spPr>
        <p:txBody>
          <a:bodyPr>
            <a:noAutofit/>
          </a:bodyPr>
          <a:lstStyle/>
          <a:p>
            <a:pPr algn="l">
              <a:buFont typeface="+mj-lt"/>
              <a:buAutoNum type="arabicPeriod"/>
            </a:pPr>
            <a:r>
              <a:rPr lang="en-ZA" b="1" i="0" dirty="0">
                <a:effectLst/>
                <a:latin typeface="Söhne"/>
              </a:rPr>
              <a:t>Scale and Manage the Deployment</a:t>
            </a:r>
            <a:r>
              <a:rPr lang="en-ZA" b="0" i="0" dirty="0">
                <a:solidFill>
                  <a:srgbClr val="374151"/>
                </a:solidFill>
                <a:effectLst/>
                <a:latin typeface="Söhne"/>
              </a:rPr>
              <a:t>: You can scale the number of replicas (pods) for your application using the </a:t>
            </a:r>
            <a:r>
              <a:rPr lang="en-ZA" dirty="0" err="1"/>
              <a:t>kubectl</a:t>
            </a:r>
            <a:r>
              <a:rPr lang="en-ZA" dirty="0"/>
              <a:t> scale</a:t>
            </a:r>
            <a:r>
              <a:rPr lang="en-ZA" b="0" i="0" dirty="0">
                <a:solidFill>
                  <a:srgbClr val="374151"/>
                </a:solidFill>
                <a:effectLst/>
                <a:latin typeface="Söhne"/>
              </a:rPr>
              <a:t> command. For example, to scale a Deployment to three replicas:</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5844989" y="2514600"/>
            <a:ext cx="6096000" cy="584775"/>
          </a:xfrm>
          <a:prstGeom prst="rect">
            <a:avLst/>
          </a:prstGeom>
          <a:noFill/>
        </p:spPr>
        <p:txBody>
          <a:bodyPr wrap="square" rtlCol="0">
            <a:spAutoFit/>
          </a:bodyPr>
          <a:lstStyle/>
          <a:p>
            <a:r>
              <a:rPr lang="en-US" dirty="0" err="1"/>
              <a:t>kubectl</a:t>
            </a:r>
            <a:r>
              <a:rPr lang="en-US" dirty="0"/>
              <a:t> scale deployment &lt;deployment-name&gt; --replicas=3</a:t>
            </a:r>
          </a:p>
          <a:p>
            <a:endParaRPr lang="en-US" sz="1400" dirty="0"/>
          </a:p>
        </p:txBody>
      </p:sp>
    </p:spTree>
    <p:extLst>
      <p:ext uri="{BB962C8B-B14F-4D97-AF65-F5344CB8AC3E}">
        <p14:creationId xmlns:p14="http://schemas.microsoft.com/office/powerpoint/2010/main" val="37307580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838200" y="1825625"/>
            <a:ext cx="5029200" cy="3736975"/>
          </a:xfrm>
        </p:spPr>
        <p:txBody>
          <a:bodyPr>
            <a:noAutofit/>
          </a:bodyPr>
          <a:lstStyle/>
          <a:p>
            <a:pPr algn="l">
              <a:buFont typeface="+mj-lt"/>
              <a:buAutoNum type="arabicPeriod"/>
            </a:pPr>
            <a:r>
              <a:rPr lang="en-ZA" sz="2400" b="1" i="0" dirty="0">
                <a:solidFill>
                  <a:srgbClr val="374151"/>
                </a:solidFill>
                <a:effectLst/>
                <a:latin typeface="Söhne"/>
              </a:rPr>
              <a:t>Monitor and Troubleshoot</a:t>
            </a:r>
            <a:r>
              <a:rPr lang="en-ZA" sz="2400" b="0" i="0" dirty="0">
                <a:solidFill>
                  <a:srgbClr val="374151"/>
                </a:solidFill>
                <a:effectLst/>
                <a:latin typeface="Söhne"/>
              </a:rPr>
              <a:t>: Monitor the health and performance of your application and the Kubernetes cluster using monitoring tools like Prometheus, Grafana, or the Kubernetes Dashboard. Use the </a:t>
            </a:r>
            <a:r>
              <a:rPr lang="en-ZA" sz="2400" b="0" i="0" dirty="0" err="1">
                <a:solidFill>
                  <a:srgbClr val="374151"/>
                </a:solidFill>
                <a:effectLst/>
                <a:latin typeface="Söhne"/>
              </a:rPr>
              <a:t>kubectl</a:t>
            </a:r>
            <a:r>
              <a:rPr lang="en-ZA" sz="2400" b="0" i="0" dirty="0">
                <a:solidFill>
                  <a:srgbClr val="374151"/>
                </a:solidFill>
                <a:effectLst/>
                <a:latin typeface="Söhne"/>
              </a:rPr>
              <a:t> commands to inspect and troubleshoot pods, services, and logs. Troubleshoot any issues that arise, such as failed pods or misconfigured services.</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5844989" y="2514600"/>
            <a:ext cx="6096000" cy="1138773"/>
          </a:xfrm>
          <a:prstGeom prst="rect">
            <a:avLst/>
          </a:prstGeom>
          <a:noFill/>
        </p:spPr>
        <p:txBody>
          <a:bodyPr wrap="square" rtlCol="0">
            <a:spAutoFit/>
          </a:bodyPr>
          <a:lstStyle/>
          <a:p>
            <a:r>
              <a:rPr lang="en-US" dirty="0" err="1"/>
              <a:t>kubectl</a:t>
            </a:r>
            <a:r>
              <a:rPr lang="en-US" dirty="0"/>
              <a:t> logs &lt;container-name&gt; </a:t>
            </a:r>
          </a:p>
          <a:p>
            <a:r>
              <a:rPr lang="en-US" dirty="0" err="1"/>
              <a:t>Kubectl</a:t>
            </a:r>
            <a:r>
              <a:rPr lang="en-US" dirty="0"/>
              <a:t> describe po &lt;container name&gt;</a:t>
            </a:r>
          </a:p>
          <a:p>
            <a:r>
              <a:rPr lang="en-US" dirty="0" err="1"/>
              <a:t>kubectl</a:t>
            </a:r>
            <a:r>
              <a:rPr lang="en-US" dirty="0"/>
              <a:t> exec -it &lt;container name/id&gt; /bin/bash </a:t>
            </a:r>
          </a:p>
          <a:p>
            <a:endParaRPr lang="en-US" sz="1400" dirty="0"/>
          </a:p>
        </p:txBody>
      </p:sp>
    </p:spTree>
    <p:extLst>
      <p:ext uri="{BB962C8B-B14F-4D97-AF65-F5344CB8AC3E}">
        <p14:creationId xmlns:p14="http://schemas.microsoft.com/office/powerpoint/2010/main" val="40178043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0AB0-2949-49F9-9EAC-C054F6C21B27}"/>
              </a:ext>
            </a:extLst>
          </p:cNvPr>
          <p:cNvSpPr>
            <a:spLocks noGrp="1"/>
          </p:cNvSpPr>
          <p:nvPr>
            <p:ph type="title"/>
          </p:nvPr>
        </p:nvSpPr>
        <p:spPr/>
        <p:txBody>
          <a:bodyPr>
            <a:normAutofit fontScale="90000"/>
          </a:bodyPr>
          <a:lstStyle/>
          <a:p>
            <a:r>
              <a:rPr lang="en-ZA" i="0" dirty="0">
                <a:solidFill>
                  <a:srgbClr val="0070C0"/>
                </a:solidFill>
                <a:effectLst/>
                <a:latin typeface="Poppins" pitchFamily="2" charset="77"/>
              </a:rPr>
              <a:t>Deployment of applications and services on a Kubernetes cluster</a:t>
            </a:r>
            <a:endParaRPr lang="en-US" dirty="0">
              <a:solidFill>
                <a:srgbClr val="0070C0"/>
              </a:solidFill>
            </a:endParaRPr>
          </a:p>
        </p:txBody>
      </p:sp>
      <p:sp>
        <p:nvSpPr>
          <p:cNvPr id="3" name="Content Placeholder 2">
            <a:extLst>
              <a:ext uri="{FF2B5EF4-FFF2-40B4-BE49-F238E27FC236}">
                <a16:creationId xmlns:a16="http://schemas.microsoft.com/office/drawing/2014/main" id="{D4CCFB6E-8E62-49DE-AD29-A4DE720C6FA8}"/>
              </a:ext>
            </a:extLst>
          </p:cNvPr>
          <p:cNvSpPr>
            <a:spLocks noGrp="1"/>
          </p:cNvSpPr>
          <p:nvPr>
            <p:ph idx="1"/>
          </p:nvPr>
        </p:nvSpPr>
        <p:spPr>
          <a:xfrm>
            <a:off x="383241" y="1830107"/>
            <a:ext cx="5029200" cy="3736975"/>
          </a:xfrm>
        </p:spPr>
        <p:txBody>
          <a:bodyPr>
            <a:noAutofit/>
          </a:bodyPr>
          <a:lstStyle/>
          <a:p>
            <a:pPr algn="l">
              <a:buFont typeface="+mj-lt"/>
              <a:buAutoNum type="arabicPeriod"/>
            </a:pPr>
            <a:r>
              <a:rPr lang="en-ZA" sz="2400" b="1" i="0" dirty="0">
                <a:solidFill>
                  <a:srgbClr val="374151"/>
                </a:solidFill>
                <a:effectLst/>
                <a:latin typeface="Söhne"/>
              </a:rPr>
              <a:t>Update and Rollback</a:t>
            </a:r>
            <a:r>
              <a:rPr lang="en-ZA" sz="2400" b="0" i="0" dirty="0">
                <a:solidFill>
                  <a:srgbClr val="374151"/>
                </a:solidFill>
                <a:effectLst/>
                <a:latin typeface="Söhne"/>
              </a:rPr>
              <a:t>: To update your application, make changes to the Deployment YAML file (e.g., update the container image version) and reapply it using </a:t>
            </a:r>
            <a:r>
              <a:rPr lang="en-ZA" sz="2400" b="0" i="0" dirty="0" err="1">
                <a:solidFill>
                  <a:srgbClr val="374151"/>
                </a:solidFill>
                <a:effectLst/>
                <a:latin typeface="Söhne"/>
              </a:rPr>
              <a:t>kubectl</a:t>
            </a:r>
            <a:r>
              <a:rPr lang="en-ZA" sz="2400" b="0" i="0" dirty="0">
                <a:solidFill>
                  <a:srgbClr val="374151"/>
                </a:solidFill>
                <a:effectLst/>
                <a:latin typeface="Söhne"/>
              </a:rPr>
              <a:t> apply. Kubernetes will perform a rolling update, gradually updating the pods without downtime. If any issues occur, you can rollback to a previous version using the </a:t>
            </a:r>
            <a:r>
              <a:rPr lang="en-ZA" sz="2400" b="0" i="0" dirty="0" err="1">
                <a:solidFill>
                  <a:srgbClr val="374151"/>
                </a:solidFill>
                <a:effectLst/>
                <a:latin typeface="Söhne"/>
              </a:rPr>
              <a:t>kubectl</a:t>
            </a:r>
            <a:r>
              <a:rPr lang="en-ZA" sz="2400" b="0" i="0" dirty="0">
                <a:solidFill>
                  <a:srgbClr val="374151"/>
                </a:solidFill>
                <a:effectLst/>
                <a:latin typeface="Söhne"/>
              </a:rPr>
              <a:t> rollout command.</a:t>
            </a:r>
          </a:p>
        </p:txBody>
      </p:sp>
      <p:sp>
        <p:nvSpPr>
          <p:cNvPr id="4" name="Content Placeholder 2">
            <a:extLst>
              <a:ext uri="{FF2B5EF4-FFF2-40B4-BE49-F238E27FC236}">
                <a16:creationId xmlns:a16="http://schemas.microsoft.com/office/drawing/2014/main" id="{3B7367A6-108F-27D5-EF94-5DEC1EE24060}"/>
              </a:ext>
            </a:extLst>
          </p:cNvPr>
          <p:cNvSpPr txBox="1">
            <a:spLocks/>
          </p:cNvSpPr>
          <p:nvPr/>
        </p:nvSpPr>
        <p:spPr>
          <a:xfrm>
            <a:off x="5862918" y="1830107"/>
            <a:ext cx="5029200" cy="37369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a:pPr>
            <a:endParaRPr lang="en-ZA" sz="2400" dirty="0">
              <a:solidFill>
                <a:srgbClr val="374151"/>
              </a:solidFill>
              <a:latin typeface="Söhne"/>
            </a:endParaRPr>
          </a:p>
        </p:txBody>
      </p:sp>
      <p:sp>
        <p:nvSpPr>
          <p:cNvPr id="7" name="TextBox 6">
            <a:extLst>
              <a:ext uri="{FF2B5EF4-FFF2-40B4-BE49-F238E27FC236}">
                <a16:creationId xmlns:a16="http://schemas.microsoft.com/office/drawing/2014/main" id="{A3CCF67C-B3E7-E55F-FE06-D3A7E657D003}"/>
              </a:ext>
            </a:extLst>
          </p:cNvPr>
          <p:cNvSpPr txBox="1"/>
          <p:nvPr/>
        </p:nvSpPr>
        <p:spPr>
          <a:xfrm>
            <a:off x="5562600" y="2514600"/>
            <a:ext cx="6629400" cy="2308324"/>
          </a:xfrm>
          <a:prstGeom prst="rect">
            <a:avLst/>
          </a:prstGeom>
          <a:noFill/>
        </p:spPr>
        <p:txBody>
          <a:bodyPr wrap="square" rtlCol="0">
            <a:spAutoFit/>
          </a:bodyPr>
          <a:lstStyle/>
          <a:p>
            <a:r>
              <a:rPr lang="en-ZA" b="0" i="0" dirty="0" err="1">
                <a:effectLst/>
                <a:latin typeface="Consolas" panose="020B0609020204030204" pitchFamily="49" charset="0"/>
              </a:rPr>
              <a:t>kubectl</a:t>
            </a:r>
            <a:r>
              <a:rPr lang="en-ZA" b="0" i="0" dirty="0">
                <a:effectLst/>
                <a:latin typeface="Consolas" panose="020B0609020204030204" pitchFamily="49" charset="0"/>
              </a:rPr>
              <a:t> rollout history deployment/app</a:t>
            </a:r>
          </a:p>
          <a:p>
            <a:r>
              <a:rPr lang="en-ZA" b="0" i="0" dirty="0" err="1">
                <a:effectLst/>
                <a:latin typeface="Consolas" panose="020B0609020204030204" pitchFamily="49" charset="0"/>
              </a:rPr>
              <a:t>kubectl</a:t>
            </a:r>
            <a:r>
              <a:rPr lang="en-ZA" b="0" i="0" dirty="0">
                <a:effectLst/>
                <a:latin typeface="Consolas" panose="020B0609020204030204" pitchFamily="49" charset="0"/>
              </a:rPr>
              <a:t> rollout undo deployment/app --to-revision=2</a:t>
            </a:r>
            <a:endParaRPr lang="en-ZA" dirty="0">
              <a:latin typeface="Consolas" panose="020B0609020204030204" pitchFamily="49" charset="0"/>
            </a:endParaRPr>
          </a:p>
          <a:p>
            <a:endParaRPr lang="en-ZA" dirty="0">
              <a:latin typeface="Consolas" panose="020B0609020204030204" pitchFamily="49" charset="0"/>
            </a:endParaRPr>
          </a:p>
          <a:p>
            <a:endParaRPr lang="en-ZA" dirty="0">
              <a:latin typeface="Consolas" panose="020B0609020204030204" pitchFamily="49" charset="0"/>
            </a:endParaRPr>
          </a:p>
          <a:p>
            <a:endParaRPr lang="en-ZA" dirty="0">
              <a:latin typeface="Consolas" panose="020B0609020204030204" pitchFamily="49" charset="0"/>
            </a:endParaRPr>
          </a:p>
          <a:p>
            <a:r>
              <a:rPr lang="en-ZA" i="1" dirty="0">
                <a:latin typeface="Consolas" panose="020B0609020204030204" pitchFamily="49" charset="0"/>
              </a:rPr>
              <a:t>Lets inspect the </a:t>
            </a:r>
            <a:r>
              <a:rPr lang="en-ZA" i="1" dirty="0" err="1">
                <a:latin typeface="Consolas" panose="020B0609020204030204" pitchFamily="49" charset="0"/>
              </a:rPr>
              <a:t>deployement</a:t>
            </a:r>
            <a:endParaRPr lang="en-ZA" i="1" dirty="0">
              <a:latin typeface="Consolas" panose="020B0609020204030204" pitchFamily="49" charset="0"/>
            </a:endParaRPr>
          </a:p>
          <a:p>
            <a:endParaRPr lang="en-ZA" dirty="0">
              <a:latin typeface="Consolas" panose="020B0609020204030204" pitchFamily="49" charset="0"/>
            </a:endParaRPr>
          </a:p>
          <a:p>
            <a:r>
              <a:rPr lang="en-ZA" b="0" i="0" dirty="0" err="1">
                <a:effectLst/>
                <a:latin typeface="Consolas" panose="020B0609020204030204" pitchFamily="49" charset="0"/>
              </a:rPr>
              <a:t>kubectl</a:t>
            </a:r>
            <a:r>
              <a:rPr lang="en-ZA" b="0" i="0" dirty="0">
                <a:effectLst/>
                <a:latin typeface="Consolas" panose="020B0609020204030204" pitchFamily="49" charset="0"/>
              </a:rPr>
              <a:t> get deployment app -o </a:t>
            </a:r>
            <a:r>
              <a:rPr lang="en-ZA" b="0" i="0" dirty="0" err="1">
                <a:effectLst/>
                <a:latin typeface="Consolas" panose="020B0609020204030204" pitchFamily="49" charset="0"/>
              </a:rPr>
              <a:t>yaml</a:t>
            </a:r>
            <a:endParaRPr lang="en-US" dirty="0"/>
          </a:p>
        </p:txBody>
      </p:sp>
    </p:spTree>
    <p:extLst>
      <p:ext uri="{BB962C8B-B14F-4D97-AF65-F5344CB8AC3E}">
        <p14:creationId xmlns:p14="http://schemas.microsoft.com/office/powerpoint/2010/main" val="10309846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A0E1-3541-4ADB-812F-E46CCA800CF8}"/>
              </a:ext>
            </a:extLst>
          </p:cNvPr>
          <p:cNvSpPr>
            <a:spLocks noGrp="1"/>
          </p:cNvSpPr>
          <p:nvPr>
            <p:ph type="title"/>
          </p:nvPr>
        </p:nvSpPr>
        <p:spPr>
          <a:xfrm>
            <a:off x="3657600" y="2590800"/>
            <a:ext cx="4267200" cy="1325563"/>
          </a:xfrm>
        </p:spPr>
        <p:txBody>
          <a:bodyPr>
            <a:normAutofit/>
          </a:bodyPr>
          <a:lstStyle/>
          <a:p>
            <a:r>
              <a:rPr lang="en-US" dirty="0"/>
              <a:t>Day 3</a:t>
            </a:r>
            <a:endParaRPr lang="en-IN" dirty="0"/>
          </a:p>
        </p:txBody>
      </p:sp>
    </p:spTree>
    <p:extLst>
      <p:ext uri="{BB962C8B-B14F-4D97-AF65-F5344CB8AC3E}">
        <p14:creationId xmlns:p14="http://schemas.microsoft.com/office/powerpoint/2010/main" val="15721998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err="1"/>
              <a:t>Deamon</a:t>
            </a:r>
            <a:r>
              <a:rPr lang="en-US" dirty="0"/>
              <a:t> sets</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825625"/>
            <a:ext cx="5257800" cy="4351338"/>
          </a:xfrm>
        </p:spPr>
        <p:txBody>
          <a:bodyPr>
            <a:normAutofit fontScale="62500" lnSpcReduction="20000"/>
          </a:bodyPr>
          <a:lstStyle/>
          <a:p>
            <a:pPr algn="l"/>
            <a:r>
              <a:rPr lang="en-ZA" sz="2600" i="0" dirty="0">
                <a:solidFill>
                  <a:schemeClr val="tx1"/>
                </a:solidFill>
                <a:effectLst/>
                <a:latin typeface="Söhne"/>
              </a:rPr>
              <a:t>Daemon Sets and Stateful Sets are advanced controllers used in container orchestration frameworks like Kubernetes. They provide specialized deployment and scaling mechanisms for specific use cases. Let's explore each of them in more detail:</a:t>
            </a:r>
          </a:p>
          <a:p>
            <a:pPr algn="l">
              <a:buFont typeface="+mj-lt"/>
              <a:buAutoNum type="arabicPeriod"/>
            </a:pPr>
            <a:r>
              <a:rPr lang="en-ZA" sz="2600" i="0" dirty="0">
                <a:solidFill>
                  <a:schemeClr val="tx1"/>
                </a:solidFill>
                <a:effectLst/>
                <a:latin typeface="Söhne"/>
              </a:rPr>
              <a:t>Daemon Sets: A Daemon Set ensures that a specific pod runs on every node within a cluster. It is primarily used for deploying system daemons or agents that need to run on every node, such as log collectors, monitoring agents, or networking services. Each node in the cluster will have an identical copy of the pod managed by the Daemon Set. If new nodes are added to the cluster, the Daemon Set automatically creates pods on those nodes as well. Likewise, if a node is removed from the cluster, the associated pod is also automatically terminated.</a:t>
            </a:r>
          </a:p>
          <a:p>
            <a:pPr algn="l"/>
            <a:r>
              <a:rPr lang="en-ZA" sz="2600" i="0" dirty="0">
                <a:solidFill>
                  <a:schemeClr val="tx1"/>
                </a:solidFill>
                <a:effectLst/>
                <a:latin typeface="Söhne"/>
              </a:rPr>
              <a:t>Key features and use cases of Daemon Sets:</a:t>
            </a:r>
          </a:p>
          <a:p>
            <a:pPr algn="l">
              <a:buFont typeface="Arial" panose="020B0604020202020204" pitchFamily="34" charset="0"/>
              <a:buChar char="•"/>
            </a:pPr>
            <a:r>
              <a:rPr lang="en-ZA" sz="2600" i="0" dirty="0">
                <a:solidFill>
                  <a:schemeClr val="tx1"/>
                </a:solidFill>
                <a:effectLst/>
                <a:latin typeface="Söhne"/>
              </a:rPr>
              <a:t>Running monitoring agents or log collectors on every node for cluster-wide observability.</a:t>
            </a:r>
          </a:p>
          <a:p>
            <a:pPr algn="l">
              <a:buFont typeface="Arial" panose="020B0604020202020204" pitchFamily="34" charset="0"/>
              <a:buChar char="•"/>
            </a:pPr>
            <a:r>
              <a:rPr lang="en-ZA" sz="2600" i="0" dirty="0">
                <a:solidFill>
                  <a:schemeClr val="tx1"/>
                </a:solidFill>
                <a:effectLst/>
                <a:latin typeface="Söhne"/>
              </a:rPr>
              <a:t>Deploying storage or network plugins that require per-node deployment and configuration.</a:t>
            </a:r>
          </a:p>
          <a:p>
            <a:pPr algn="l">
              <a:buFont typeface="Arial" panose="020B0604020202020204" pitchFamily="34" charset="0"/>
              <a:buChar char="•"/>
            </a:pPr>
            <a:r>
              <a:rPr lang="en-ZA" sz="2600" i="0" dirty="0">
                <a:solidFill>
                  <a:schemeClr val="tx1"/>
                </a:solidFill>
                <a:effectLst/>
                <a:latin typeface="Söhne"/>
              </a:rPr>
              <a:t>Running anti-affinity rules to ensure specific pods are not scheduled on the same node.</a:t>
            </a:r>
          </a:p>
          <a:p>
            <a:endParaRPr lang="en-IN" dirty="0"/>
          </a:p>
        </p:txBody>
      </p:sp>
      <p:sp>
        <p:nvSpPr>
          <p:cNvPr id="4" name="Content Placeholder 2">
            <a:extLst>
              <a:ext uri="{FF2B5EF4-FFF2-40B4-BE49-F238E27FC236}">
                <a16:creationId xmlns:a16="http://schemas.microsoft.com/office/drawing/2014/main" id="{CCD91E27-5B4B-DE26-2A1B-EFFE22E57D67}"/>
              </a:ext>
            </a:extLst>
          </p:cNvPr>
          <p:cNvSpPr txBox="1">
            <a:spLocks/>
          </p:cNvSpPr>
          <p:nvPr/>
        </p:nvSpPr>
        <p:spPr>
          <a:xfrm>
            <a:off x="6858000" y="1862361"/>
            <a:ext cx="4495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p:txBody>
      </p:sp>
      <p:sp>
        <p:nvSpPr>
          <p:cNvPr id="5" name="Content Placeholder 2">
            <a:extLst>
              <a:ext uri="{FF2B5EF4-FFF2-40B4-BE49-F238E27FC236}">
                <a16:creationId xmlns:a16="http://schemas.microsoft.com/office/drawing/2014/main" id="{7BFD949F-E83E-B58D-6DF2-DD33D4F88023}"/>
              </a:ext>
            </a:extLst>
          </p:cNvPr>
          <p:cNvSpPr txBox="1">
            <a:spLocks/>
          </p:cNvSpPr>
          <p:nvPr/>
        </p:nvSpPr>
        <p:spPr>
          <a:xfrm>
            <a:off x="6248400" y="1862361"/>
            <a:ext cx="6248400" cy="4351338"/>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err="1"/>
              <a:t>apiVersion</a:t>
            </a:r>
            <a:r>
              <a:rPr lang="en-IN" dirty="0"/>
              <a:t>: apps/v1</a:t>
            </a:r>
          </a:p>
          <a:p>
            <a:pPr marL="0" indent="0">
              <a:buNone/>
            </a:pPr>
            <a:r>
              <a:rPr lang="en-IN" dirty="0"/>
              <a:t>kind: </a:t>
            </a:r>
            <a:r>
              <a:rPr lang="en-IN" dirty="0" err="1"/>
              <a:t>DaemonSet</a:t>
            </a:r>
            <a:endParaRPr lang="en-IN" dirty="0"/>
          </a:p>
          <a:p>
            <a:pPr marL="0" indent="0">
              <a:buNone/>
            </a:pPr>
            <a:r>
              <a:rPr lang="en-IN" dirty="0"/>
              <a:t>metadata:</a:t>
            </a:r>
          </a:p>
          <a:p>
            <a:pPr marL="0" indent="0">
              <a:buNone/>
            </a:pPr>
            <a:r>
              <a:rPr lang="en-IN" dirty="0"/>
              <a:t>  name: example-</a:t>
            </a:r>
            <a:r>
              <a:rPr lang="en-IN" dirty="0" err="1"/>
              <a:t>daemonset</a:t>
            </a:r>
            <a:endParaRPr lang="en-IN" dirty="0"/>
          </a:p>
          <a:p>
            <a:pPr marL="0" indent="0">
              <a:buNone/>
            </a:pPr>
            <a:r>
              <a:rPr lang="en-IN" dirty="0"/>
              <a:t>spec:</a:t>
            </a:r>
          </a:p>
          <a:p>
            <a:pPr marL="0" indent="0">
              <a:buNone/>
            </a:pPr>
            <a:r>
              <a:rPr lang="en-IN" dirty="0"/>
              <a:t>  selector:</a:t>
            </a:r>
          </a:p>
          <a:p>
            <a:pPr marL="0" indent="0">
              <a:buNone/>
            </a:pPr>
            <a:r>
              <a:rPr lang="en-IN" dirty="0"/>
              <a:t>    </a:t>
            </a:r>
            <a:r>
              <a:rPr lang="en-IN" dirty="0" err="1"/>
              <a:t>matchLabels</a:t>
            </a:r>
            <a:r>
              <a:rPr lang="en-IN" dirty="0"/>
              <a:t>:</a:t>
            </a:r>
          </a:p>
          <a:p>
            <a:pPr marL="0" indent="0">
              <a:buNone/>
            </a:pPr>
            <a:r>
              <a:rPr lang="en-IN" dirty="0"/>
              <a:t>      app: example-app</a:t>
            </a:r>
          </a:p>
          <a:p>
            <a:pPr marL="0" indent="0">
              <a:buNone/>
            </a:pPr>
            <a:r>
              <a:rPr lang="en-IN" dirty="0"/>
              <a:t>  template:</a:t>
            </a:r>
          </a:p>
          <a:p>
            <a:pPr marL="0" indent="0">
              <a:buNone/>
            </a:pPr>
            <a:r>
              <a:rPr lang="en-IN" dirty="0"/>
              <a:t>    metadata:</a:t>
            </a:r>
          </a:p>
          <a:p>
            <a:pPr marL="0" indent="0">
              <a:buNone/>
            </a:pPr>
            <a:r>
              <a:rPr lang="en-IN" dirty="0"/>
              <a:t>      labels:</a:t>
            </a:r>
          </a:p>
          <a:p>
            <a:pPr marL="0" indent="0">
              <a:buNone/>
            </a:pPr>
            <a:r>
              <a:rPr lang="en-IN" dirty="0"/>
              <a:t>        app: example-app</a:t>
            </a:r>
          </a:p>
          <a:p>
            <a:pPr marL="0" indent="0">
              <a:buNone/>
            </a:pPr>
            <a:r>
              <a:rPr lang="en-IN" dirty="0"/>
              <a:t>    spec:</a:t>
            </a:r>
          </a:p>
          <a:p>
            <a:pPr marL="0" indent="0">
              <a:buNone/>
            </a:pPr>
            <a:r>
              <a:rPr lang="en-IN" dirty="0"/>
              <a:t>      containers:</a:t>
            </a:r>
          </a:p>
          <a:p>
            <a:pPr marL="0" indent="0">
              <a:buNone/>
            </a:pPr>
            <a:r>
              <a:rPr lang="en-IN" dirty="0"/>
              <a:t>      - name: example-container</a:t>
            </a:r>
          </a:p>
          <a:p>
            <a:pPr marL="0" indent="0">
              <a:buNone/>
            </a:pPr>
            <a:r>
              <a:rPr lang="en-IN" dirty="0"/>
              <a:t>        image: nginx:1.14.2</a:t>
            </a:r>
          </a:p>
          <a:p>
            <a:pPr marL="0" indent="0">
              <a:buNone/>
            </a:pPr>
            <a:r>
              <a:rPr lang="en-IN" dirty="0"/>
              <a:t>        ports:</a:t>
            </a:r>
          </a:p>
          <a:p>
            <a:pPr marL="0" indent="0">
              <a:buNone/>
            </a:pPr>
            <a:r>
              <a:rPr lang="en-IN" dirty="0"/>
              <a:t>        - </a:t>
            </a:r>
            <a:r>
              <a:rPr lang="en-IN" dirty="0" err="1"/>
              <a:t>containerPort</a:t>
            </a:r>
            <a:r>
              <a:rPr lang="en-IN" dirty="0"/>
              <a:t>: 80</a:t>
            </a:r>
          </a:p>
          <a:p>
            <a:pPr marL="0" indent="0">
              <a:buNone/>
            </a:pPr>
            <a:r>
              <a:rPr lang="en-IN" dirty="0"/>
              <a:t>      # Add other container specifications if needed</a:t>
            </a:r>
          </a:p>
          <a:p>
            <a:pPr marL="0" indent="0">
              <a:buNone/>
            </a:pPr>
            <a:endParaRPr lang="en-IN" dirty="0"/>
          </a:p>
        </p:txBody>
      </p:sp>
    </p:spTree>
    <p:extLst>
      <p:ext uri="{BB962C8B-B14F-4D97-AF65-F5344CB8AC3E}">
        <p14:creationId xmlns:p14="http://schemas.microsoft.com/office/powerpoint/2010/main" val="32539421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err="1"/>
              <a:t>Statefulsets</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825625"/>
            <a:ext cx="5638800" cy="4351338"/>
          </a:xfrm>
        </p:spPr>
        <p:txBody>
          <a:bodyPr>
            <a:normAutofit fontScale="92500" lnSpcReduction="20000"/>
          </a:bodyPr>
          <a:lstStyle/>
          <a:p>
            <a:pPr algn="l">
              <a:buFont typeface="+mj-lt"/>
              <a:buAutoNum type="arabicPeriod" startAt="2"/>
            </a:pPr>
            <a:r>
              <a:rPr lang="en-ZA" sz="2000" b="0" i="0" dirty="0">
                <a:solidFill>
                  <a:schemeClr val="tx1"/>
                </a:solidFill>
                <a:effectLst/>
                <a:latin typeface="Söhne"/>
              </a:rPr>
              <a:t>Stateful Sets: A Stateful Set is used to manage the deployment of stateful applications in a Kubernetes cluster. Stateful applications typically require stable network identities and persistent storage, and Stateful Sets provide mechanisms to handle these requirements. Each pod managed by a Stateful Set is assigned a unique, stable hostname and an ordered index. These hostnames and indices remain consistent even if the pods are rescheduled or the cluster undergoes changes.</a:t>
            </a:r>
          </a:p>
          <a:p>
            <a:pPr algn="l"/>
            <a:r>
              <a:rPr lang="en-ZA" sz="2000" b="0" i="0" dirty="0">
                <a:solidFill>
                  <a:schemeClr val="tx1"/>
                </a:solidFill>
                <a:effectLst/>
                <a:latin typeface="Söhne"/>
              </a:rPr>
              <a:t>Key features and use cases of Stateful Sets:</a:t>
            </a:r>
          </a:p>
          <a:p>
            <a:pPr algn="l">
              <a:buFont typeface="Arial" panose="020B0604020202020204" pitchFamily="34" charset="0"/>
              <a:buChar char="•"/>
            </a:pPr>
            <a:r>
              <a:rPr lang="en-ZA" sz="2000" b="0" i="0" dirty="0">
                <a:solidFill>
                  <a:schemeClr val="tx1"/>
                </a:solidFill>
                <a:effectLst/>
                <a:latin typeface="Söhne"/>
              </a:rPr>
              <a:t>Running databases like MySQL, PostgreSQL, or MongoDB that require persistent storage and stable network identities.</a:t>
            </a:r>
          </a:p>
          <a:p>
            <a:pPr algn="l">
              <a:buFont typeface="Arial" panose="020B0604020202020204" pitchFamily="34" charset="0"/>
              <a:buChar char="•"/>
            </a:pPr>
            <a:r>
              <a:rPr lang="en-ZA" sz="2000" b="0" i="0" dirty="0">
                <a:solidFill>
                  <a:schemeClr val="tx1"/>
                </a:solidFill>
                <a:effectLst/>
                <a:latin typeface="Söhne"/>
              </a:rPr>
              <a:t>Deploying clustered or replicated applications where each replica needs unique identity and state.</a:t>
            </a:r>
          </a:p>
          <a:p>
            <a:pPr algn="l">
              <a:buFont typeface="Arial" panose="020B0604020202020204" pitchFamily="34" charset="0"/>
              <a:buChar char="•"/>
            </a:pPr>
            <a:r>
              <a:rPr lang="en-ZA" sz="2000" b="0" i="0" dirty="0">
                <a:solidFill>
                  <a:schemeClr val="tx1"/>
                </a:solidFill>
                <a:effectLst/>
                <a:latin typeface="Söhne"/>
              </a:rPr>
              <a:t>Performing ordered rolling updates, scaling, or deletion of stateful applications while maintaining their stable identities.</a:t>
            </a:r>
          </a:p>
          <a:p>
            <a:endParaRPr lang="en-IN" dirty="0"/>
          </a:p>
        </p:txBody>
      </p:sp>
      <p:sp>
        <p:nvSpPr>
          <p:cNvPr id="4" name="Content Placeholder 2">
            <a:extLst>
              <a:ext uri="{FF2B5EF4-FFF2-40B4-BE49-F238E27FC236}">
                <a16:creationId xmlns:a16="http://schemas.microsoft.com/office/drawing/2014/main" id="{376FF1B7-93AB-E8EE-A909-F06D9B18EB91}"/>
              </a:ext>
            </a:extLst>
          </p:cNvPr>
          <p:cNvSpPr txBox="1">
            <a:spLocks/>
          </p:cNvSpPr>
          <p:nvPr/>
        </p:nvSpPr>
        <p:spPr>
          <a:xfrm>
            <a:off x="6452795" y="1825625"/>
            <a:ext cx="5638800"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err="1"/>
              <a:t>apiVersion</a:t>
            </a:r>
            <a:r>
              <a:rPr lang="en-IN" dirty="0"/>
              <a:t>: apps/v1</a:t>
            </a:r>
          </a:p>
          <a:p>
            <a:pPr marL="0" indent="0">
              <a:buNone/>
            </a:pPr>
            <a:r>
              <a:rPr lang="en-IN" dirty="0"/>
              <a:t>kind: </a:t>
            </a:r>
            <a:r>
              <a:rPr lang="en-IN" dirty="0" err="1"/>
              <a:t>StatefulSet</a:t>
            </a:r>
            <a:endParaRPr lang="en-IN" dirty="0"/>
          </a:p>
          <a:p>
            <a:pPr marL="0" indent="0">
              <a:buNone/>
            </a:pPr>
            <a:r>
              <a:rPr lang="en-IN" dirty="0"/>
              <a:t>metadata:</a:t>
            </a:r>
          </a:p>
          <a:p>
            <a:pPr marL="0" indent="0">
              <a:buNone/>
            </a:pPr>
            <a:r>
              <a:rPr lang="en-IN" dirty="0"/>
              <a:t>  name: example-</a:t>
            </a:r>
            <a:r>
              <a:rPr lang="en-IN" dirty="0" err="1"/>
              <a:t>statefulset</a:t>
            </a:r>
            <a:endParaRPr lang="en-IN" dirty="0"/>
          </a:p>
          <a:p>
            <a:pPr marL="0" indent="0">
              <a:buNone/>
            </a:pPr>
            <a:r>
              <a:rPr lang="en-IN" dirty="0"/>
              <a:t>spec:</a:t>
            </a:r>
          </a:p>
          <a:p>
            <a:pPr marL="0" indent="0">
              <a:buNone/>
            </a:pPr>
            <a:r>
              <a:rPr lang="en-IN" dirty="0"/>
              <a:t>  selector:</a:t>
            </a:r>
          </a:p>
          <a:p>
            <a:pPr marL="0" indent="0">
              <a:buNone/>
            </a:pPr>
            <a:r>
              <a:rPr lang="en-IN" dirty="0"/>
              <a:t>    </a:t>
            </a:r>
            <a:r>
              <a:rPr lang="en-IN" dirty="0" err="1"/>
              <a:t>matchLabels</a:t>
            </a:r>
            <a:r>
              <a:rPr lang="en-IN" dirty="0"/>
              <a:t>:</a:t>
            </a:r>
          </a:p>
          <a:p>
            <a:pPr marL="0" indent="0">
              <a:buNone/>
            </a:pPr>
            <a:r>
              <a:rPr lang="en-IN" dirty="0"/>
              <a:t>      app: example-app</a:t>
            </a:r>
          </a:p>
          <a:p>
            <a:pPr marL="0" indent="0">
              <a:buNone/>
            </a:pPr>
            <a:r>
              <a:rPr lang="en-IN" dirty="0"/>
              <a:t>  </a:t>
            </a:r>
            <a:r>
              <a:rPr lang="en-IN" dirty="0" err="1"/>
              <a:t>serviceName</a:t>
            </a:r>
            <a:r>
              <a:rPr lang="en-IN" dirty="0"/>
              <a:t>: example-service</a:t>
            </a:r>
          </a:p>
          <a:p>
            <a:pPr marL="0" indent="0">
              <a:buNone/>
            </a:pPr>
            <a:r>
              <a:rPr lang="en-IN" dirty="0"/>
              <a:t>  replicas: 3</a:t>
            </a:r>
          </a:p>
          <a:p>
            <a:pPr marL="0" indent="0">
              <a:buNone/>
            </a:pPr>
            <a:r>
              <a:rPr lang="en-IN" dirty="0"/>
              <a:t>  template:</a:t>
            </a:r>
          </a:p>
          <a:p>
            <a:pPr marL="0" indent="0">
              <a:buNone/>
            </a:pPr>
            <a:r>
              <a:rPr lang="en-IN" dirty="0"/>
              <a:t>    metadata:</a:t>
            </a:r>
          </a:p>
          <a:p>
            <a:pPr marL="0" indent="0">
              <a:buNone/>
            </a:pPr>
            <a:r>
              <a:rPr lang="en-IN" dirty="0"/>
              <a:t>      labels:</a:t>
            </a:r>
          </a:p>
          <a:p>
            <a:pPr marL="0" indent="0">
              <a:buNone/>
            </a:pPr>
            <a:r>
              <a:rPr lang="en-IN" dirty="0"/>
              <a:t>        app: example-app</a:t>
            </a:r>
          </a:p>
          <a:p>
            <a:pPr marL="0" indent="0">
              <a:buNone/>
            </a:pPr>
            <a:r>
              <a:rPr lang="en-IN" dirty="0"/>
              <a:t>    spec:</a:t>
            </a:r>
          </a:p>
          <a:p>
            <a:pPr marL="0" indent="0">
              <a:buNone/>
            </a:pPr>
            <a:r>
              <a:rPr lang="en-IN" dirty="0"/>
              <a:t>      containers:</a:t>
            </a:r>
          </a:p>
          <a:p>
            <a:pPr marL="0" indent="0">
              <a:buNone/>
            </a:pPr>
            <a:r>
              <a:rPr lang="en-IN" dirty="0"/>
              <a:t>      - name: example-container</a:t>
            </a:r>
          </a:p>
          <a:p>
            <a:pPr marL="0" indent="0">
              <a:buNone/>
            </a:pPr>
            <a:r>
              <a:rPr lang="en-IN" dirty="0"/>
              <a:t>        image: nginx:1.14.2</a:t>
            </a:r>
          </a:p>
          <a:p>
            <a:pPr marL="0" indent="0">
              <a:buNone/>
            </a:pPr>
            <a:r>
              <a:rPr lang="en-IN" dirty="0"/>
              <a:t>        ports:</a:t>
            </a:r>
          </a:p>
          <a:p>
            <a:pPr marL="0" indent="0">
              <a:buNone/>
            </a:pPr>
            <a:r>
              <a:rPr lang="en-IN" dirty="0"/>
              <a:t>        - </a:t>
            </a:r>
            <a:r>
              <a:rPr lang="en-IN" dirty="0" err="1"/>
              <a:t>containerPort</a:t>
            </a:r>
            <a:r>
              <a:rPr lang="en-IN" dirty="0"/>
              <a:t>: 80</a:t>
            </a:r>
          </a:p>
          <a:p>
            <a:pPr marL="0" indent="0">
              <a:buNone/>
            </a:pPr>
            <a:r>
              <a:rPr lang="en-IN" dirty="0"/>
              <a:t>      # Add other container specifications if needed</a:t>
            </a:r>
          </a:p>
          <a:p>
            <a:pPr marL="0" indent="0">
              <a:buNone/>
            </a:pPr>
            <a:r>
              <a:rPr lang="en-IN" dirty="0"/>
              <a:t>  </a:t>
            </a:r>
            <a:r>
              <a:rPr lang="en-IN" dirty="0" err="1"/>
              <a:t>volumeClaimTemplates</a:t>
            </a:r>
            <a:r>
              <a:rPr lang="en-IN" dirty="0"/>
              <a:t>:</a:t>
            </a:r>
          </a:p>
          <a:p>
            <a:pPr marL="0" indent="0">
              <a:buNone/>
            </a:pPr>
            <a:r>
              <a:rPr lang="en-IN" dirty="0"/>
              <a:t>  - metadata:</a:t>
            </a:r>
          </a:p>
          <a:p>
            <a:pPr marL="0" indent="0">
              <a:buNone/>
            </a:pPr>
            <a:r>
              <a:rPr lang="en-IN" dirty="0"/>
              <a:t>      name: data-volume</a:t>
            </a:r>
          </a:p>
          <a:p>
            <a:pPr marL="0" indent="0">
              <a:buNone/>
            </a:pPr>
            <a:r>
              <a:rPr lang="en-IN" dirty="0"/>
              <a:t>    spec:</a:t>
            </a:r>
          </a:p>
          <a:p>
            <a:pPr marL="0" indent="0">
              <a:buNone/>
            </a:pPr>
            <a:r>
              <a:rPr lang="en-IN" dirty="0"/>
              <a:t>      </a:t>
            </a:r>
            <a:r>
              <a:rPr lang="en-IN" dirty="0" err="1"/>
              <a:t>accessModes</a:t>
            </a:r>
            <a:r>
              <a:rPr lang="en-IN" dirty="0"/>
              <a:t>: [ "</a:t>
            </a:r>
            <a:r>
              <a:rPr lang="en-IN" dirty="0" err="1"/>
              <a:t>ReadWriteOnce</a:t>
            </a:r>
            <a:r>
              <a:rPr lang="en-IN" dirty="0"/>
              <a:t>" ]</a:t>
            </a:r>
          </a:p>
          <a:p>
            <a:pPr marL="0" indent="0">
              <a:buNone/>
            </a:pPr>
            <a:r>
              <a:rPr lang="en-IN" dirty="0"/>
              <a:t>      </a:t>
            </a:r>
            <a:r>
              <a:rPr lang="en-IN" dirty="0" err="1"/>
              <a:t>storageClassName</a:t>
            </a:r>
            <a:r>
              <a:rPr lang="en-IN" dirty="0"/>
              <a:t>: standard</a:t>
            </a:r>
          </a:p>
          <a:p>
            <a:pPr marL="0" indent="0">
              <a:buNone/>
            </a:pPr>
            <a:r>
              <a:rPr lang="en-IN" dirty="0"/>
              <a:t>      resources:</a:t>
            </a:r>
          </a:p>
          <a:p>
            <a:pPr marL="0" indent="0">
              <a:buNone/>
            </a:pPr>
            <a:r>
              <a:rPr lang="en-IN" dirty="0"/>
              <a:t>        requests:</a:t>
            </a:r>
          </a:p>
          <a:p>
            <a:pPr marL="0" indent="0">
              <a:buNone/>
            </a:pPr>
            <a:r>
              <a:rPr lang="en-IN" dirty="0"/>
              <a:t>          storage: 1Gi</a:t>
            </a:r>
          </a:p>
          <a:p>
            <a:pPr marL="0" indent="0">
              <a:buNone/>
            </a:pPr>
            <a:endParaRPr lang="en-IN" dirty="0"/>
          </a:p>
        </p:txBody>
      </p:sp>
    </p:spTree>
    <p:extLst>
      <p:ext uri="{BB962C8B-B14F-4D97-AF65-F5344CB8AC3E}">
        <p14:creationId xmlns:p14="http://schemas.microsoft.com/office/powerpoint/2010/main" val="30737841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Jobs and </a:t>
            </a:r>
            <a:r>
              <a:rPr lang="en-US" dirty="0" err="1"/>
              <a:t>crons</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825625"/>
            <a:ext cx="4876800" cy="4351338"/>
          </a:xfrm>
        </p:spPr>
        <p:txBody>
          <a:bodyPr>
            <a:normAutofit fontScale="85000" lnSpcReduction="20000"/>
          </a:bodyPr>
          <a:lstStyle/>
          <a:p>
            <a:pPr algn="l"/>
            <a:r>
              <a:rPr lang="en-ZA" sz="2000" b="0" i="0" dirty="0">
                <a:solidFill>
                  <a:schemeClr val="tx1"/>
                </a:solidFill>
                <a:effectLst/>
                <a:latin typeface="Söhne"/>
              </a:rPr>
              <a:t>Kubernetes Job and </a:t>
            </a:r>
            <a:r>
              <a:rPr lang="en-ZA" sz="2000" b="0" i="0" dirty="0" err="1">
                <a:solidFill>
                  <a:schemeClr val="tx1"/>
                </a:solidFill>
                <a:effectLst/>
                <a:latin typeface="Söhne"/>
              </a:rPr>
              <a:t>CronJob</a:t>
            </a:r>
            <a:r>
              <a:rPr lang="en-ZA" sz="2000" b="0" i="0" dirty="0">
                <a:solidFill>
                  <a:schemeClr val="tx1"/>
                </a:solidFill>
                <a:effectLst/>
                <a:latin typeface="Söhne"/>
              </a:rPr>
              <a:t> are controllers that provide mechanisms for running tasks or jobs within a Kubernetes cluster. Let's explore each of them in more detail:</a:t>
            </a:r>
          </a:p>
          <a:p>
            <a:pPr algn="l">
              <a:buFont typeface="+mj-lt"/>
              <a:buAutoNum type="arabicPeriod"/>
            </a:pPr>
            <a:r>
              <a:rPr lang="en-ZA" sz="2000" b="0" i="0" dirty="0">
                <a:solidFill>
                  <a:schemeClr val="tx1"/>
                </a:solidFill>
                <a:effectLst/>
                <a:latin typeface="Söhne"/>
              </a:rPr>
              <a:t>Job: A Job in Kubernetes is responsible for running a single task to completion. It creates one or more pods to execute the task and ensures that the task is successfully completed before considering it done. If a pod fails or terminates for any reason, the Job controller automatically creates a new pod to replace it. Jobs are commonly used for batch processing, running one-time tasks, or parallelizing workload execution.</a:t>
            </a:r>
          </a:p>
          <a:p>
            <a:pPr algn="l"/>
            <a:r>
              <a:rPr lang="en-ZA" sz="2000" b="0" i="0" dirty="0">
                <a:solidFill>
                  <a:schemeClr val="tx1"/>
                </a:solidFill>
                <a:effectLst/>
                <a:latin typeface="Söhne"/>
              </a:rPr>
              <a:t>Key features and use cases of Jobs:</a:t>
            </a:r>
          </a:p>
          <a:p>
            <a:pPr algn="l">
              <a:buFont typeface="Arial" panose="020B0604020202020204" pitchFamily="34" charset="0"/>
              <a:buChar char="•"/>
            </a:pPr>
            <a:r>
              <a:rPr lang="en-ZA" sz="2000" b="0" i="0" dirty="0">
                <a:solidFill>
                  <a:schemeClr val="tx1"/>
                </a:solidFill>
                <a:effectLst/>
                <a:latin typeface="Söhne"/>
              </a:rPr>
              <a:t>Running tasks that need to be executed only once and do not require periodic scheduling.</a:t>
            </a:r>
          </a:p>
          <a:p>
            <a:pPr algn="l">
              <a:buFont typeface="Arial" panose="020B0604020202020204" pitchFamily="34" charset="0"/>
              <a:buChar char="•"/>
            </a:pPr>
            <a:r>
              <a:rPr lang="en-ZA" sz="2000" b="0" i="0" dirty="0">
                <a:solidFill>
                  <a:schemeClr val="tx1"/>
                </a:solidFill>
                <a:effectLst/>
                <a:latin typeface="Söhne"/>
              </a:rPr>
              <a:t>Ensuring the successful completion of a task by creating and managing pods until the job is finished.</a:t>
            </a:r>
          </a:p>
          <a:p>
            <a:pPr algn="l">
              <a:buFont typeface="Arial" panose="020B0604020202020204" pitchFamily="34" charset="0"/>
              <a:buChar char="•"/>
            </a:pPr>
            <a:r>
              <a:rPr lang="en-ZA" sz="2000" b="0" i="0" dirty="0">
                <a:solidFill>
                  <a:schemeClr val="tx1"/>
                </a:solidFill>
                <a:effectLst/>
                <a:latin typeface="Söhne"/>
              </a:rPr>
              <a:t>Running parallelized workloads by creating multiple pods to process tasks concurrently.</a:t>
            </a:r>
          </a:p>
          <a:p>
            <a:endParaRPr lang="en-IN" dirty="0"/>
          </a:p>
        </p:txBody>
      </p:sp>
      <p:sp>
        <p:nvSpPr>
          <p:cNvPr id="4" name="Content Placeholder 2">
            <a:extLst>
              <a:ext uri="{FF2B5EF4-FFF2-40B4-BE49-F238E27FC236}">
                <a16:creationId xmlns:a16="http://schemas.microsoft.com/office/drawing/2014/main" id="{B728A13D-986E-934E-FAE0-181B268C921E}"/>
              </a:ext>
            </a:extLst>
          </p:cNvPr>
          <p:cNvSpPr txBox="1">
            <a:spLocks/>
          </p:cNvSpPr>
          <p:nvPr/>
        </p:nvSpPr>
        <p:spPr>
          <a:xfrm>
            <a:off x="5715000" y="1835001"/>
            <a:ext cx="48768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err="1"/>
              <a:t>apiVersion</a:t>
            </a:r>
            <a:r>
              <a:rPr lang="en-IN" dirty="0"/>
              <a:t>: batch/v1</a:t>
            </a:r>
          </a:p>
          <a:p>
            <a:pPr marL="0" indent="0">
              <a:buNone/>
            </a:pPr>
            <a:r>
              <a:rPr lang="en-IN" dirty="0"/>
              <a:t>kind: Job</a:t>
            </a:r>
          </a:p>
          <a:p>
            <a:pPr marL="0" indent="0">
              <a:buNone/>
            </a:pPr>
            <a:r>
              <a:rPr lang="en-IN" dirty="0"/>
              <a:t>metadata:</a:t>
            </a:r>
          </a:p>
          <a:p>
            <a:pPr marL="0" indent="0">
              <a:buNone/>
            </a:pPr>
            <a:r>
              <a:rPr lang="en-IN" dirty="0"/>
              <a:t>  name: example-job</a:t>
            </a:r>
          </a:p>
          <a:p>
            <a:pPr marL="0" indent="0">
              <a:buNone/>
            </a:pPr>
            <a:r>
              <a:rPr lang="en-IN" dirty="0"/>
              <a:t>spec:</a:t>
            </a:r>
          </a:p>
          <a:p>
            <a:pPr marL="0" indent="0">
              <a:buNone/>
            </a:pPr>
            <a:r>
              <a:rPr lang="en-IN" dirty="0"/>
              <a:t>  template:</a:t>
            </a:r>
          </a:p>
          <a:p>
            <a:pPr marL="0" indent="0">
              <a:buNone/>
            </a:pPr>
            <a:r>
              <a:rPr lang="en-IN" dirty="0"/>
              <a:t>    metadata:</a:t>
            </a:r>
          </a:p>
          <a:p>
            <a:pPr marL="0" indent="0">
              <a:buNone/>
            </a:pPr>
            <a:r>
              <a:rPr lang="en-IN" dirty="0"/>
              <a:t>      name: example-job-pod</a:t>
            </a:r>
          </a:p>
          <a:p>
            <a:pPr marL="0" indent="0">
              <a:buNone/>
            </a:pPr>
            <a:r>
              <a:rPr lang="en-IN" dirty="0"/>
              <a:t>    spec:</a:t>
            </a:r>
          </a:p>
          <a:p>
            <a:pPr marL="0" indent="0">
              <a:buNone/>
            </a:pPr>
            <a:r>
              <a:rPr lang="en-IN" dirty="0"/>
              <a:t>      containers:</a:t>
            </a:r>
          </a:p>
          <a:p>
            <a:pPr marL="0" indent="0">
              <a:buNone/>
            </a:pPr>
            <a:r>
              <a:rPr lang="en-IN" dirty="0"/>
              <a:t>      - name: example-container</a:t>
            </a:r>
          </a:p>
          <a:p>
            <a:pPr marL="0" indent="0">
              <a:buNone/>
            </a:pPr>
            <a:r>
              <a:rPr lang="en-IN" dirty="0"/>
              <a:t>        image: busybox:1.33.0</a:t>
            </a:r>
          </a:p>
          <a:p>
            <a:pPr marL="0" indent="0">
              <a:buNone/>
            </a:pPr>
            <a:r>
              <a:rPr lang="en-IN" dirty="0"/>
              <a:t>        command: ["echo", "Hello, Kubernetes Job!"]</a:t>
            </a:r>
          </a:p>
          <a:p>
            <a:pPr marL="0" indent="0">
              <a:buNone/>
            </a:pPr>
            <a:r>
              <a:rPr lang="en-IN" dirty="0"/>
              <a:t>      </a:t>
            </a:r>
            <a:r>
              <a:rPr lang="en-IN" dirty="0" err="1"/>
              <a:t>restartPolicy</a:t>
            </a:r>
            <a:r>
              <a:rPr lang="en-IN" dirty="0"/>
              <a:t>: Never</a:t>
            </a:r>
          </a:p>
          <a:p>
            <a:pPr marL="0" indent="0">
              <a:buNone/>
            </a:pPr>
            <a:r>
              <a:rPr lang="en-IN" dirty="0"/>
              <a:t>  </a:t>
            </a:r>
            <a:r>
              <a:rPr lang="en-IN" dirty="0" err="1"/>
              <a:t>backoffLimit</a:t>
            </a:r>
            <a:r>
              <a:rPr lang="en-IN" dirty="0"/>
              <a:t>: 4</a:t>
            </a:r>
          </a:p>
          <a:p>
            <a:pPr marL="0" indent="0">
              <a:buNone/>
            </a:pPr>
            <a:endParaRPr lang="en-IN" dirty="0"/>
          </a:p>
        </p:txBody>
      </p:sp>
    </p:spTree>
    <p:extLst>
      <p:ext uri="{BB962C8B-B14F-4D97-AF65-F5344CB8AC3E}">
        <p14:creationId xmlns:p14="http://schemas.microsoft.com/office/powerpoint/2010/main" val="15007906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Jobs and </a:t>
            </a:r>
            <a:r>
              <a:rPr lang="en-US" dirty="0" err="1"/>
              <a:t>crons</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825625"/>
            <a:ext cx="4343400" cy="4351338"/>
          </a:xfrm>
        </p:spPr>
        <p:txBody>
          <a:bodyPr>
            <a:normAutofit fontScale="77500" lnSpcReduction="20000"/>
          </a:bodyPr>
          <a:lstStyle/>
          <a:p>
            <a:pPr algn="l">
              <a:buFont typeface="+mj-lt"/>
              <a:buAutoNum type="arabicPeriod" startAt="2"/>
            </a:pPr>
            <a:r>
              <a:rPr lang="en-ZA" sz="1800" b="0" i="0" dirty="0" err="1">
                <a:effectLst/>
                <a:latin typeface="Söhne"/>
              </a:rPr>
              <a:t>CronJob</a:t>
            </a:r>
            <a:r>
              <a:rPr lang="en-ZA" sz="1800" b="0" i="0" dirty="0">
                <a:effectLst/>
                <a:latin typeface="Söhne"/>
              </a:rPr>
              <a:t>: A </a:t>
            </a:r>
            <a:r>
              <a:rPr lang="en-ZA" sz="1800" b="0" i="0" dirty="0" err="1">
                <a:effectLst/>
                <a:latin typeface="Söhne"/>
              </a:rPr>
              <a:t>CronJob</a:t>
            </a:r>
            <a:r>
              <a:rPr lang="en-ZA" sz="1800" b="0" i="0" dirty="0">
                <a:effectLst/>
                <a:latin typeface="Söhne"/>
              </a:rPr>
              <a:t> is a Kubernetes controller that creates Jobs on a predefined schedule, similar to a </a:t>
            </a:r>
            <a:r>
              <a:rPr lang="en-ZA" sz="1800" b="0" i="0" dirty="0" err="1">
                <a:effectLst/>
                <a:latin typeface="Söhne"/>
              </a:rPr>
              <a:t>cron</a:t>
            </a:r>
            <a:r>
              <a:rPr lang="en-ZA" sz="1800" b="0" i="0" dirty="0">
                <a:effectLst/>
                <a:latin typeface="Söhne"/>
              </a:rPr>
              <a:t> job in Unix-like systems. It allows you to schedule and automate recurring tasks or jobs within the Kubernetes cluster. The </a:t>
            </a:r>
            <a:r>
              <a:rPr lang="en-ZA" sz="1800" b="0" i="0" dirty="0" err="1">
                <a:effectLst/>
                <a:latin typeface="Söhne"/>
              </a:rPr>
              <a:t>CronJob</a:t>
            </a:r>
            <a:r>
              <a:rPr lang="en-ZA" sz="1800" b="0" i="0" dirty="0">
                <a:effectLst/>
                <a:latin typeface="Söhne"/>
              </a:rPr>
              <a:t> controller creates a Job based on a </a:t>
            </a:r>
            <a:r>
              <a:rPr lang="en-ZA" sz="1800" b="0" i="0" dirty="0" err="1">
                <a:effectLst/>
                <a:latin typeface="Söhne"/>
              </a:rPr>
              <a:t>cron</a:t>
            </a:r>
            <a:r>
              <a:rPr lang="en-ZA" sz="1800" b="0" i="0" dirty="0">
                <a:effectLst/>
                <a:latin typeface="Söhne"/>
              </a:rPr>
              <a:t>-like schedule expression, which specifies the intervals at which the Job should be executed. Each scheduled execution of the Job creates a new pod or pods to run the task.</a:t>
            </a:r>
          </a:p>
          <a:p>
            <a:pPr algn="l"/>
            <a:r>
              <a:rPr lang="en-ZA" sz="1800" b="0" i="0" dirty="0">
                <a:effectLst/>
                <a:latin typeface="Söhne"/>
              </a:rPr>
              <a:t>Key features and use cases of </a:t>
            </a:r>
            <a:r>
              <a:rPr lang="en-ZA" sz="1800" b="0" i="0" dirty="0" err="1">
                <a:effectLst/>
                <a:latin typeface="Söhne"/>
              </a:rPr>
              <a:t>CronJobs</a:t>
            </a:r>
            <a:r>
              <a:rPr lang="en-ZA" sz="1800" b="0" i="0" dirty="0">
                <a:effectLst/>
                <a:latin typeface="Söhne"/>
              </a:rPr>
              <a:t>:</a:t>
            </a:r>
          </a:p>
          <a:p>
            <a:pPr algn="l">
              <a:buFont typeface="Arial" panose="020B0604020202020204" pitchFamily="34" charset="0"/>
              <a:buChar char="•"/>
            </a:pPr>
            <a:r>
              <a:rPr lang="en-ZA" sz="1800" b="0" i="0" dirty="0">
                <a:effectLst/>
                <a:latin typeface="Söhne"/>
              </a:rPr>
              <a:t>Automating periodic tasks within a Kubernetes environment.</a:t>
            </a:r>
          </a:p>
          <a:p>
            <a:pPr algn="l">
              <a:buFont typeface="Arial" panose="020B0604020202020204" pitchFamily="34" charset="0"/>
              <a:buChar char="•"/>
            </a:pPr>
            <a:r>
              <a:rPr lang="en-ZA" sz="1800" b="0" i="0" dirty="0">
                <a:effectLst/>
                <a:latin typeface="Söhne"/>
              </a:rPr>
              <a:t>Running scheduled jobs, such as backups, data synchronization, or data ingestion tasks.</a:t>
            </a:r>
          </a:p>
          <a:p>
            <a:pPr algn="l">
              <a:buFont typeface="Arial" panose="020B0604020202020204" pitchFamily="34" charset="0"/>
              <a:buChar char="•"/>
            </a:pPr>
            <a:r>
              <a:rPr lang="en-ZA" sz="1800" b="0" i="0" dirty="0">
                <a:effectLst/>
                <a:latin typeface="Söhne"/>
              </a:rPr>
              <a:t>Executing batch jobs that need to be performed at specific intervals.</a:t>
            </a:r>
          </a:p>
          <a:p>
            <a:pPr algn="l"/>
            <a:r>
              <a:rPr lang="en-ZA" sz="1800" b="0" i="0" dirty="0" err="1">
                <a:effectLst/>
                <a:latin typeface="Söhne"/>
              </a:rPr>
              <a:t>CronJobs</a:t>
            </a:r>
            <a:r>
              <a:rPr lang="en-ZA" sz="1800" b="0" i="0" dirty="0">
                <a:effectLst/>
                <a:latin typeface="Söhne"/>
              </a:rPr>
              <a:t> provide a convenient way to schedule and manage recurring tasks, while Jobs are suitable for one-time or batch processing tasks. Both controllers offer reliable execution and fault tolerance by creating and managing pods to ensure the successful completion of tasks or jobs in a Kubernetes cluster.</a:t>
            </a:r>
          </a:p>
          <a:p>
            <a:pPr algn="l"/>
            <a:br>
              <a:rPr lang="en-ZA" sz="1400" b="0" i="0" dirty="0">
                <a:effectLst/>
                <a:latin typeface="Söhne"/>
              </a:rPr>
            </a:br>
            <a:endParaRPr lang="en-ZA" sz="1400" b="0" i="0" dirty="0">
              <a:effectLst/>
              <a:latin typeface="Söhne"/>
            </a:endParaRPr>
          </a:p>
          <a:p>
            <a:endParaRPr lang="en-IN" dirty="0"/>
          </a:p>
        </p:txBody>
      </p:sp>
      <p:sp>
        <p:nvSpPr>
          <p:cNvPr id="4" name="Content Placeholder 2">
            <a:extLst>
              <a:ext uri="{FF2B5EF4-FFF2-40B4-BE49-F238E27FC236}">
                <a16:creationId xmlns:a16="http://schemas.microsoft.com/office/drawing/2014/main" id="{E0756199-9DAE-8D68-F0A9-654A9075C272}"/>
              </a:ext>
            </a:extLst>
          </p:cNvPr>
          <p:cNvSpPr txBox="1">
            <a:spLocks/>
          </p:cNvSpPr>
          <p:nvPr/>
        </p:nvSpPr>
        <p:spPr>
          <a:xfrm>
            <a:off x="5562600" y="1867274"/>
            <a:ext cx="4343400" cy="377152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sz="1400" dirty="0" err="1">
                <a:latin typeface="Söhne"/>
              </a:rPr>
              <a:t>apiVersion</a:t>
            </a:r>
            <a:r>
              <a:rPr lang="en-ZA" sz="1400" dirty="0">
                <a:latin typeface="Söhne"/>
              </a:rPr>
              <a:t>: batch/v1beta1</a:t>
            </a:r>
          </a:p>
          <a:p>
            <a:pPr marL="0" indent="0">
              <a:buNone/>
            </a:pPr>
            <a:r>
              <a:rPr lang="en-ZA" sz="1400" dirty="0">
                <a:latin typeface="Söhne"/>
              </a:rPr>
              <a:t>kind: </a:t>
            </a:r>
            <a:r>
              <a:rPr lang="en-ZA" sz="1400" dirty="0" err="1">
                <a:latin typeface="Söhne"/>
              </a:rPr>
              <a:t>CronJob</a:t>
            </a:r>
            <a:endParaRPr lang="en-ZA" sz="1400" dirty="0">
              <a:latin typeface="Söhne"/>
            </a:endParaRPr>
          </a:p>
          <a:p>
            <a:pPr marL="0" indent="0">
              <a:buNone/>
            </a:pPr>
            <a:r>
              <a:rPr lang="en-ZA" sz="1400" dirty="0">
                <a:latin typeface="Söhne"/>
              </a:rPr>
              <a:t>metadata:</a:t>
            </a:r>
          </a:p>
          <a:p>
            <a:pPr marL="0" indent="0">
              <a:buNone/>
            </a:pPr>
            <a:r>
              <a:rPr lang="en-ZA" sz="1400" dirty="0">
                <a:latin typeface="Söhne"/>
              </a:rPr>
              <a:t>  name: example-cronjob</a:t>
            </a:r>
          </a:p>
          <a:p>
            <a:pPr marL="0" indent="0">
              <a:buNone/>
            </a:pPr>
            <a:r>
              <a:rPr lang="en-ZA" sz="1400" dirty="0">
                <a:latin typeface="Söhne"/>
              </a:rPr>
              <a:t>spec:</a:t>
            </a:r>
          </a:p>
          <a:p>
            <a:pPr marL="0" indent="0">
              <a:buNone/>
            </a:pPr>
            <a:r>
              <a:rPr lang="en-ZA" sz="1400" dirty="0">
                <a:latin typeface="Söhne"/>
              </a:rPr>
              <a:t>  schedule: "*/5 * * * *"</a:t>
            </a:r>
          </a:p>
          <a:p>
            <a:pPr marL="0" indent="0">
              <a:buNone/>
            </a:pPr>
            <a:r>
              <a:rPr lang="en-ZA" sz="1400" dirty="0">
                <a:latin typeface="Söhne"/>
              </a:rPr>
              <a:t>  </a:t>
            </a:r>
            <a:r>
              <a:rPr lang="en-ZA" sz="1400" dirty="0" err="1">
                <a:latin typeface="Söhne"/>
              </a:rPr>
              <a:t>jobTemplate</a:t>
            </a:r>
            <a:r>
              <a:rPr lang="en-ZA" sz="1400" dirty="0">
                <a:latin typeface="Söhne"/>
              </a:rPr>
              <a:t>:</a:t>
            </a:r>
          </a:p>
          <a:p>
            <a:pPr marL="0" indent="0">
              <a:buNone/>
            </a:pPr>
            <a:r>
              <a:rPr lang="en-ZA" sz="1400" dirty="0">
                <a:latin typeface="Söhne"/>
              </a:rPr>
              <a:t>    spec:</a:t>
            </a:r>
          </a:p>
          <a:p>
            <a:pPr marL="0" indent="0">
              <a:buNone/>
            </a:pPr>
            <a:r>
              <a:rPr lang="en-ZA" sz="1400" dirty="0">
                <a:latin typeface="Söhne"/>
              </a:rPr>
              <a:t>      template:</a:t>
            </a:r>
          </a:p>
          <a:p>
            <a:pPr marL="0" indent="0">
              <a:buNone/>
            </a:pPr>
            <a:r>
              <a:rPr lang="en-ZA" sz="1400" dirty="0">
                <a:latin typeface="Söhne"/>
              </a:rPr>
              <a:t>        spec:</a:t>
            </a:r>
          </a:p>
          <a:p>
            <a:pPr marL="0" indent="0">
              <a:buNone/>
            </a:pPr>
            <a:r>
              <a:rPr lang="en-ZA" sz="1400" dirty="0">
                <a:latin typeface="Söhne"/>
              </a:rPr>
              <a:t>          containers:</a:t>
            </a:r>
          </a:p>
          <a:p>
            <a:pPr marL="0" indent="0">
              <a:buNone/>
            </a:pPr>
            <a:r>
              <a:rPr lang="en-ZA" sz="1400" dirty="0">
                <a:latin typeface="Söhne"/>
              </a:rPr>
              <a:t>          - name: example-container</a:t>
            </a:r>
          </a:p>
          <a:p>
            <a:pPr marL="0" indent="0">
              <a:buNone/>
            </a:pPr>
            <a:r>
              <a:rPr lang="en-ZA" sz="1400" dirty="0">
                <a:latin typeface="Söhne"/>
              </a:rPr>
              <a:t>            image: busybox:1.33.0</a:t>
            </a:r>
          </a:p>
          <a:p>
            <a:pPr marL="0" indent="0">
              <a:buNone/>
            </a:pPr>
            <a:r>
              <a:rPr lang="en-ZA" sz="1400" dirty="0">
                <a:latin typeface="Söhne"/>
              </a:rPr>
              <a:t>            command: ["echo", "Hello, Kubernetes </a:t>
            </a:r>
            <a:r>
              <a:rPr lang="en-ZA" sz="1400" dirty="0" err="1">
                <a:latin typeface="Söhne"/>
              </a:rPr>
              <a:t>CronJob</a:t>
            </a:r>
            <a:r>
              <a:rPr lang="en-ZA" sz="1400" dirty="0">
                <a:latin typeface="Söhne"/>
              </a:rPr>
              <a:t>!"]</a:t>
            </a:r>
          </a:p>
          <a:p>
            <a:pPr marL="0" indent="0">
              <a:buNone/>
            </a:pPr>
            <a:r>
              <a:rPr lang="en-ZA" sz="1400" dirty="0">
                <a:latin typeface="Söhne"/>
              </a:rPr>
              <a:t>          </a:t>
            </a:r>
            <a:r>
              <a:rPr lang="en-ZA" sz="1400" dirty="0" err="1">
                <a:latin typeface="Söhne"/>
              </a:rPr>
              <a:t>restartPolicy</a:t>
            </a:r>
            <a:r>
              <a:rPr lang="en-ZA" sz="1400" dirty="0">
                <a:latin typeface="Söhne"/>
              </a:rPr>
              <a:t>: </a:t>
            </a:r>
            <a:r>
              <a:rPr lang="en-ZA" sz="1400" dirty="0" err="1">
                <a:latin typeface="Söhne"/>
              </a:rPr>
              <a:t>OnFailure</a:t>
            </a:r>
            <a:endParaRPr lang="en-ZA" sz="1400" dirty="0">
              <a:latin typeface="Söhne"/>
            </a:endParaRPr>
          </a:p>
          <a:p>
            <a:pPr marL="0" indent="0">
              <a:buNone/>
            </a:pPr>
            <a:r>
              <a:rPr lang="en-ZA" sz="1400" dirty="0">
                <a:latin typeface="Söhne"/>
              </a:rPr>
              <a:t>  </a:t>
            </a:r>
            <a:r>
              <a:rPr lang="en-ZA" sz="1400" dirty="0" err="1">
                <a:latin typeface="Söhne"/>
              </a:rPr>
              <a:t>successfulJobsHistoryLimit</a:t>
            </a:r>
            <a:r>
              <a:rPr lang="en-ZA" sz="1400" dirty="0">
                <a:latin typeface="Söhne"/>
              </a:rPr>
              <a:t>: 3</a:t>
            </a:r>
          </a:p>
          <a:p>
            <a:pPr marL="0" indent="0">
              <a:buNone/>
            </a:pPr>
            <a:r>
              <a:rPr lang="en-ZA" sz="1400" dirty="0">
                <a:latin typeface="Söhne"/>
              </a:rPr>
              <a:t>  </a:t>
            </a:r>
            <a:r>
              <a:rPr lang="en-ZA" sz="1400" dirty="0" err="1">
                <a:latin typeface="Söhne"/>
              </a:rPr>
              <a:t>failedJobsHistoryLimit</a:t>
            </a:r>
            <a:r>
              <a:rPr lang="en-ZA" sz="1400" dirty="0">
                <a:latin typeface="Söhne"/>
              </a:rPr>
              <a:t>: 1</a:t>
            </a:r>
          </a:p>
          <a:p>
            <a:pPr marL="0" indent="0">
              <a:buNone/>
            </a:pPr>
            <a:br>
              <a:rPr lang="en-ZA" sz="1400" dirty="0">
                <a:latin typeface="Söhne"/>
              </a:rPr>
            </a:br>
            <a:endParaRPr lang="en-ZA" sz="1400" dirty="0">
              <a:latin typeface="Söhne"/>
            </a:endParaRPr>
          </a:p>
          <a:p>
            <a:endParaRPr lang="en-IN" dirty="0"/>
          </a:p>
        </p:txBody>
      </p:sp>
    </p:spTree>
    <p:extLst>
      <p:ext uri="{BB962C8B-B14F-4D97-AF65-F5344CB8AC3E}">
        <p14:creationId xmlns:p14="http://schemas.microsoft.com/office/powerpoint/2010/main" val="2464252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Standalone pod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p:txBody>
          <a:bodyPr>
            <a:normAutofit lnSpcReduction="10000"/>
          </a:bodyPr>
          <a:lstStyle/>
          <a:p>
            <a:pPr marL="0" indent="0" algn="l">
              <a:buNone/>
            </a:pPr>
            <a:r>
              <a:rPr lang="en-ZA" sz="1600" b="0" i="0" dirty="0">
                <a:solidFill>
                  <a:schemeClr val="tx1"/>
                </a:solidFill>
                <a:effectLst/>
                <a:latin typeface="Söhne"/>
              </a:rPr>
              <a:t>Standalone pods in Kubernetes are individual units of execution that can be created and managed independently. Unlike controllers like </a:t>
            </a:r>
            <a:r>
              <a:rPr lang="en-ZA" sz="1600" b="0" i="0" dirty="0" err="1">
                <a:solidFill>
                  <a:schemeClr val="tx1"/>
                </a:solidFill>
                <a:effectLst/>
                <a:latin typeface="Söhne"/>
              </a:rPr>
              <a:t>DaemonSet</a:t>
            </a:r>
            <a:r>
              <a:rPr lang="en-ZA" sz="1600" b="0" i="0" dirty="0">
                <a:solidFill>
                  <a:schemeClr val="tx1"/>
                </a:solidFill>
                <a:effectLst/>
                <a:latin typeface="Söhne"/>
              </a:rPr>
              <a:t> or </a:t>
            </a:r>
            <a:r>
              <a:rPr lang="en-ZA" sz="1600" b="0" i="0" dirty="0" err="1">
                <a:solidFill>
                  <a:schemeClr val="tx1"/>
                </a:solidFill>
                <a:effectLst/>
                <a:latin typeface="Söhne"/>
              </a:rPr>
              <a:t>StatefulSet</a:t>
            </a:r>
            <a:r>
              <a:rPr lang="en-ZA" sz="1600" b="0" i="0" dirty="0">
                <a:solidFill>
                  <a:schemeClr val="tx1"/>
                </a:solidFill>
                <a:effectLst/>
                <a:latin typeface="Söhne"/>
              </a:rPr>
              <a:t>, standalone pods are not part of a larger deployment or replication system. Here's an example YAML file for creating a standalone pod</a:t>
            </a:r>
          </a:p>
          <a:p>
            <a:pPr marL="0" indent="0" algn="l">
              <a:buNone/>
            </a:pPr>
            <a:r>
              <a:rPr lang="en-ZA" sz="1600" b="0" i="0" dirty="0">
                <a:solidFill>
                  <a:schemeClr val="tx1"/>
                </a:solidFill>
                <a:effectLst/>
                <a:latin typeface="Söhne"/>
              </a:rPr>
              <a:t>Standalone pods are useful when you have specific scenarios where you want to manage individual pods directly without the need for replication or other advanced controller features. However, keep in mind that standalone pods are not automatically rescheduled if they fail, and they do not have built-in scaling mechanisms. You are responsible for managing the lifecycle and availability of standalone pods manually.</a:t>
            </a:r>
          </a:p>
          <a:p>
            <a:pPr algn="l">
              <a:buFont typeface="+mj-lt"/>
              <a:buAutoNum type="arabicPeriod" startAt="2"/>
            </a:pPr>
            <a:endParaRPr lang="en-ZA" sz="1200" dirty="0">
              <a:solidFill>
                <a:srgbClr val="D1D5DB"/>
              </a:solidFill>
              <a:latin typeface="Söhne"/>
            </a:endParaRPr>
          </a:p>
          <a:p>
            <a:pPr marL="0" indent="0">
              <a:buNone/>
            </a:pPr>
            <a:r>
              <a:rPr lang="en-ZA" sz="1400" b="0" i="1" dirty="0" err="1">
                <a:solidFill>
                  <a:srgbClr val="C00000"/>
                </a:solidFill>
                <a:effectLst/>
                <a:latin typeface="Söhne"/>
              </a:rPr>
              <a:t>apiVersion</a:t>
            </a:r>
            <a:r>
              <a:rPr lang="en-ZA" sz="1400" b="0" i="1" dirty="0">
                <a:solidFill>
                  <a:srgbClr val="C00000"/>
                </a:solidFill>
                <a:effectLst/>
                <a:latin typeface="Söhne"/>
              </a:rPr>
              <a:t>: v1</a:t>
            </a:r>
          </a:p>
          <a:p>
            <a:pPr marL="0" indent="0">
              <a:buNone/>
            </a:pPr>
            <a:r>
              <a:rPr lang="en-ZA" sz="1400" b="0" i="1" dirty="0">
                <a:solidFill>
                  <a:srgbClr val="C00000"/>
                </a:solidFill>
                <a:effectLst/>
                <a:latin typeface="Söhne"/>
              </a:rPr>
              <a:t>kind: Pod</a:t>
            </a:r>
          </a:p>
          <a:p>
            <a:pPr marL="0" indent="0">
              <a:buNone/>
            </a:pPr>
            <a:r>
              <a:rPr lang="en-ZA" sz="1400" b="0" i="1" dirty="0">
                <a:solidFill>
                  <a:srgbClr val="C00000"/>
                </a:solidFill>
                <a:effectLst/>
                <a:latin typeface="Söhne"/>
              </a:rPr>
              <a:t>metadata:</a:t>
            </a:r>
          </a:p>
          <a:p>
            <a:pPr marL="0" indent="0">
              <a:buNone/>
            </a:pPr>
            <a:r>
              <a:rPr lang="en-ZA" sz="1400" b="0" i="1" dirty="0">
                <a:solidFill>
                  <a:srgbClr val="C00000"/>
                </a:solidFill>
                <a:effectLst/>
                <a:latin typeface="Söhne"/>
              </a:rPr>
              <a:t>  name: my-standalone-pod</a:t>
            </a:r>
          </a:p>
          <a:p>
            <a:pPr marL="0" indent="0">
              <a:buNone/>
            </a:pPr>
            <a:r>
              <a:rPr lang="en-ZA" sz="1400" b="0" i="1" dirty="0">
                <a:solidFill>
                  <a:srgbClr val="C00000"/>
                </a:solidFill>
                <a:effectLst/>
                <a:latin typeface="Söhne"/>
              </a:rPr>
              <a:t>spec:</a:t>
            </a:r>
          </a:p>
          <a:p>
            <a:pPr marL="0" indent="0">
              <a:buNone/>
            </a:pPr>
            <a:r>
              <a:rPr lang="en-ZA" sz="1400" b="0" i="1" dirty="0">
                <a:solidFill>
                  <a:srgbClr val="C00000"/>
                </a:solidFill>
                <a:effectLst/>
                <a:latin typeface="Söhne"/>
              </a:rPr>
              <a:t>  containers:</a:t>
            </a:r>
          </a:p>
          <a:p>
            <a:pPr marL="0" indent="0">
              <a:buNone/>
            </a:pPr>
            <a:r>
              <a:rPr lang="en-ZA" sz="1400" b="0" i="1" dirty="0">
                <a:solidFill>
                  <a:srgbClr val="C00000"/>
                </a:solidFill>
                <a:effectLst/>
                <a:latin typeface="Söhne"/>
              </a:rPr>
              <a:t>  - name: my-container</a:t>
            </a:r>
          </a:p>
          <a:p>
            <a:pPr marL="0" indent="0">
              <a:buNone/>
            </a:pPr>
            <a:r>
              <a:rPr lang="en-ZA" sz="1400" b="0" i="1" dirty="0">
                <a:solidFill>
                  <a:srgbClr val="C00000"/>
                </a:solidFill>
                <a:effectLst/>
                <a:latin typeface="Söhne"/>
              </a:rPr>
              <a:t>    image: </a:t>
            </a:r>
            <a:r>
              <a:rPr lang="en-ZA" sz="1400" b="0" i="1" dirty="0" err="1">
                <a:solidFill>
                  <a:srgbClr val="C00000"/>
                </a:solidFill>
                <a:effectLst/>
                <a:latin typeface="Söhne"/>
              </a:rPr>
              <a:t>my-docker-image:latest</a:t>
            </a:r>
            <a:endParaRPr lang="en-ZA" sz="1400" b="0" i="1" dirty="0">
              <a:solidFill>
                <a:srgbClr val="C00000"/>
              </a:solidFill>
              <a:effectLst/>
              <a:latin typeface="Söhne"/>
            </a:endParaRPr>
          </a:p>
          <a:p>
            <a:pPr marL="0" indent="0">
              <a:buNone/>
            </a:pPr>
            <a:r>
              <a:rPr lang="en-ZA" sz="1400" b="0" i="1" dirty="0">
                <a:solidFill>
                  <a:srgbClr val="C00000"/>
                </a:solidFill>
                <a:effectLst/>
                <a:latin typeface="Söhne"/>
              </a:rPr>
              <a:t>    # Add your container configuration here</a:t>
            </a:r>
          </a:p>
          <a:p>
            <a:pPr marL="0" indent="0" algn="l">
              <a:buNone/>
            </a:pPr>
            <a:br>
              <a:rPr lang="en-ZA" sz="1400" b="0" i="0" dirty="0">
                <a:effectLst/>
                <a:latin typeface="Söhne"/>
              </a:rPr>
            </a:br>
            <a:endParaRPr lang="en-ZA" sz="1400" b="0" i="0" dirty="0">
              <a:effectLst/>
              <a:latin typeface="Söhne"/>
            </a:endParaRPr>
          </a:p>
          <a:p>
            <a:endParaRPr lang="en-IN" dirty="0"/>
          </a:p>
        </p:txBody>
      </p:sp>
    </p:spTree>
    <p:extLst>
      <p:ext uri="{BB962C8B-B14F-4D97-AF65-F5344CB8AC3E}">
        <p14:creationId xmlns:p14="http://schemas.microsoft.com/office/powerpoint/2010/main" val="42102827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Storage class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729163"/>
          </a:xfrm>
        </p:spPr>
        <p:txBody>
          <a:bodyPr>
            <a:normAutofit fontScale="62500" lnSpcReduction="20000"/>
          </a:bodyPr>
          <a:lstStyle/>
          <a:p>
            <a:pPr marL="0" indent="0" algn="l">
              <a:buNone/>
            </a:pPr>
            <a:r>
              <a:rPr lang="en-ZA" sz="2100" b="0" i="0" dirty="0">
                <a:solidFill>
                  <a:schemeClr val="tx1"/>
                </a:solidFill>
                <a:effectLst/>
                <a:latin typeface="Söhne"/>
              </a:rPr>
              <a:t>Storage Classes and Dynamic Storage Provisioning are features in Kubernetes that allow for flexible and automatic provisioning of persistent storage for applications running in the cluster. Storage Classes define the type and properties of the underlying storage, while Dynamic Storage Provisioning automatically creates persistent volumes (PVs) based on the defined Storage Classes. </a:t>
            </a:r>
          </a:p>
          <a:p>
            <a:pPr marL="0" indent="0" algn="l">
              <a:buNone/>
            </a:pPr>
            <a:endParaRPr lang="en-ZA" sz="1700" b="0" i="0" dirty="0">
              <a:solidFill>
                <a:schemeClr val="tx1"/>
              </a:solidFill>
              <a:effectLst/>
              <a:latin typeface="Söhne"/>
            </a:endParaRPr>
          </a:p>
          <a:p>
            <a:pPr marL="0" indent="0" algn="l">
              <a:buNone/>
            </a:pPr>
            <a:r>
              <a:rPr lang="en-ZA" sz="1700" b="0" i="1" dirty="0" err="1">
                <a:solidFill>
                  <a:srgbClr val="C00000"/>
                </a:solidFill>
                <a:effectLst/>
                <a:latin typeface="Söhne"/>
              </a:rPr>
              <a:t>apiVersion</a:t>
            </a:r>
            <a:r>
              <a:rPr lang="en-ZA" sz="1700" b="0" i="1" dirty="0">
                <a:solidFill>
                  <a:srgbClr val="C00000"/>
                </a:solidFill>
                <a:effectLst/>
                <a:latin typeface="Söhne"/>
              </a:rPr>
              <a:t>: storage.k8s.io/v1</a:t>
            </a:r>
          </a:p>
          <a:p>
            <a:pPr marL="0" indent="0" algn="l">
              <a:buNone/>
            </a:pPr>
            <a:r>
              <a:rPr lang="en-ZA" sz="1700" b="0" i="1" dirty="0">
                <a:solidFill>
                  <a:srgbClr val="C00000"/>
                </a:solidFill>
                <a:effectLst/>
                <a:latin typeface="Söhne"/>
              </a:rPr>
              <a:t>kind: </a:t>
            </a:r>
            <a:r>
              <a:rPr lang="en-ZA" sz="1700" b="0" i="1" dirty="0" err="1">
                <a:solidFill>
                  <a:srgbClr val="C00000"/>
                </a:solidFill>
                <a:effectLst/>
                <a:latin typeface="Söhne"/>
              </a:rPr>
              <a:t>StorageClass</a:t>
            </a:r>
            <a:endParaRPr lang="en-ZA" sz="1700" b="0" i="1" dirty="0">
              <a:solidFill>
                <a:srgbClr val="C00000"/>
              </a:solidFill>
              <a:effectLst/>
              <a:latin typeface="Söhne"/>
            </a:endParaRPr>
          </a:p>
          <a:p>
            <a:pPr marL="0" indent="0" algn="l">
              <a:buNone/>
            </a:pPr>
            <a:r>
              <a:rPr lang="en-ZA" sz="1700" b="0" i="1" dirty="0">
                <a:solidFill>
                  <a:srgbClr val="C00000"/>
                </a:solidFill>
                <a:effectLst/>
                <a:latin typeface="Söhne"/>
              </a:rPr>
              <a:t>metadata:</a:t>
            </a:r>
          </a:p>
          <a:p>
            <a:pPr marL="0" indent="0" algn="l">
              <a:buNone/>
            </a:pPr>
            <a:r>
              <a:rPr lang="en-ZA" sz="1700" b="0" i="1" dirty="0">
                <a:solidFill>
                  <a:srgbClr val="C00000"/>
                </a:solidFill>
                <a:effectLst/>
                <a:latin typeface="Söhne"/>
              </a:rPr>
              <a:t>  name: my-storage-class</a:t>
            </a:r>
          </a:p>
          <a:p>
            <a:pPr marL="0" indent="0" algn="l">
              <a:buNone/>
            </a:pPr>
            <a:r>
              <a:rPr lang="en-ZA" sz="1700" b="0" i="1" dirty="0">
                <a:solidFill>
                  <a:srgbClr val="C00000"/>
                </a:solidFill>
                <a:effectLst/>
                <a:latin typeface="Söhne"/>
              </a:rPr>
              <a:t>provisioner: </a:t>
            </a:r>
            <a:r>
              <a:rPr lang="en-ZA" sz="1700" b="0" i="1" dirty="0" err="1">
                <a:solidFill>
                  <a:srgbClr val="C00000"/>
                </a:solidFill>
                <a:effectLst/>
                <a:latin typeface="Söhne"/>
              </a:rPr>
              <a:t>example.com</a:t>
            </a:r>
            <a:r>
              <a:rPr lang="en-ZA" sz="1700" b="0" i="1" dirty="0">
                <a:solidFill>
                  <a:srgbClr val="C00000"/>
                </a:solidFill>
                <a:effectLst/>
                <a:latin typeface="Söhne"/>
              </a:rPr>
              <a:t>/my-provisioner</a:t>
            </a:r>
          </a:p>
          <a:p>
            <a:pPr marL="0" indent="0" algn="l">
              <a:buNone/>
            </a:pPr>
            <a:r>
              <a:rPr lang="en-ZA" sz="1700" b="0" i="1" dirty="0">
                <a:solidFill>
                  <a:srgbClr val="C00000"/>
                </a:solidFill>
                <a:effectLst/>
                <a:latin typeface="Söhne"/>
              </a:rPr>
              <a:t>parameters:</a:t>
            </a:r>
          </a:p>
          <a:p>
            <a:pPr marL="0" indent="0" algn="l">
              <a:buNone/>
            </a:pPr>
            <a:r>
              <a:rPr lang="en-ZA" sz="1700" b="0" i="1" dirty="0">
                <a:solidFill>
                  <a:srgbClr val="C00000"/>
                </a:solidFill>
                <a:effectLst/>
                <a:latin typeface="Söhne"/>
              </a:rPr>
              <a:t>  type: fast</a:t>
            </a:r>
          </a:p>
          <a:p>
            <a:pPr marL="0" indent="0" algn="l">
              <a:buNone/>
            </a:pPr>
            <a:endParaRPr lang="en-ZA" sz="1400" i="1" dirty="0">
              <a:solidFill>
                <a:srgbClr val="C00000"/>
              </a:solidFill>
              <a:latin typeface="Söhne"/>
            </a:endParaRPr>
          </a:p>
          <a:p>
            <a:pPr marL="0" indent="0" algn="l">
              <a:buNone/>
            </a:pPr>
            <a:endParaRPr lang="en-ZA" sz="1400" i="1" dirty="0">
              <a:solidFill>
                <a:srgbClr val="C00000"/>
              </a:solidFill>
              <a:latin typeface="Söhne"/>
            </a:endParaRPr>
          </a:p>
          <a:p>
            <a:pPr marL="0" indent="0" algn="l">
              <a:buNone/>
            </a:pPr>
            <a:endParaRPr lang="en-ZA" sz="1700" i="1" dirty="0">
              <a:solidFill>
                <a:srgbClr val="C00000"/>
              </a:solidFill>
              <a:latin typeface="Söhne"/>
            </a:endParaRPr>
          </a:p>
          <a:p>
            <a:pPr marL="0" indent="0" algn="l">
              <a:buNone/>
            </a:pPr>
            <a:r>
              <a:rPr lang="en-ZA" sz="1700" b="0" i="1" dirty="0" err="1">
                <a:solidFill>
                  <a:srgbClr val="C00000"/>
                </a:solidFill>
                <a:effectLst/>
                <a:latin typeface="Söhne"/>
              </a:rPr>
              <a:t>apiVersion</a:t>
            </a:r>
            <a:r>
              <a:rPr lang="en-ZA" sz="1700" b="0" i="1" dirty="0">
                <a:solidFill>
                  <a:srgbClr val="C00000"/>
                </a:solidFill>
                <a:effectLst/>
                <a:latin typeface="Söhne"/>
              </a:rPr>
              <a:t>: v1</a:t>
            </a:r>
          </a:p>
          <a:p>
            <a:pPr marL="0" indent="0" algn="l">
              <a:buNone/>
            </a:pPr>
            <a:r>
              <a:rPr lang="en-ZA" sz="1700" b="0" i="1" dirty="0">
                <a:solidFill>
                  <a:srgbClr val="C00000"/>
                </a:solidFill>
                <a:effectLst/>
                <a:latin typeface="Söhne"/>
              </a:rPr>
              <a:t>kind: </a:t>
            </a:r>
            <a:r>
              <a:rPr lang="en-ZA" sz="1700" b="0" i="1" dirty="0" err="1">
                <a:solidFill>
                  <a:srgbClr val="C00000"/>
                </a:solidFill>
                <a:effectLst/>
                <a:latin typeface="Söhne"/>
              </a:rPr>
              <a:t>PersistentVolumeClaim</a:t>
            </a:r>
            <a:endParaRPr lang="en-ZA" sz="1700" b="0" i="1" dirty="0">
              <a:solidFill>
                <a:srgbClr val="C00000"/>
              </a:solidFill>
              <a:effectLst/>
              <a:latin typeface="Söhne"/>
            </a:endParaRPr>
          </a:p>
          <a:p>
            <a:pPr marL="0" indent="0" algn="l">
              <a:buNone/>
            </a:pPr>
            <a:r>
              <a:rPr lang="en-ZA" sz="1700" b="0" i="1" dirty="0">
                <a:solidFill>
                  <a:srgbClr val="C00000"/>
                </a:solidFill>
                <a:effectLst/>
                <a:latin typeface="Söhne"/>
              </a:rPr>
              <a:t>metadata:</a:t>
            </a:r>
          </a:p>
          <a:p>
            <a:pPr marL="0" indent="0" algn="l">
              <a:buNone/>
            </a:pPr>
            <a:r>
              <a:rPr lang="en-ZA" sz="1700" b="0" i="1" dirty="0">
                <a:solidFill>
                  <a:srgbClr val="C00000"/>
                </a:solidFill>
                <a:effectLst/>
                <a:latin typeface="Söhne"/>
              </a:rPr>
              <a:t>  name: my-</a:t>
            </a:r>
            <a:r>
              <a:rPr lang="en-ZA" sz="1700" b="0" i="1" dirty="0" err="1">
                <a:solidFill>
                  <a:srgbClr val="C00000"/>
                </a:solidFill>
                <a:effectLst/>
                <a:latin typeface="Söhne"/>
              </a:rPr>
              <a:t>pvc</a:t>
            </a:r>
            <a:endParaRPr lang="en-ZA" sz="1700" b="0" i="1" dirty="0">
              <a:solidFill>
                <a:srgbClr val="C00000"/>
              </a:solidFill>
              <a:effectLst/>
              <a:latin typeface="Söhne"/>
            </a:endParaRPr>
          </a:p>
          <a:p>
            <a:pPr marL="0" indent="0" algn="l">
              <a:buNone/>
            </a:pPr>
            <a:r>
              <a:rPr lang="en-ZA" sz="1700" b="0" i="1" dirty="0">
                <a:solidFill>
                  <a:srgbClr val="C00000"/>
                </a:solidFill>
                <a:effectLst/>
                <a:latin typeface="Söhne"/>
              </a:rPr>
              <a:t>spec:</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accessModes</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 </a:t>
            </a:r>
            <a:r>
              <a:rPr lang="en-ZA" sz="1700" b="0" i="1" dirty="0" err="1">
                <a:solidFill>
                  <a:srgbClr val="C00000"/>
                </a:solidFill>
                <a:effectLst/>
                <a:latin typeface="Söhne"/>
              </a:rPr>
              <a:t>ReadWriteOnce</a:t>
            </a:r>
            <a:endParaRPr lang="en-ZA" sz="1700" b="0" i="1" dirty="0">
              <a:solidFill>
                <a:srgbClr val="C00000"/>
              </a:solidFill>
              <a:effectLst/>
              <a:latin typeface="Söhne"/>
            </a:endParaRP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storageClassName</a:t>
            </a:r>
            <a:r>
              <a:rPr lang="en-ZA" sz="1700" b="0" i="1" dirty="0">
                <a:solidFill>
                  <a:srgbClr val="C00000"/>
                </a:solidFill>
                <a:effectLst/>
                <a:latin typeface="Söhne"/>
              </a:rPr>
              <a:t>: my-storage-class</a:t>
            </a:r>
          </a:p>
          <a:p>
            <a:pPr marL="0" indent="0" algn="l">
              <a:buNone/>
            </a:pPr>
            <a:r>
              <a:rPr lang="en-ZA" sz="1700" b="0" i="1" dirty="0">
                <a:solidFill>
                  <a:srgbClr val="C00000"/>
                </a:solidFill>
                <a:effectLst/>
                <a:latin typeface="Söhne"/>
              </a:rPr>
              <a:t>  resources:</a:t>
            </a:r>
          </a:p>
          <a:p>
            <a:pPr marL="0" indent="0" algn="l">
              <a:buNone/>
            </a:pPr>
            <a:r>
              <a:rPr lang="en-ZA" sz="1700" b="0" i="1" dirty="0">
                <a:solidFill>
                  <a:srgbClr val="C00000"/>
                </a:solidFill>
                <a:effectLst/>
                <a:latin typeface="Söhne"/>
              </a:rPr>
              <a:t>    requests:</a:t>
            </a:r>
          </a:p>
          <a:p>
            <a:pPr marL="0" indent="0" algn="l">
              <a:buNone/>
            </a:pPr>
            <a:r>
              <a:rPr lang="en-ZA" sz="1700" b="0" i="1" dirty="0">
                <a:solidFill>
                  <a:srgbClr val="C00000"/>
                </a:solidFill>
                <a:effectLst/>
                <a:latin typeface="Söhne"/>
              </a:rPr>
              <a:t>      storage: 10Gi</a:t>
            </a:r>
          </a:p>
          <a:p>
            <a:pPr marL="0" indent="0" algn="l">
              <a:buNone/>
            </a:pPr>
            <a:endParaRPr lang="en-ZA" sz="1400" b="0" i="1" dirty="0">
              <a:solidFill>
                <a:srgbClr val="C00000"/>
              </a:solidFill>
              <a:effectLst/>
              <a:latin typeface="Söhne"/>
            </a:endParaRPr>
          </a:p>
          <a:p>
            <a:pPr marL="0" indent="0" algn="l">
              <a:buNone/>
            </a:pPr>
            <a:br>
              <a:rPr lang="en-ZA" sz="1400" b="0" i="0" dirty="0">
                <a:effectLst/>
                <a:latin typeface="Söhne"/>
              </a:rPr>
            </a:br>
            <a:endParaRPr lang="en-ZA" sz="1400" b="0" i="0" dirty="0">
              <a:effectLst/>
              <a:latin typeface="Söhne"/>
            </a:endParaRPr>
          </a:p>
          <a:p>
            <a:endParaRPr lang="en-IN" dirty="0"/>
          </a:p>
        </p:txBody>
      </p:sp>
    </p:spTree>
    <p:extLst>
      <p:ext uri="{BB962C8B-B14F-4D97-AF65-F5344CB8AC3E}">
        <p14:creationId xmlns:p14="http://schemas.microsoft.com/office/powerpoint/2010/main" val="28270271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Network Policies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47500" lnSpcReduction="20000"/>
          </a:bodyPr>
          <a:lstStyle/>
          <a:p>
            <a:pPr marL="0" indent="0" algn="l">
              <a:buNone/>
            </a:pPr>
            <a:r>
              <a:rPr lang="en-ZA" sz="2300" b="0" i="0" dirty="0">
                <a:solidFill>
                  <a:schemeClr val="tx1"/>
                </a:solidFill>
                <a:effectLst/>
                <a:latin typeface="Söhne"/>
              </a:rPr>
              <a:t>Kubernetes Network Policies are a feature that allows you to define and enforce fine-grained network access controls within your cluster. They specify the rules for inbound and outbound traffic to and from pods based on various criteria like source IP, destination IP, port numbers, and pod labels. Network Policies help you secure and isolate communication between pods, providing an additional layer of </a:t>
            </a:r>
            <a:r>
              <a:rPr lang="en-ZA" sz="2300" b="0" i="0" dirty="0" err="1">
                <a:solidFill>
                  <a:schemeClr val="tx1"/>
                </a:solidFill>
                <a:effectLst/>
                <a:latin typeface="Söhne"/>
              </a:rPr>
              <a:t>defense</a:t>
            </a:r>
            <a:r>
              <a:rPr lang="en-ZA" sz="2300" b="0" i="0" dirty="0">
                <a:solidFill>
                  <a:schemeClr val="tx1"/>
                </a:solidFill>
                <a:effectLst/>
                <a:latin typeface="Söhne"/>
              </a:rPr>
              <a:t> for your applications.</a:t>
            </a:r>
          </a:p>
          <a:p>
            <a:pPr marL="0" indent="0" algn="l">
              <a:buNone/>
            </a:pPr>
            <a:r>
              <a:rPr lang="en-ZA" sz="1700" b="0" i="1" dirty="0" err="1">
                <a:solidFill>
                  <a:srgbClr val="C00000"/>
                </a:solidFill>
                <a:effectLst/>
                <a:latin typeface="Söhne"/>
              </a:rPr>
              <a:t>apiVersion</a:t>
            </a:r>
            <a:r>
              <a:rPr lang="en-ZA" sz="1700" b="0" i="1" dirty="0">
                <a:solidFill>
                  <a:srgbClr val="C00000"/>
                </a:solidFill>
                <a:effectLst/>
                <a:latin typeface="Söhne"/>
              </a:rPr>
              <a:t>: networking.k8s.io/v1</a:t>
            </a:r>
          </a:p>
          <a:p>
            <a:pPr marL="0" indent="0" algn="l">
              <a:buNone/>
            </a:pPr>
            <a:r>
              <a:rPr lang="en-ZA" sz="1700" b="0" i="1" dirty="0">
                <a:solidFill>
                  <a:srgbClr val="C00000"/>
                </a:solidFill>
                <a:effectLst/>
                <a:latin typeface="Söhne"/>
              </a:rPr>
              <a:t>kind: </a:t>
            </a:r>
            <a:r>
              <a:rPr lang="en-ZA" sz="1700" b="0" i="1" dirty="0" err="1">
                <a:solidFill>
                  <a:srgbClr val="C00000"/>
                </a:solidFill>
                <a:effectLst/>
                <a:latin typeface="Söhne"/>
              </a:rPr>
              <a:t>NetworkPolicy</a:t>
            </a:r>
            <a:endParaRPr lang="en-ZA" sz="1700" b="0" i="1" dirty="0">
              <a:solidFill>
                <a:srgbClr val="C00000"/>
              </a:solidFill>
              <a:effectLst/>
              <a:latin typeface="Söhne"/>
            </a:endParaRPr>
          </a:p>
          <a:p>
            <a:pPr marL="0" indent="0" algn="l">
              <a:buNone/>
            </a:pPr>
            <a:r>
              <a:rPr lang="en-ZA" sz="1700" b="0" i="1" dirty="0">
                <a:solidFill>
                  <a:srgbClr val="C00000"/>
                </a:solidFill>
                <a:effectLst/>
                <a:latin typeface="Söhne"/>
              </a:rPr>
              <a:t>metadata:</a:t>
            </a:r>
          </a:p>
          <a:p>
            <a:pPr marL="0" indent="0" algn="l">
              <a:buNone/>
            </a:pPr>
            <a:r>
              <a:rPr lang="en-ZA" sz="1700" b="0" i="1" dirty="0">
                <a:solidFill>
                  <a:srgbClr val="C00000"/>
                </a:solidFill>
                <a:effectLst/>
                <a:latin typeface="Söhne"/>
              </a:rPr>
              <a:t>  name: my-network-policy</a:t>
            </a:r>
          </a:p>
          <a:p>
            <a:pPr marL="0" indent="0" algn="l">
              <a:buNone/>
            </a:pPr>
            <a:r>
              <a:rPr lang="en-ZA" sz="1700" b="0" i="1" dirty="0">
                <a:solidFill>
                  <a:srgbClr val="C00000"/>
                </a:solidFill>
                <a:effectLst/>
                <a:latin typeface="Söhne"/>
              </a:rPr>
              <a:t>spec:</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podSelector</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matchLabels</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app: my-app</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policyTypes</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 Ingress</a:t>
            </a:r>
          </a:p>
          <a:p>
            <a:pPr marL="0" indent="0" algn="l">
              <a:buNone/>
            </a:pPr>
            <a:r>
              <a:rPr lang="en-ZA" sz="1700" b="0" i="1" dirty="0">
                <a:solidFill>
                  <a:srgbClr val="C00000"/>
                </a:solidFill>
                <a:effectLst/>
                <a:latin typeface="Söhne"/>
              </a:rPr>
              <a:t>  - Egress</a:t>
            </a:r>
          </a:p>
          <a:p>
            <a:pPr marL="0" indent="0" algn="l">
              <a:buNone/>
            </a:pPr>
            <a:r>
              <a:rPr lang="en-ZA" sz="1700" b="0" i="1" dirty="0">
                <a:solidFill>
                  <a:srgbClr val="C00000"/>
                </a:solidFill>
                <a:effectLst/>
                <a:latin typeface="Söhne"/>
              </a:rPr>
              <a:t>  ingress:</a:t>
            </a:r>
          </a:p>
          <a:p>
            <a:pPr marL="0" indent="0" algn="l">
              <a:buNone/>
            </a:pPr>
            <a:r>
              <a:rPr lang="en-ZA" sz="1700" b="0" i="1" dirty="0">
                <a:solidFill>
                  <a:srgbClr val="C00000"/>
                </a:solidFill>
                <a:effectLst/>
                <a:latin typeface="Söhne"/>
              </a:rPr>
              <a:t>  - from:</a:t>
            </a:r>
          </a:p>
          <a:p>
            <a:pPr marL="0" indent="0" algn="l">
              <a:buNone/>
            </a:pPr>
            <a:r>
              <a:rPr lang="en-ZA" sz="1700" b="0" i="1" dirty="0">
                <a:solidFill>
                  <a:srgbClr val="C00000"/>
                </a:solidFill>
                <a:effectLst/>
                <a:latin typeface="Söhne"/>
              </a:rPr>
              <a:t>    - </a:t>
            </a:r>
            <a:r>
              <a:rPr lang="en-ZA" sz="1700" b="0" i="1" dirty="0" err="1">
                <a:solidFill>
                  <a:srgbClr val="C00000"/>
                </a:solidFill>
                <a:effectLst/>
                <a:latin typeface="Söhne"/>
              </a:rPr>
              <a:t>podSelector</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matchLabels</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role: database</a:t>
            </a:r>
          </a:p>
          <a:p>
            <a:pPr marL="0" indent="0" algn="l">
              <a:buNone/>
            </a:pPr>
            <a:r>
              <a:rPr lang="en-ZA" sz="1700" b="0" i="1" dirty="0">
                <a:solidFill>
                  <a:srgbClr val="C00000"/>
                </a:solidFill>
                <a:effectLst/>
                <a:latin typeface="Söhne"/>
              </a:rPr>
              <a:t>    ports:</a:t>
            </a:r>
          </a:p>
          <a:p>
            <a:pPr marL="0" indent="0" algn="l">
              <a:buNone/>
            </a:pPr>
            <a:r>
              <a:rPr lang="en-ZA" sz="1700" b="0" i="1" dirty="0">
                <a:solidFill>
                  <a:srgbClr val="C00000"/>
                </a:solidFill>
                <a:effectLst/>
                <a:latin typeface="Söhne"/>
              </a:rPr>
              <a:t>    - protocol: TCP</a:t>
            </a:r>
          </a:p>
          <a:p>
            <a:pPr marL="0" indent="0" algn="l">
              <a:buNone/>
            </a:pPr>
            <a:r>
              <a:rPr lang="en-ZA" sz="1700" b="0" i="1" dirty="0">
                <a:solidFill>
                  <a:srgbClr val="C00000"/>
                </a:solidFill>
                <a:effectLst/>
                <a:latin typeface="Söhne"/>
              </a:rPr>
              <a:t>      port: 5432</a:t>
            </a:r>
          </a:p>
          <a:p>
            <a:pPr marL="0" indent="0" algn="l">
              <a:buNone/>
            </a:pPr>
            <a:r>
              <a:rPr lang="en-ZA" sz="1700" b="0" i="1" dirty="0">
                <a:solidFill>
                  <a:srgbClr val="C00000"/>
                </a:solidFill>
                <a:effectLst/>
                <a:latin typeface="Söhne"/>
              </a:rPr>
              <a:t>  egress:</a:t>
            </a:r>
          </a:p>
          <a:p>
            <a:pPr marL="0" indent="0" algn="l">
              <a:buNone/>
            </a:pPr>
            <a:r>
              <a:rPr lang="en-ZA" sz="1700" b="0" i="1" dirty="0">
                <a:solidFill>
                  <a:srgbClr val="C00000"/>
                </a:solidFill>
                <a:effectLst/>
                <a:latin typeface="Söhne"/>
              </a:rPr>
              <a:t>  - to:</a:t>
            </a:r>
          </a:p>
          <a:p>
            <a:pPr marL="0" indent="0" algn="l">
              <a:buNone/>
            </a:pPr>
            <a:r>
              <a:rPr lang="en-ZA" sz="1700" b="0" i="1" dirty="0">
                <a:solidFill>
                  <a:srgbClr val="C00000"/>
                </a:solidFill>
                <a:effectLst/>
                <a:latin typeface="Söhne"/>
              </a:rPr>
              <a:t>    - </a:t>
            </a:r>
            <a:r>
              <a:rPr lang="en-ZA" sz="1700" b="0" i="1" dirty="0" err="1">
                <a:solidFill>
                  <a:srgbClr val="C00000"/>
                </a:solidFill>
                <a:effectLst/>
                <a:latin typeface="Söhne"/>
              </a:rPr>
              <a:t>podSelector</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a:t>
            </a:r>
            <a:r>
              <a:rPr lang="en-ZA" sz="1700" b="0" i="1" dirty="0" err="1">
                <a:solidFill>
                  <a:srgbClr val="C00000"/>
                </a:solidFill>
                <a:effectLst/>
                <a:latin typeface="Söhne"/>
              </a:rPr>
              <a:t>matchLabels</a:t>
            </a:r>
            <a:r>
              <a:rPr lang="en-ZA" sz="1700" b="0" i="1" dirty="0">
                <a:solidFill>
                  <a:srgbClr val="C00000"/>
                </a:solidFill>
                <a:effectLst/>
                <a:latin typeface="Söhne"/>
              </a:rPr>
              <a:t>:</a:t>
            </a:r>
          </a:p>
          <a:p>
            <a:pPr marL="0" indent="0" algn="l">
              <a:buNone/>
            </a:pPr>
            <a:r>
              <a:rPr lang="en-ZA" sz="1700" b="0" i="1" dirty="0">
                <a:solidFill>
                  <a:srgbClr val="C00000"/>
                </a:solidFill>
                <a:effectLst/>
                <a:latin typeface="Söhne"/>
              </a:rPr>
              <a:t>          app: another-app</a:t>
            </a:r>
          </a:p>
          <a:p>
            <a:pPr marL="0" indent="0" algn="l">
              <a:buNone/>
            </a:pPr>
            <a:r>
              <a:rPr lang="en-ZA" sz="1700" b="0" i="1" dirty="0">
                <a:solidFill>
                  <a:srgbClr val="C00000"/>
                </a:solidFill>
                <a:effectLst/>
                <a:latin typeface="Söhne"/>
              </a:rPr>
              <a:t>    ports:</a:t>
            </a:r>
          </a:p>
          <a:p>
            <a:pPr marL="0" indent="0" algn="l">
              <a:buNone/>
            </a:pPr>
            <a:r>
              <a:rPr lang="en-ZA" sz="1700" b="0" i="1" dirty="0">
                <a:solidFill>
                  <a:srgbClr val="C00000"/>
                </a:solidFill>
                <a:effectLst/>
                <a:latin typeface="Söhne"/>
              </a:rPr>
              <a:t>    - protocol: TCP</a:t>
            </a:r>
          </a:p>
          <a:p>
            <a:pPr marL="0" indent="0" algn="l">
              <a:buNone/>
            </a:pPr>
            <a:r>
              <a:rPr lang="en-ZA" sz="1700" b="0" i="1" dirty="0">
                <a:solidFill>
                  <a:srgbClr val="C00000"/>
                </a:solidFill>
                <a:effectLst/>
                <a:latin typeface="Söhne"/>
              </a:rPr>
              <a:t>      port: 80</a:t>
            </a:r>
          </a:p>
          <a:p>
            <a:pPr marL="0" indent="0" algn="l">
              <a:buNone/>
            </a:pPr>
            <a:endParaRPr lang="en-ZA" sz="1400" b="0" i="1" dirty="0">
              <a:solidFill>
                <a:srgbClr val="C00000"/>
              </a:solidFill>
              <a:effectLst/>
              <a:latin typeface="Söhne"/>
            </a:endParaRPr>
          </a:p>
          <a:p>
            <a:pPr marL="0" indent="0" algn="l">
              <a:buNone/>
            </a:pPr>
            <a:br>
              <a:rPr lang="en-ZA" sz="1400" b="0" i="0" dirty="0">
                <a:effectLst/>
                <a:latin typeface="Söhne"/>
              </a:rPr>
            </a:br>
            <a:endParaRPr lang="en-ZA" sz="1400" b="0" i="0" dirty="0">
              <a:effectLst/>
              <a:latin typeface="Söhne"/>
            </a:endParaRPr>
          </a:p>
          <a:p>
            <a:pPr algn="l"/>
            <a:r>
              <a:rPr lang="en-ZA" b="0" i="0" dirty="0">
                <a:solidFill>
                  <a:schemeClr val="tx1"/>
                </a:solidFill>
                <a:effectLst/>
                <a:latin typeface="Söhne"/>
              </a:rPr>
              <a:t>Note that to use Network Policies, you need to ensure your Kubernetes cluster is configured with a network plugin that supports them, such as Calico, Cilium, or Weave.</a:t>
            </a:r>
          </a:p>
          <a:p>
            <a:pPr algn="l"/>
            <a:r>
              <a:rPr lang="en-ZA" b="0" i="0" dirty="0">
                <a:solidFill>
                  <a:schemeClr val="tx1"/>
                </a:solidFill>
                <a:effectLst/>
                <a:latin typeface="Söhne"/>
              </a:rPr>
              <a:t>By utilizing Network Policies, you can implement network segmentation, control traffic flows, and enhance the security and isolation of your applications within a Kubernetes cluster.</a:t>
            </a:r>
          </a:p>
          <a:p>
            <a:endParaRPr lang="en-IN" dirty="0"/>
          </a:p>
        </p:txBody>
      </p:sp>
    </p:spTree>
    <p:extLst>
      <p:ext uri="{BB962C8B-B14F-4D97-AF65-F5344CB8AC3E}">
        <p14:creationId xmlns:p14="http://schemas.microsoft.com/office/powerpoint/2010/main" val="7340363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Securing Cluster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85000" lnSpcReduction="10000"/>
          </a:bodyPr>
          <a:lstStyle/>
          <a:p>
            <a:r>
              <a:rPr lang="en-ZA" sz="2000" b="0" i="0" dirty="0">
                <a:solidFill>
                  <a:schemeClr val="tx1"/>
                </a:solidFill>
                <a:effectLst/>
                <a:latin typeface="Söhne"/>
              </a:rPr>
              <a:t>Securing a Kubernetes cluster is crucial to protect your applications, data, and infrastructure from unauthorized access and potential </a:t>
            </a:r>
            <a:r>
              <a:rPr lang="en-ZA" sz="2000" b="0" i="0" dirty="0" err="1">
                <a:solidFill>
                  <a:schemeClr val="tx1"/>
                </a:solidFill>
                <a:effectLst/>
                <a:latin typeface="Söhne"/>
              </a:rPr>
              <a:t>threats.Key</a:t>
            </a:r>
            <a:r>
              <a:rPr lang="en-ZA" sz="2000" b="0" i="0" dirty="0">
                <a:solidFill>
                  <a:schemeClr val="tx1"/>
                </a:solidFill>
                <a:effectLst/>
                <a:latin typeface="Söhne"/>
              </a:rPr>
              <a:t> Concepts:</a:t>
            </a:r>
          </a:p>
          <a:p>
            <a:pPr algn="l">
              <a:buFont typeface="+mj-lt"/>
              <a:buAutoNum type="arabicPeriod"/>
            </a:pPr>
            <a:r>
              <a:rPr lang="en-ZA" b="0" i="0" dirty="0">
                <a:solidFill>
                  <a:schemeClr val="tx1"/>
                </a:solidFill>
                <a:effectLst/>
                <a:latin typeface="Söhne"/>
              </a:rPr>
              <a:t>Cluster Configuration:</a:t>
            </a:r>
          </a:p>
          <a:p>
            <a:pPr marL="742950" lvl="1" indent="-285750" algn="l">
              <a:buFont typeface="+mj-lt"/>
              <a:buAutoNum type="arabicPeriod"/>
            </a:pPr>
            <a:r>
              <a:rPr lang="en-ZA" b="0" i="0" dirty="0">
                <a:solidFill>
                  <a:schemeClr val="tx1"/>
                </a:solidFill>
                <a:effectLst/>
                <a:latin typeface="Söhne"/>
              </a:rPr>
              <a:t>Use RBAC (Role-Based Access Control) to control and restrict access to the Kubernetes API and cluster resources.</a:t>
            </a:r>
          </a:p>
          <a:p>
            <a:pPr marL="742950" lvl="1" indent="-285750" algn="l">
              <a:buFont typeface="+mj-lt"/>
              <a:buAutoNum type="arabicPeriod"/>
            </a:pPr>
            <a:r>
              <a:rPr lang="en-ZA" b="0" i="0" dirty="0">
                <a:solidFill>
                  <a:schemeClr val="tx1"/>
                </a:solidFill>
                <a:effectLst/>
                <a:latin typeface="Söhne"/>
              </a:rPr>
              <a:t>Enable and configure audit logging to monitor and track API requests and activities.</a:t>
            </a:r>
          </a:p>
          <a:p>
            <a:pPr marL="742950" lvl="1" indent="-285750" algn="l">
              <a:buFont typeface="+mj-lt"/>
              <a:buAutoNum type="arabicPeriod"/>
            </a:pPr>
            <a:r>
              <a:rPr lang="en-ZA" b="0" i="0" dirty="0">
                <a:solidFill>
                  <a:schemeClr val="tx1"/>
                </a:solidFill>
                <a:effectLst/>
                <a:latin typeface="Söhne"/>
              </a:rPr>
              <a:t>Disable or limit the use of insecure features like the Kubernetes dashboard or default unauthenticated access to the API server.</a:t>
            </a:r>
          </a:p>
          <a:p>
            <a:pPr marL="742950" lvl="1" indent="-285750" algn="l">
              <a:buFont typeface="+mj-lt"/>
              <a:buAutoNum type="arabicPeriod"/>
            </a:pPr>
            <a:r>
              <a:rPr lang="en-ZA" b="0" i="0" dirty="0">
                <a:solidFill>
                  <a:schemeClr val="tx1"/>
                </a:solidFill>
                <a:effectLst/>
                <a:latin typeface="Söhne"/>
              </a:rPr>
              <a:t>Regularly update and patch your Kubernetes components to address security vulnerabilities.</a:t>
            </a:r>
          </a:p>
          <a:p>
            <a:pPr algn="l">
              <a:buFont typeface="+mj-lt"/>
              <a:buAutoNum type="arabicPeriod"/>
            </a:pPr>
            <a:r>
              <a:rPr lang="en-ZA" b="0" i="0" dirty="0">
                <a:solidFill>
                  <a:schemeClr val="tx1"/>
                </a:solidFill>
                <a:effectLst/>
                <a:latin typeface="Söhne"/>
              </a:rPr>
              <a:t>Network Security:</a:t>
            </a:r>
          </a:p>
          <a:p>
            <a:pPr marL="742950" lvl="1" indent="-285750" algn="l">
              <a:buFont typeface="+mj-lt"/>
              <a:buAutoNum type="arabicPeriod"/>
            </a:pPr>
            <a:r>
              <a:rPr lang="en-ZA" b="0" i="0" dirty="0">
                <a:solidFill>
                  <a:schemeClr val="tx1"/>
                </a:solidFill>
                <a:effectLst/>
                <a:latin typeface="Söhne"/>
              </a:rPr>
              <a:t>Implement Network Policies to control network traffic between pods and enforce isolation.</a:t>
            </a:r>
          </a:p>
          <a:p>
            <a:pPr marL="742950" lvl="1" indent="-285750" algn="l">
              <a:buFont typeface="+mj-lt"/>
              <a:buAutoNum type="arabicPeriod"/>
            </a:pPr>
            <a:r>
              <a:rPr lang="en-ZA" b="0" i="0" dirty="0">
                <a:solidFill>
                  <a:schemeClr val="tx1"/>
                </a:solidFill>
                <a:effectLst/>
                <a:latin typeface="Söhne"/>
              </a:rPr>
              <a:t>Use a network plugin that supports network segmentation and provides network-level security features like Calico or Cilium.</a:t>
            </a:r>
          </a:p>
          <a:p>
            <a:pPr marL="742950" lvl="1" indent="-285750" algn="l">
              <a:buFont typeface="+mj-lt"/>
              <a:buAutoNum type="arabicPeriod"/>
            </a:pPr>
            <a:r>
              <a:rPr lang="en-ZA" b="0" i="0" dirty="0">
                <a:solidFill>
                  <a:schemeClr val="tx1"/>
                </a:solidFill>
                <a:effectLst/>
                <a:latin typeface="Söhne"/>
              </a:rPr>
              <a:t>Consider using a network firewall or security groups to restrict external access to your cluster nodes.</a:t>
            </a:r>
          </a:p>
          <a:p>
            <a:endParaRPr lang="en-IN" sz="2000" dirty="0">
              <a:solidFill>
                <a:schemeClr val="tx1"/>
              </a:solidFill>
            </a:endParaRPr>
          </a:p>
        </p:txBody>
      </p:sp>
    </p:spTree>
    <p:extLst>
      <p:ext uri="{BB962C8B-B14F-4D97-AF65-F5344CB8AC3E}">
        <p14:creationId xmlns:p14="http://schemas.microsoft.com/office/powerpoint/2010/main" val="18799932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92500" lnSpcReduction="20000"/>
          </a:bodyPr>
          <a:lstStyle/>
          <a:p>
            <a:r>
              <a:rPr lang="en-ZA" sz="2000" b="0" i="0" dirty="0">
                <a:solidFill>
                  <a:schemeClr val="tx1"/>
                </a:solidFill>
                <a:effectLst/>
                <a:latin typeface="Söhne"/>
              </a:rPr>
              <a:t>Securing a Kubernetes cluster is crucial to protect your applications, data, and infrastructure from unauthorized access and potential </a:t>
            </a:r>
            <a:r>
              <a:rPr lang="en-ZA" sz="2000" b="0" i="0" dirty="0" err="1">
                <a:solidFill>
                  <a:schemeClr val="tx1"/>
                </a:solidFill>
                <a:effectLst/>
                <a:latin typeface="Söhne"/>
              </a:rPr>
              <a:t>threats.Key</a:t>
            </a:r>
            <a:r>
              <a:rPr lang="en-ZA" sz="2000" b="0" i="0" dirty="0">
                <a:solidFill>
                  <a:schemeClr val="tx1"/>
                </a:solidFill>
                <a:effectLst/>
                <a:latin typeface="Söhne"/>
              </a:rPr>
              <a:t> Concepts:</a:t>
            </a:r>
          </a:p>
          <a:p>
            <a:pPr marL="0" indent="0" algn="l">
              <a:buNone/>
            </a:pPr>
            <a:r>
              <a:rPr lang="en-ZA" b="0" i="0" dirty="0">
                <a:solidFill>
                  <a:schemeClr val="tx1"/>
                </a:solidFill>
                <a:effectLst/>
                <a:latin typeface="Söhne"/>
              </a:rPr>
              <a:t>3.Image Security:</a:t>
            </a:r>
          </a:p>
          <a:p>
            <a:pPr marL="742950" lvl="1" indent="-285750" algn="l">
              <a:buFont typeface="+mj-lt"/>
              <a:buAutoNum type="arabicPeriod"/>
            </a:pPr>
            <a:r>
              <a:rPr lang="en-ZA" b="0" i="0" dirty="0">
                <a:solidFill>
                  <a:schemeClr val="tx1"/>
                </a:solidFill>
                <a:effectLst/>
                <a:latin typeface="Söhne"/>
              </a:rPr>
              <a:t>Use trusted container images from reputable sources and regularly update them with security patches.</a:t>
            </a:r>
          </a:p>
          <a:p>
            <a:pPr marL="742950" lvl="1" indent="-285750" algn="l">
              <a:buFont typeface="+mj-lt"/>
              <a:buAutoNum type="arabicPeriod"/>
            </a:pPr>
            <a:r>
              <a:rPr lang="en-ZA" b="0" i="0" dirty="0">
                <a:solidFill>
                  <a:schemeClr val="tx1"/>
                </a:solidFill>
                <a:effectLst/>
                <a:latin typeface="Söhne"/>
              </a:rPr>
              <a:t>Implement a container image scanning solution to detect and mitigate vulnerabilities in your container images.</a:t>
            </a:r>
          </a:p>
          <a:p>
            <a:pPr marL="742950" lvl="1" indent="-285750" algn="l">
              <a:buFont typeface="+mj-lt"/>
              <a:buAutoNum type="arabicPeriod"/>
            </a:pPr>
            <a:r>
              <a:rPr lang="en-ZA" b="0" i="0" dirty="0">
                <a:solidFill>
                  <a:schemeClr val="tx1"/>
                </a:solidFill>
                <a:effectLst/>
                <a:latin typeface="Söhne"/>
              </a:rPr>
              <a:t>Enforce image signing and verification to ensure the integrity of your container images.</a:t>
            </a:r>
          </a:p>
          <a:p>
            <a:pPr marL="0" indent="0" algn="l">
              <a:buNone/>
            </a:pPr>
            <a:r>
              <a:rPr lang="en-ZA" b="0" i="0" dirty="0">
                <a:solidFill>
                  <a:schemeClr val="tx1"/>
                </a:solidFill>
                <a:effectLst/>
                <a:latin typeface="Söhne"/>
              </a:rPr>
              <a:t>4.Secrets Management:</a:t>
            </a:r>
          </a:p>
          <a:p>
            <a:pPr marL="742950" lvl="1" indent="-285750" algn="l">
              <a:buFont typeface="+mj-lt"/>
              <a:buAutoNum type="arabicPeriod"/>
            </a:pPr>
            <a:r>
              <a:rPr lang="en-ZA" b="0" i="0" dirty="0">
                <a:solidFill>
                  <a:schemeClr val="tx1"/>
                </a:solidFill>
                <a:effectLst/>
                <a:latin typeface="Söhne"/>
              </a:rPr>
              <a:t>Avoid storing sensitive information like passwords or API tokens in plain text within your Kubernetes manifests.</a:t>
            </a:r>
          </a:p>
          <a:p>
            <a:pPr marL="742950" lvl="1" indent="-285750" algn="l">
              <a:buFont typeface="+mj-lt"/>
              <a:buAutoNum type="arabicPeriod"/>
            </a:pPr>
            <a:r>
              <a:rPr lang="en-ZA" b="0" i="0" dirty="0">
                <a:solidFill>
                  <a:schemeClr val="tx1"/>
                </a:solidFill>
                <a:effectLst/>
                <a:latin typeface="Söhne"/>
              </a:rPr>
              <a:t>Use Kubernetes Secrets to securely store and manage sensitive data and configure RBAC permissions for accessing secrets.</a:t>
            </a:r>
          </a:p>
          <a:p>
            <a:pPr marL="742950" lvl="1" indent="-285750" algn="l">
              <a:buFont typeface="+mj-lt"/>
              <a:buAutoNum type="arabicPeriod"/>
            </a:pPr>
            <a:r>
              <a:rPr lang="en-ZA" b="0" i="0" dirty="0">
                <a:solidFill>
                  <a:schemeClr val="tx1"/>
                </a:solidFill>
                <a:effectLst/>
                <a:latin typeface="Söhne"/>
              </a:rPr>
              <a:t>Consider using external secret management tools like </a:t>
            </a:r>
            <a:r>
              <a:rPr lang="en-ZA" b="0" i="0" dirty="0" err="1">
                <a:solidFill>
                  <a:schemeClr val="tx1"/>
                </a:solidFill>
                <a:effectLst/>
                <a:latin typeface="Söhne"/>
              </a:rPr>
              <a:t>HashiCorp</a:t>
            </a:r>
            <a:r>
              <a:rPr lang="en-ZA" b="0" i="0" dirty="0">
                <a:solidFill>
                  <a:schemeClr val="tx1"/>
                </a:solidFill>
                <a:effectLst/>
                <a:latin typeface="Söhne"/>
              </a:rPr>
              <a:t> Vault or Kubernetes Secrets Store CSI Driver for enhanced security.</a:t>
            </a:r>
          </a:p>
          <a:p>
            <a:endParaRPr lang="en-IN" sz="2000" dirty="0">
              <a:solidFill>
                <a:schemeClr val="tx1"/>
              </a:solidFill>
            </a:endParaRPr>
          </a:p>
        </p:txBody>
      </p:sp>
    </p:spTree>
    <p:extLst>
      <p:ext uri="{BB962C8B-B14F-4D97-AF65-F5344CB8AC3E}">
        <p14:creationId xmlns:p14="http://schemas.microsoft.com/office/powerpoint/2010/main" val="38286735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85000" lnSpcReduction="20000"/>
          </a:bodyPr>
          <a:lstStyle/>
          <a:p>
            <a:pPr marL="0" indent="0" algn="l">
              <a:buNone/>
            </a:pPr>
            <a:r>
              <a:rPr lang="en-ZA" b="0" i="0" dirty="0">
                <a:solidFill>
                  <a:schemeClr val="tx1"/>
                </a:solidFill>
                <a:effectLst/>
                <a:latin typeface="Söhne"/>
              </a:rPr>
              <a:t>5.Pod Security:</a:t>
            </a:r>
          </a:p>
          <a:p>
            <a:pPr marL="742950" lvl="1" indent="-285750" algn="l">
              <a:buFont typeface="+mj-lt"/>
              <a:buAutoNum type="arabicPeriod"/>
            </a:pPr>
            <a:r>
              <a:rPr lang="en-ZA" b="0" i="0" dirty="0">
                <a:solidFill>
                  <a:schemeClr val="tx1"/>
                </a:solidFill>
                <a:effectLst/>
                <a:latin typeface="Söhne"/>
              </a:rPr>
              <a:t>Utilize Pod Security Policies (PSPs) or Pod Security Contexts to enforce security policies on pods, such as running containers with non-root users, restricting host namespaces, or controlling access to host resources.</a:t>
            </a:r>
          </a:p>
          <a:p>
            <a:pPr marL="742950" lvl="1" indent="-285750" algn="l">
              <a:buFont typeface="+mj-lt"/>
              <a:buAutoNum type="arabicPeriod"/>
            </a:pPr>
            <a:r>
              <a:rPr lang="en-ZA" b="0" i="0" dirty="0">
                <a:solidFill>
                  <a:schemeClr val="tx1"/>
                </a:solidFill>
                <a:effectLst/>
                <a:latin typeface="Söhne"/>
              </a:rPr>
              <a:t>Implement Pod-level security controls like seccomp, </a:t>
            </a:r>
            <a:r>
              <a:rPr lang="en-ZA" b="0" i="0" dirty="0" err="1">
                <a:solidFill>
                  <a:schemeClr val="tx1"/>
                </a:solidFill>
                <a:effectLst/>
                <a:latin typeface="Söhne"/>
              </a:rPr>
              <a:t>AppArmor</a:t>
            </a:r>
            <a:r>
              <a:rPr lang="en-ZA" b="0" i="0" dirty="0">
                <a:solidFill>
                  <a:schemeClr val="tx1"/>
                </a:solidFill>
                <a:effectLst/>
                <a:latin typeface="Söhne"/>
              </a:rPr>
              <a:t>, or </a:t>
            </a:r>
            <a:r>
              <a:rPr lang="en-ZA" b="0" i="0" dirty="0" err="1">
                <a:solidFill>
                  <a:schemeClr val="tx1"/>
                </a:solidFill>
                <a:effectLst/>
                <a:latin typeface="Söhne"/>
              </a:rPr>
              <a:t>SELinux</a:t>
            </a:r>
            <a:r>
              <a:rPr lang="en-ZA" b="0" i="0" dirty="0">
                <a:solidFill>
                  <a:schemeClr val="tx1"/>
                </a:solidFill>
                <a:effectLst/>
                <a:latin typeface="Söhne"/>
              </a:rPr>
              <a:t> to enforce container-level restrictions and mitigations.</a:t>
            </a:r>
          </a:p>
          <a:p>
            <a:pPr marL="0" indent="0" algn="l">
              <a:buNone/>
            </a:pPr>
            <a:r>
              <a:rPr lang="en-ZA" b="0" i="0" dirty="0">
                <a:solidFill>
                  <a:schemeClr val="tx1"/>
                </a:solidFill>
                <a:effectLst/>
                <a:latin typeface="Söhne"/>
              </a:rPr>
              <a:t>6.Monitoring and Logging:</a:t>
            </a:r>
          </a:p>
          <a:p>
            <a:pPr marL="742950" lvl="1" indent="-285750" algn="l">
              <a:buFont typeface="+mj-lt"/>
              <a:buAutoNum type="arabicPeriod"/>
            </a:pPr>
            <a:r>
              <a:rPr lang="en-ZA" b="0" i="0" dirty="0">
                <a:solidFill>
                  <a:schemeClr val="tx1"/>
                </a:solidFill>
                <a:effectLst/>
                <a:latin typeface="Söhne"/>
              </a:rPr>
              <a:t>Deploy a centralized logging solution to collect and </a:t>
            </a:r>
            <a:r>
              <a:rPr lang="en-ZA" b="0" i="0" dirty="0" err="1">
                <a:solidFill>
                  <a:schemeClr val="tx1"/>
                </a:solidFill>
                <a:effectLst/>
                <a:latin typeface="Söhne"/>
              </a:rPr>
              <a:t>analyze</a:t>
            </a:r>
            <a:r>
              <a:rPr lang="en-ZA" b="0" i="0" dirty="0">
                <a:solidFill>
                  <a:schemeClr val="tx1"/>
                </a:solidFill>
                <a:effectLst/>
                <a:latin typeface="Söhne"/>
              </a:rPr>
              <a:t> logs from your Kubernetes cluster, including container logs, API server logs, and audit logs.</a:t>
            </a:r>
          </a:p>
          <a:p>
            <a:pPr marL="742950" lvl="1" indent="-285750" algn="l">
              <a:buFont typeface="+mj-lt"/>
              <a:buAutoNum type="arabicPeriod"/>
            </a:pPr>
            <a:r>
              <a:rPr lang="en-ZA" b="0" i="0" dirty="0">
                <a:solidFill>
                  <a:schemeClr val="tx1"/>
                </a:solidFill>
                <a:effectLst/>
                <a:latin typeface="Söhne"/>
              </a:rPr>
              <a:t>Set up monitoring and alerting for abnormal </a:t>
            </a:r>
            <a:r>
              <a:rPr lang="en-ZA" b="0" i="0" dirty="0" err="1">
                <a:solidFill>
                  <a:schemeClr val="tx1"/>
                </a:solidFill>
                <a:effectLst/>
                <a:latin typeface="Söhne"/>
              </a:rPr>
              <a:t>behavior</a:t>
            </a:r>
            <a:r>
              <a:rPr lang="en-ZA" b="0" i="0" dirty="0">
                <a:solidFill>
                  <a:schemeClr val="tx1"/>
                </a:solidFill>
                <a:effectLst/>
                <a:latin typeface="Söhne"/>
              </a:rPr>
              <a:t>, resource usage, and security-related events.</a:t>
            </a:r>
          </a:p>
          <a:p>
            <a:pPr marL="742950" lvl="1" indent="-285750" algn="l">
              <a:buFont typeface="+mj-lt"/>
              <a:buAutoNum type="arabicPeriod"/>
            </a:pPr>
            <a:r>
              <a:rPr lang="en-ZA" b="0" i="0" dirty="0">
                <a:solidFill>
                  <a:schemeClr val="tx1"/>
                </a:solidFill>
                <a:effectLst/>
                <a:latin typeface="Söhne"/>
              </a:rPr>
              <a:t>Utilize security-focused tools like Falco or </a:t>
            </a:r>
            <a:r>
              <a:rPr lang="en-ZA" b="0" i="0" dirty="0" err="1">
                <a:solidFill>
                  <a:schemeClr val="tx1"/>
                </a:solidFill>
                <a:effectLst/>
                <a:latin typeface="Söhne"/>
              </a:rPr>
              <a:t>Sysdig</a:t>
            </a:r>
            <a:r>
              <a:rPr lang="en-ZA" b="0" i="0" dirty="0">
                <a:solidFill>
                  <a:schemeClr val="tx1"/>
                </a:solidFill>
                <a:effectLst/>
                <a:latin typeface="Söhne"/>
              </a:rPr>
              <a:t> for runtime security monitoring and intrusion detection within your cluster.</a:t>
            </a:r>
          </a:p>
          <a:p>
            <a:pPr marL="0" indent="0" algn="l">
              <a:buNone/>
            </a:pPr>
            <a:r>
              <a:rPr lang="en-ZA" b="0" i="0" dirty="0">
                <a:solidFill>
                  <a:schemeClr val="tx1"/>
                </a:solidFill>
                <a:effectLst/>
                <a:latin typeface="Söhne"/>
              </a:rPr>
              <a:t>7.Regular Auditing and Penetration Testing:</a:t>
            </a:r>
          </a:p>
          <a:p>
            <a:pPr marL="742950" lvl="1" indent="-285750" algn="l">
              <a:buFont typeface="+mj-lt"/>
              <a:buAutoNum type="arabicPeriod"/>
            </a:pPr>
            <a:r>
              <a:rPr lang="en-ZA" b="0" i="0" dirty="0">
                <a:solidFill>
                  <a:schemeClr val="tx1"/>
                </a:solidFill>
                <a:effectLst/>
                <a:latin typeface="Söhne"/>
              </a:rPr>
              <a:t>Perform periodic security audits and vulnerability assessments of your Kubernetes cluster.</a:t>
            </a:r>
          </a:p>
          <a:p>
            <a:pPr marL="742950" lvl="1" indent="-285750" algn="l">
              <a:buFont typeface="+mj-lt"/>
              <a:buAutoNum type="arabicPeriod"/>
            </a:pPr>
            <a:r>
              <a:rPr lang="en-ZA" b="0" i="0" dirty="0">
                <a:solidFill>
                  <a:schemeClr val="tx1"/>
                </a:solidFill>
                <a:effectLst/>
                <a:latin typeface="Söhne"/>
              </a:rPr>
              <a:t>Conduct penetration testing to identify potential security weaknesses or misconfigurations.</a:t>
            </a:r>
          </a:p>
          <a:p>
            <a:pPr marL="742950" lvl="1" indent="-285750" algn="l">
              <a:buFont typeface="+mj-lt"/>
              <a:buAutoNum type="arabicPeriod"/>
            </a:pPr>
            <a:r>
              <a:rPr lang="en-ZA" b="0" i="0" dirty="0">
                <a:solidFill>
                  <a:schemeClr val="tx1"/>
                </a:solidFill>
                <a:effectLst/>
                <a:latin typeface="Söhne"/>
              </a:rPr>
              <a:t>Establish a process to address and remediate any identified security issues promptly.</a:t>
            </a:r>
          </a:p>
          <a:p>
            <a:endParaRPr lang="en-IN" sz="2000" dirty="0">
              <a:solidFill>
                <a:schemeClr val="tx1"/>
              </a:solidFill>
            </a:endParaRPr>
          </a:p>
        </p:txBody>
      </p:sp>
    </p:spTree>
    <p:extLst>
      <p:ext uri="{BB962C8B-B14F-4D97-AF65-F5344CB8AC3E}">
        <p14:creationId xmlns:p14="http://schemas.microsoft.com/office/powerpoint/2010/main" val="38742910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TO NOTE..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pPr marL="0" indent="0" algn="l">
              <a:buNone/>
            </a:pPr>
            <a:r>
              <a:rPr lang="en-ZA" b="0" i="0" dirty="0">
                <a:solidFill>
                  <a:schemeClr val="tx1"/>
                </a:solidFill>
                <a:effectLst/>
                <a:latin typeface="Söhne"/>
              </a:rPr>
              <a:t>Remember that securing a Kubernetes cluster is an ongoing process. It requires a combination of best practices, regular assessments, and keeping up with security updates to maintain a robust and resilient environment for your applications.</a:t>
            </a:r>
            <a:endParaRPr lang="en-IN" sz="2000" dirty="0">
              <a:solidFill>
                <a:schemeClr val="tx1"/>
              </a:solidFill>
            </a:endParaRPr>
          </a:p>
        </p:txBody>
      </p:sp>
    </p:spTree>
    <p:extLst>
      <p:ext uri="{BB962C8B-B14F-4D97-AF65-F5344CB8AC3E}">
        <p14:creationId xmlns:p14="http://schemas.microsoft.com/office/powerpoint/2010/main" val="7757652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a:xfrm>
            <a:off x="838200" y="365125"/>
            <a:ext cx="10515600" cy="1325563"/>
          </a:xfrm>
        </p:spPr>
        <p:txBody>
          <a:bodyPr anchor="ctr">
            <a:normAutofit/>
          </a:bodyPr>
          <a:lstStyle/>
          <a:p>
            <a:r>
              <a:rPr lang="en-ZA" i="0">
                <a:effectLst/>
              </a:rPr>
              <a:t>Control Plane High Availability</a:t>
            </a:r>
            <a:endParaRPr lang="en-IN"/>
          </a:p>
        </p:txBody>
      </p:sp>
      <p:pic>
        <p:nvPicPr>
          <p:cNvPr id="5" name="Picture 4">
            <a:extLst>
              <a:ext uri="{FF2B5EF4-FFF2-40B4-BE49-F238E27FC236}">
                <a16:creationId xmlns:a16="http://schemas.microsoft.com/office/drawing/2014/main" id="{AA02E58D-C03D-F229-050D-B2486F165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53291"/>
            <a:ext cx="5181600" cy="3096005"/>
          </a:xfrm>
          <a:prstGeom prst="rect">
            <a:avLst/>
          </a:prstGeom>
          <a:noFill/>
        </p:spPr>
      </p:pic>
      <p:sp>
        <p:nvSpPr>
          <p:cNvPr id="3" name="Content Placeholder 2">
            <a:extLst>
              <a:ext uri="{FF2B5EF4-FFF2-40B4-BE49-F238E27FC236}">
                <a16:creationId xmlns:a16="http://schemas.microsoft.com/office/drawing/2014/main" id="{E3CE48D6-3C32-49EB-ABE0-B51BC611909B}"/>
              </a:ext>
            </a:extLst>
          </p:cNvPr>
          <p:cNvSpPr>
            <a:spLocks noGrp="1"/>
          </p:cNvSpPr>
          <p:nvPr>
            <p:ph sz="half" idx="2"/>
          </p:nvPr>
        </p:nvSpPr>
        <p:spPr>
          <a:xfrm>
            <a:off x="6172200" y="1825625"/>
            <a:ext cx="5181600" cy="4351338"/>
          </a:xfrm>
        </p:spPr>
        <p:txBody>
          <a:bodyPr>
            <a:normAutofit/>
          </a:bodyPr>
          <a:lstStyle/>
          <a:p>
            <a:pPr marL="0" indent="0">
              <a:buNone/>
            </a:pPr>
            <a:r>
              <a:rPr lang="en-ZA" b="0" i="0">
                <a:effectLst/>
              </a:rPr>
              <a:t>Ensuring high availability of the Kubernetes control plane is essential to maintain the stability and reliability of your cluster. The control plane components, such as the API server, controller manager, scheduler, and </a:t>
            </a:r>
            <a:r>
              <a:rPr lang="en-ZA" b="0" i="0" err="1">
                <a:effectLst/>
              </a:rPr>
              <a:t>etcd</a:t>
            </a:r>
            <a:r>
              <a:rPr lang="en-ZA" b="0" i="0">
                <a:effectLst/>
              </a:rPr>
              <a:t>, must be highly available to prevent single points of failure. </a:t>
            </a:r>
            <a:endParaRPr lang="en-IN"/>
          </a:p>
        </p:txBody>
      </p:sp>
    </p:spTree>
    <p:extLst>
      <p:ext uri="{BB962C8B-B14F-4D97-AF65-F5344CB8AC3E}">
        <p14:creationId xmlns:p14="http://schemas.microsoft.com/office/powerpoint/2010/main" val="32441729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92500" lnSpcReduction="20000"/>
          </a:bodyPr>
          <a:lstStyle/>
          <a:p>
            <a:r>
              <a:rPr lang="en-ZA" b="0" i="0" dirty="0">
                <a:solidFill>
                  <a:schemeClr val="tx1"/>
                </a:solidFill>
                <a:effectLst/>
                <a:latin typeface="Söhne"/>
              </a:rPr>
              <a:t>Replicate Control Plane Components:</a:t>
            </a:r>
          </a:p>
          <a:p>
            <a:pPr lvl="1"/>
            <a:r>
              <a:rPr lang="en-ZA" b="0" i="0" dirty="0">
                <a:solidFill>
                  <a:schemeClr val="tx1"/>
                </a:solidFill>
                <a:effectLst/>
                <a:latin typeface="Söhne"/>
              </a:rPr>
              <a:t>Run multiple instances of each control plane component. For example, deploy multiple API server replicas, controller manager replicas, and scheduler replicas.</a:t>
            </a:r>
          </a:p>
          <a:p>
            <a:pPr lvl="1"/>
            <a:r>
              <a:rPr lang="en-ZA" b="0" i="0" dirty="0">
                <a:solidFill>
                  <a:schemeClr val="tx1"/>
                </a:solidFill>
                <a:effectLst/>
                <a:latin typeface="Söhne"/>
              </a:rPr>
              <a:t>Distribute these replicas across multiple physical or virtual machines to ensure fault tolerance.</a:t>
            </a:r>
          </a:p>
          <a:p>
            <a:r>
              <a:rPr lang="en-ZA" b="0" i="0" dirty="0">
                <a:solidFill>
                  <a:schemeClr val="tx1"/>
                </a:solidFill>
                <a:effectLst/>
                <a:latin typeface="Söhne"/>
              </a:rPr>
              <a:t>Load Balancing:</a:t>
            </a:r>
          </a:p>
          <a:p>
            <a:pPr lvl="1"/>
            <a:r>
              <a:rPr lang="en-ZA" b="0" i="0" dirty="0">
                <a:solidFill>
                  <a:schemeClr val="tx1"/>
                </a:solidFill>
                <a:effectLst/>
                <a:latin typeface="Söhne"/>
              </a:rPr>
              <a:t>Implement a load balancer in front of the control plane components to distribute incoming requests across the replicas.</a:t>
            </a:r>
          </a:p>
          <a:p>
            <a:pPr lvl="1"/>
            <a:r>
              <a:rPr lang="en-ZA" b="0" i="0" dirty="0">
                <a:solidFill>
                  <a:schemeClr val="tx1"/>
                </a:solidFill>
                <a:effectLst/>
                <a:latin typeface="Söhne"/>
              </a:rPr>
              <a:t>Use a load balancer with health checks to detect and route traffic only to healthy instances.</a:t>
            </a:r>
          </a:p>
          <a:p>
            <a:r>
              <a:rPr lang="en-ZA" b="0" i="0" dirty="0">
                <a:solidFill>
                  <a:schemeClr val="tx1"/>
                </a:solidFill>
                <a:effectLst/>
                <a:latin typeface="Söhne"/>
              </a:rPr>
              <a:t>Distributed </a:t>
            </a:r>
            <a:r>
              <a:rPr lang="en-ZA" b="0" i="0" dirty="0" err="1">
                <a:solidFill>
                  <a:schemeClr val="tx1"/>
                </a:solidFill>
                <a:effectLst/>
                <a:latin typeface="Söhne"/>
              </a:rPr>
              <a:t>Etcd</a:t>
            </a:r>
            <a:r>
              <a:rPr lang="en-ZA" b="0" i="0" dirty="0">
                <a:solidFill>
                  <a:schemeClr val="tx1"/>
                </a:solidFill>
                <a:effectLst/>
                <a:latin typeface="Söhne"/>
              </a:rPr>
              <a:t> Cluster:</a:t>
            </a:r>
          </a:p>
          <a:p>
            <a:pPr lvl="1"/>
            <a:r>
              <a:rPr lang="en-ZA" b="0" i="0" dirty="0">
                <a:solidFill>
                  <a:schemeClr val="tx1"/>
                </a:solidFill>
                <a:effectLst/>
                <a:latin typeface="Söhne"/>
              </a:rPr>
              <a:t>Set up a distributed </a:t>
            </a:r>
            <a:r>
              <a:rPr lang="en-ZA" b="0" i="0" dirty="0" err="1">
                <a:solidFill>
                  <a:schemeClr val="tx1"/>
                </a:solidFill>
                <a:effectLst/>
                <a:latin typeface="Söhne"/>
              </a:rPr>
              <a:t>etcd</a:t>
            </a:r>
            <a:r>
              <a:rPr lang="en-ZA" b="0" i="0" dirty="0">
                <a:solidFill>
                  <a:schemeClr val="tx1"/>
                </a:solidFill>
                <a:effectLst/>
                <a:latin typeface="Söhne"/>
              </a:rPr>
              <a:t> cluster to provide fault tolerance for storing and retrieving cluster state information.</a:t>
            </a:r>
          </a:p>
          <a:p>
            <a:pPr lvl="1"/>
            <a:r>
              <a:rPr lang="en-ZA" b="0" i="0" dirty="0">
                <a:solidFill>
                  <a:schemeClr val="tx1"/>
                </a:solidFill>
                <a:effectLst/>
                <a:latin typeface="Söhne"/>
              </a:rPr>
              <a:t>Run multiple </a:t>
            </a:r>
            <a:r>
              <a:rPr lang="en-ZA" b="0" i="0" dirty="0" err="1">
                <a:solidFill>
                  <a:schemeClr val="tx1"/>
                </a:solidFill>
                <a:effectLst/>
                <a:latin typeface="Söhne"/>
              </a:rPr>
              <a:t>etcd</a:t>
            </a:r>
            <a:r>
              <a:rPr lang="en-ZA" b="0" i="0" dirty="0">
                <a:solidFill>
                  <a:schemeClr val="tx1"/>
                </a:solidFill>
                <a:effectLst/>
                <a:latin typeface="Söhne"/>
              </a:rPr>
              <a:t> instances across different nodes, preferably with an odd number of members (e.g., 3, 5, etc.) to ensure quorum-based decision-making.</a:t>
            </a:r>
          </a:p>
          <a:p>
            <a:endParaRPr lang="en-IN" sz="2000" dirty="0">
              <a:solidFill>
                <a:schemeClr val="tx1"/>
              </a:solidFill>
            </a:endParaRPr>
          </a:p>
        </p:txBody>
      </p:sp>
    </p:spTree>
    <p:extLst>
      <p:ext uri="{BB962C8B-B14F-4D97-AF65-F5344CB8AC3E}">
        <p14:creationId xmlns:p14="http://schemas.microsoft.com/office/powerpoint/2010/main" val="1220620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92500" lnSpcReduction="20000"/>
          </a:bodyPr>
          <a:lstStyle/>
          <a:p>
            <a:r>
              <a:rPr lang="en-ZA" b="0" i="0" dirty="0">
                <a:solidFill>
                  <a:schemeClr val="tx1"/>
                </a:solidFill>
                <a:effectLst/>
                <a:latin typeface="Söhne"/>
              </a:rPr>
              <a:t>Leader Election:</a:t>
            </a:r>
          </a:p>
          <a:p>
            <a:pPr lvl="1"/>
            <a:r>
              <a:rPr lang="en-ZA" b="0" i="0" dirty="0">
                <a:solidFill>
                  <a:schemeClr val="tx1"/>
                </a:solidFill>
                <a:effectLst/>
                <a:latin typeface="Söhne"/>
              </a:rPr>
              <a:t>Configure leader election mechanisms for control plane components that support it. This ensures that only one instance acts as the leader at a given time, while others serve as followers.</a:t>
            </a:r>
          </a:p>
          <a:p>
            <a:pPr lvl="1"/>
            <a:r>
              <a:rPr lang="en-ZA" b="0" i="0" dirty="0">
                <a:solidFill>
                  <a:schemeClr val="tx1"/>
                </a:solidFill>
                <a:effectLst/>
                <a:latin typeface="Söhne"/>
              </a:rPr>
              <a:t>Use leader election libraries like client-go or leader election algorithms like Raft to manage leader election.</a:t>
            </a:r>
          </a:p>
          <a:p>
            <a:r>
              <a:rPr lang="en-ZA" b="0" i="0" dirty="0">
                <a:solidFill>
                  <a:schemeClr val="tx1"/>
                </a:solidFill>
                <a:effectLst/>
                <a:latin typeface="Söhne"/>
              </a:rPr>
              <a:t>Monitoring and Alerting:</a:t>
            </a:r>
          </a:p>
          <a:p>
            <a:pPr lvl="1"/>
            <a:r>
              <a:rPr lang="en-ZA" b="0" i="0" dirty="0">
                <a:solidFill>
                  <a:schemeClr val="tx1"/>
                </a:solidFill>
                <a:effectLst/>
                <a:latin typeface="Söhne"/>
              </a:rPr>
              <a:t>Implement monitoring for control plane components to detect any failures or performance issues.</a:t>
            </a:r>
          </a:p>
          <a:p>
            <a:pPr lvl="1"/>
            <a:r>
              <a:rPr lang="en-ZA" b="0" i="0" dirty="0">
                <a:solidFill>
                  <a:schemeClr val="tx1"/>
                </a:solidFill>
                <a:effectLst/>
                <a:latin typeface="Söhne"/>
              </a:rPr>
              <a:t>Set up alerting mechanisms to notify administrators or an automated system when control plane components are unavailable or experiencing problems.</a:t>
            </a:r>
          </a:p>
          <a:p>
            <a:r>
              <a:rPr lang="en-ZA" b="0" i="0" dirty="0">
                <a:solidFill>
                  <a:schemeClr val="tx1"/>
                </a:solidFill>
                <a:effectLst/>
                <a:latin typeface="Söhne"/>
              </a:rPr>
              <a:t>Regular Backups:</a:t>
            </a:r>
          </a:p>
          <a:p>
            <a:pPr lvl="1"/>
            <a:r>
              <a:rPr lang="en-ZA" b="0" i="0" dirty="0">
                <a:solidFill>
                  <a:schemeClr val="tx1"/>
                </a:solidFill>
                <a:effectLst/>
                <a:latin typeface="Söhne"/>
              </a:rPr>
              <a:t>Take regular backups of the </a:t>
            </a:r>
            <a:r>
              <a:rPr lang="en-ZA" b="0" i="0" dirty="0" err="1">
                <a:solidFill>
                  <a:schemeClr val="tx1"/>
                </a:solidFill>
                <a:effectLst/>
                <a:latin typeface="Söhne"/>
              </a:rPr>
              <a:t>etcd</a:t>
            </a:r>
            <a:r>
              <a:rPr lang="en-ZA" b="0" i="0" dirty="0">
                <a:solidFill>
                  <a:schemeClr val="tx1"/>
                </a:solidFill>
                <a:effectLst/>
                <a:latin typeface="Söhne"/>
              </a:rPr>
              <a:t> data to ensure data integrity and the ability to recover from catastrophic failures.</a:t>
            </a:r>
          </a:p>
          <a:p>
            <a:pPr lvl="1"/>
            <a:r>
              <a:rPr lang="en-ZA" b="0" i="0" dirty="0">
                <a:solidFill>
                  <a:schemeClr val="tx1"/>
                </a:solidFill>
                <a:effectLst/>
                <a:latin typeface="Söhne"/>
              </a:rPr>
              <a:t>Test the restoration process periodically to validate the backup reliability.</a:t>
            </a:r>
          </a:p>
          <a:p>
            <a:endParaRPr lang="en-IN" sz="2000" dirty="0">
              <a:solidFill>
                <a:schemeClr val="tx1"/>
              </a:solidFill>
            </a:endParaRPr>
          </a:p>
        </p:txBody>
      </p:sp>
    </p:spTree>
    <p:extLst>
      <p:ext uri="{BB962C8B-B14F-4D97-AF65-F5344CB8AC3E}">
        <p14:creationId xmlns:p14="http://schemas.microsoft.com/office/powerpoint/2010/main" val="31203611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r>
              <a:rPr lang="en-ZA" b="0" i="0" dirty="0">
                <a:solidFill>
                  <a:schemeClr val="tx1"/>
                </a:solidFill>
                <a:effectLst/>
                <a:latin typeface="Söhne"/>
              </a:rPr>
              <a:t>Disaster Recovery Plan:</a:t>
            </a:r>
          </a:p>
          <a:p>
            <a:pPr lvl="1"/>
            <a:r>
              <a:rPr lang="en-ZA" b="0" i="0" dirty="0">
                <a:solidFill>
                  <a:schemeClr val="tx1"/>
                </a:solidFill>
                <a:effectLst/>
                <a:latin typeface="Söhne"/>
              </a:rPr>
              <a:t>Have a well-defined disaster recovery plan in place to handle major failures or complete loss of the control plane.</a:t>
            </a:r>
          </a:p>
          <a:p>
            <a:pPr lvl="1"/>
            <a:r>
              <a:rPr lang="en-ZA" b="0" i="0" dirty="0">
                <a:solidFill>
                  <a:schemeClr val="tx1"/>
                </a:solidFill>
                <a:effectLst/>
                <a:latin typeface="Söhne"/>
              </a:rPr>
              <a:t>Document the necessary steps and procedures to recover the control plane and restore the cluster to a functional state.</a:t>
            </a:r>
          </a:p>
          <a:p>
            <a:r>
              <a:rPr lang="en-ZA" b="0" i="0" dirty="0">
                <a:solidFill>
                  <a:schemeClr val="tx1"/>
                </a:solidFill>
                <a:effectLst/>
                <a:latin typeface="Söhne"/>
              </a:rPr>
              <a:t>Regular Maintenance and Upgrades:</a:t>
            </a:r>
          </a:p>
          <a:p>
            <a:pPr lvl="1"/>
            <a:r>
              <a:rPr lang="en-ZA" b="0" i="0" dirty="0">
                <a:solidFill>
                  <a:schemeClr val="tx1"/>
                </a:solidFill>
                <a:effectLst/>
                <a:latin typeface="Söhne"/>
              </a:rPr>
              <a:t>Perform regular maintenance tasks, such as patching, upgrading, and security updates, on the control plane components to ensure they are running the latest stable versions.</a:t>
            </a:r>
          </a:p>
          <a:p>
            <a:pPr lvl="1"/>
            <a:r>
              <a:rPr lang="en-ZA" b="0" i="0" dirty="0">
                <a:solidFill>
                  <a:schemeClr val="tx1"/>
                </a:solidFill>
                <a:effectLst/>
                <a:latin typeface="Söhne"/>
              </a:rPr>
              <a:t>Conduct rolling upgrades, ensuring that at least the minimum required number of replicas for each control plane component is always available during the upgrade process.</a:t>
            </a:r>
          </a:p>
          <a:p>
            <a:endParaRPr lang="en-IN" sz="2000" dirty="0">
              <a:solidFill>
                <a:schemeClr val="tx1"/>
              </a:solidFill>
            </a:endParaRPr>
          </a:p>
        </p:txBody>
      </p:sp>
    </p:spTree>
    <p:extLst>
      <p:ext uri="{BB962C8B-B14F-4D97-AF65-F5344CB8AC3E}">
        <p14:creationId xmlns:p14="http://schemas.microsoft.com/office/powerpoint/2010/main" val="10683962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Autoscaling</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lnSpcReduction="10000"/>
          </a:bodyPr>
          <a:lstStyle/>
          <a:p>
            <a:r>
              <a:rPr lang="en-ZA" b="0" i="0" dirty="0">
                <a:solidFill>
                  <a:schemeClr val="tx1"/>
                </a:solidFill>
                <a:effectLst/>
                <a:latin typeface="Söhne"/>
              </a:rPr>
              <a:t>Auto scaling in Kubernetes allows you to automatically adjust the number of pods running in a deployment, </a:t>
            </a:r>
            <a:r>
              <a:rPr lang="en-ZA" b="0" i="0" dirty="0" err="1">
                <a:solidFill>
                  <a:schemeClr val="tx1"/>
                </a:solidFill>
                <a:effectLst/>
                <a:latin typeface="Söhne"/>
              </a:rPr>
              <a:t>replicaset</a:t>
            </a:r>
            <a:r>
              <a:rPr lang="en-ZA" b="0" i="0" dirty="0">
                <a:solidFill>
                  <a:schemeClr val="tx1"/>
                </a:solidFill>
                <a:effectLst/>
                <a:latin typeface="Söhne"/>
              </a:rPr>
              <a:t>, or horizontal pod </a:t>
            </a:r>
            <a:r>
              <a:rPr lang="en-ZA" b="0" i="0" dirty="0" err="1">
                <a:solidFill>
                  <a:schemeClr val="tx1"/>
                </a:solidFill>
                <a:effectLst/>
                <a:latin typeface="Söhne"/>
              </a:rPr>
              <a:t>autoscaler</a:t>
            </a:r>
            <a:r>
              <a:rPr lang="en-ZA" b="0" i="0" dirty="0">
                <a:solidFill>
                  <a:schemeClr val="tx1"/>
                </a:solidFill>
                <a:effectLst/>
                <a:latin typeface="Söhne"/>
              </a:rPr>
              <a:t> (HPA) based on resource utilization or custom metrics. It helps you efficiently allocate resources to meet the demand of your applications and ensures optimal performance without manual intervention.</a:t>
            </a:r>
          </a:p>
          <a:p>
            <a:r>
              <a:rPr lang="en-ZA" b="0" i="0" dirty="0">
                <a:solidFill>
                  <a:schemeClr val="tx1"/>
                </a:solidFill>
                <a:effectLst/>
                <a:latin typeface="Söhne"/>
              </a:rPr>
              <a:t> Here's an overview of auto scaling in Kubernetes:</a:t>
            </a:r>
          </a:p>
          <a:p>
            <a:pPr algn="l">
              <a:buFont typeface="+mj-lt"/>
              <a:buAutoNum type="arabicPeriod"/>
            </a:pPr>
            <a:r>
              <a:rPr lang="en-ZA" sz="2200" b="0" i="0" dirty="0">
                <a:solidFill>
                  <a:schemeClr val="tx1"/>
                </a:solidFill>
                <a:effectLst/>
                <a:latin typeface="Söhne"/>
              </a:rPr>
              <a:t>Horizontal Pod </a:t>
            </a:r>
            <a:r>
              <a:rPr lang="en-ZA" sz="2200" b="0" i="0" dirty="0" err="1">
                <a:solidFill>
                  <a:schemeClr val="tx1"/>
                </a:solidFill>
                <a:effectLst/>
                <a:latin typeface="Söhne"/>
              </a:rPr>
              <a:t>Autoscaler</a:t>
            </a:r>
            <a:r>
              <a:rPr lang="en-ZA" sz="2200" b="0" i="0" dirty="0">
                <a:solidFill>
                  <a:schemeClr val="tx1"/>
                </a:solidFill>
                <a:effectLst/>
                <a:latin typeface="Söhne"/>
              </a:rPr>
              <a:t> (HPA):</a:t>
            </a:r>
          </a:p>
          <a:p>
            <a:pPr marL="742950" lvl="1" indent="-285750" algn="l">
              <a:buFont typeface="+mj-lt"/>
              <a:buAutoNum type="arabicPeriod"/>
            </a:pPr>
            <a:r>
              <a:rPr lang="en-ZA" sz="2200" b="0" i="0" dirty="0">
                <a:solidFill>
                  <a:schemeClr val="tx1"/>
                </a:solidFill>
                <a:effectLst/>
                <a:latin typeface="Söhne"/>
              </a:rPr>
              <a:t>HPA automatically scales the number of pods in a deployment or </a:t>
            </a:r>
            <a:r>
              <a:rPr lang="en-ZA" sz="2200" b="0" i="0" dirty="0" err="1">
                <a:solidFill>
                  <a:schemeClr val="tx1"/>
                </a:solidFill>
                <a:effectLst/>
                <a:latin typeface="Söhne"/>
              </a:rPr>
              <a:t>replicaset</a:t>
            </a:r>
            <a:r>
              <a:rPr lang="en-ZA" sz="2200" b="0" i="0" dirty="0">
                <a:solidFill>
                  <a:schemeClr val="tx1"/>
                </a:solidFill>
                <a:effectLst/>
                <a:latin typeface="Söhne"/>
              </a:rPr>
              <a:t> based on CPU utilization or custom metrics.</a:t>
            </a:r>
          </a:p>
          <a:p>
            <a:pPr marL="742950" lvl="1" indent="-285750" algn="l">
              <a:buFont typeface="+mj-lt"/>
              <a:buAutoNum type="arabicPeriod"/>
            </a:pPr>
            <a:r>
              <a:rPr lang="en-ZA" sz="2200" b="0" i="0" dirty="0">
                <a:solidFill>
                  <a:schemeClr val="tx1"/>
                </a:solidFill>
                <a:effectLst/>
                <a:latin typeface="Söhne"/>
              </a:rPr>
              <a:t>Configure the target CPU utilization or custom metric thresholds to trigger scaling actions.</a:t>
            </a:r>
          </a:p>
          <a:p>
            <a:pPr marL="742950" lvl="1" indent="-285750" algn="l">
              <a:buFont typeface="+mj-lt"/>
              <a:buAutoNum type="arabicPeriod"/>
            </a:pPr>
            <a:r>
              <a:rPr lang="en-ZA" sz="2200" b="0" i="0" dirty="0">
                <a:solidFill>
                  <a:schemeClr val="tx1"/>
                </a:solidFill>
                <a:effectLst/>
                <a:latin typeface="Söhne"/>
              </a:rPr>
              <a:t>HPA periodically checks the resource utilization and adjusts the number of replicas to maintain the desired utilization.</a:t>
            </a:r>
          </a:p>
          <a:p>
            <a:endParaRPr lang="en-IN" sz="2000" dirty="0">
              <a:solidFill>
                <a:schemeClr val="tx1"/>
              </a:solidFill>
            </a:endParaRPr>
          </a:p>
        </p:txBody>
      </p:sp>
    </p:spTree>
    <p:extLst>
      <p:ext uri="{BB962C8B-B14F-4D97-AF65-F5344CB8AC3E}">
        <p14:creationId xmlns:p14="http://schemas.microsoft.com/office/powerpoint/2010/main" val="25628178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HPA</a:t>
            </a:r>
            <a:endParaRPr lang="en-IN" dirty="0"/>
          </a:p>
        </p:txBody>
      </p:sp>
      <p:pic>
        <p:nvPicPr>
          <p:cNvPr id="5" name="Content Placeholder 4" descr="A picture containing text, diagram, font, software&#10;&#10;Description automatically generated">
            <a:extLst>
              <a:ext uri="{FF2B5EF4-FFF2-40B4-BE49-F238E27FC236}">
                <a16:creationId xmlns:a16="http://schemas.microsoft.com/office/drawing/2014/main" id="{4571794E-2427-0259-9D7A-64F1060B1C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447800"/>
            <a:ext cx="6324601" cy="4953000"/>
          </a:xfrm>
        </p:spPr>
      </p:pic>
      <p:pic>
        <p:nvPicPr>
          <p:cNvPr id="7" name="Picture 6" descr="A picture containing text, screenshot, font, number&#10;&#10;Description automatically generated">
            <a:extLst>
              <a:ext uri="{FF2B5EF4-FFF2-40B4-BE49-F238E27FC236}">
                <a16:creationId xmlns:a16="http://schemas.microsoft.com/office/drawing/2014/main" id="{645CDB7B-6832-6C04-4971-B947C0362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0400" y="2133600"/>
            <a:ext cx="4800599" cy="3124200"/>
          </a:xfrm>
          <a:prstGeom prst="rect">
            <a:avLst/>
          </a:prstGeom>
        </p:spPr>
      </p:pic>
    </p:spTree>
    <p:extLst>
      <p:ext uri="{BB962C8B-B14F-4D97-AF65-F5344CB8AC3E}">
        <p14:creationId xmlns:p14="http://schemas.microsoft.com/office/powerpoint/2010/main" val="3251166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a:xfrm>
            <a:off x="839788" y="457200"/>
            <a:ext cx="3932237" cy="1600200"/>
          </a:xfrm>
        </p:spPr>
        <p:txBody>
          <a:bodyPr anchor="b">
            <a:normAutofit/>
          </a:bodyPr>
          <a:lstStyle/>
          <a:p>
            <a:r>
              <a:rPr lang="en-US" dirty="0"/>
              <a:t>Autoscaling</a:t>
            </a:r>
            <a:endParaRPr lang="en-IN" dirty="0"/>
          </a:p>
        </p:txBody>
      </p:sp>
      <p:pic>
        <p:nvPicPr>
          <p:cNvPr id="5" name="Picture 4" descr="A picture containing text, diagram, screenshot, line&#10;&#10;Description automatically generated">
            <a:extLst>
              <a:ext uri="{FF2B5EF4-FFF2-40B4-BE49-F238E27FC236}">
                <a16:creationId xmlns:a16="http://schemas.microsoft.com/office/drawing/2014/main" id="{2DBB481B-0EAE-2632-7A1C-A0A69197F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3188" y="1828800"/>
            <a:ext cx="6172200" cy="2660141"/>
          </a:xfrm>
          <a:prstGeom prst="rect">
            <a:avLst/>
          </a:prstGeom>
          <a:noFill/>
        </p:spPr>
      </p:pic>
      <p:sp>
        <p:nvSpPr>
          <p:cNvPr id="3" name="Content Placeholder 2">
            <a:extLst>
              <a:ext uri="{FF2B5EF4-FFF2-40B4-BE49-F238E27FC236}">
                <a16:creationId xmlns:a16="http://schemas.microsoft.com/office/drawing/2014/main" id="{E3CE48D6-3C32-49EB-ABE0-B51BC611909B}"/>
              </a:ext>
            </a:extLst>
          </p:cNvPr>
          <p:cNvSpPr>
            <a:spLocks noGrp="1"/>
          </p:cNvSpPr>
          <p:nvPr>
            <p:ph type="body" sz="half" idx="2"/>
          </p:nvPr>
        </p:nvSpPr>
        <p:spPr>
          <a:xfrm>
            <a:off x="839788" y="2101850"/>
            <a:ext cx="3932237" cy="3759200"/>
          </a:xfrm>
        </p:spPr>
        <p:txBody>
          <a:bodyPr>
            <a:normAutofit/>
          </a:bodyPr>
          <a:lstStyle/>
          <a:p>
            <a:pPr>
              <a:buFont typeface="+mj-lt"/>
              <a:buAutoNum type="arabicPeriod"/>
            </a:pPr>
            <a:r>
              <a:rPr lang="en-ZA" b="0" i="0">
                <a:effectLst/>
              </a:rPr>
              <a:t>Vertical Pod </a:t>
            </a:r>
            <a:r>
              <a:rPr lang="en-ZA" b="0" i="0" err="1">
                <a:effectLst/>
              </a:rPr>
              <a:t>Autoscaler</a:t>
            </a:r>
            <a:r>
              <a:rPr lang="en-ZA" b="0" i="0">
                <a:effectLst/>
              </a:rPr>
              <a:t> (VPA):</a:t>
            </a:r>
          </a:p>
          <a:p>
            <a:pPr marL="742950" lvl="1" indent="-285750">
              <a:buFont typeface="+mj-lt"/>
              <a:buAutoNum type="arabicPeriod"/>
            </a:pPr>
            <a:r>
              <a:rPr lang="en-ZA" sz="1600" b="0" i="0">
                <a:effectLst/>
              </a:rPr>
              <a:t>VPA adjusts the resource requests and limits of individual pods based on historical utilization.</a:t>
            </a:r>
          </a:p>
          <a:p>
            <a:pPr marL="742950" lvl="1" indent="-285750">
              <a:buFont typeface="+mj-lt"/>
              <a:buAutoNum type="arabicPeriod"/>
            </a:pPr>
            <a:r>
              <a:rPr lang="en-ZA" sz="1600" b="0" i="0">
                <a:effectLst/>
              </a:rPr>
              <a:t>VPA </a:t>
            </a:r>
            <a:r>
              <a:rPr lang="en-ZA" sz="1600" b="0" i="0" err="1">
                <a:effectLst/>
              </a:rPr>
              <a:t>analyzes</a:t>
            </a:r>
            <a:r>
              <a:rPr lang="en-ZA" sz="1600" b="0" i="0">
                <a:effectLst/>
              </a:rPr>
              <a:t> the resource usage patterns and recommends or applies changes to the pod specifications to optimize resource allocation.</a:t>
            </a:r>
          </a:p>
          <a:p>
            <a:br>
              <a:rPr lang="en-ZA" dirty="0"/>
            </a:br>
            <a:endParaRPr lang="en-IN"/>
          </a:p>
        </p:txBody>
      </p:sp>
    </p:spTree>
    <p:extLst>
      <p:ext uri="{BB962C8B-B14F-4D97-AF65-F5344CB8AC3E}">
        <p14:creationId xmlns:p14="http://schemas.microsoft.com/office/powerpoint/2010/main" val="3041631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a:xfrm>
            <a:off x="839788" y="457200"/>
            <a:ext cx="4343400" cy="1600200"/>
          </a:xfrm>
        </p:spPr>
        <p:txBody>
          <a:bodyPr anchor="b">
            <a:normAutofit/>
          </a:bodyPr>
          <a:lstStyle/>
          <a:p>
            <a:r>
              <a:rPr lang="en-US" dirty="0"/>
              <a:t>Cluster autoscaling</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type="body" sz="half" idx="2"/>
          </p:nvPr>
        </p:nvSpPr>
        <p:spPr>
          <a:xfrm>
            <a:off x="839788" y="2101850"/>
            <a:ext cx="3932237" cy="3759200"/>
          </a:xfrm>
        </p:spPr>
        <p:txBody>
          <a:bodyPr>
            <a:normAutofit/>
          </a:bodyPr>
          <a:lstStyle/>
          <a:p>
            <a:pPr algn="l">
              <a:buFont typeface="+mj-lt"/>
              <a:buAutoNum type="arabicPeriod"/>
            </a:pPr>
            <a:r>
              <a:rPr lang="en-ZA" b="0" i="0" dirty="0">
                <a:solidFill>
                  <a:schemeClr val="tx1"/>
                </a:solidFill>
                <a:effectLst/>
                <a:latin typeface="Söhne"/>
              </a:rPr>
              <a:t>Cluster </a:t>
            </a:r>
            <a:r>
              <a:rPr lang="en-ZA" b="0" i="0" dirty="0" err="1">
                <a:solidFill>
                  <a:schemeClr val="tx1"/>
                </a:solidFill>
                <a:effectLst/>
                <a:latin typeface="Söhne"/>
              </a:rPr>
              <a:t>Autoscaler</a:t>
            </a:r>
            <a:r>
              <a:rPr lang="en-ZA" b="0" i="0" dirty="0">
                <a:solidFill>
                  <a:schemeClr val="tx1"/>
                </a:solidFill>
                <a:effectLst/>
                <a:latin typeface="Söhne"/>
              </a:rPr>
              <a:t>:</a:t>
            </a:r>
          </a:p>
          <a:p>
            <a:pPr marL="742950" lvl="1" indent="-285750" algn="l">
              <a:buFont typeface="+mj-lt"/>
              <a:buAutoNum type="arabicPeriod"/>
            </a:pPr>
            <a:r>
              <a:rPr lang="en-ZA" b="0" i="0" dirty="0">
                <a:solidFill>
                  <a:schemeClr val="tx1"/>
                </a:solidFill>
                <a:effectLst/>
                <a:latin typeface="Söhne"/>
              </a:rPr>
              <a:t>Cluster </a:t>
            </a:r>
            <a:r>
              <a:rPr lang="en-ZA" b="0" i="0" dirty="0" err="1">
                <a:solidFill>
                  <a:schemeClr val="tx1"/>
                </a:solidFill>
                <a:effectLst/>
                <a:latin typeface="Söhne"/>
              </a:rPr>
              <a:t>Autoscaler</a:t>
            </a:r>
            <a:r>
              <a:rPr lang="en-ZA" b="0" i="0" dirty="0">
                <a:solidFill>
                  <a:schemeClr val="tx1"/>
                </a:solidFill>
                <a:effectLst/>
                <a:latin typeface="Söhne"/>
              </a:rPr>
              <a:t> automatically adjusts the size of the Kubernetes cluster by adding or removing nodes based on the pending pods and resource demands.</a:t>
            </a:r>
          </a:p>
          <a:p>
            <a:pPr marL="742950" lvl="1" indent="-285750" algn="l">
              <a:buFont typeface="+mj-lt"/>
              <a:buAutoNum type="arabicPeriod"/>
            </a:pPr>
            <a:r>
              <a:rPr lang="en-ZA" b="0" i="0" dirty="0">
                <a:solidFill>
                  <a:schemeClr val="tx1"/>
                </a:solidFill>
                <a:effectLst/>
                <a:latin typeface="Söhne"/>
              </a:rPr>
              <a:t>When pods cannot be scheduled due to resource constraints, Cluster </a:t>
            </a:r>
            <a:r>
              <a:rPr lang="en-ZA" b="0" i="0" dirty="0" err="1">
                <a:solidFill>
                  <a:schemeClr val="tx1"/>
                </a:solidFill>
                <a:effectLst/>
                <a:latin typeface="Söhne"/>
              </a:rPr>
              <a:t>Autoscaler</a:t>
            </a:r>
            <a:r>
              <a:rPr lang="en-ZA" b="0" i="0" dirty="0">
                <a:solidFill>
                  <a:schemeClr val="tx1"/>
                </a:solidFill>
                <a:effectLst/>
                <a:latin typeface="Söhne"/>
              </a:rPr>
              <a:t> provisions new nodes. Conversely, when nodes are underutilized, it scales down the cluster by removing nodes.</a:t>
            </a:r>
          </a:p>
          <a:p>
            <a:br>
              <a:rPr lang="en-ZA" dirty="0"/>
            </a:br>
            <a:endParaRPr lang="en-IN" dirty="0"/>
          </a:p>
        </p:txBody>
      </p:sp>
      <p:pic>
        <p:nvPicPr>
          <p:cNvPr id="6" name="Picture 5" descr="A diagram of a cluster&#10;&#10;Description automatically generated with medium confidence">
            <a:extLst>
              <a:ext uri="{FF2B5EF4-FFF2-40B4-BE49-F238E27FC236}">
                <a16:creationId xmlns:a16="http://schemas.microsoft.com/office/drawing/2014/main" id="{6D568F85-09FB-69A5-4D1E-52DADF4FE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1257301"/>
            <a:ext cx="6172200" cy="4076700"/>
          </a:xfrm>
          <a:prstGeom prst="rect">
            <a:avLst/>
          </a:prstGeom>
        </p:spPr>
      </p:pic>
    </p:spTree>
    <p:extLst>
      <p:ext uri="{BB962C8B-B14F-4D97-AF65-F5344CB8AC3E}">
        <p14:creationId xmlns:p14="http://schemas.microsoft.com/office/powerpoint/2010/main" val="18863891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pPr algn="l">
              <a:buFont typeface="+mj-lt"/>
              <a:buAutoNum type="arabicPeriod"/>
            </a:pPr>
            <a:r>
              <a:rPr lang="en-ZA" b="0" i="0" dirty="0">
                <a:solidFill>
                  <a:schemeClr val="tx1"/>
                </a:solidFill>
                <a:effectLst/>
                <a:latin typeface="Söhne"/>
              </a:rPr>
              <a:t>Custom Metrics and External Metrics:</a:t>
            </a:r>
          </a:p>
          <a:p>
            <a:pPr marL="742950" lvl="1" indent="-285750" algn="l">
              <a:buFont typeface="+mj-lt"/>
              <a:buAutoNum type="arabicPeriod"/>
            </a:pPr>
            <a:r>
              <a:rPr lang="en-ZA" b="0" i="0" dirty="0">
                <a:solidFill>
                  <a:schemeClr val="tx1"/>
                </a:solidFill>
                <a:effectLst/>
                <a:latin typeface="Söhne"/>
              </a:rPr>
              <a:t>Kubernetes allows you to define custom metrics or use external metrics from third-party monitoring systems to drive auto scaling decisions.</a:t>
            </a:r>
          </a:p>
          <a:p>
            <a:pPr marL="742950" lvl="1" indent="-285750" algn="l">
              <a:buFont typeface="+mj-lt"/>
              <a:buAutoNum type="arabicPeriod"/>
            </a:pPr>
            <a:r>
              <a:rPr lang="en-ZA" b="0" i="0" dirty="0">
                <a:solidFill>
                  <a:schemeClr val="tx1"/>
                </a:solidFill>
                <a:effectLst/>
                <a:latin typeface="Söhne"/>
              </a:rPr>
              <a:t>Custom Metrics APIs and custom metrics adapters enable the consumption of these metrics by the HPA for scaling actions.</a:t>
            </a:r>
          </a:p>
          <a:p>
            <a:pPr algn="l">
              <a:buFont typeface="+mj-lt"/>
              <a:buAutoNum type="arabicPeriod"/>
            </a:pPr>
            <a:r>
              <a:rPr lang="en-ZA" b="0" i="0" dirty="0">
                <a:solidFill>
                  <a:schemeClr val="tx1"/>
                </a:solidFill>
                <a:effectLst/>
                <a:latin typeface="Söhne"/>
              </a:rPr>
              <a:t>Auto Scaling Configuration:</a:t>
            </a:r>
          </a:p>
          <a:p>
            <a:pPr marL="742950" lvl="1" indent="-285750" algn="l">
              <a:buFont typeface="+mj-lt"/>
              <a:buAutoNum type="arabicPeriod"/>
            </a:pPr>
            <a:r>
              <a:rPr lang="en-ZA" b="0" i="0" dirty="0">
                <a:solidFill>
                  <a:schemeClr val="tx1"/>
                </a:solidFill>
                <a:effectLst/>
                <a:latin typeface="Söhne"/>
              </a:rPr>
              <a:t>To enable auto scaling, you need to define the desired auto scaling </a:t>
            </a:r>
            <a:r>
              <a:rPr lang="en-ZA" b="0" i="0" dirty="0" err="1">
                <a:solidFill>
                  <a:schemeClr val="tx1"/>
                </a:solidFill>
                <a:effectLst/>
                <a:latin typeface="Söhne"/>
              </a:rPr>
              <a:t>behavior</a:t>
            </a:r>
            <a:r>
              <a:rPr lang="en-ZA" b="0" i="0" dirty="0">
                <a:solidFill>
                  <a:schemeClr val="tx1"/>
                </a:solidFill>
                <a:effectLst/>
                <a:latin typeface="Söhne"/>
              </a:rPr>
              <a:t> for your deployments, </a:t>
            </a:r>
            <a:r>
              <a:rPr lang="en-ZA" b="0" i="0" dirty="0" err="1">
                <a:solidFill>
                  <a:schemeClr val="tx1"/>
                </a:solidFill>
                <a:effectLst/>
                <a:latin typeface="Söhne"/>
              </a:rPr>
              <a:t>replicaset</a:t>
            </a:r>
            <a:r>
              <a:rPr lang="en-ZA" b="0" i="0" dirty="0">
                <a:solidFill>
                  <a:schemeClr val="tx1"/>
                </a:solidFill>
                <a:effectLst/>
                <a:latin typeface="Söhne"/>
              </a:rPr>
              <a:t>, or </a:t>
            </a:r>
            <a:r>
              <a:rPr lang="en-ZA" b="0" i="0" dirty="0" err="1">
                <a:solidFill>
                  <a:schemeClr val="tx1"/>
                </a:solidFill>
                <a:effectLst/>
                <a:latin typeface="Söhne"/>
              </a:rPr>
              <a:t>statefulset</a:t>
            </a:r>
            <a:r>
              <a:rPr lang="en-ZA" b="0" i="0" dirty="0">
                <a:solidFill>
                  <a:schemeClr val="tx1"/>
                </a:solidFill>
                <a:effectLst/>
                <a:latin typeface="Söhne"/>
              </a:rPr>
              <a:t> by specifying the target CPU utilization, custom metrics, or other relevant parameters.</a:t>
            </a:r>
          </a:p>
          <a:p>
            <a:pPr marL="742950" lvl="1" indent="-285750" algn="l">
              <a:buFont typeface="+mj-lt"/>
              <a:buAutoNum type="arabicPeriod"/>
            </a:pPr>
            <a:r>
              <a:rPr lang="en-ZA" b="0" i="0" dirty="0">
                <a:solidFill>
                  <a:schemeClr val="tx1"/>
                </a:solidFill>
                <a:effectLst/>
                <a:latin typeface="Söhne"/>
              </a:rPr>
              <a:t>Use the Kubernetes API or YAML configuration files to define the desired auto scaling </a:t>
            </a:r>
            <a:r>
              <a:rPr lang="en-ZA" b="0" i="0" dirty="0" err="1">
                <a:solidFill>
                  <a:schemeClr val="tx1"/>
                </a:solidFill>
                <a:effectLst/>
                <a:latin typeface="Söhne"/>
              </a:rPr>
              <a:t>behavior</a:t>
            </a:r>
            <a:r>
              <a:rPr lang="en-ZA" b="0" i="0" dirty="0">
                <a:solidFill>
                  <a:schemeClr val="tx1"/>
                </a:solidFill>
                <a:effectLst/>
                <a:latin typeface="Söhne"/>
              </a:rPr>
              <a:t>.</a:t>
            </a:r>
          </a:p>
          <a:p>
            <a:endParaRPr lang="en-IN" sz="2000" dirty="0">
              <a:solidFill>
                <a:schemeClr val="tx1"/>
              </a:solidFill>
            </a:endParaRPr>
          </a:p>
        </p:txBody>
      </p:sp>
    </p:spTree>
    <p:extLst>
      <p:ext uri="{BB962C8B-B14F-4D97-AF65-F5344CB8AC3E}">
        <p14:creationId xmlns:p14="http://schemas.microsoft.com/office/powerpoint/2010/main" val="11957757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pPr algn="l">
              <a:buFont typeface="+mj-lt"/>
              <a:buAutoNum type="arabicPeriod"/>
            </a:pPr>
            <a:r>
              <a:rPr lang="en-ZA" b="0" i="0" dirty="0">
                <a:solidFill>
                  <a:schemeClr val="tx1"/>
                </a:solidFill>
                <a:effectLst/>
                <a:latin typeface="Söhne"/>
              </a:rPr>
              <a:t>Monitoring and Alerting:</a:t>
            </a:r>
          </a:p>
          <a:p>
            <a:pPr marL="742950" lvl="1" indent="-285750" algn="l">
              <a:buFont typeface="+mj-lt"/>
              <a:buAutoNum type="arabicPeriod"/>
            </a:pPr>
            <a:r>
              <a:rPr lang="en-ZA" b="0" i="0" dirty="0">
                <a:solidFill>
                  <a:schemeClr val="tx1"/>
                </a:solidFill>
                <a:effectLst/>
                <a:latin typeface="Söhne"/>
              </a:rPr>
              <a:t>Implement monitoring and alerting to track the performance, resource utilization, and scaling events of your applications and the cluster.</a:t>
            </a:r>
          </a:p>
          <a:p>
            <a:pPr marL="742950" lvl="1" indent="-285750" algn="l">
              <a:buFont typeface="+mj-lt"/>
              <a:buAutoNum type="arabicPeriod"/>
            </a:pPr>
            <a:r>
              <a:rPr lang="en-ZA" b="0" i="0" dirty="0">
                <a:solidFill>
                  <a:schemeClr val="tx1"/>
                </a:solidFill>
                <a:effectLst/>
                <a:latin typeface="Söhne"/>
              </a:rPr>
              <a:t>Configure alerts to notify administrators of any scaling activities or when thresholds are breached.</a:t>
            </a:r>
          </a:p>
          <a:p>
            <a:pPr algn="l"/>
            <a:r>
              <a:rPr lang="en-ZA" b="0" i="0" dirty="0">
                <a:solidFill>
                  <a:schemeClr val="tx1"/>
                </a:solidFill>
                <a:effectLst/>
                <a:latin typeface="Söhne"/>
              </a:rPr>
              <a:t>Auto scaling allows your Kubernetes cluster to dynamically adjust resources to meet application demands, optimize resource utilization, and handle traffic spikes. By automating the scaling process, you can ensure that your applications are responsive, cost-effective, and provide a great user experience.</a:t>
            </a:r>
          </a:p>
          <a:p>
            <a:endParaRPr lang="en-IN" sz="2000" dirty="0">
              <a:solidFill>
                <a:schemeClr val="tx1"/>
              </a:solidFill>
            </a:endParaRPr>
          </a:p>
        </p:txBody>
      </p:sp>
    </p:spTree>
    <p:extLst>
      <p:ext uri="{BB962C8B-B14F-4D97-AF65-F5344CB8AC3E}">
        <p14:creationId xmlns:p14="http://schemas.microsoft.com/office/powerpoint/2010/main" val="4692130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4724400" y="1590974"/>
            <a:ext cx="4343400" cy="4953000"/>
          </a:xfrm>
        </p:spPr>
        <p:txBody>
          <a:bodyPr>
            <a:normAutofit/>
          </a:bodyPr>
          <a:lstStyle/>
          <a:p>
            <a:pPr marL="0" indent="0">
              <a:buNone/>
            </a:pPr>
            <a:r>
              <a:rPr lang="en-IN" sz="1800" dirty="0" err="1">
                <a:solidFill>
                  <a:schemeClr val="tx1"/>
                </a:solidFill>
              </a:rPr>
              <a:t>apiVersion</a:t>
            </a:r>
            <a:r>
              <a:rPr lang="en-IN" sz="1800" dirty="0">
                <a:solidFill>
                  <a:schemeClr val="tx1"/>
                </a:solidFill>
              </a:rPr>
              <a:t>: autoscaling.k8s.io/v1</a:t>
            </a:r>
          </a:p>
          <a:p>
            <a:pPr marL="0" indent="0">
              <a:buNone/>
            </a:pPr>
            <a:r>
              <a:rPr lang="en-IN" sz="1800" dirty="0">
                <a:solidFill>
                  <a:schemeClr val="tx1"/>
                </a:solidFill>
              </a:rPr>
              <a:t>kind: </a:t>
            </a:r>
            <a:r>
              <a:rPr lang="en-IN" sz="1800" dirty="0" err="1">
                <a:solidFill>
                  <a:schemeClr val="tx1"/>
                </a:solidFill>
              </a:rPr>
              <a:t>VerticalPodAutoscaler</a:t>
            </a:r>
            <a:endParaRPr lang="en-IN" sz="1800" dirty="0">
              <a:solidFill>
                <a:schemeClr val="tx1"/>
              </a:solidFill>
            </a:endParaRPr>
          </a:p>
          <a:p>
            <a:pPr marL="0" indent="0">
              <a:buNone/>
            </a:pPr>
            <a:r>
              <a:rPr lang="en-IN" sz="1800" dirty="0">
                <a:solidFill>
                  <a:schemeClr val="tx1"/>
                </a:solidFill>
              </a:rPr>
              <a:t>metadata:</a:t>
            </a:r>
          </a:p>
          <a:p>
            <a:pPr marL="0" indent="0">
              <a:buNone/>
            </a:pPr>
            <a:r>
              <a:rPr lang="en-IN" sz="1800" dirty="0">
                <a:solidFill>
                  <a:schemeClr val="tx1"/>
                </a:solidFill>
              </a:rPr>
              <a:t>  name: my-</a:t>
            </a:r>
            <a:r>
              <a:rPr lang="en-IN" sz="1800" dirty="0" err="1">
                <a:solidFill>
                  <a:schemeClr val="tx1"/>
                </a:solidFill>
              </a:rPr>
              <a:t>vpa</a:t>
            </a:r>
            <a:endParaRPr lang="en-IN" sz="1800" dirty="0">
              <a:solidFill>
                <a:schemeClr val="tx1"/>
              </a:solidFill>
            </a:endParaRPr>
          </a:p>
          <a:p>
            <a:pPr marL="0" indent="0">
              <a:buNone/>
            </a:pPr>
            <a:r>
              <a:rPr lang="en-IN" sz="1800" dirty="0">
                <a:solidFill>
                  <a:schemeClr val="tx1"/>
                </a:solidFill>
              </a:rPr>
              <a:t>spec:</a:t>
            </a:r>
          </a:p>
          <a:p>
            <a:pPr marL="0" indent="0">
              <a:buNone/>
            </a:pPr>
            <a:r>
              <a:rPr lang="en-IN" sz="1800" dirty="0">
                <a:solidFill>
                  <a:schemeClr val="tx1"/>
                </a:solidFill>
              </a:rPr>
              <a:t>  </a:t>
            </a:r>
            <a:r>
              <a:rPr lang="en-IN" sz="1800" dirty="0" err="1">
                <a:solidFill>
                  <a:schemeClr val="tx1"/>
                </a:solidFill>
              </a:rPr>
              <a:t>targetRef</a:t>
            </a:r>
            <a:r>
              <a:rPr lang="en-IN" sz="1800" dirty="0">
                <a:solidFill>
                  <a:schemeClr val="tx1"/>
                </a:solidFill>
              </a:rPr>
              <a:t>:</a:t>
            </a:r>
          </a:p>
          <a:p>
            <a:pPr marL="0" indent="0">
              <a:buNone/>
            </a:pPr>
            <a:r>
              <a:rPr lang="en-IN" sz="1800" dirty="0">
                <a:solidFill>
                  <a:schemeClr val="tx1"/>
                </a:solidFill>
              </a:rPr>
              <a:t>    </a:t>
            </a:r>
            <a:r>
              <a:rPr lang="en-IN" sz="1800" dirty="0" err="1">
                <a:solidFill>
                  <a:schemeClr val="tx1"/>
                </a:solidFill>
              </a:rPr>
              <a:t>apiVersion</a:t>
            </a:r>
            <a:r>
              <a:rPr lang="en-IN" sz="1800" dirty="0">
                <a:solidFill>
                  <a:schemeClr val="tx1"/>
                </a:solidFill>
              </a:rPr>
              <a:t>: "apps/v1"</a:t>
            </a:r>
          </a:p>
          <a:p>
            <a:pPr marL="0" indent="0">
              <a:buNone/>
            </a:pPr>
            <a:r>
              <a:rPr lang="en-IN" sz="1800" dirty="0">
                <a:solidFill>
                  <a:schemeClr val="tx1"/>
                </a:solidFill>
              </a:rPr>
              <a:t>    kind: Deployment</a:t>
            </a:r>
          </a:p>
          <a:p>
            <a:pPr marL="0" indent="0">
              <a:buNone/>
            </a:pPr>
            <a:r>
              <a:rPr lang="en-IN" sz="1800" dirty="0">
                <a:solidFill>
                  <a:schemeClr val="tx1"/>
                </a:solidFill>
              </a:rPr>
              <a:t>    name: my-deployment</a:t>
            </a:r>
          </a:p>
          <a:p>
            <a:pPr marL="0" indent="0">
              <a:buNone/>
            </a:pPr>
            <a:r>
              <a:rPr lang="en-IN" sz="1800" dirty="0">
                <a:solidFill>
                  <a:schemeClr val="tx1"/>
                </a:solidFill>
              </a:rPr>
              <a:t>  </a:t>
            </a:r>
            <a:r>
              <a:rPr lang="en-IN" sz="1800" dirty="0" err="1">
                <a:solidFill>
                  <a:schemeClr val="tx1"/>
                </a:solidFill>
              </a:rPr>
              <a:t>updatePolicy</a:t>
            </a:r>
            <a:r>
              <a:rPr lang="en-IN" sz="1800" dirty="0">
                <a:solidFill>
                  <a:schemeClr val="tx1"/>
                </a:solidFill>
              </a:rPr>
              <a:t>:</a:t>
            </a:r>
          </a:p>
          <a:p>
            <a:pPr marL="0" indent="0">
              <a:buNone/>
            </a:pPr>
            <a:r>
              <a:rPr lang="en-IN" sz="1800" dirty="0">
                <a:solidFill>
                  <a:schemeClr val="tx1"/>
                </a:solidFill>
              </a:rPr>
              <a:t>    </a:t>
            </a:r>
            <a:r>
              <a:rPr lang="en-IN" sz="1800" dirty="0" err="1">
                <a:solidFill>
                  <a:schemeClr val="tx1"/>
                </a:solidFill>
              </a:rPr>
              <a:t>updateMode</a:t>
            </a:r>
            <a:r>
              <a:rPr lang="en-IN" sz="1800" dirty="0">
                <a:solidFill>
                  <a:schemeClr val="tx1"/>
                </a:solidFill>
              </a:rPr>
              <a:t>: "Auto"</a:t>
            </a:r>
          </a:p>
          <a:p>
            <a:endParaRPr lang="en-IN" sz="2000" dirty="0">
              <a:solidFill>
                <a:schemeClr val="tx1"/>
              </a:solidFill>
            </a:endParaRPr>
          </a:p>
        </p:txBody>
      </p:sp>
      <p:sp>
        <p:nvSpPr>
          <p:cNvPr id="4" name="Content Placeholder 2">
            <a:extLst>
              <a:ext uri="{FF2B5EF4-FFF2-40B4-BE49-F238E27FC236}">
                <a16:creationId xmlns:a16="http://schemas.microsoft.com/office/drawing/2014/main" id="{68B94CC4-B60A-80F1-0818-90EE46F5CB17}"/>
              </a:ext>
            </a:extLst>
          </p:cNvPr>
          <p:cNvSpPr txBox="1">
            <a:spLocks/>
          </p:cNvSpPr>
          <p:nvPr/>
        </p:nvSpPr>
        <p:spPr>
          <a:xfrm>
            <a:off x="990600" y="1600200"/>
            <a:ext cx="4648200" cy="49530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rgbClr val="414141"/>
                </a:solidFill>
                <a:latin typeface="Raleway-v4020" pitchFamily="50" charset="-18"/>
                <a:ea typeface="Adobe Fan Heiti Std B" panose="020B0700000000000000" pitchFamily="34" charset="-128"/>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rgbClr val="414141"/>
                </a:solidFill>
                <a:latin typeface="Raleway-v4020" pitchFamily="50" charset="-18"/>
                <a:ea typeface="Adobe Fan Heiti Std B" panose="020B0700000000000000" pitchFamily="34" charset="-128"/>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rgbClr val="414141"/>
                </a:solidFill>
                <a:latin typeface="Raleway-v4020" pitchFamily="50" charset="-18"/>
                <a:ea typeface="Adobe Fan Heiti Std B" panose="020B0700000000000000" pitchFamily="34" charset="-128"/>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rgbClr val="414141"/>
                </a:solidFill>
                <a:latin typeface="Raleway-v4020" pitchFamily="50" charset="-18"/>
                <a:ea typeface="Adobe Fan Heiti Std B" panose="020B0700000000000000" pitchFamily="34" charset="-128"/>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700" dirty="0" err="1">
                <a:solidFill>
                  <a:schemeClr val="tx1"/>
                </a:solidFill>
              </a:rPr>
              <a:t>apiVersion</a:t>
            </a:r>
            <a:r>
              <a:rPr lang="en-IN" sz="1700" dirty="0">
                <a:solidFill>
                  <a:schemeClr val="tx1"/>
                </a:solidFill>
              </a:rPr>
              <a:t>: autoscaling/v2beta2</a:t>
            </a:r>
          </a:p>
          <a:p>
            <a:pPr marL="0" indent="0">
              <a:buFont typeface="Arial" panose="020B0604020202020204" pitchFamily="34" charset="0"/>
              <a:buNone/>
            </a:pPr>
            <a:r>
              <a:rPr lang="en-IN" sz="1700" dirty="0">
                <a:solidFill>
                  <a:schemeClr val="tx1"/>
                </a:solidFill>
              </a:rPr>
              <a:t>kind: </a:t>
            </a:r>
            <a:r>
              <a:rPr lang="en-IN" sz="1700" dirty="0" err="1">
                <a:solidFill>
                  <a:schemeClr val="tx1"/>
                </a:solidFill>
              </a:rPr>
              <a:t>HorizontalPodAutoscaler</a:t>
            </a:r>
            <a:endParaRPr lang="en-IN" sz="1700" dirty="0">
              <a:solidFill>
                <a:schemeClr val="tx1"/>
              </a:solidFill>
            </a:endParaRPr>
          </a:p>
          <a:p>
            <a:pPr marL="0" indent="0">
              <a:buFont typeface="Arial" panose="020B0604020202020204" pitchFamily="34" charset="0"/>
              <a:buNone/>
            </a:pPr>
            <a:r>
              <a:rPr lang="en-IN" sz="1700" dirty="0">
                <a:solidFill>
                  <a:schemeClr val="tx1"/>
                </a:solidFill>
              </a:rPr>
              <a:t>metadata:</a:t>
            </a:r>
          </a:p>
          <a:p>
            <a:pPr marL="0" indent="0">
              <a:buFont typeface="Arial" panose="020B0604020202020204" pitchFamily="34" charset="0"/>
              <a:buNone/>
            </a:pPr>
            <a:r>
              <a:rPr lang="en-IN" sz="1700" dirty="0">
                <a:solidFill>
                  <a:schemeClr val="tx1"/>
                </a:solidFill>
              </a:rPr>
              <a:t>     name: my-</a:t>
            </a:r>
            <a:r>
              <a:rPr lang="en-IN" sz="1700" dirty="0" err="1">
                <a:solidFill>
                  <a:schemeClr val="tx1"/>
                </a:solidFill>
              </a:rPr>
              <a:t>hpa</a:t>
            </a:r>
            <a:endParaRPr lang="en-IN" sz="1700" dirty="0">
              <a:solidFill>
                <a:schemeClr val="tx1"/>
              </a:solidFill>
            </a:endParaRPr>
          </a:p>
          <a:p>
            <a:pPr marL="0" indent="0">
              <a:buFont typeface="Arial" panose="020B0604020202020204" pitchFamily="34" charset="0"/>
              <a:buNone/>
            </a:pPr>
            <a:r>
              <a:rPr lang="en-IN" sz="1700" dirty="0">
                <a:solidFill>
                  <a:schemeClr val="tx1"/>
                </a:solidFill>
              </a:rPr>
              <a:t> spec:</a:t>
            </a:r>
          </a:p>
          <a:p>
            <a:pPr marL="0" indent="0">
              <a:buFont typeface="Arial" panose="020B0604020202020204" pitchFamily="34" charset="0"/>
              <a:buNone/>
            </a:pPr>
            <a:r>
              <a:rPr lang="en-IN" sz="1700" dirty="0">
                <a:solidFill>
                  <a:schemeClr val="tx1"/>
                </a:solidFill>
              </a:rPr>
              <a:t>  </a:t>
            </a:r>
            <a:r>
              <a:rPr lang="en-IN" sz="1700" dirty="0" err="1">
                <a:solidFill>
                  <a:schemeClr val="tx1"/>
                </a:solidFill>
              </a:rPr>
              <a:t>scaleTargetRef</a:t>
            </a:r>
            <a:r>
              <a:rPr lang="en-IN" sz="1700" dirty="0">
                <a:solidFill>
                  <a:schemeClr val="tx1"/>
                </a:solidFill>
              </a:rPr>
              <a:t>:</a:t>
            </a:r>
          </a:p>
          <a:p>
            <a:pPr marL="0" indent="0">
              <a:buFont typeface="Arial" panose="020B0604020202020204" pitchFamily="34" charset="0"/>
              <a:buNone/>
            </a:pPr>
            <a:r>
              <a:rPr lang="en-IN" sz="1700" dirty="0">
                <a:solidFill>
                  <a:schemeClr val="tx1"/>
                </a:solidFill>
              </a:rPr>
              <a:t>     </a:t>
            </a:r>
            <a:r>
              <a:rPr lang="en-IN" sz="1700" dirty="0" err="1">
                <a:solidFill>
                  <a:schemeClr val="tx1"/>
                </a:solidFill>
              </a:rPr>
              <a:t>apiVersion</a:t>
            </a:r>
            <a:r>
              <a:rPr lang="en-IN" sz="1700" dirty="0">
                <a:solidFill>
                  <a:schemeClr val="tx1"/>
                </a:solidFill>
              </a:rPr>
              <a:t>: apps/v1</a:t>
            </a:r>
          </a:p>
          <a:p>
            <a:pPr marL="0" indent="0">
              <a:buFont typeface="Arial" panose="020B0604020202020204" pitchFamily="34" charset="0"/>
              <a:buNone/>
            </a:pPr>
            <a:r>
              <a:rPr lang="en-IN" sz="1700" dirty="0">
                <a:solidFill>
                  <a:schemeClr val="tx1"/>
                </a:solidFill>
              </a:rPr>
              <a:t>      kind: Deployment</a:t>
            </a:r>
          </a:p>
          <a:p>
            <a:pPr marL="0" indent="0">
              <a:buFont typeface="Arial" panose="020B0604020202020204" pitchFamily="34" charset="0"/>
              <a:buNone/>
            </a:pPr>
            <a:r>
              <a:rPr lang="en-IN" sz="1700" dirty="0">
                <a:solidFill>
                  <a:schemeClr val="tx1"/>
                </a:solidFill>
              </a:rPr>
              <a:t>      name: my-deployment</a:t>
            </a:r>
          </a:p>
          <a:p>
            <a:pPr marL="0" indent="0">
              <a:buFont typeface="Arial" panose="020B0604020202020204" pitchFamily="34" charset="0"/>
              <a:buNone/>
            </a:pPr>
            <a:r>
              <a:rPr lang="en-IN" sz="1700" dirty="0">
                <a:solidFill>
                  <a:schemeClr val="tx1"/>
                </a:solidFill>
              </a:rPr>
              <a:t>   </a:t>
            </a:r>
            <a:r>
              <a:rPr lang="en-IN" sz="1700" dirty="0" err="1">
                <a:solidFill>
                  <a:schemeClr val="tx1"/>
                </a:solidFill>
              </a:rPr>
              <a:t>minReplicas</a:t>
            </a:r>
            <a:r>
              <a:rPr lang="en-IN" sz="1700" dirty="0">
                <a:solidFill>
                  <a:schemeClr val="tx1"/>
                </a:solidFill>
              </a:rPr>
              <a:t>: 1</a:t>
            </a:r>
          </a:p>
          <a:p>
            <a:pPr marL="0" indent="0">
              <a:buFont typeface="Arial" panose="020B0604020202020204" pitchFamily="34" charset="0"/>
              <a:buNone/>
            </a:pPr>
            <a:r>
              <a:rPr lang="en-IN" sz="1700" dirty="0">
                <a:solidFill>
                  <a:schemeClr val="tx1"/>
                </a:solidFill>
              </a:rPr>
              <a:t>   </a:t>
            </a:r>
            <a:r>
              <a:rPr lang="en-IN" sz="1700" dirty="0" err="1">
                <a:solidFill>
                  <a:schemeClr val="tx1"/>
                </a:solidFill>
              </a:rPr>
              <a:t>maxReplicas</a:t>
            </a:r>
            <a:r>
              <a:rPr lang="en-IN" sz="1700" dirty="0">
                <a:solidFill>
                  <a:schemeClr val="tx1"/>
                </a:solidFill>
              </a:rPr>
              <a:t>: 10</a:t>
            </a:r>
          </a:p>
          <a:p>
            <a:pPr marL="0" indent="0">
              <a:buFont typeface="Arial" panose="020B0604020202020204" pitchFamily="34" charset="0"/>
              <a:buNone/>
            </a:pPr>
            <a:r>
              <a:rPr lang="en-IN" sz="1700" dirty="0">
                <a:solidFill>
                  <a:schemeClr val="tx1"/>
                </a:solidFill>
              </a:rPr>
              <a:t>  metrics:</a:t>
            </a:r>
          </a:p>
          <a:p>
            <a:pPr marL="0" indent="0">
              <a:buFont typeface="Arial" panose="020B0604020202020204" pitchFamily="34" charset="0"/>
              <a:buNone/>
            </a:pPr>
            <a:r>
              <a:rPr lang="en-IN" sz="1700" dirty="0">
                <a:solidFill>
                  <a:schemeClr val="tx1"/>
                </a:solidFill>
              </a:rPr>
              <a:t>  - type: Resource</a:t>
            </a:r>
          </a:p>
          <a:p>
            <a:pPr marL="0" indent="0">
              <a:buFont typeface="Arial" panose="020B0604020202020204" pitchFamily="34" charset="0"/>
              <a:buNone/>
            </a:pPr>
            <a:r>
              <a:rPr lang="en-IN" sz="1700" dirty="0">
                <a:solidFill>
                  <a:schemeClr val="tx1"/>
                </a:solidFill>
              </a:rPr>
              <a:t>    resource:</a:t>
            </a:r>
          </a:p>
          <a:p>
            <a:pPr marL="0" indent="0">
              <a:buFont typeface="Arial" panose="020B0604020202020204" pitchFamily="34" charset="0"/>
              <a:buNone/>
            </a:pPr>
            <a:r>
              <a:rPr lang="en-IN" sz="1700" dirty="0">
                <a:solidFill>
                  <a:schemeClr val="tx1"/>
                </a:solidFill>
              </a:rPr>
              <a:t>      name: </a:t>
            </a:r>
            <a:r>
              <a:rPr lang="en-IN" sz="1700" dirty="0" err="1">
                <a:solidFill>
                  <a:schemeClr val="tx1"/>
                </a:solidFill>
              </a:rPr>
              <a:t>cpu</a:t>
            </a:r>
            <a:endParaRPr lang="en-IN" sz="1700" dirty="0">
              <a:solidFill>
                <a:schemeClr val="tx1"/>
              </a:solidFill>
            </a:endParaRPr>
          </a:p>
          <a:p>
            <a:pPr marL="0" indent="0">
              <a:buFont typeface="Arial" panose="020B0604020202020204" pitchFamily="34" charset="0"/>
              <a:buNone/>
            </a:pPr>
            <a:r>
              <a:rPr lang="en-IN" sz="1700" dirty="0">
                <a:solidFill>
                  <a:schemeClr val="tx1"/>
                </a:solidFill>
              </a:rPr>
              <a:t>      </a:t>
            </a:r>
            <a:r>
              <a:rPr lang="en-IN" sz="1700" dirty="0" err="1">
                <a:solidFill>
                  <a:schemeClr val="tx1"/>
                </a:solidFill>
              </a:rPr>
              <a:t>targetAverageUtilization</a:t>
            </a:r>
            <a:r>
              <a:rPr lang="en-IN" sz="1700" dirty="0">
                <a:solidFill>
                  <a:schemeClr val="tx1"/>
                </a:solidFill>
              </a:rPr>
              <a:t>: 70</a:t>
            </a:r>
          </a:p>
          <a:p>
            <a:endParaRPr lang="en-IN" sz="2000" dirty="0">
              <a:solidFill>
                <a:schemeClr val="tx1"/>
              </a:solidFill>
            </a:endParaRPr>
          </a:p>
        </p:txBody>
      </p:sp>
    </p:spTree>
    <p:extLst>
      <p:ext uri="{BB962C8B-B14F-4D97-AF65-F5344CB8AC3E}">
        <p14:creationId xmlns:p14="http://schemas.microsoft.com/office/powerpoint/2010/main" val="23933693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Troubleshooting</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fontScale="92500" lnSpcReduction="10000"/>
          </a:bodyPr>
          <a:lstStyle/>
          <a:p>
            <a:pPr algn="l">
              <a:buFont typeface="+mj-lt"/>
              <a:buAutoNum type="arabicPeriod"/>
            </a:pPr>
            <a:r>
              <a:rPr lang="en-ZA" b="0" i="0" dirty="0">
                <a:solidFill>
                  <a:srgbClr val="374151"/>
                </a:solidFill>
                <a:effectLst/>
                <a:latin typeface="Söhne"/>
              </a:rPr>
              <a:t>Troubleshooting in Kubernetes can involve identifying and resolving issues related to application deployments, networking, cluster components, and more. Here are some general troubleshooting steps and techniques that can help you diagnose and resolve problems in your Kubernetes environment:</a:t>
            </a:r>
          </a:p>
          <a:p>
            <a:r>
              <a:rPr lang="en-ZA" b="0" i="0" dirty="0">
                <a:solidFill>
                  <a:srgbClr val="374151"/>
                </a:solidFill>
                <a:effectLst/>
                <a:latin typeface="Söhne"/>
              </a:rPr>
              <a:t>Check Cluster Status:</a:t>
            </a:r>
          </a:p>
          <a:p>
            <a:pPr lvl="1"/>
            <a:r>
              <a:rPr lang="en-ZA" b="0" i="0" dirty="0">
                <a:solidFill>
                  <a:srgbClr val="374151"/>
                </a:solidFill>
                <a:effectLst/>
                <a:latin typeface="Söhne"/>
              </a:rPr>
              <a:t>Run </a:t>
            </a:r>
            <a:r>
              <a:rPr lang="en-ZA" b="0" i="0" dirty="0" err="1">
                <a:solidFill>
                  <a:srgbClr val="374151"/>
                </a:solidFill>
                <a:effectLst/>
                <a:latin typeface="Söhne"/>
              </a:rPr>
              <a:t>kubectl</a:t>
            </a:r>
            <a:r>
              <a:rPr lang="en-ZA" b="0" i="0" dirty="0">
                <a:solidFill>
                  <a:srgbClr val="374151"/>
                </a:solidFill>
                <a:effectLst/>
                <a:latin typeface="Söhne"/>
              </a:rPr>
              <a:t> cluster-info to get an overview of the cluster's health and connectivity.</a:t>
            </a:r>
          </a:p>
          <a:p>
            <a:pPr lvl="1"/>
            <a:r>
              <a:rPr lang="en-ZA" b="0" i="0" dirty="0">
                <a:solidFill>
                  <a:srgbClr val="374151"/>
                </a:solidFill>
                <a:effectLst/>
                <a:latin typeface="Söhne"/>
              </a:rPr>
              <a:t>Use </a:t>
            </a:r>
            <a:r>
              <a:rPr lang="en-ZA" b="0" i="0" dirty="0" err="1">
                <a:solidFill>
                  <a:srgbClr val="374151"/>
                </a:solidFill>
                <a:effectLst/>
                <a:latin typeface="Söhne"/>
              </a:rPr>
              <a:t>kubectl</a:t>
            </a:r>
            <a:r>
              <a:rPr lang="en-ZA" b="0" i="0" dirty="0">
                <a:solidFill>
                  <a:srgbClr val="374151"/>
                </a:solidFill>
                <a:effectLst/>
                <a:latin typeface="Söhne"/>
              </a:rPr>
              <a:t> get nodes to verify the status of individual nodes in the cluster.</a:t>
            </a:r>
          </a:p>
          <a:p>
            <a:r>
              <a:rPr lang="en-ZA" b="0" i="0" dirty="0">
                <a:solidFill>
                  <a:srgbClr val="374151"/>
                </a:solidFill>
                <a:effectLst/>
                <a:latin typeface="Söhne"/>
              </a:rPr>
              <a:t>Inspect Pod Status:</a:t>
            </a:r>
          </a:p>
          <a:p>
            <a:pPr lvl="1"/>
            <a:r>
              <a:rPr lang="en-ZA" b="0" i="0" dirty="0">
                <a:solidFill>
                  <a:srgbClr val="374151"/>
                </a:solidFill>
                <a:effectLst/>
                <a:latin typeface="Söhne"/>
              </a:rPr>
              <a:t>Run </a:t>
            </a:r>
            <a:r>
              <a:rPr lang="en-ZA" b="0" i="0" dirty="0" err="1">
                <a:solidFill>
                  <a:srgbClr val="374151"/>
                </a:solidFill>
                <a:effectLst/>
                <a:latin typeface="Söhne"/>
              </a:rPr>
              <a:t>kubectl</a:t>
            </a:r>
            <a:r>
              <a:rPr lang="en-ZA" b="0" i="0" dirty="0">
                <a:solidFill>
                  <a:srgbClr val="374151"/>
                </a:solidFill>
                <a:effectLst/>
                <a:latin typeface="Söhne"/>
              </a:rPr>
              <a:t> get pods -n &lt;namespace&gt; to check the status of pods in a specific namespace.</a:t>
            </a:r>
          </a:p>
          <a:p>
            <a:pPr lvl="1"/>
            <a:r>
              <a:rPr lang="en-ZA" b="0" i="0" dirty="0">
                <a:solidFill>
                  <a:srgbClr val="374151"/>
                </a:solidFill>
                <a:effectLst/>
                <a:latin typeface="Söhne"/>
              </a:rPr>
              <a:t>Use </a:t>
            </a:r>
            <a:r>
              <a:rPr lang="en-ZA" b="0" i="0" dirty="0" err="1">
                <a:solidFill>
                  <a:srgbClr val="374151"/>
                </a:solidFill>
                <a:effectLst/>
                <a:latin typeface="Söhne"/>
              </a:rPr>
              <a:t>kubectl</a:t>
            </a:r>
            <a:r>
              <a:rPr lang="en-ZA" b="0" i="0" dirty="0">
                <a:solidFill>
                  <a:srgbClr val="374151"/>
                </a:solidFill>
                <a:effectLst/>
                <a:latin typeface="Söhne"/>
              </a:rPr>
              <a:t> describe pod &lt;pod-name&gt; -n &lt;namespace&gt; to get detailed information about a specific pod, including events and errors.</a:t>
            </a:r>
          </a:p>
          <a:p>
            <a:pPr algn="l">
              <a:buFont typeface="+mj-lt"/>
              <a:buAutoNum type="arabicPeriod"/>
            </a:pPr>
            <a:endParaRPr lang="en-IN" sz="2000" dirty="0">
              <a:solidFill>
                <a:schemeClr val="tx1"/>
              </a:solidFill>
            </a:endParaRPr>
          </a:p>
        </p:txBody>
      </p:sp>
    </p:spTree>
    <p:extLst>
      <p:ext uri="{BB962C8B-B14F-4D97-AF65-F5344CB8AC3E}">
        <p14:creationId xmlns:p14="http://schemas.microsoft.com/office/powerpoint/2010/main" val="26771820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r>
              <a:rPr lang="en-ZA" b="0" i="0" dirty="0">
                <a:solidFill>
                  <a:srgbClr val="374151"/>
                </a:solidFill>
                <a:effectLst/>
                <a:latin typeface="Söhne"/>
              </a:rPr>
              <a:t>Review Logs:</a:t>
            </a:r>
          </a:p>
          <a:p>
            <a:pPr lvl="1"/>
            <a:r>
              <a:rPr lang="en-ZA" b="0" i="0" dirty="0">
                <a:solidFill>
                  <a:srgbClr val="374151"/>
                </a:solidFill>
                <a:effectLst/>
                <a:latin typeface="Söhne"/>
              </a:rPr>
              <a:t>Retrieve container logs using </a:t>
            </a:r>
            <a:r>
              <a:rPr lang="en-ZA" b="0" i="0" dirty="0" err="1">
                <a:solidFill>
                  <a:srgbClr val="374151"/>
                </a:solidFill>
                <a:effectLst/>
                <a:latin typeface="Söhne"/>
              </a:rPr>
              <a:t>kubectl</a:t>
            </a:r>
            <a:r>
              <a:rPr lang="en-ZA" b="0" i="0" dirty="0">
                <a:solidFill>
                  <a:srgbClr val="374151"/>
                </a:solidFill>
                <a:effectLst/>
                <a:latin typeface="Söhne"/>
              </a:rPr>
              <a:t> logs &lt;pod-name&gt; -n &lt;namespace&gt; to </a:t>
            </a:r>
            <a:r>
              <a:rPr lang="en-ZA" b="0" i="0" dirty="0" err="1">
                <a:solidFill>
                  <a:srgbClr val="374151"/>
                </a:solidFill>
                <a:effectLst/>
                <a:latin typeface="Söhne"/>
              </a:rPr>
              <a:t>analyze</a:t>
            </a:r>
            <a:r>
              <a:rPr lang="en-ZA" b="0" i="0" dirty="0">
                <a:solidFill>
                  <a:srgbClr val="374151"/>
                </a:solidFill>
                <a:effectLst/>
                <a:latin typeface="Söhne"/>
              </a:rPr>
              <a:t> application-specific logs.</a:t>
            </a:r>
          </a:p>
          <a:p>
            <a:pPr lvl="1"/>
            <a:r>
              <a:rPr lang="en-ZA" b="0" i="0" dirty="0">
                <a:solidFill>
                  <a:srgbClr val="374151"/>
                </a:solidFill>
                <a:effectLst/>
                <a:latin typeface="Söhne"/>
              </a:rPr>
              <a:t>Use </a:t>
            </a:r>
            <a:r>
              <a:rPr lang="en-ZA" b="0" i="0" dirty="0" err="1">
                <a:solidFill>
                  <a:srgbClr val="374151"/>
                </a:solidFill>
                <a:effectLst/>
                <a:latin typeface="Söhne"/>
              </a:rPr>
              <a:t>kubectl</a:t>
            </a:r>
            <a:r>
              <a:rPr lang="en-ZA" b="0" i="0" dirty="0">
                <a:solidFill>
                  <a:srgbClr val="374151"/>
                </a:solidFill>
                <a:effectLst/>
                <a:latin typeface="Söhne"/>
              </a:rPr>
              <a:t> logs -f &lt;pod-name&gt; -n &lt;namespace&gt; to stream the logs in real-time for troubleshooting.</a:t>
            </a:r>
          </a:p>
          <a:p>
            <a:r>
              <a:rPr lang="en-ZA" b="0" i="0" dirty="0">
                <a:solidFill>
                  <a:srgbClr val="374151"/>
                </a:solidFill>
                <a:effectLst/>
                <a:latin typeface="Söhne"/>
              </a:rPr>
              <a:t>Debug Networking:</a:t>
            </a:r>
          </a:p>
          <a:p>
            <a:pPr lvl="1"/>
            <a:r>
              <a:rPr lang="en-ZA" b="0" i="0" dirty="0">
                <a:solidFill>
                  <a:srgbClr val="374151"/>
                </a:solidFill>
                <a:effectLst/>
                <a:latin typeface="Söhne"/>
              </a:rPr>
              <a:t>Use </a:t>
            </a:r>
            <a:r>
              <a:rPr lang="en-ZA" b="0" i="0" dirty="0" err="1">
                <a:solidFill>
                  <a:srgbClr val="374151"/>
                </a:solidFill>
                <a:effectLst/>
                <a:latin typeface="Söhne"/>
              </a:rPr>
              <a:t>kubectl</a:t>
            </a:r>
            <a:r>
              <a:rPr lang="en-ZA" b="0" i="0" dirty="0">
                <a:solidFill>
                  <a:srgbClr val="374151"/>
                </a:solidFill>
                <a:effectLst/>
                <a:latin typeface="Söhne"/>
              </a:rPr>
              <a:t> describe pod &lt;pod-name&gt; -n &lt;namespace&gt; to check if the pod's networking settings and IP allocation are correct.</a:t>
            </a:r>
          </a:p>
          <a:p>
            <a:pPr lvl="1"/>
            <a:r>
              <a:rPr lang="en-ZA" b="0" i="0" dirty="0">
                <a:solidFill>
                  <a:srgbClr val="374151"/>
                </a:solidFill>
                <a:effectLst/>
                <a:latin typeface="Söhne"/>
              </a:rPr>
              <a:t>Inspect Kubernetes Services and Endpoints to ensure correct routing and connectivity.</a:t>
            </a:r>
          </a:p>
          <a:p>
            <a:pPr lvl="1"/>
            <a:r>
              <a:rPr lang="en-ZA" b="0" i="0" dirty="0">
                <a:solidFill>
                  <a:srgbClr val="374151"/>
                </a:solidFill>
                <a:effectLst/>
                <a:latin typeface="Söhne"/>
              </a:rPr>
              <a:t>Verify Network Policies to ensure the pod's ingress and egress rules allow the required network traffic.</a:t>
            </a:r>
          </a:p>
          <a:p>
            <a:pPr algn="l">
              <a:buFont typeface="+mj-lt"/>
              <a:buAutoNum type="arabicPeriod"/>
            </a:pPr>
            <a:endParaRPr lang="en-IN" sz="2000" dirty="0">
              <a:solidFill>
                <a:schemeClr val="tx1"/>
              </a:solidFill>
            </a:endParaRPr>
          </a:p>
        </p:txBody>
      </p:sp>
    </p:spTree>
    <p:extLst>
      <p:ext uri="{BB962C8B-B14F-4D97-AF65-F5344CB8AC3E}">
        <p14:creationId xmlns:p14="http://schemas.microsoft.com/office/powerpoint/2010/main" val="38446916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lnSpcReduction="10000"/>
          </a:bodyPr>
          <a:lstStyle/>
          <a:p>
            <a:r>
              <a:rPr lang="en-ZA" b="0" i="0" dirty="0">
                <a:solidFill>
                  <a:srgbClr val="374151"/>
                </a:solidFill>
                <a:effectLst/>
                <a:latin typeface="Söhne"/>
              </a:rPr>
              <a:t>Monitor Resource Utilization:</a:t>
            </a:r>
          </a:p>
          <a:p>
            <a:pPr lvl="1"/>
            <a:r>
              <a:rPr lang="en-ZA" b="0" i="0" dirty="0">
                <a:solidFill>
                  <a:srgbClr val="374151"/>
                </a:solidFill>
                <a:effectLst/>
                <a:latin typeface="Söhne"/>
              </a:rPr>
              <a:t>Monitor CPU, memory, and disk utilization of nodes and pods using tools like Prometheus, Grafana, or Kubernetes Dashboard.</a:t>
            </a:r>
          </a:p>
          <a:p>
            <a:pPr lvl="1"/>
            <a:r>
              <a:rPr lang="en-ZA" b="0" i="0" dirty="0">
                <a:solidFill>
                  <a:srgbClr val="374151"/>
                </a:solidFill>
                <a:effectLst/>
                <a:latin typeface="Söhne"/>
              </a:rPr>
              <a:t>Identify resource bottlenecks or abnormal spikes that may impact application performance.</a:t>
            </a:r>
          </a:p>
          <a:p>
            <a:r>
              <a:rPr lang="en-ZA" b="0" i="0" dirty="0">
                <a:solidFill>
                  <a:srgbClr val="374151"/>
                </a:solidFill>
                <a:effectLst/>
                <a:latin typeface="Söhne"/>
              </a:rPr>
              <a:t>Upgrade and Patch:</a:t>
            </a:r>
          </a:p>
          <a:p>
            <a:pPr lvl="1"/>
            <a:r>
              <a:rPr lang="en-ZA" b="0" i="0" dirty="0">
                <a:solidFill>
                  <a:srgbClr val="374151"/>
                </a:solidFill>
                <a:effectLst/>
                <a:latin typeface="Söhne"/>
              </a:rPr>
              <a:t>Ensure you are running the latest stable versions of Kubernetes components and update if necessary to benefit from bug fixes and security patches.</a:t>
            </a:r>
          </a:p>
          <a:p>
            <a:r>
              <a:rPr lang="en-ZA" b="0" i="0" dirty="0">
                <a:solidFill>
                  <a:srgbClr val="374151"/>
                </a:solidFill>
                <a:effectLst/>
                <a:latin typeface="Söhne"/>
              </a:rPr>
              <a:t>Community Resources:</a:t>
            </a:r>
          </a:p>
          <a:p>
            <a:pPr algn="l">
              <a:buFont typeface="Arial" panose="020B0604020202020204" pitchFamily="34" charset="0"/>
              <a:buChar char="•"/>
            </a:pPr>
            <a:r>
              <a:rPr lang="en-ZA" b="0" i="0" dirty="0">
                <a:solidFill>
                  <a:srgbClr val="374151"/>
                </a:solidFill>
                <a:effectLst/>
                <a:latin typeface="Söhne"/>
              </a:rPr>
              <a:t>Leverage the Kubernetes community resources, including official documentation, GitHub issues, forums, and Slack channels, to search for known issues and get help from experts</a:t>
            </a:r>
          </a:p>
          <a:p>
            <a:pPr algn="l">
              <a:buFont typeface="+mj-lt"/>
              <a:buAutoNum type="arabicPeriod"/>
            </a:pPr>
            <a:endParaRPr lang="en-IN" sz="2000" dirty="0">
              <a:solidFill>
                <a:schemeClr val="tx1"/>
              </a:solidFill>
            </a:endParaRPr>
          </a:p>
        </p:txBody>
      </p:sp>
    </p:spTree>
    <p:extLst>
      <p:ext uri="{BB962C8B-B14F-4D97-AF65-F5344CB8AC3E}">
        <p14:creationId xmlns:p14="http://schemas.microsoft.com/office/powerpoint/2010/main" val="1842014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To Note …..</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447800"/>
            <a:ext cx="10515600" cy="4953000"/>
          </a:xfrm>
        </p:spPr>
        <p:txBody>
          <a:bodyPr>
            <a:normAutofit/>
          </a:bodyPr>
          <a:lstStyle/>
          <a:p>
            <a:r>
              <a:rPr lang="en-ZA" b="0" i="0" dirty="0">
                <a:solidFill>
                  <a:srgbClr val="374151"/>
                </a:solidFill>
                <a:effectLst/>
                <a:latin typeface="Söhne"/>
              </a:rPr>
              <a:t>Remember that troubleshooting in Kubernetes can be complex, and the steps may vary based on your specific environment and deployment configurations. It's important to gather relevant information, </a:t>
            </a:r>
            <a:r>
              <a:rPr lang="en-ZA" b="0" i="0" dirty="0" err="1">
                <a:solidFill>
                  <a:srgbClr val="374151"/>
                </a:solidFill>
                <a:effectLst/>
                <a:latin typeface="Söhne"/>
              </a:rPr>
              <a:t>analyze</a:t>
            </a:r>
            <a:r>
              <a:rPr lang="en-ZA" b="0" i="0" dirty="0">
                <a:solidFill>
                  <a:srgbClr val="374151"/>
                </a:solidFill>
                <a:effectLst/>
                <a:latin typeface="Söhne"/>
              </a:rPr>
              <a:t> logs, and use available monitoring and debugging tools to pinpoint the root cause of the problem.</a:t>
            </a:r>
            <a:endParaRPr lang="en-IN" sz="2000" dirty="0">
              <a:solidFill>
                <a:schemeClr val="tx1"/>
              </a:solidFill>
            </a:endParaRPr>
          </a:p>
        </p:txBody>
      </p:sp>
    </p:spTree>
    <p:extLst>
      <p:ext uri="{BB962C8B-B14F-4D97-AF65-F5344CB8AC3E}">
        <p14:creationId xmlns:p14="http://schemas.microsoft.com/office/powerpoint/2010/main" val="124893953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B63F-F6AD-4E7B-A274-B34C4392BD0C}"/>
              </a:ext>
            </a:extLst>
          </p:cNvPr>
          <p:cNvSpPr>
            <a:spLocks noGrp="1"/>
          </p:cNvSpPr>
          <p:nvPr>
            <p:ph type="title"/>
          </p:nvPr>
        </p:nvSpPr>
        <p:spPr/>
        <p:txBody>
          <a:bodyPr/>
          <a:lstStyle/>
          <a:p>
            <a:r>
              <a:rPr lang="en-US" dirty="0"/>
              <a:t>Exercise</a:t>
            </a:r>
            <a:endParaRPr lang="en-IN" dirty="0"/>
          </a:p>
        </p:txBody>
      </p:sp>
      <p:sp>
        <p:nvSpPr>
          <p:cNvPr id="3" name="Content Placeholder 2">
            <a:extLst>
              <a:ext uri="{FF2B5EF4-FFF2-40B4-BE49-F238E27FC236}">
                <a16:creationId xmlns:a16="http://schemas.microsoft.com/office/drawing/2014/main" id="{E3CE48D6-3C32-49EB-ABE0-B51BC611909B}"/>
              </a:ext>
            </a:extLst>
          </p:cNvPr>
          <p:cNvSpPr>
            <a:spLocks noGrp="1"/>
          </p:cNvSpPr>
          <p:nvPr>
            <p:ph idx="1"/>
          </p:nvPr>
        </p:nvSpPr>
        <p:spPr>
          <a:xfrm>
            <a:off x="838200" y="1825625"/>
            <a:ext cx="9753600" cy="4351338"/>
          </a:xfrm>
        </p:spPr>
        <p:txBody>
          <a:bodyPr>
            <a:normAutofit fontScale="47500" lnSpcReduction="20000"/>
          </a:bodyPr>
          <a:lstStyle/>
          <a:p>
            <a:pPr algn="l"/>
            <a:r>
              <a:rPr lang="en-ZA" b="0" i="0" dirty="0">
                <a:solidFill>
                  <a:srgbClr val="374151"/>
                </a:solidFill>
                <a:effectLst/>
                <a:latin typeface="Söhne"/>
              </a:rPr>
              <a:t>You are tasked with deploying a simple web application on Kubernetes that requires a database backend. Follow the steps below to complete the exercise:</a:t>
            </a:r>
          </a:p>
          <a:p>
            <a:pPr algn="l">
              <a:buFont typeface="+mj-lt"/>
              <a:buAutoNum type="arabicPeriod"/>
            </a:pPr>
            <a:r>
              <a:rPr lang="en-ZA" b="0" i="0" dirty="0">
                <a:solidFill>
                  <a:srgbClr val="374151"/>
                </a:solidFill>
                <a:effectLst/>
                <a:latin typeface="Söhne"/>
              </a:rPr>
              <a:t>Create a Deployment for the Database:</a:t>
            </a:r>
          </a:p>
          <a:p>
            <a:pPr marL="742950" lvl="1" indent="-285750" algn="l">
              <a:buFont typeface="+mj-lt"/>
              <a:buAutoNum type="arabicPeriod"/>
            </a:pPr>
            <a:r>
              <a:rPr lang="en-ZA" b="0" i="0" dirty="0">
                <a:solidFill>
                  <a:srgbClr val="374151"/>
                </a:solidFill>
                <a:effectLst/>
                <a:latin typeface="Söhne"/>
              </a:rPr>
              <a:t>Create a Deployment named "database-deployment" for a MySQL database.</a:t>
            </a:r>
          </a:p>
          <a:p>
            <a:pPr marL="742950" lvl="1" indent="-285750" algn="l">
              <a:buFont typeface="+mj-lt"/>
              <a:buAutoNum type="arabicPeriod"/>
            </a:pPr>
            <a:r>
              <a:rPr lang="en-ZA" b="0" i="0" dirty="0">
                <a:solidFill>
                  <a:srgbClr val="374151"/>
                </a:solidFill>
                <a:effectLst/>
                <a:latin typeface="Söhne"/>
              </a:rPr>
              <a:t>Use the MySQL image with the tag mysql:5.7.</a:t>
            </a:r>
          </a:p>
          <a:p>
            <a:pPr marL="742950" lvl="1" indent="-285750" algn="l">
              <a:buFont typeface="+mj-lt"/>
              <a:buAutoNum type="arabicPeriod"/>
            </a:pPr>
            <a:r>
              <a:rPr lang="en-ZA" b="0" i="0" dirty="0">
                <a:solidFill>
                  <a:srgbClr val="374151"/>
                </a:solidFill>
                <a:effectLst/>
                <a:latin typeface="Söhne"/>
              </a:rPr>
              <a:t>Configure the deployment to have 1 replica.</a:t>
            </a:r>
          </a:p>
          <a:p>
            <a:pPr marL="742950" lvl="1" indent="-285750" algn="l">
              <a:buFont typeface="+mj-lt"/>
              <a:buAutoNum type="arabicPeriod"/>
            </a:pPr>
            <a:r>
              <a:rPr lang="en-ZA" b="0" i="0" dirty="0">
                <a:solidFill>
                  <a:srgbClr val="374151"/>
                </a:solidFill>
                <a:effectLst/>
                <a:latin typeface="Söhne"/>
              </a:rPr>
              <a:t>Set the environment variables MYSQL_ROOT_PASSWORD and MYSQL_DATABASE to appropriate values.</a:t>
            </a:r>
          </a:p>
          <a:p>
            <a:pPr algn="l">
              <a:buFont typeface="+mj-lt"/>
              <a:buAutoNum type="arabicPeriod"/>
            </a:pPr>
            <a:r>
              <a:rPr lang="en-ZA" b="0" i="0" dirty="0">
                <a:solidFill>
                  <a:srgbClr val="374151"/>
                </a:solidFill>
                <a:effectLst/>
                <a:latin typeface="Söhne"/>
              </a:rPr>
              <a:t>Create a Service for the Database:</a:t>
            </a:r>
          </a:p>
          <a:p>
            <a:pPr marL="742950" lvl="1" indent="-285750" algn="l">
              <a:buFont typeface="+mj-lt"/>
              <a:buAutoNum type="arabicPeriod"/>
            </a:pPr>
            <a:r>
              <a:rPr lang="en-ZA" b="0" i="0" dirty="0">
                <a:solidFill>
                  <a:srgbClr val="374151"/>
                </a:solidFill>
                <a:effectLst/>
                <a:latin typeface="Söhne"/>
              </a:rPr>
              <a:t>Create a Service named "database-service" to expose the MySQL database within the cluster.</a:t>
            </a:r>
          </a:p>
          <a:p>
            <a:pPr marL="742950" lvl="1" indent="-285750" algn="l">
              <a:buFont typeface="+mj-lt"/>
              <a:buAutoNum type="arabicPeriod"/>
            </a:pPr>
            <a:r>
              <a:rPr lang="en-ZA" b="0" i="0" dirty="0">
                <a:solidFill>
                  <a:srgbClr val="374151"/>
                </a:solidFill>
                <a:effectLst/>
                <a:latin typeface="Söhne"/>
              </a:rPr>
              <a:t>Ensure the Service is of type "</a:t>
            </a:r>
            <a:r>
              <a:rPr lang="en-ZA" b="0" i="0" dirty="0" err="1">
                <a:solidFill>
                  <a:srgbClr val="374151"/>
                </a:solidFill>
                <a:effectLst/>
                <a:latin typeface="Söhne"/>
              </a:rPr>
              <a:t>ClusterIP</a:t>
            </a:r>
            <a:r>
              <a:rPr lang="en-ZA" b="0" i="0" dirty="0">
                <a:solidFill>
                  <a:srgbClr val="374151"/>
                </a:solidFill>
                <a:effectLst/>
                <a:latin typeface="Söhne"/>
              </a:rPr>
              <a:t>" and targets the MySQL deployment.</a:t>
            </a:r>
          </a:p>
          <a:p>
            <a:pPr algn="l">
              <a:buFont typeface="+mj-lt"/>
              <a:buAutoNum type="arabicPeriod"/>
            </a:pPr>
            <a:r>
              <a:rPr lang="en-ZA" b="0" i="0" dirty="0">
                <a:solidFill>
                  <a:srgbClr val="374151"/>
                </a:solidFill>
                <a:effectLst/>
                <a:latin typeface="Söhne"/>
              </a:rPr>
              <a:t>Create a Deployment for the Web Application:</a:t>
            </a:r>
          </a:p>
          <a:p>
            <a:pPr marL="742950" lvl="1" indent="-285750" algn="l">
              <a:buFont typeface="+mj-lt"/>
              <a:buAutoNum type="arabicPeriod"/>
            </a:pPr>
            <a:r>
              <a:rPr lang="en-ZA" b="0" i="0" dirty="0">
                <a:solidFill>
                  <a:srgbClr val="374151"/>
                </a:solidFill>
                <a:effectLst/>
                <a:latin typeface="Söhne"/>
              </a:rPr>
              <a:t>Create a Deployment named "webapp-deployment" for a simple web application.</a:t>
            </a:r>
          </a:p>
          <a:p>
            <a:pPr marL="742950" lvl="1" indent="-285750" algn="l">
              <a:buFont typeface="+mj-lt"/>
              <a:buAutoNum type="arabicPeriod"/>
            </a:pPr>
            <a:r>
              <a:rPr lang="en-ZA" b="0" i="0" dirty="0">
                <a:solidFill>
                  <a:srgbClr val="374151"/>
                </a:solidFill>
                <a:effectLst/>
                <a:latin typeface="Söhne"/>
              </a:rPr>
              <a:t>Use the NGINX image with the tag nginx:1.21.1.</a:t>
            </a:r>
          </a:p>
          <a:p>
            <a:pPr marL="742950" lvl="1" indent="-285750" algn="l">
              <a:buFont typeface="+mj-lt"/>
              <a:buAutoNum type="arabicPeriod"/>
            </a:pPr>
            <a:r>
              <a:rPr lang="en-ZA" b="0" i="0" dirty="0">
                <a:solidFill>
                  <a:srgbClr val="374151"/>
                </a:solidFill>
                <a:effectLst/>
                <a:latin typeface="Söhne"/>
              </a:rPr>
              <a:t>Configure the deployment to have 2 replicas.</a:t>
            </a:r>
          </a:p>
          <a:p>
            <a:pPr marL="742950" lvl="1" indent="-285750" algn="l">
              <a:buFont typeface="+mj-lt"/>
              <a:buAutoNum type="arabicPeriod"/>
            </a:pPr>
            <a:r>
              <a:rPr lang="en-ZA" b="0" i="0" dirty="0">
                <a:solidFill>
                  <a:srgbClr val="374151"/>
                </a:solidFill>
                <a:effectLst/>
                <a:latin typeface="Söhne"/>
              </a:rPr>
              <a:t>Set the environment variable DATABASE_HOST to the DNS name of the "database-service".</a:t>
            </a:r>
          </a:p>
          <a:p>
            <a:pPr algn="l">
              <a:buFont typeface="+mj-lt"/>
              <a:buAutoNum type="arabicPeriod"/>
            </a:pPr>
            <a:r>
              <a:rPr lang="en-ZA" b="0" i="0" dirty="0">
                <a:solidFill>
                  <a:srgbClr val="374151"/>
                </a:solidFill>
                <a:effectLst/>
                <a:latin typeface="Söhne"/>
              </a:rPr>
              <a:t>Expose the Web Application:</a:t>
            </a:r>
          </a:p>
          <a:p>
            <a:pPr marL="742950" lvl="1" indent="-285750" algn="l">
              <a:buFont typeface="+mj-lt"/>
              <a:buAutoNum type="arabicPeriod"/>
            </a:pPr>
            <a:r>
              <a:rPr lang="en-ZA" b="0" i="0" dirty="0">
                <a:solidFill>
                  <a:srgbClr val="374151"/>
                </a:solidFill>
                <a:effectLst/>
                <a:latin typeface="Söhne"/>
              </a:rPr>
              <a:t>Create a Service named "webapp-service" to expose the web application externally.</a:t>
            </a:r>
          </a:p>
          <a:p>
            <a:pPr marL="742950" lvl="1" indent="-285750" algn="l">
              <a:buFont typeface="+mj-lt"/>
              <a:buAutoNum type="arabicPeriod"/>
            </a:pPr>
            <a:r>
              <a:rPr lang="en-ZA" b="0" i="0" dirty="0">
                <a:solidFill>
                  <a:srgbClr val="374151"/>
                </a:solidFill>
                <a:effectLst/>
                <a:latin typeface="Söhne"/>
              </a:rPr>
              <a:t>Ensure the Service is of type "</a:t>
            </a:r>
            <a:r>
              <a:rPr lang="en-ZA" b="0" i="0" dirty="0" err="1">
                <a:solidFill>
                  <a:srgbClr val="374151"/>
                </a:solidFill>
                <a:effectLst/>
                <a:latin typeface="Söhne"/>
              </a:rPr>
              <a:t>LoadBalancer</a:t>
            </a:r>
            <a:r>
              <a:rPr lang="en-ZA" b="0" i="0" dirty="0">
                <a:solidFill>
                  <a:srgbClr val="374151"/>
                </a:solidFill>
                <a:effectLst/>
                <a:latin typeface="Söhne"/>
              </a:rPr>
              <a:t>" and targets port 80 of the NGINX deployment.</a:t>
            </a:r>
          </a:p>
          <a:p>
            <a:pPr algn="l">
              <a:buFont typeface="+mj-lt"/>
              <a:buAutoNum type="arabicPeriod"/>
            </a:pPr>
            <a:r>
              <a:rPr lang="en-ZA" b="0" i="0" dirty="0">
                <a:solidFill>
                  <a:srgbClr val="374151"/>
                </a:solidFill>
                <a:effectLst/>
                <a:latin typeface="Söhne"/>
              </a:rPr>
              <a:t>Provide the YAML files:</a:t>
            </a:r>
          </a:p>
          <a:p>
            <a:pPr marL="742950" lvl="1" indent="-285750" algn="l">
              <a:buFont typeface="+mj-lt"/>
              <a:buAutoNum type="arabicPeriod"/>
            </a:pPr>
            <a:r>
              <a:rPr lang="en-ZA" b="0" i="0" dirty="0">
                <a:solidFill>
                  <a:srgbClr val="374151"/>
                </a:solidFill>
                <a:effectLst/>
                <a:latin typeface="Söhne"/>
              </a:rPr>
              <a:t>Provide the YAML files for the Database Deployment, Database Service, Web Application Deployment, and Web Application Service. Ensure each resource is in a separate YAML file.</a:t>
            </a:r>
          </a:p>
          <a:p>
            <a:pPr algn="l"/>
            <a:r>
              <a:rPr lang="en-ZA" b="0" i="0" dirty="0">
                <a:solidFill>
                  <a:srgbClr val="374151"/>
                </a:solidFill>
                <a:effectLst/>
                <a:latin typeface="Söhne"/>
              </a:rPr>
              <a:t>Ensure that your solution includes the necessary specifications, labels, and other required fields for each resource.</a:t>
            </a:r>
          </a:p>
          <a:p>
            <a:pPr marL="0" indent="0">
              <a:buNone/>
            </a:pPr>
            <a:endParaRPr lang="en-IN" dirty="0"/>
          </a:p>
        </p:txBody>
      </p:sp>
    </p:spTree>
    <p:extLst>
      <p:ext uri="{BB962C8B-B14F-4D97-AF65-F5344CB8AC3E}">
        <p14:creationId xmlns:p14="http://schemas.microsoft.com/office/powerpoint/2010/main" val="37179990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5791200"/>
            <a:ext cx="8229600" cy="914400"/>
          </a:xfrm>
        </p:spPr>
        <p:txBody>
          <a:bodyPr/>
          <a:lstStyle/>
          <a:p>
            <a:r>
              <a:rPr lang="en-US" dirty="0"/>
              <a:t>Q&amp;A</a:t>
            </a:r>
          </a:p>
        </p:txBody>
      </p:sp>
      <p:sp>
        <p:nvSpPr>
          <p:cNvPr id="44034" name="AutoShape 2" descr="data:image/jpeg;base64,/9j/4AAQSkZJRgABAQAAAQABAAD/2wCEAAkGBw0PDxAQDw8PDw8QDw8QEBAPEA8QDhAQFhEXFhYSFhQYHCggGBolHBUUJDEhMSkrLjouFx8zODMsQygtLisBCgoKDg0OGxAQGywmHyYsLDQsLCwsLCwvLCwwLCwsLCwsLCwsLCwsLCwsLCwsLCwsLCwsLCwsLCwsLCwsLCwsLP/AABEIALYBFAMBEQACEQEDEQH/xAAcAAACAgMBAQAAAAAAAAAAAAAAAQIFBAYHAwj/xABDEAACAQIDBQUFBAcGBwEAAAABAgADEQQSIQUGMUFRE2FxgZEHIjJSoUJyscEUFSMzYpLRU5OywtLwJEOCo+Hi8TT/xAAaAQEAAgMBAAAAAAAAAAAAAAAAAwQBAgUG/8QANBEBAAICAQEGAwYGAwEBAAAAAAECAxEEIQUSEzFBUTJhkSJxgaHR4RQVUrHB8CMzQmI0/9oADAMBAAIRAxEAPwDr4ECQECYECQECQEBgQGBAcBwHAIDgEAgEAgEAgEAgEAgEBQCAoBAVoEbQFARECJECBECJECBED0AgTAgSAgSAgMCBICA4DgEBwCAQHALQHaAQCAQMTGY0U9AMzdOQ8ZDkyxTp6t6U7zD/AFo/yr9f6yH+Jt7JPCgfrR/lX6x/E29jwoP9aP8AKv1j+Jn2PCgfrRvlX1Mz/Ez7HhQP1o3yL6mP4mfY8KDG1D8g9TH8TPseFHuzMNiVqDTQjiDxEnx5Iv5IrVmr2kjUoCIgKBGAiIESIECIEbQJgQJgQJAQGIEhAcBwCA4BAjUdVUszBVUEszEBQBzJPCGYibTqPNreK36wCMQva1bfapoMvkWIvJIxWdGnZWe0bnUffP6bY59oWE5UcR6Uv9cz4UpP5Pl/qj8/0QPtDw/LD1vM0x+ceFPu2/k+T+qPzQPtEo8sNU83QR4U+7P8nv8A1QgfaKvLCnzrAf5Znwfm2/k0/wBf5fugfaKeWEH9/wD+keD82f5N/wDf5fugfaI/LCL/AHx/0TPgx7s/yaP6/wAv3UGJ9oVZnY/o1PVjxqMdOXKc2+OJtM7TV7KrEa70/R4nf7EcqFL+Z5r4Ue7b+WU/qlA7+YrlRof9w/5o8KGf5Zj95/JZ7J35puwTEUxRvoKitmpg/wAQOqjv18prOL2QZuzbVjdJ38vVt15E5gvAIGVs0/tV7w1/C0mwfHDTJ8K6l5WKAoCMBGBGBEiBEiBEiBMCBIQJCBIQHAcAgOAQGBA5x7RNss9b9FUkU6QU1APt1CLgHuAI8yegk2ONRt6HsrjRWniz5z5fd+7T7yTbri8bBeZ2wLxsF42C8bCZrAnoCYmdRsUs5jIgEAgdL3JxjVMGoY3NJmpXPyixX0DAeUrZOlnA5+OK5p169V/mmimM0bGfsZbuT0X6k/8A2WOPG7bRZZ6LiXFcQFAUBGAjAjAiRAjaBIQJCBIQJQHAxqu0MOhs9akp6NUQH0vIrZ8dfitEfjCWuDJbyrM/hIpbSwzGy16LHoKiE+l4ryMVukWj6wWwZa+dZ+ksoSVEq9pbwYXDkqzF3HFKdiR4ngJUzc3FinUzufaFvBwsuWNxGo95VDb6i+mHJHU1QD6ZZUntTr0p+f7LkdlTrrf8v3c425tVKuLrsbpmqk+9rbuvOlh5lL1iZ6O7x8U48Va+0PANLe0p3jYLxtgXmdsi8bYF42PPEtZG8Leuk0yTqsiqlIEAgEDpG5dHJg0POoz1PU2H0USrln7Tg863ezT8ui8zTRTYeO2rQofG4zfIur+nLzm9MVr+SHLnx4/in8GZu5ts1KdR0p5Rnygubk2AN7Dh8XWdHj8fuxO5czNz5tP2Y+q0/WdX+H0lnw6q/wDF5Pkkm1KnMKfUTHhQzHMv6xDJo7Spto10PfqPWaTjmPJYpy6W8+jM46iRrUTsQEYETAiYEbQJiAxAkIGv7a3op0SadECrUGhN/wBmh6G3xHu+s5/J59cf2adZ/KHS43Z1skd6/SPzlqWO2riK/wC8qsR8oOVP5RpOTkz5MnxT+jsYuNixfDX9WFeQ6TC8aGThsfXpAinVdAQQQrEDXu698kplvTpWZhHfDjv1tWJY15Gl0Lwaajtf/wDRV+9+QnUwf9cLeP4YQweJKmx+E/TvlzBmmk6nyZmNrS86KMXgF4BeAXgeGNPueJEjyz9kV8rMCAQCB1rA0RSpU6Y/5dNE9FAlKZ3O3mcl+/ebe8qbbm3ShNKifeGjvxy9y9/fLWHj7+1ZyuVzO7Pcp5+stYYkkkkknUk6kmXXKmdt63bTJhafVsznzY2+lpPTyR2nqs882a7PPDOzzQbZODxrUz1Xmv5ia2rFk2HPOOfkvKbhgGU3B1ErzGnWraLRuDmGUTAiYCIgMQJCBrG+G3DT/wCHpGzsL1GB1VTwUd5/DxnN53Jmv/HTz9XW7O4cX/5b+Xp82lXnG07uheZY0Lxo0LwzoXg0V4NC8GmrbY/f1PFf8InSwf8AXCzT4YYUlbLXCvdF8Lemk6OK26Q0nze15JtgXmdgvGwXjYjVQMCJi3WNGmC1Bxyv4ayvNJhjTzImrBQM7YlDtMTQTkaik+C+8foJredVmUPIt3cVp+X7N729tA0adlNne4XqBzb/AH1kPHx9+3Xyh5LmZ/CpqPOWnzpOEIHQsMuRET5VVfQWlmEL1zwwM8B54DzwytNiYn3jTPBtV8Rx+n4SLJXptd4eTU9yVzIXRIwImAoDECNeqKaO7fCis58ALn8Jra0ViZn0bUrNrRWPVyfE4lqjtUc3Z2LHxJnmrWm0zafOXsKY4pWK18oed5q20V4NC8GheDQvBoXg0Lwaa1tr9+/gv+EToYPghYp8LBkzZZ4ZbIo7r+usv4o1SIaS9byTbAvGwXjYLxsO8zsF42EdeOvjAx8QiAXtY8rSO8RpiVvuVRzYhn5U6Z/mYgD6ZpUzz9nSh2hbWOI95WW2aNavXbIjMtNVW/AXtc8eess8Wk+Hv3eI5+TebXsqnw1VTY03B71MsalT3Cz2Rsl2dXqKVRSCA2jMRw06Tetfdra0ejZ88lRHngPPAM0GzzQzt74GrarTP8a+hNjMW8pSYravWfm24yq7ZQImBGBIQK7eUkYPEW/siPI2B+kg5X/Tb7lrhf8A6Kfe5bmnnnrBeAXgF4Bmg0LxoK8aBeNDXttfvj91fwl/B8CankwZM2WGFq5hrxH4S3iv3o6tZe15Ltg42CNgjYJnYI2CNjGr3ZrDW00t1lrLpHsv2FTNCpXqjMWq5VX7JVFGp66s3pMeDW07lwO1s0xkikekf3Zm2RlxFVbWAYWA0AGUES9T4Y08Xyf+2zDzzdAeeAZ4DzwHmgGaA80DJ2cM1akP41PkDc/QTFvKUuGN5Kx825mVXcIwEYEYDEDx2hhu2o1aX9pTdB3EqQD6zTJTv0mvvCTDk8PJW/tMOPm4JBFiDYg8QRxE8519Xs469YF4ZK8AvALwaF4BeAXg0pdt0jnV+RFvMS3x7dNJKeStlhsyMEfePh+clwz1Ylm3llqLxsF42CAXmQQCAXtA7ZufgjQwGHpkWbs87A8QzkuQfDNbym8PH87L4nItaPf+3RV73YYrUWqPhdcp+8v/AIt6SxinppwOdTVot7qHNJFEZoDzwHmgPNAM0B54F/uthSzNVI0UZV72PE+Q/GRZJ9F/g49zN5bJIXTKAjAiYEhAYgc+352IaVQ4mmP2VQ/tLfYqHme5vxv1E5PNwd23fjynz+/93ouy+XF6+Fbzjy+cft/Zql5QdjQvBoXg0Lxo0LzJoXg0LwaQqorAqwuDyiJmJ3AramydfdfTow/OWIz+8Nu8u93dyMXikepTeiqq2QdoXGY2ubWU90vcb7cTaFLldoYsForaJ38lk3s62kPtYU+FWp+aCWu5KvHbHH/+vpH6td2tsvEYSoaVdMjWuOauvzKeYms9F/Bnpmr3qT0YcxtM9cLh6lV1p01LuxIVRxJtfTyBhre9aVm1p1DNfd/aC8cHifKi7D6CZ1KGOXgnyvH1hjvs7FL8WHxC+NGqPyjq3jNjnytH1hGjgcQ5ypRrO3RabsfQCGbZaVjc2j6w3fdLcSrnWtjVCqpDLQuCzEagvbQD+HnztwO8V93H5vale7NMPr6/p+rpE3efY20cGtem1NufA81bkRMxOp2jy44yVmsufY3DVKLmnUFmHow5MOolmJ24eTHalu7Z4Z5loeaAZoDzQHmgZmy8BUxD5V0UfG/JR/XumtrREJsOG2W2ob3hqCU0VEFlUWH9T3yvM76u3SkUr3YTmGxQEYETAkIDEBVKaspVgGVgQykXBB4giYmImNSzEzWdx5tF29uQ4JfB+8vHsWNmX7rHiO4+pnMzcGY64/o7/F7XiY7ubz9/1hp+JoVKTZaqPTbo6lT9ZRtWazq0adml63jdZ3Hyed5jTYXmAXjQLzOgXjQLxoWmwdhV8Y4CArTB9+qR7ijoPmbu/CTYcFss9PL3VeVzMfHru3n6R/vo6xgMHToUkpUxZEFh1PUnqSbmdqlIpWKw8lly2y3m9vOWRN0av23sbD42kaVdbjirDR6bfMp5H6dZiY2n4/IyYL96k/v97j+8u72IwFTLUGakx/Z1lHuP3H5W7vS8htEw9XxOZTk13Xz9Y/30V2zsWaFalWH/ACqqVNOYVgSPMXHnMROk+XH4lLU94mH0AjAgEG4IBB6gyw8PMa6HDAgEAgEDE2ls6liEy1Bw+Fho6nqDMxaY8kWXFXJGrNA2vgxh6zUs4ewBuBYi+tiOtressVncbcbNj8O/d3thZplEecQPfDYatV0p03f7qkj14CYmYhtXHa3wxtf7O3VqNY12yL8ikFz4ngPrNJyey7i4Np636Npw2Gp0kCU1CqOQ/E9TIpnbpUpWkarD0mGwgKBEwEYDEBiA4DgRq0kcZXVXXowDD0MxMRPm2raazuJ0wW3fwB1OEw/lSQfgJF/D4v6Y+ieObyI/9z9ZM7CwOUr+i0ArCxtTQEjxAvM+Bj1rux9D+Mz7335+stL3g3IqU71MJerT4mkdaq/dP2x9fGUM3CmvWnWPZ2+J2tW/2c3Sff0/H2/t9zTjpcHQgkEHQg8wZRdlv27exdnY/DLUalkrJ+zq9m7qCwGjZb21Fjw4k9J0sGHFlpuY6+rz/M5XJ4uWaxbdZ6xuN/v0XWG3N2dTN+xLkf2juw/lvY+knrxMUeilftPk2jXe190RH7r2nTVQFVQqgWCqAFA6ACWIiI6QoTMzO5SmWBAIHhjcHSr02pVkWpTcWZW4H+h74mNt8eS2O0WpOphyPe/dCrgSalO9XCk6Pxelf7L93RvW3OC9dPU8HtCvIju26W/v936Oi7j47t9n4dj8SJ2Tdb0yUufEAHzktJ3DgdoYvD5No/H69V9NlIQCAQCB4Y3ErRpvUb4UUse/oPEnSZiNy1veKVm0+jm1HD4nF1GZEaozMWYjRQSb6sdBJ9xDhRS+a0zEbbJs3c8CxxD3/gp3A824+lppOT2XsXA9bz+ENjw+AoUwFSkigdFF/EniZHMzK9XHSsaiGRMNxARgKAoBAiYETAkIDEBwGIBAlAIAIFJvBuvhsYCxHZ1raVUAue5h9ofXvEr5uPTJ18p917idoZeP0jrX2n/Hs1bYOHxOysaErj/h8QRS7VbmkWv+za/2Tc2sfmPG0qYq3wZNW8p9f7Oryr4udx+9j+KvXXrr1/35OizpvOCAQCAQCBF0DAqwBUgggi4IPEEQzEzE7hV7K2XQwC1sjinQep2oRyAtJioDBWP2TYaePlp9mkTMzqFnNnycma7jdojXT1/cPvLgFNjXB+6tRh6gWleedgj/ANflP6MxweRP/n+zLwe0sPW/dVUc9Afe/lOsmx58eT4ZiUOTBkx/HWYZclRCAQPDGYSnWULUXMuYNlubEjhfqO6ZidNL0reNWetOmqgKoCqOAUAAeAEw2iIiNQlDIgKAQEYCgKAoCMCJgMQJCAxAYgECUAgEDGx20KFAZqtRUB4A6sfADUzMRM+SPJlpjjdpUWL3twbBkNGpVRhZgypkYeBP5TacW41KvHaNaW3Xe/d7YXe7CNYMKtPvdcw9VJMeHJXnY5nruP8AfkvcPXSooamyup4FSCJprS1W0WjcS9IbCAQCB443EpRpvVf4UUseug4Dvmt7xSs2n0b48c5LxSvnLlm1dsVcVUL1Dpf3EB9xB0A69887my2y23b6ez1WDi0w11X8Z93pS2ViGwzYoBeyUkHU57A2LAW4A9/KZjj3nH4keTFuTjjNGGfOfor1rEEEEgjUEGxB6gyHWk8130lvm5u8DV70KxvUVcyPzdRoQe8XGvPy17PC5M3+xfzcHtHhRi/5KeU+cezaZ0HKECLOBxIHiRMTMQaMEHgb+EzsOAjAIBARgKAoCgIwIwGIDECUAgOAxAcCv27tNcLQaoQC1wqKeDOeHloT5TNY3KLPl8Onec0xWMeq5eoxZ24k/h3DuliOjiWm1p3bzZmzdkYjEo70lBVNDc2LNa+Veptb1mJtEN8fHvkiZr6K7tBMotMzZm1auGfPTP3lPwuOhH5zExEpMWS2O26umbOxiV6SVU+Fxe3MHgQfA3EgmNS7eO8XrFoZMw3EAgVm8mCfEYStSp/GyqVF7XKsGy377W85DyMc5Mc1hZ4eWuLNW9vL/Yczo7DxzvkGGrBr2u6MiD/rOlvOcWOPkmdd2Xp7cvj1r3pvH13P08227wOmA2amFzBqtRcmnO7Zqj+GtvMToZtYcEY/Wf8AZcjiVtyuXObXSOv6Q0DtJytPQ91sm4FB3xgcA5KSOXPL3lKhfE3J/wCky5waTOXfs5na161wd2fOZ6OkYnELTXM3kOZPSde94rG5earWbTqFJiNou/PKOg/M85SvmtZYrjiGNnkTfRrVI1BIPUaGInXkxpnYXarDR/eHX7Q/rLFORMfEjtiifJcIwYAg3B1BEtxMTG4V5jRzIIEYAYCMBGBEwFeACBIQHAcBwCBKBp/tHV+yoMAciu4Y8gxAy39GkmNR5sTNYlofaSVz9Ombu0f0HAF6/un36zg8RcCy+NgunU2kNusurgr4WLdvvc0Na5JPEm5krlaHaTJp0jcHN+hXbgatQr93QfiGkN/N1OHE+H+Kv25v2lNjTwqCqRoarX7K/wDCBq3joPGb0xb+J6LjdlWtHeyzr5ev7NeffXaJNxVVe5aVO31BP1kvh0X47M48R5fnKw2d7QK6kDEU0qLzNP3Kg8ibH6TW2Gvogy9kUmP+OdT8+sf79W87L2lQxVMVKL5l4Hkyt8rDkZXmJjzcTNhvht3bx1Zkwicd3vx71sbXLE2p1GooOioSPqbnznF5Fptknf3PZdn4a4+PXXrG5/FZbpbpHGJ21Z2SjmIUJbPUsbE3OgF7jyPCScfi+JHet5K3P7S/h7eHSN29d+UOjbN2dQw1MU6KBEGulySepJ1JnTpjrSNVh5vNmvmt3rzuVNtzEk1SvJAB5kXJ/D0lPkX3fXslxV1Xau7SQbS6X2ysJTehdlBL5tSNQL20PLhLuHHWadY81bJeYt0UPaSltZ0O0jZpd7vYgkOh4CzDz4/lLfFtvcK+avlK4ltARgKAoBAjARgRgAgSgSgOA4BAYgKrTV1KsoZSLFWAKkdCDxhiYieksLDbGwdJs9PD0UccGCLmHgeUzuWlcVKzuIhpftG22TUGEQ+6mV6tubkXVfAAg+JHSb0j1VeVfc9yGlhydBqToAOJPSbqem07D3Mxdchq4OHpcTm/fMOgX7PifQzWbQsY+La3n0hsW/WIGEwC0aIyLUZaAtyp5SWF++1vMzSvnt6PsnBW2b5Vjf6OY55L33qNNzqbBw67GGJZctcotUVLm5DVAFW3CxUia9+duPHLyTzvDifs71r8P1aXnme+7Gmw7ibRejjaaA+5X/ZuvI6EqfEH6EzW07hQ7SwxfBM+sdY/y63I3lWmbw4DYrYgtXZ1qkjtBSL5Sf4rA2PhrOdnvxov9qevrrbtcTNzq4tY4+z6b1+TatnLRFGmKGXsQoFPKbrlHfL2Pu92O75OTmm83mcnxerJm6NQ7a2XUZzUpjNmtmW4BBAtcX8JTz4LTbvVWMWSIjUsPC7GxDkZh2a8ySCbdwEipx7zPXoktmrHkttrYpcPQCLoSMiDmBbVv98zLOa8Y6ahBjrN7blqvaTnLuh2kMabFuzh2CtUOgewXvA4n/fSXuLSYibSrZ7ddLsy2rowAwFAUBGBEwFAQgSECQgOA4DEAgMGA4HJd+dk4pMbVqdlUenVYOjorOvwgFTbgQQdJJWeihmx278zpceznYFQO2KxFJkyjLQWopVrn4qmU6jSwB7zMWlJx8Wp70w6HNFtV7xbFp46h2TkoQwdHWxKOARe3MWJFu+Fni8m3Hyd+v4w1bAezdVcGviO0QH4KdM0y3cWzGw8PWNunl7Zma6pXU+8zv8Aww/aRtxbrgaNglPK1XLa1wPcpjwFj/L0M1m2knZPFnrnv5z5f5n/AH5tELzHfdvTd/Z5u9WesmLqqUo07mlmFjVcggED5Rcm/W1uc2iZlxu1OZStJw1ncz5/L93TZl51xrba1qGIqJWBD52IJ+2CxIYHmDPP5cU1vMW93tOLNMuKLU8tfT5Oi7jYatTwa9qGUu7uqtoyobWuOV7E+c63DpNMWpeb7TvS+ee511ER+P8AvRsEtOeIBA0TbWNNWu5vorFFHQKbfU3PnOTmv3ry6GKvdrDGw1N6jhEGZm4D8/CaVibTqG1piI3LZ8Bu6i2aq3aH5Rol/wATL2PixHW3VVvnmfhXYAHDQDhLauUAgKAQFAiYETAjAAYEoEhAYgOA4DgEBgwNK27vXVFZ6dBgi02KFrBmZgbHjoBe8lrSNdXM5HLv3prTpELPdbbz4ktSq2NRVzKyi2ZbgG466j1mL111hNxeTbJ9m3m2ORrogOBwHbZdcViBVuKgr1S+bQ3Lk38NbjutK1rdXuOP3ZxU7vlqP7Oj7gbrUUoJicRSD16nvoKi3FJPskKftEa346gdZLSvTcvP9p869sk48c/Zjz16z6/g3eSOOICKg8QNOEGzgEBQCBqO093q/as1IB0Ziw94KVub2N5zsvGv3pmq5TPXXVZ7u7IahmepbOwygA3yrxOvU6ekn4+CadbeaLNli3SF3LSBGAQFAICgRMBGBEwIwAQJAwJCAwYEoDgEBwCBzfefdTGriKlTDU+2pVXZ7Kyh6bMbkEEi4uTYiSRdQy8ae9Mwu9x938Rhy1bEgJUZciU7hiqkgksRpfQaTFrbScfBNJ70tvmi2IBA5ntjfRnxBNKjhylNiqNVpCpUYA8b30B6CS1rjmOr0fH7MiMf2rTufPU6b1u9tYYzDpWAykkqy8crqbGx6c/OR2jU9HE5XHnBlmiymFcQCAQCAQCBrWK2uzObMVUEgAG2g6zn3z2mekrdcURCx2PjzVzK2pUAg87d8n4+WbbiUWWnd6wspZQiAoBAUBGBEwEYECYCvDBAwykIEgYEgYDBgSgOAQHAIBAd4DgEDnW1/ZzVeuz4evTWk7FstQNmp3NyBb4h04fnIppbfSXfwds1rjiMlZ3Ht6/p+bddgbJTB4dKCEtluWc6F3JuWty8OlpJEahx+TyLZ8k5JWEygEAgEAgEBXga5tHd6o1QtRdQGJJV7jKTxsQDpKWTizNt1lapniI1ZZbH2Z+jqbtmdrZiNAAOAEmw4fDj5osuTvysJOiKAQFARMCJgIwIkwIkwIEwEDAmDAkDDCYhkwYDECUAgOAQHAIBAd4BeAXgOAQFeAXgF4CgEAgEBQCAoCMCJgKBEmBEwIEwI3hh/9k="/>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6" name="AutoShape 4" descr="data:image/jpeg;base64,/9j/4AAQSkZJRgABAQAAAQABAAD/2wCEAAkGBw0PDxAQDw8PDw8QDw8QEBAPEA8QDhAQFhEXFhYSFhQYHCggGBolHBUUJDEhMSkrLjouFx8zODMsQygtLisBCgoKDg0OGxAQGywmHyYsLDQsLCwsLCwvLCwwLCwsLCwsLCwsLCwsLCwsLCwsLCwsLCwsLCwsLCwsLCwsLCwsLP/AABEIALYBFAMBEQACEQEDEQH/xAAcAAACAgMBAQAAAAAAAAAAAAAAAQIFBAYHAwj/xABDEAACAQIDBQUFBAcGBwEAAAABAgADEQQSIQUGMUFRE2FxgZEHIjJSoUJyscEUFSMzYpLRU5OywtLwJEOCo+Hi8TT/xAAaAQEAAgMBAAAAAAAAAAAAAAAAAwQBAgUG/8QANBEBAAICAQEGAwYGAwEBAAAAAAECAxEEIQUSEzFBUTJhkSJxgaHR4RQVUrHB8CMzQmI0/9oADAMBAAIRAxEAPwDr4ECQECYECQECQEBgQGBAcBwHAIDgEAgEAgEAgEAgEAgEBQCAoBAVoEbQFARECJECBECJECBED0AgTAgSAgSAgMCBICA4DgEBwCAQHALQHaAQCAQMTGY0U9AMzdOQ8ZDkyxTp6t6U7zD/AFo/yr9f6yH+Jt7JPCgfrR/lX6x/E29jwoP9aP8AKv1j+Jn2PCgfrRvlX1Mz/Ez7HhQP1o3yL6mP4mfY8KDG1D8g9TH8TPseFHuzMNiVqDTQjiDxEnx5Iv5IrVmr2kjUoCIgKBGAiIESIECIEbQJgQJgQJAQGIEhAcBwCA4BAjUdVUszBVUEszEBQBzJPCGYibTqPNreK36wCMQva1bfapoMvkWIvJIxWdGnZWe0bnUffP6bY59oWE5UcR6Uv9cz4UpP5Pl/qj8/0QPtDw/LD1vM0x+ceFPu2/k+T+qPzQPtEo8sNU83QR4U+7P8nv8A1QgfaKvLCnzrAf5Znwfm2/k0/wBf5fugfaKeWEH9/wD+keD82f5N/wDf5fugfaI/LCL/AHx/0TPgx7s/yaP6/wAv3UGJ9oVZnY/o1PVjxqMdOXKc2+OJtM7TV7KrEa70/R4nf7EcqFL+Z5r4Ue7b+WU/qlA7+YrlRof9w/5o8KGf5Zj95/JZ7J35puwTEUxRvoKitmpg/wAQOqjv18prOL2QZuzbVjdJ38vVt15E5gvAIGVs0/tV7w1/C0mwfHDTJ8K6l5WKAoCMBGBGBEiBEiBEiBMCBIQJCBIQHAcAgOAQGBA5x7RNss9b9FUkU6QU1APt1CLgHuAI8yegk2ONRt6HsrjRWniz5z5fd+7T7yTbri8bBeZ2wLxsF42C8bCZrAnoCYmdRsUs5jIgEAgdL3JxjVMGoY3NJmpXPyixX0DAeUrZOlnA5+OK5p169V/mmimM0bGfsZbuT0X6k/8A2WOPG7bRZZ6LiXFcQFAUBGAjAjAiRAjaBIQJCBIQJQHAxqu0MOhs9akp6NUQH0vIrZ8dfitEfjCWuDJbyrM/hIpbSwzGy16LHoKiE+l4ryMVukWj6wWwZa+dZ+ksoSVEq9pbwYXDkqzF3HFKdiR4ngJUzc3FinUzufaFvBwsuWNxGo95VDb6i+mHJHU1QD6ZZUntTr0p+f7LkdlTrrf8v3c425tVKuLrsbpmqk+9rbuvOlh5lL1iZ6O7x8U48Va+0PANLe0p3jYLxtgXmdsi8bYF42PPEtZG8Leuk0yTqsiqlIEAgEDpG5dHJg0POoz1PU2H0USrln7Tg863ezT8ui8zTRTYeO2rQofG4zfIur+nLzm9MVr+SHLnx4/in8GZu5ts1KdR0p5Rnygubk2AN7Dh8XWdHj8fuxO5czNz5tP2Y+q0/WdX+H0lnw6q/wDF5Pkkm1KnMKfUTHhQzHMv6xDJo7Spto10PfqPWaTjmPJYpy6W8+jM46iRrUTsQEYETAiYEbQJiAxAkIGv7a3op0SadECrUGhN/wBmh6G3xHu+s5/J59cf2adZ/KHS43Z1skd6/SPzlqWO2riK/wC8qsR8oOVP5RpOTkz5MnxT+jsYuNixfDX9WFeQ6TC8aGThsfXpAinVdAQQQrEDXu698kplvTpWZhHfDjv1tWJY15Gl0Lwaajtf/wDRV+9+QnUwf9cLeP4YQweJKmx+E/TvlzBmmk6nyZmNrS86KMXgF4BeAXgeGNPueJEjyz9kV8rMCAQCB1rA0RSpU6Y/5dNE9FAlKZ3O3mcl+/ebe8qbbm3ShNKifeGjvxy9y9/fLWHj7+1ZyuVzO7Pcp5+stYYkkkkknUk6kmXXKmdt63bTJhafVsznzY2+lpPTyR2nqs882a7PPDOzzQbZODxrUz1Xmv5ia2rFk2HPOOfkvKbhgGU3B1ErzGnWraLRuDmGUTAiYCIgMQJCBrG+G3DT/wCHpGzsL1GB1VTwUd5/DxnN53Jmv/HTz9XW7O4cX/5b+Xp82lXnG07uheZY0Lxo0LwzoXg0V4NC8GmrbY/f1PFf8InSwf8AXCzT4YYUlbLXCvdF8Lemk6OK26Q0nze15JtgXmdgvGwXjYjVQMCJi3WNGmC1Bxyv4ayvNJhjTzImrBQM7YlDtMTQTkaik+C+8foJredVmUPIt3cVp+X7N729tA0adlNne4XqBzb/AH1kPHx9+3Xyh5LmZ/CpqPOWnzpOEIHQsMuRET5VVfQWlmEL1zwwM8B54DzwytNiYn3jTPBtV8Rx+n4SLJXptd4eTU9yVzIXRIwImAoDECNeqKaO7fCis58ALn8Jra0ViZn0bUrNrRWPVyfE4lqjtUc3Z2LHxJnmrWm0zafOXsKY4pWK18oed5q20V4NC8GheDQvBoXg0Lwaa1tr9+/gv+EToYPghYp8LBkzZZ4ZbIo7r+usv4o1SIaS9byTbAvGwXjYLxsO8zsF42EdeOvjAx8QiAXtY8rSO8RpiVvuVRzYhn5U6Z/mYgD6ZpUzz9nSh2hbWOI95WW2aNavXbIjMtNVW/AXtc8eess8Wk+Hv3eI5+TebXsqnw1VTY03B71MsalT3Cz2Rsl2dXqKVRSCA2jMRw06Tetfdra0ejZ88lRHngPPAM0GzzQzt74GrarTP8a+hNjMW8pSYravWfm24yq7ZQImBGBIQK7eUkYPEW/siPI2B+kg5X/Tb7lrhf8A6Kfe5bmnnnrBeAXgF4Bmg0LxoK8aBeNDXttfvj91fwl/B8CankwZM2WGFq5hrxH4S3iv3o6tZe15Ltg42CNgjYJnYI2CNjGr3ZrDW00t1lrLpHsv2FTNCpXqjMWq5VX7JVFGp66s3pMeDW07lwO1s0xkikekf3Zm2RlxFVbWAYWA0AGUES9T4Y08Xyf+2zDzzdAeeAZ4DzwHmgGaA80DJ2cM1akP41PkDc/QTFvKUuGN5Kx825mVXcIwEYEYDEDx2hhu2o1aX9pTdB3EqQD6zTJTv0mvvCTDk8PJW/tMOPm4JBFiDYg8QRxE8519Xs469YF4ZK8AvALwaF4BeAXg0pdt0jnV+RFvMS3x7dNJKeStlhsyMEfePh+clwz1Ylm3llqLxsF42CAXmQQCAXtA7ZufgjQwGHpkWbs87A8QzkuQfDNbym8PH87L4nItaPf+3RV73YYrUWqPhdcp+8v/AIt6SxinppwOdTVot7qHNJFEZoDzwHmgPNAM0B54F/uthSzNVI0UZV72PE+Q/GRZJ9F/g49zN5bJIXTKAjAiYEhAYgc+352IaVQ4mmP2VQ/tLfYqHme5vxv1E5PNwd23fjynz+/93ouy+XF6+Fbzjy+cft/Zql5QdjQvBoXg0Lxo0LzJoXg0LwaQqorAqwuDyiJmJ3AramydfdfTow/OWIz+8Nu8u93dyMXikepTeiqq2QdoXGY2ubWU90vcb7cTaFLldoYsForaJ38lk3s62kPtYU+FWp+aCWu5KvHbHH/+vpH6td2tsvEYSoaVdMjWuOauvzKeYms9F/Bnpmr3qT0YcxtM9cLh6lV1p01LuxIVRxJtfTyBhre9aVm1p1DNfd/aC8cHifKi7D6CZ1KGOXgnyvH1hjvs7FL8WHxC+NGqPyjq3jNjnytH1hGjgcQ5ypRrO3RabsfQCGbZaVjc2j6w3fdLcSrnWtjVCqpDLQuCzEagvbQD+HnztwO8V93H5vale7NMPr6/p+rpE3efY20cGtem1NufA81bkRMxOp2jy44yVmsufY3DVKLmnUFmHow5MOolmJ24eTHalu7Z4Z5loeaAZoDzQHmgZmy8BUxD5V0UfG/JR/XumtrREJsOG2W2ob3hqCU0VEFlUWH9T3yvM76u3SkUr3YTmGxQEYETAkIDEBVKaspVgGVgQykXBB4giYmImNSzEzWdx5tF29uQ4JfB+8vHsWNmX7rHiO4+pnMzcGY64/o7/F7XiY7ubz9/1hp+JoVKTZaqPTbo6lT9ZRtWazq0adml63jdZ3Hyed5jTYXmAXjQLzOgXjQLxoWmwdhV8Y4CArTB9+qR7ijoPmbu/CTYcFss9PL3VeVzMfHru3n6R/vo6xgMHToUkpUxZEFh1PUnqSbmdqlIpWKw8lly2y3m9vOWRN0av23sbD42kaVdbjirDR6bfMp5H6dZiY2n4/IyYL96k/v97j+8u72IwFTLUGakx/Z1lHuP3H5W7vS8htEw9XxOZTk13Xz9Y/30V2zsWaFalWH/ACqqVNOYVgSPMXHnMROk+XH4lLU94mH0AjAgEG4IBB6gyw8PMa6HDAgEAgEDE2ls6liEy1Bw+Fho6nqDMxaY8kWXFXJGrNA2vgxh6zUs4ewBuBYi+tiOtressVncbcbNj8O/d3thZplEecQPfDYatV0p03f7qkj14CYmYhtXHa3wxtf7O3VqNY12yL8ikFz4ngPrNJyey7i4Np636Npw2Gp0kCU1CqOQ/E9TIpnbpUpWkarD0mGwgKBEwEYDEBiA4DgRq0kcZXVXXowDD0MxMRPm2raazuJ0wW3fwB1OEw/lSQfgJF/D4v6Y+ieObyI/9z9ZM7CwOUr+i0ArCxtTQEjxAvM+Bj1rux9D+Mz7335+stL3g3IqU71MJerT4mkdaq/dP2x9fGUM3CmvWnWPZ2+J2tW/2c3Sff0/H2/t9zTjpcHQgkEHQg8wZRdlv27exdnY/DLUalkrJ+zq9m7qCwGjZb21Fjw4k9J0sGHFlpuY6+rz/M5XJ4uWaxbdZ6xuN/v0XWG3N2dTN+xLkf2juw/lvY+knrxMUeilftPk2jXe190RH7r2nTVQFVQqgWCqAFA6ACWIiI6QoTMzO5SmWBAIHhjcHSr02pVkWpTcWZW4H+h74mNt8eS2O0WpOphyPe/dCrgSalO9XCk6Pxelf7L93RvW3OC9dPU8HtCvIju26W/v936Oi7j47t9n4dj8SJ2Tdb0yUufEAHzktJ3DgdoYvD5No/H69V9NlIQCAQCB4Y3ErRpvUb4UUse/oPEnSZiNy1veKVm0+jm1HD4nF1GZEaozMWYjRQSb6sdBJ9xDhRS+a0zEbbJs3c8CxxD3/gp3A824+lppOT2XsXA9bz+ENjw+AoUwFSkigdFF/EniZHMzK9XHSsaiGRMNxARgKAoBAiYETAkIDEBwGIBAlAIAIFJvBuvhsYCxHZ1raVUAue5h9ofXvEr5uPTJ18p917idoZeP0jrX2n/Hs1bYOHxOysaErj/h8QRS7VbmkWv+za/2Tc2sfmPG0qYq3wZNW8p9f7Oryr4udx+9j+KvXXrr1/35OizpvOCAQCAQCBF0DAqwBUgggi4IPEEQzEzE7hV7K2XQwC1sjinQep2oRyAtJioDBWP2TYaePlp9mkTMzqFnNnycma7jdojXT1/cPvLgFNjXB+6tRh6gWleedgj/ANflP6MxweRP/n+zLwe0sPW/dVUc9Afe/lOsmx58eT4ZiUOTBkx/HWYZclRCAQPDGYSnWULUXMuYNlubEjhfqO6ZidNL0reNWetOmqgKoCqOAUAAeAEw2iIiNQlDIgKAQEYCgKAoCMCJgMQJCAxAYgECUAgEDGx20KFAZqtRUB4A6sfADUzMRM+SPJlpjjdpUWL3twbBkNGpVRhZgypkYeBP5TacW41KvHaNaW3Xe/d7YXe7CNYMKtPvdcw9VJMeHJXnY5nruP8AfkvcPXSooamyup4FSCJprS1W0WjcS9IbCAQCB443EpRpvVf4UUseug4Dvmt7xSs2n0b48c5LxSvnLlm1dsVcVUL1Dpf3EB9xB0A69887my2y23b6ez1WDi0w11X8Z93pS2ViGwzYoBeyUkHU57A2LAW4A9/KZjj3nH4keTFuTjjNGGfOfor1rEEEEgjUEGxB6gyHWk8130lvm5u8DV70KxvUVcyPzdRoQe8XGvPy17PC5M3+xfzcHtHhRi/5KeU+cezaZ0HKECLOBxIHiRMTMQaMEHgb+EzsOAjAIBARgKAoCgIwIwGIDECUAgOAxAcCv27tNcLQaoQC1wqKeDOeHloT5TNY3KLPl8Onec0xWMeq5eoxZ24k/h3DuliOjiWm1p3bzZmzdkYjEo70lBVNDc2LNa+Veptb1mJtEN8fHvkiZr6K7tBMotMzZm1auGfPTP3lPwuOhH5zExEpMWS2O26umbOxiV6SVU+Fxe3MHgQfA3EgmNS7eO8XrFoZMw3EAgVm8mCfEYStSp/GyqVF7XKsGy377W85DyMc5Mc1hZ4eWuLNW9vL/Yczo7DxzvkGGrBr2u6MiD/rOlvOcWOPkmdd2Xp7cvj1r3pvH13P08227wOmA2amFzBqtRcmnO7Zqj+GtvMToZtYcEY/Wf8AZcjiVtyuXObXSOv6Q0DtJytPQ91sm4FB3xgcA5KSOXPL3lKhfE3J/wCky5waTOXfs5na161wd2fOZ6OkYnELTXM3kOZPSde94rG5earWbTqFJiNou/PKOg/M85SvmtZYrjiGNnkTfRrVI1BIPUaGInXkxpnYXarDR/eHX7Q/rLFORMfEjtiifJcIwYAg3B1BEtxMTG4V5jRzIIEYAYCMBGBEwFeACBIQHAcBwCBKBp/tHV+yoMAciu4Y8gxAy39GkmNR5sTNYlofaSVz9Ombu0f0HAF6/un36zg8RcCy+NgunU2kNusurgr4WLdvvc0Na5JPEm5krlaHaTJp0jcHN+hXbgatQr93QfiGkN/N1OHE+H+Kv25v2lNjTwqCqRoarX7K/wDCBq3joPGb0xb+J6LjdlWtHeyzr5ev7NeffXaJNxVVe5aVO31BP1kvh0X47M48R5fnKw2d7QK6kDEU0qLzNP3Kg8ibH6TW2Gvogy9kUmP+OdT8+sf79W87L2lQxVMVKL5l4Hkyt8rDkZXmJjzcTNhvht3bx1Zkwicd3vx71sbXLE2p1GooOioSPqbnznF5Fptknf3PZdn4a4+PXXrG5/FZbpbpHGJ21Z2SjmIUJbPUsbE3OgF7jyPCScfi+JHet5K3P7S/h7eHSN29d+UOjbN2dQw1MU6KBEGulySepJ1JnTpjrSNVh5vNmvmt3rzuVNtzEk1SvJAB5kXJ/D0lPkX3fXslxV1Xau7SQbS6X2ysJTehdlBL5tSNQL20PLhLuHHWadY81bJeYt0UPaSltZ0O0jZpd7vYgkOh4CzDz4/lLfFtvcK+avlK4ltARgKAoBAjARgRgAgSgSgOA4BAYgKrTV1KsoZSLFWAKkdCDxhiYieksLDbGwdJs9PD0UccGCLmHgeUzuWlcVKzuIhpftG22TUGEQ+6mV6tubkXVfAAg+JHSb0j1VeVfc9yGlhydBqToAOJPSbqem07D3Mxdchq4OHpcTm/fMOgX7PifQzWbQsY+La3n0hsW/WIGEwC0aIyLUZaAtyp5SWF++1vMzSvnt6PsnBW2b5Vjf6OY55L33qNNzqbBw67GGJZctcotUVLm5DVAFW3CxUia9+duPHLyTzvDifs71r8P1aXnme+7Gmw7ibRejjaaA+5X/ZuvI6EqfEH6EzW07hQ7SwxfBM+sdY/y63I3lWmbw4DYrYgtXZ1qkjtBSL5Sf4rA2PhrOdnvxov9qevrrbtcTNzq4tY4+z6b1+TatnLRFGmKGXsQoFPKbrlHfL2Pu92O75OTmm83mcnxerJm6NQ7a2XUZzUpjNmtmW4BBAtcX8JTz4LTbvVWMWSIjUsPC7GxDkZh2a8ySCbdwEipx7zPXoktmrHkttrYpcPQCLoSMiDmBbVv98zLOa8Y6ahBjrN7blqvaTnLuh2kMabFuzh2CtUOgewXvA4n/fSXuLSYibSrZ7ddLsy2rowAwFAUBGBEwFAQgSECQgOA4DEAgMGA4HJd+dk4pMbVqdlUenVYOjorOvwgFTbgQQdJJWeihmx278zpceznYFQO2KxFJkyjLQWopVrn4qmU6jSwB7zMWlJx8Wp70w6HNFtV7xbFp46h2TkoQwdHWxKOARe3MWJFu+Fni8m3Hyd+v4w1bAezdVcGviO0QH4KdM0y3cWzGw8PWNunl7Zma6pXU+8zv8Aww/aRtxbrgaNglPK1XLa1wPcpjwFj/L0M1m2knZPFnrnv5z5f5n/AH5tELzHfdvTd/Z5u9WesmLqqUo07mlmFjVcggED5Rcm/W1uc2iZlxu1OZStJw1ncz5/L93TZl51xrba1qGIqJWBD52IJ+2CxIYHmDPP5cU1vMW93tOLNMuKLU8tfT5Oi7jYatTwa9qGUu7uqtoyobWuOV7E+c63DpNMWpeb7TvS+ee511ER+P8AvRsEtOeIBA0TbWNNWu5vorFFHQKbfU3PnOTmv3ry6GKvdrDGw1N6jhEGZm4D8/CaVibTqG1piI3LZ8Bu6i2aq3aH5Rol/wATL2PixHW3VVvnmfhXYAHDQDhLauUAgKAQFAiYETAjAAYEoEhAYgOA4DgEBgwNK27vXVFZ6dBgi02KFrBmZgbHjoBe8lrSNdXM5HLv3prTpELPdbbz4ktSq2NRVzKyi2ZbgG466j1mL111hNxeTbJ9m3m2ORrogOBwHbZdcViBVuKgr1S+bQ3Lk38NbjutK1rdXuOP3ZxU7vlqP7Oj7gbrUUoJicRSD16nvoKi3FJPskKftEa346gdZLSvTcvP9p869sk48c/Zjz16z6/g3eSOOICKg8QNOEGzgEBQCBqO093q/as1IB0Ziw94KVub2N5zsvGv3pmq5TPXXVZ7u7IahmepbOwygA3yrxOvU6ekn4+CadbeaLNli3SF3LSBGAQFAICgRMBGBEwIwAQJAwJCAwYEoDgEBwCBzfefdTGriKlTDU+2pVXZ7Kyh6bMbkEEi4uTYiSRdQy8ae9Mwu9x938Rhy1bEgJUZciU7hiqkgksRpfQaTFrbScfBNJ70tvmi2IBA5ntjfRnxBNKjhylNiqNVpCpUYA8b30B6CS1rjmOr0fH7MiMf2rTufPU6b1u9tYYzDpWAykkqy8crqbGx6c/OR2jU9HE5XHnBlmiymFcQCAQCAQCBrWK2uzObMVUEgAG2g6zn3z2mekrdcURCx2PjzVzK2pUAg87d8n4+WbbiUWWnd6wspZQiAoBAUBGBEwEYECYCvDBAwykIEgYEgYDBgSgOAQHAIBAd4DgEDnW1/ZzVeuz4evTWk7FstQNmp3NyBb4h04fnIppbfSXfwds1rjiMlZ3Ht6/p+bddgbJTB4dKCEtluWc6F3JuWty8OlpJEahx+TyLZ8k5JWEygEAgEAgEBXga5tHd6o1QtRdQGJJV7jKTxsQDpKWTizNt1lapniI1ZZbH2Z+jqbtmdrZiNAAOAEmw4fDj5osuTvysJOiKAQFARMCJgIwIkwIkwIEwEDAmDAkDDCYhkwYDECUAgOAQHAIBAd4BeAXgOAQFeAXgF4CgEAgEBQCAoCMCJgKBEmBEwIEwI3hh/9k="/>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data:image/jpeg;base64,/9j/4AAQSkZJRgABAQAAAQABAAD/2wCEAAkGBw0PDxAQDw8PDw8QDw8QEBAPEA8QDhAQFhEXFhYSFhQYHCggGBolHBUUJDEhMSkrLjouFx8zODMsQygtLisBCgoKDg0OGxAQGywmHyYsLDQsLCwsLCwvLCwwLCwsLCwsLCwsLCwsLCwsLCwsLCwsLCwsLCwsLCwsLCwsLCwsLP/AABEIALYBFAMBEQACEQEDEQH/xAAcAAACAgMBAQAAAAAAAAAAAAAAAQIFBAYHAwj/xABDEAACAQIDBQUFBAcGBwEAAAABAgADEQQSIQUGMUFRE2FxgZEHIjJSoUJyscEUFSMzYpLRU5OywtLwJEOCo+Hi8TT/xAAaAQEAAgMBAAAAAAAAAAAAAAAAAwQBAgUG/8QANBEBAAICAQEGAwYGAwEBAAAAAAECAxEEIQUSEzFBUTJhkSJxgaHR4RQVUrHB8CMzQmI0/9oADAMBAAIRAxEAPwDr4ECQECYECQECQEBgQGBAcBwHAIDgEAgEAgEAgEAgEAgEBQCAoBAVoEbQFARECJECBECJECBED0AgTAgSAgSAgMCBICA4DgEBwCAQHALQHaAQCAQMTGY0U9AMzdOQ8ZDkyxTp6t6U7zD/AFo/yr9f6yH+Jt7JPCgfrR/lX6x/E29jwoP9aP8AKv1j+Jn2PCgfrRvlX1Mz/Ez7HhQP1o3yL6mP4mfY8KDG1D8g9TH8TPseFHuzMNiVqDTQjiDxEnx5Iv5IrVmr2kjUoCIgKBGAiIESIECIEbQJgQJgQJAQGIEhAcBwCA4BAjUdVUszBVUEszEBQBzJPCGYibTqPNreK36wCMQva1bfapoMvkWIvJIxWdGnZWe0bnUffP6bY59oWE5UcR6Uv9cz4UpP5Pl/qj8/0QPtDw/LD1vM0x+ceFPu2/k+T+qPzQPtEo8sNU83QR4U+7P8nv8A1QgfaKvLCnzrAf5Znwfm2/k0/wBf5fugfaKeWEH9/wD+keD82f5N/wDf5fugfaI/LCL/AHx/0TPgx7s/yaP6/wAv3UGJ9oVZnY/o1PVjxqMdOXKc2+OJtM7TV7KrEa70/R4nf7EcqFL+Z5r4Ue7b+WU/qlA7+YrlRof9w/5o8KGf5Zj95/JZ7J35puwTEUxRvoKitmpg/wAQOqjv18prOL2QZuzbVjdJ38vVt15E5gvAIGVs0/tV7w1/C0mwfHDTJ8K6l5WKAoCMBGBGBEiBEiBEiBMCBIQJCBIQHAcAgOAQGBA5x7RNss9b9FUkU6QU1APt1CLgHuAI8yegk2ONRt6HsrjRWniz5z5fd+7T7yTbri8bBeZ2wLxsF42C8bCZrAnoCYmdRsUs5jIgEAgdL3JxjVMGoY3NJmpXPyixX0DAeUrZOlnA5+OK5p169V/mmimM0bGfsZbuT0X6k/8A2WOPG7bRZZ6LiXFcQFAUBGAjAjAiRAjaBIQJCBIQJQHAxqu0MOhs9akp6NUQH0vIrZ8dfitEfjCWuDJbyrM/hIpbSwzGy16LHoKiE+l4ryMVukWj6wWwZa+dZ+ksoSVEq9pbwYXDkqzF3HFKdiR4ngJUzc3FinUzufaFvBwsuWNxGo95VDb6i+mHJHU1QD6ZZUntTr0p+f7LkdlTrrf8v3c425tVKuLrsbpmqk+9rbuvOlh5lL1iZ6O7x8U48Va+0PANLe0p3jYLxtgXmdsi8bYF42PPEtZG8Leuk0yTqsiqlIEAgEDpG5dHJg0POoz1PU2H0USrln7Tg863ezT8ui8zTRTYeO2rQofG4zfIur+nLzm9MVr+SHLnx4/in8GZu5ts1KdR0p5Rnygubk2AN7Dh8XWdHj8fuxO5czNz5tP2Y+q0/WdX+H0lnw6q/wDF5Pkkm1KnMKfUTHhQzHMv6xDJo7Spto10PfqPWaTjmPJYpy6W8+jM46iRrUTsQEYETAiYEbQJiAxAkIGv7a3op0SadECrUGhN/wBmh6G3xHu+s5/J59cf2adZ/KHS43Z1skd6/SPzlqWO2riK/wC8qsR8oOVP5RpOTkz5MnxT+jsYuNixfDX9WFeQ6TC8aGThsfXpAinVdAQQQrEDXu698kplvTpWZhHfDjv1tWJY15Gl0Lwaajtf/wDRV+9+QnUwf9cLeP4YQweJKmx+E/TvlzBmmk6nyZmNrS86KMXgF4BeAXgeGNPueJEjyz9kV8rMCAQCB1rA0RSpU6Y/5dNE9FAlKZ3O3mcl+/ebe8qbbm3ShNKifeGjvxy9y9/fLWHj7+1ZyuVzO7Pcp5+stYYkkkkknUk6kmXXKmdt63bTJhafVsznzY2+lpPTyR2nqs882a7PPDOzzQbZODxrUz1Xmv5ia2rFk2HPOOfkvKbhgGU3B1ErzGnWraLRuDmGUTAiYCIgMQJCBrG+G3DT/wCHpGzsL1GB1VTwUd5/DxnN53Jmv/HTz9XW7O4cX/5b+Xp82lXnG07uheZY0Lxo0LwzoXg0V4NC8GmrbY/f1PFf8InSwf8AXCzT4YYUlbLXCvdF8Lemk6OK26Q0nze15JtgXmdgvGwXjYjVQMCJi3WNGmC1Bxyv4ayvNJhjTzImrBQM7YlDtMTQTkaik+C+8foJredVmUPIt3cVp+X7N729tA0adlNne4XqBzb/AH1kPHx9+3Xyh5LmZ/CpqPOWnzpOEIHQsMuRET5VVfQWlmEL1zwwM8B54DzwytNiYn3jTPBtV8Rx+n4SLJXptd4eTU9yVzIXRIwImAoDECNeqKaO7fCis58ALn8Jra0ViZn0bUrNrRWPVyfE4lqjtUc3Z2LHxJnmrWm0zafOXsKY4pWK18oed5q20V4NC8GheDQvBoXg0Lwaa1tr9+/gv+EToYPghYp8LBkzZZ4ZbIo7r+usv4o1SIaS9byTbAvGwXjYLxsO8zsF42EdeOvjAx8QiAXtY8rSO8RpiVvuVRzYhn5U6Z/mYgD6ZpUzz9nSh2hbWOI95WW2aNavXbIjMtNVW/AXtc8eess8Wk+Hv3eI5+TebXsqnw1VTY03B71MsalT3Cz2Rsl2dXqKVRSCA2jMRw06Tetfdra0ejZ88lRHngPPAM0GzzQzt74GrarTP8a+hNjMW8pSYravWfm24yq7ZQImBGBIQK7eUkYPEW/siPI2B+kg5X/Tb7lrhf8A6Kfe5bmnnnrBeAXgF4Bmg0LxoK8aBeNDXttfvj91fwl/B8CankwZM2WGFq5hrxH4S3iv3o6tZe15Ltg42CNgjYJnYI2CNjGr3ZrDW00t1lrLpHsv2FTNCpXqjMWq5VX7JVFGp66s3pMeDW07lwO1s0xkikekf3Zm2RlxFVbWAYWA0AGUES9T4Y08Xyf+2zDzzdAeeAZ4DzwHmgGaA80DJ2cM1akP41PkDc/QTFvKUuGN5Kx825mVXcIwEYEYDEDx2hhu2o1aX9pTdB3EqQD6zTJTv0mvvCTDk8PJW/tMOPm4JBFiDYg8QRxE8519Xs469YF4ZK8AvALwaF4BeAXg0pdt0jnV+RFvMS3x7dNJKeStlhsyMEfePh+clwz1Ylm3llqLxsF42CAXmQQCAXtA7ZufgjQwGHpkWbs87A8QzkuQfDNbym8PH87L4nItaPf+3RV73YYrUWqPhdcp+8v/AIt6SxinppwOdTVot7qHNJFEZoDzwHmgPNAM0B54F/uthSzNVI0UZV72PE+Q/GRZJ9F/g49zN5bJIXTKAjAiYEhAYgc+352IaVQ4mmP2VQ/tLfYqHme5vxv1E5PNwd23fjynz+/93ouy+XF6+Fbzjy+cft/Zql5QdjQvBoXg0Lxo0LzJoXg0LwaQqorAqwuDyiJmJ3AramydfdfTow/OWIz+8Nu8u93dyMXikepTeiqq2QdoXGY2ubWU90vcb7cTaFLldoYsForaJ38lk3s62kPtYU+FWp+aCWu5KvHbHH/+vpH6td2tsvEYSoaVdMjWuOauvzKeYms9F/Bnpmr3qT0YcxtM9cLh6lV1p01LuxIVRxJtfTyBhre9aVm1p1DNfd/aC8cHifKi7D6CZ1KGOXgnyvH1hjvs7FL8WHxC+NGqPyjq3jNjnytH1hGjgcQ5ypRrO3RabsfQCGbZaVjc2j6w3fdLcSrnWtjVCqpDLQuCzEagvbQD+HnztwO8V93H5vale7NMPr6/p+rpE3efY20cGtem1NufA81bkRMxOp2jy44yVmsufY3DVKLmnUFmHow5MOolmJ24eTHalu7Z4Z5loeaAZoDzQHmgZmy8BUxD5V0UfG/JR/XumtrREJsOG2W2ob3hqCU0VEFlUWH9T3yvM76u3SkUr3YTmGxQEYETAkIDEBVKaspVgGVgQykXBB4giYmImNSzEzWdx5tF29uQ4JfB+8vHsWNmX7rHiO4+pnMzcGY64/o7/F7XiY7ubz9/1hp+JoVKTZaqPTbo6lT9ZRtWazq0adml63jdZ3Hyed5jTYXmAXjQLzOgXjQLxoWmwdhV8Y4CArTB9+qR7ijoPmbu/CTYcFss9PL3VeVzMfHru3n6R/vo6xgMHToUkpUxZEFh1PUnqSbmdqlIpWKw8lly2y3m9vOWRN0av23sbD42kaVdbjirDR6bfMp5H6dZiY2n4/IyYL96k/v97j+8u72IwFTLUGakx/Z1lHuP3H5W7vS8htEw9XxOZTk13Xz9Y/30V2zsWaFalWH/ACqqVNOYVgSPMXHnMROk+XH4lLU94mH0AjAgEG4IBB6gyw8PMa6HDAgEAgEDE2ls6liEy1Bw+Fho6nqDMxaY8kWXFXJGrNA2vgxh6zUs4ewBuBYi+tiOtressVncbcbNj8O/d3thZplEecQPfDYatV0p03f7qkj14CYmYhtXHa3wxtf7O3VqNY12yL8ikFz4ngPrNJyey7i4Np636Npw2Gp0kCU1CqOQ/E9TIpnbpUpWkarD0mGwgKBEwEYDEBiA4DgRq0kcZXVXXowDD0MxMRPm2raazuJ0wW3fwB1OEw/lSQfgJF/D4v6Y+ieObyI/9z9ZM7CwOUr+i0ArCxtTQEjxAvM+Bj1rux9D+Mz7335+stL3g3IqU71MJerT4mkdaq/dP2x9fGUM3CmvWnWPZ2+J2tW/2c3Sff0/H2/t9zTjpcHQgkEHQg8wZRdlv27exdnY/DLUalkrJ+zq9m7qCwGjZb21Fjw4k9J0sGHFlpuY6+rz/M5XJ4uWaxbdZ6xuN/v0XWG3N2dTN+xLkf2juw/lvY+knrxMUeilftPk2jXe190RH7r2nTVQFVQqgWCqAFA6ACWIiI6QoTMzO5SmWBAIHhjcHSr02pVkWpTcWZW4H+h74mNt8eS2O0WpOphyPe/dCrgSalO9XCk6Pxelf7L93RvW3OC9dPU8HtCvIju26W/v936Oi7j47t9n4dj8SJ2Tdb0yUufEAHzktJ3DgdoYvD5No/H69V9NlIQCAQCB4Y3ErRpvUb4UUse/oPEnSZiNy1veKVm0+jm1HD4nF1GZEaozMWYjRQSb6sdBJ9xDhRS+a0zEbbJs3c8CxxD3/gp3A824+lppOT2XsXA9bz+ENjw+AoUwFSkigdFF/EniZHMzK9XHSsaiGRMNxARgKAoBAiYETAkIDEBwGIBAlAIAIFJvBuvhsYCxHZ1raVUAue5h9ofXvEr5uPTJ18p917idoZeP0jrX2n/Hs1bYOHxOysaErj/h8QRS7VbmkWv+za/2Tc2sfmPG0qYq3wZNW8p9f7Oryr4udx+9j+KvXXrr1/35OizpvOCAQCAQCBF0DAqwBUgggi4IPEEQzEzE7hV7K2XQwC1sjinQep2oRyAtJioDBWP2TYaePlp9mkTMzqFnNnycma7jdojXT1/cPvLgFNjXB+6tRh6gWleedgj/ANflP6MxweRP/n+zLwe0sPW/dVUc9Afe/lOsmx58eT4ZiUOTBkx/HWYZclRCAQPDGYSnWULUXMuYNlubEjhfqO6ZidNL0reNWetOmqgKoCqOAUAAeAEw2iIiNQlDIgKAQEYCgKAoCMCJgMQJCAxAYgECUAgEDGx20KFAZqtRUB4A6sfADUzMRM+SPJlpjjdpUWL3twbBkNGpVRhZgypkYeBP5TacW41KvHaNaW3Xe/d7YXe7CNYMKtPvdcw9VJMeHJXnY5nruP8AfkvcPXSooamyup4FSCJprS1W0WjcS9IbCAQCB443EpRpvVf4UUseug4Dvmt7xSs2n0b48c5LxSvnLlm1dsVcVUL1Dpf3EB9xB0A69887my2y23b6ez1WDi0w11X8Z93pS2ViGwzYoBeyUkHU57A2LAW4A9/KZjj3nH4keTFuTjjNGGfOfor1rEEEEgjUEGxB6gyHWk8130lvm5u8DV70KxvUVcyPzdRoQe8XGvPy17PC5M3+xfzcHtHhRi/5KeU+cezaZ0HKECLOBxIHiRMTMQaMEHgb+EzsOAjAIBARgKAoCgIwIwGIDECUAgOAxAcCv27tNcLQaoQC1wqKeDOeHloT5TNY3KLPl8Onec0xWMeq5eoxZ24k/h3DuliOjiWm1p3bzZmzdkYjEo70lBVNDc2LNa+Veptb1mJtEN8fHvkiZr6K7tBMotMzZm1auGfPTP3lPwuOhH5zExEpMWS2O26umbOxiV6SVU+Fxe3MHgQfA3EgmNS7eO8XrFoZMw3EAgVm8mCfEYStSp/GyqVF7XKsGy377W85DyMc5Mc1hZ4eWuLNW9vL/Yczo7DxzvkGGrBr2u6MiD/rOlvOcWOPkmdd2Xp7cvj1r3pvH13P08227wOmA2amFzBqtRcmnO7Zqj+GtvMToZtYcEY/Wf8AZcjiVtyuXObXSOv6Q0DtJytPQ91sm4FB3xgcA5KSOXPL3lKhfE3J/wCky5waTOXfs5na161wd2fOZ6OkYnELTXM3kOZPSde94rG5earWbTqFJiNou/PKOg/M85SvmtZYrjiGNnkTfRrVI1BIPUaGInXkxpnYXarDR/eHX7Q/rLFORMfEjtiifJcIwYAg3B1BEtxMTG4V5jRzIIEYAYCMBGBEwFeACBIQHAcBwCBKBp/tHV+yoMAciu4Y8gxAy39GkmNR5sTNYlofaSVz9Ombu0f0HAF6/un36zg8RcCy+NgunU2kNusurgr4WLdvvc0Na5JPEm5krlaHaTJp0jcHN+hXbgatQr93QfiGkN/N1OHE+H+Kv25v2lNjTwqCqRoarX7K/wDCBq3joPGb0xb+J6LjdlWtHeyzr5ev7NeffXaJNxVVe5aVO31BP1kvh0X47M48R5fnKw2d7QK6kDEU0qLzNP3Kg8ibH6TW2Gvogy9kUmP+OdT8+sf79W87L2lQxVMVKL5l4Hkyt8rDkZXmJjzcTNhvht3bx1Zkwicd3vx71sbXLE2p1GooOioSPqbnznF5Fptknf3PZdn4a4+PXXrG5/FZbpbpHGJ21Z2SjmIUJbPUsbE3OgF7jyPCScfi+JHet5K3P7S/h7eHSN29d+UOjbN2dQw1MU6KBEGulySepJ1JnTpjrSNVh5vNmvmt3rzuVNtzEk1SvJAB5kXJ/D0lPkX3fXslxV1Xau7SQbS6X2ysJTehdlBL5tSNQL20PLhLuHHWadY81bJeYt0UPaSltZ0O0jZpd7vYgkOh4CzDz4/lLfFtvcK+avlK4ltARgKAoBAjARgRgAgSgSgOA4BAYgKrTV1KsoZSLFWAKkdCDxhiYieksLDbGwdJs9PD0UccGCLmHgeUzuWlcVKzuIhpftG22TUGEQ+6mV6tubkXVfAAg+JHSb0j1VeVfc9yGlhydBqToAOJPSbqem07D3Mxdchq4OHpcTm/fMOgX7PifQzWbQsY+La3n0hsW/WIGEwC0aIyLUZaAtyp5SWF++1vMzSvnt6PsnBW2b5Vjf6OY55L33qNNzqbBw67GGJZctcotUVLm5DVAFW3CxUia9+duPHLyTzvDifs71r8P1aXnme+7Gmw7ibRejjaaA+5X/ZuvI6EqfEH6EzW07hQ7SwxfBM+sdY/y63I3lWmbw4DYrYgtXZ1qkjtBSL5Sf4rA2PhrOdnvxov9qevrrbtcTNzq4tY4+z6b1+TatnLRFGmKGXsQoFPKbrlHfL2Pu92O75OTmm83mcnxerJm6NQ7a2XUZzUpjNmtmW4BBAtcX8JTz4LTbvVWMWSIjUsPC7GxDkZh2a8ySCbdwEipx7zPXoktmrHkttrYpcPQCLoSMiDmBbVv98zLOa8Y6ahBjrN7blqvaTnLuh2kMabFuzh2CtUOgewXvA4n/fSXuLSYibSrZ7ddLsy2rowAwFAUBGBEwFAQgSECQgOA4DEAgMGA4HJd+dk4pMbVqdlUenVYOjorOvwgFTbgQQdJJWeihmx278zpceznYFQO2KxFJkyjLQWopVrn4qmU6jSwB7zMWlJx8Wp70w6HNFtV7xbFp46h2TkoQwdHWxKOARe3MWJFu+Fni8m3Hyd+v4w1bAezdVcGviO0QH4KdM0y3cWzGw8PWNunl7Zma6pXU+8zv8Aww/aRtxbrgaNglPK1XLa1wPcpjwFj/L0M1m2knZPFnrnv5z5f5n/AH5tELzHfdvTd/Z5u9WesmLqqUo07mlmFjVcggED5Rcm/W1uc2iZlxu1OZStJw1ncz5/L93TZl51xrba1qGIqJWBD52IJ+2CxIYHmDPP5cU1vMW93tOLNMuKLU8tfT5Oi7jYatTwa9qGUu7uqtoyobWuOV7E+c63DpNMWpeb7TvS+ee511ER+P8AvRsEtOeIBA0TbWNNWu5vorFFHQKbfU3PnOTmv3ry6GKvdrDGw1N6jhEGZm4D8/CaVibTqG1piI3LZ8Bu6i2aq3aH5Rol/wATL2PixHW3VVvnmfhXYAHDQDhLauUAgKAQFAiYETAjAAYEoEhAYgOA4DgEBgwNK27vXVFZ6dBgi02KFrBmZgbHjoBe8lrSNdXM5HLv3prTpELPdbbz4ktSq2NRVzKyi2ZbgG466j1mL111hNxeTbJ9m3m2ORrogOBwHbZdcViBVuKgr1S+bQ3Lk38NbjutK1rdXuOP3ZxU7vlqP7Oj7gbrUUoJicRSD16nvoKi3FJPskKftEa346gdZLSvTcvP9p869sk48c/Zjz16z6/g3eSOOICKg8QNOEGzgEBQCBqO093q/as1IB0Ziw94KVub2N5zsvGv3pmq5TPXXVZ7u7IahmepbOwygA3yrxOvU6ekn4+CadbeaLNli3SF3LSBGAQFAICgRMBGBEwIwAQJAwJCAwYEoDgEBwCBzfefdTGriKlTDU+2pVXZ7Kyh6bMbkEEi4uTYiSRdQy8ae9Mwu9x938Rhy1bEgJUZciU7hiqkgksRpfQaTFrbScfBNJ70tvmi2IBA5ntjfRnxBNKjhylNiqNVpCpUYA8b30B6CS1rjmOr0fH7MiMf2rTufPU6b1u9tYYzDpWAykkqy8crqbGx6c/OR2jU9HE5XHnBlmiymFcQCAQCAQCBrWK2uzObMVUEgAG2g6zn3z2mekrdcURCx2PjzVzK2pUAg87d8n4+WbbiUWWnd6wspZQiAoBAUBGBEwEYECYCvDBAwykIEgYEgYDBgSgOAQHAIBAd4DgEDnW1/ZzVeuz4evTWk7FstQNmp3NyBb4h04fnIppbfSXfwds1rjiMlZ3Ht6/p+bddgbJTB4dKCEtluWc6F3JuWty8OlpJEahx+TyLZ8k5JWEygEAgEAgEBXga5tHd6o1QtRdQGJJV7jKTxsQDpKWTizNt1lapniI1ZZbH2Z+jqbtmdrZiNAAOAEmw4fDj5osuTvysJOiKAQFARMCJgIwIkwIkwIEwEDAmDAkDDCYhkwYDECUAgOAQHAIBAd4BeAXgOAQFeAXgF4CgEAgEBQCAoCMCJgKBEmBEwIEwI3hh/9k="/>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40" name="Picture 8" descr="http://www.holisticsquid.com/holistickidwordpress/wp-content/uploads/2012/08/Questions1.jpg"/>
          <p:cNvPicPr>
            <a:picLocks noChangeAspect="1" noChangeArrowheads="1"/>
          </p:cNvPicPr>
          <p:nvPr/>
        </p:nvPicPr>
        <p:blipFill>
          <a:blip r:embed="rId2" cstate="print"/>
          <a:srcRect/>
          <a:stretch>
            <a:fillRect/>
          </a:stretch>
        </p:blipFill>
        <p:spPr bwMode="auto">
          <a:xfrm>
            <a:off x="711200" y="533400"/>
            <a:ext cx="10769600" cy="4953000"/>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336" y="1847849"/>
            <a:ext cx="10515600" cy="1325563"/>
          </a:xfrm>
        </p:spPr>
        <p:txBody>
          <a:bodyPr>
            <a:normAutofit fontScale="90000"/>
          </a:bodyPr>
          <a:lstStyle/>
          <a:p>
            <a:r>
              <a:rPr lang="en-ZA" dirty="0"/>
              <a:t>          </a:t>
            </a:r>
            <a:r>
              <a:rPr lang="en-ZA" sz="8900" dirty="0"/>
              <a:t>Thank you</a:t>
            </a:r>
            <a:endParaRPr lang="en-ZA" dirty="0"/>
          </a:p>
        </p:txBody>
      </p:sp>
      <p:sp>
        <p:nvSpPr>
          <p:cNvPr id="7" name="Slide Number Placeholder 6"/>
          <p:cNvSpPr>
            <a:spLocks noGrp="1"/>
          </p:cNvSpPr>
          <p:nvPr>
            <p:ph type="sldNum" sz="quarter" idx="12"/>
          </p:nvPr>
        </p:nvSpPr>
        <p:spPr/>
        <p:txBody>
          <a:bodyPr/>
          <a:lstStyle/>
          <a:p>
            <a:fld id="{6DD7D84E-0E76-444F-8C2F-83F1D9BD0C6E}" type="slidenum">
              <a:rPr lang="en-GB" smtClean="0"/>
              <a:pPr/>
              <a:t>106</a:t>
            </a:fld>
            <a:endParaRPr lang="en-GB" dirty="0"/>
          </a:p>
        </p:txBody>
      </p:sp>
    </p:spTree>
    <p:extLst>
      <p:ext uri="{BB962C8B-B14F-4D97-AF65-F5344CB8AC3E}">
        <p14:creationId xmlns:p14="http://schemas.microsoft.com/office/powerpoint/2010/main" val="2054457490"/>
      </p:ext>
    </p:extLst>
  </p:cSld>
  <p:clrMapOvr>
    <a:masterClrMapping/>
  </p:clrMapOvr>
</p:sld>
</file>

<file path=ppt/theme/theme1.xml><?xml version="1.0" encoding="utf-8"?>
<a:theme xmlns:a="http://schemas.openxmlformats.org/drawingml/2006/main" name="00_PPT_Theme_NobleProg[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bleProg-theme" id="{B92786E7-8A7E-4B9D-9290-3E4211E95A29}" vid="{1E4D5ABF-276F-41A4-BEFA-EFA971AD6B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29977</TotalTime>
  <Words>12381</Words>
  <Application>Microsoft Macintosh PowerPoint</Application>
  <PresentationFormat>Widescreen</PresentationFormat>
  <Paragraphs>749</Paragraphs>
  <Slides>106</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106</vt:i4>
      </vt:variant>
    </vt:vector>
  </HeadingPairs>
  <TitlesOfParts>
    <vt:vector size="120" baseType="lpstr">
      <vt:lpstr>Adobe Fan Heiti Std B</vt:lpstr>
      <vt:lpstr>Arial</vt:lpstr>
      <vt:lpstr>Arial Narrow</vt:lpstr>
      <vt:lpstr>Calibri</vt:lpstr>
      <vt:lpstr>Consolas</vt:lpstr>
      <vt:lpstr>Poppins</vt:lpstr>
      <vt:lpstr>Raleway-v4020</vt:lpstr>
      <vt:lpstr>Raleway-v4020 Black</vt:lpstr>
      <vt:lpstr>Raleway-v4020 Thin</vt:lpstr>
      <vt:lpstr>Roboto</vt:lpstr>
      <vt:lpstr>Söhne</vt:lpstr>
      <vt:lpstr>Times New Roman</vt:lpstr>
      <vt:lpstr>Trebuchet MS</vt:lpstr>
      <vt:lpstr>00_PPT_Theme_NobleProg[1]</vt:lpstr>
      <vt:lpstr>PowerPoint Presentation</vt:lpstr>
      <vt:lpstr>Docker and Kubernetes</vt:lpstr>
      <vt:lpstr>Agenda </vt:lpstr>
      <vt:lpstr>Day 1</vt:lpstr>
      <vt:lpstr>Docker and Linux Technology?</vt:lpstr>
      <vt:lpstr>PowerPoint Presentation</vt:lpstr>
      <vt:lpstr>Docker Architecture </vt:lpstr>
      <vt:lpstr>Docker Container lifecycle</vt:lpstr>
      <vt:lpstr>PowerPoint Presentation</vt:lpstr>
      <vt:lpstr>Continue..</vt:lpstr>
      <vt:lpstr>Continue..</vt:lpstr>
      <vt:lpstr>Continue..</vt:lpstr>
      <vt:lpstr>Continue..</vt:lpstr>
      <vt:lpstr>Continue..</vt:lpstr>
      <vt:lpstr>Continue..</vt:lpstr>
      <vt:lpstr>Persistance of data in containers</vt:lpstr>
      <vt:lpstr>Continue..</vt:lpstr>
      <vt:lpstr>Continue..</vt:lpstr>
      <vt:lpstr>Continue..</vt:lpstr>
      <vt:lpstr>Continue..</vt:lpstr>
      <vt:lpstr>EXERCISE……</vt:lpstr>
      <vt:lpstr>PowerPoint Presentation</vt:lpstr>
      <vt:lpstr>PowerPoint Presentation</vt:lpstr>
      <vt:lpstr>PowerPoint Presentation</vt:lpstr>
      <vt:lpstr>PowerPoint Presentation</vt:lpstr>
      <vt:lpstr>PowerPoint Presentation</vt:lpstr>
      <vt:lpstr>PowerPoint Presentation</vt:lpstr>
      <vt:lpstr>Container orchestration</vt:lpstr>
      <vt:lpstr>Requirements</vt:lpstr>
      <vt:lpstr>Continue</vt:lpstr>
      <vt:lpstr>Container Orchestration tools</vt:lpstr>
      <vt:lpstr>Introduction to Kubernetes</vt:lpstr>
      <vt:lpstr>Kubernetes Key Features</vt:lpstr>
      <vt:lpstr>Kubernetes Core Concepts</vt:lpstr>
      <vt:lpstr>Continue….</vt:lpstr>
      <vt:lpstr>Continue…</vt:lpstr>
      <vt:lpstr>Continue….</vt:lpstr>
      <vt:lpstr>Continue…</vt:lpstr>
      <vt:lpstr>Continue…</vt:lpstr>
      <vt:lpstr>Continue…</vt:lpstr>
      <vt:lpstr>Day 2</vt:lpstr>
      <vt:lpstr>Containers network model in Kubernetes</vt:lpstr>
      <vt:lpstr>Containers network model in Kubernetes</vt:lpstr>
      <vt:lpstr>Containers network model in Kubernetes</vt:lpstr>
      <vt:lpstr>Service Discovery,scaling, load balancing</vt:lpstr>
      <vt:lpstr>Service Discovery,scaling, load balancing</vt:lpstr>
      <vt:lpstr>Service Discovery,scaling, load balancing</vt:lpstr>
      <vt:lpstr>DNS for Delivery Service</vt:lpstr>
      <vt:lpstr>Continue..</vt:lpstr>
      <vt:lpstr>To note…</vt:lpstr>
      <vt:lpstr>Exercise</vt:lpstr>
      <vt:lpstr>Ingress controller and reverse proxy</vt:lpstr>
      <vt:lpstr>Ingress controller and reverse proxy</vt:lpstr>
      <vt:lpstr>Ingress controller and reverse proxy</vt:lpstr>
      <vt:lpstr>Persistence of application state and the data volume model in Kubernetes</vt:lpstr>
      <vt:lpstr>Setting up Devops Infrastructure</vt:lpstr>
      <vt:lpstr>PowerPoint Presentation</vt:lpstr>
      <vt:lpstr>PowerPoint Presentation</vt:lpstr>
      <vt:lpstr>Data Volume</vt:lpstr>
      <vt:lpstr>Data Volumes solutions:</vt:lpstr>
      <vt:lpstr>PowerPoint Presentation</vt:lpstr>
      <vt:lpstr>Storage backend in Kubernetes: local, NFS, GlusterFS, Ceph</vt:lpstr>
      <vt:lpstr>Storage…</vt:lpstr>
      <vt:lpstr>Storage…</vt:lpstr>
      <vt:lpstr>Cluster management</vt:lpstr>
      <vt:lpstr>Cluster management</vt:lpstr>
      <vt:lpstr>Cluster management</vt:lpstr>
      <vt:lpstr>Cluster management</vt:lpstr>
      <vt:lpstr>Deployment of applications and services on a Kubernetes cluster</vt:lpstr>
      <vt:lpstr>Deployment of applications and services on a Kubernetes cluster</vt:lpstr>
      <vt:lpstr>Deployment of applications and services on a Kubernetes cluster</vt:lpstr>
      <vt:lpstr>Deployment of applications and services on a Kubernetes cluster</vt:lpstr>
      <vt:lpstr>Deployment of applications and services on a Kubernetes cluster</vt:lpstr>
      <vt:lpstr>Deployment of applications and services on a Kubernetes cluster</vt:lpstr>
      <vt:lpstr>Deployment of applications and services on a Kubernetes cluster</vt:lpstr>
      <vt:lpstr>Deployment of applications and services on a Kubernetes cluster</vt:lpstr>
      <vt:lpstr>Day 3</vt:lpstr>
      <vt:lpstr>Deamon sets</vt:lpstr>
      <vt:lpstr>Statefulsets</vt:lpstr>
      <vt:lpstr>Jobs and crons</vt:lpstr>
      <vt:lpstr>Jobs and crons</vt:lpstr>
      <vt:lpstr>Standalone pod </vt:lpstr>
      <vt:lpstr>Storage class </vt:lpstr>
      <vt:lpstr>Network Policies </vt:lpstr>
      <vt:lpstr>Securing Cluster </vt:lpstr>
      <vt:lpstr>Continue.. </vt:lpstr>
      <vt:lpstr>Continue </vt:lpstr>
      <vt:lpstr>TO NOTE.. </vt:lpstr>
      <vt:lpstr>Control Plane High Availability</vt:lpstr>
      <vt:lpstr>Continue …</vt:lpstr>
      <vt:lpstr>Continue…. </vt:lpstr>
      <vt:lpstr>Continue …</vt:lpstr>
      <vt:lpstr>Autoscaling</vt:lpstr>
      <vt:lpstr>HPA</vt:lpstr>
      <vt:lpstr>Autoscaling</vt:lpstr>
      <vt:lpstr>Cluster autoscaling</vt:lpstr>
      <vt:lpstr>Continue..</vt:lpstr>
      <vt:lpstr>Continue..</vt:lpstr>
      <vt:lpstr>Continue..</vt:lpstr>
      <vt:lpstr>Troubleshooting</vt:lpstr>
      <vt:lpstr>Continue…</vt:lpstr>
      <vt:lpstr>Continue…</vt:lpstr>
      <vt:lpstr>To Note …..</vt:lpstr>
      <vt:lpstr>Exercise</vt:lpstr>
      <vt:lpstr>Q&amp;A</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Tejasvi Nanda</dc:creator>
  <cp:lastModifiedBy>kumbulani tshuma</cp:lastModifiedBy>
  <cp:revision>130</cp:revision>
  <dcterms:created xsi:type="dcterms:W3CDTF">2020-05-23T18:28:20Z</dcterms:created>
  <dcterms:modified xsi:type="dcterms:W3CDTF">2026-08-14T18:25:25Z</dcterms:modified>
</cp:coreProperties>
</file>