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Set Day 2's theme: reliability is engineered, not hoped for.
TIMING: 2 min
SPEAKER NOTES
Open with yesterday's incident. It is still fresh and it is the reason for everything today.
The post-incident review asked one question: why did the rollout continue after the first pod failed? By 12:00 today they will have built the answer, and by 17:00 they will have measured it under 40 requests per second.
ASK THE ROOM: Yesterday's incident took out all three replicas at once. What SHOULD have stopped it after the first?
EXPECTED ANSWER: A readiness probe. The rollout would have stalled with the old pods still serving. Do not give the answer — collect guesses and tell them they will build it before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Retrieval practice — the single most effective retention technique available.
TIMING: 20 min
SPEAKER NOTES
Ask, pause, take an answer, correct gently. Roughly two minutes each including discussion.
Questions 3 and 5 predict who will struggle today. If more than a third miss either, spend five extra minutes now — endpoints matter for probes, and describe-vs-logs matters for this afternoon's incident.
&gt;&gt; LIVE DEMO: Then have everyone run `make validate-day1` to confirm their platform survived overnight. Deal with any broken clusters NOW, not at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Create demand for each module from a felt gap.
TIMING: 5 min
SPEAKER NOTES
Work down the list. Each row is a lab. The point is that today's agenda is DERIVED from yesterday's pain rather than imposed by a syllabus.
Row 3 is the callback that matters: yesterday's incident is on this slide as a line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resource model that scheduling, autoscaling and stability all rest on.
TIMING: 90 min
SPEAKER NOTES
This module looks administrative and is not. Requests are the input to the scheduler AND the denominator for autoscaling. Get them wrong and both break,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Motivate the module with an invisible failure.
TIMING: 4 min
SPEAKER NOTES
The 217 ms is a real measurement from this platform, not an invented number — it is what the acquirer simulation plus five service hops actually costs.
The point to land: this failure mode has NO error. Students who only know how to read logs cannot find it at all.
ASK THE ROOM: Where would you look first for 'slow, but nothing is broken'?
EXPECTED ANSWER: Collect answers. Most say logs or the application. Almost nobody says cgroup throttling counters — which is exactly why it goes undiagnosed for weeks in real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Separate scheduling from enforcement — the distinction most people never make.
TIMING: 8 min
SPEAKER NOTES
The confusion to kill: people think requests and limits are 'minimum and maximum of the same thing'. They are not. They are inputs to two different systems that never talk to each other.
The scheduler only ever reads requests. The kernel only ever reads limits. A pod can be scheduled onto a busy node because its request is small, and then throttled because its limit is small. Those are unrelated events with unrelated causes.
ASK THE ROOM: A node has 2000m allocatable, 1900m already requested, and is 5% busy. Will a pod requesting 200m schedule there?
EXPECTED ANSWER: No. The scheduler works from reservations, not from actual usage. There is 100m unreserved. This surprises people the first time — an idle node that refuses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Turn the requests-versus-limits distinction into a visual model.
TIMING: 6 min
SPEAKER NOTES
Read left to right. The left panel is the scheduler's world: only requests exist there, so an idle node can still reject a pod because its booked capacity is full.
The right panel is the kernel's world: the pod already exists, and the question is no longer 'can it fit?' but 'how far may it run before the cgroup stops it?' That split explains most resource bugs.
Keep the labels generic on purpose — this is the universal mechanism behind the AxisPay examples around it.
ASK THE ROOM: If you double only the limit and leave the request untouched, which side of this diagram changes?
EXPECTED ANSWER: Only the runtime side. Scheduling is unchanged because the request — the booked amount — did not move. The pod may burst further once placed, but it does not become easier to schedule.
ANIMATION: Reveal the left panel, then the pod spec, then the runtime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Fix the single most useful distinction in resource debugging.
TIMING: 6 min
SPEAKER NOTES
Say why: you can give a process less CPU and it simply runs slower — that is meaningful. You cannot give a process less memory; the bytes are either there or they are not. There is no 'slower' for memory, only 'stop'.
Exit 137 = 128 + 9 (SIGKILL). Worth writing on the whiteboard — they need it this afternoon for INC-2.
CALLOUT: The command that finds throttling: cat /sys/fs/cgroup/cpu.stat inside the container. nr_throttled and throttled_usec. Put it on the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Explain the mechanism behind the invisible latency failure.
TIMING: 8 min
SPEAKER NOTES
The 100 ms period is the part nobody knows, and it explains the symptom that otherwise makes no sense: 'CPU looks fine but latency is awful'.
Averaged over a minute, a throttled container may show 45% CPU. But within each 100 ms window it is running flat out for 50 ms and frozen for 50 ms. A request that arrives during a freeze waits up to 80 ms for nothing. Under a payment SLO of 300 ms with 83 ms of headroom, that alone breaches it.
In L2.1 step 5 students throttle fraud-service to 100m and read nr_throttled themselves. This slide is what makes that number mean something.
ASK THE ROOM: Your service averages 40% CPU against its limit and p99 latency is terrible. What is your hypothesis?
EXPECTED ANSWER: Throttling. The average hides the shape — bursty work exhausts the per-period quota early and is then frozen for the rest of the period. Check nr_throttled in cpu.stat; if it is climbing, the limit is too low no matter what the average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Explain eviction ordering and justify AxisPay's choice.
TIMING: 6 min
SPEAKER NOTES
The condition for Guaranteed is stricter than people expect: EVERY container in the pod, and BOTH cpu and memory. Miss one value on a sidecar and the whole pod drops to Burstable.
Why AxisPay is deliberately Burstable rather than Guaranteed: Guaranteed removes all burst capacity. Under a traffic spike a Guaranteed pod is throttled at exactly its request, which is the worst possible moment to have no headroom. We accept slightly higher eviction risk in exchange for burst room. That is a real trade and worth stating out loud.
ASK THE ROOM: A pod has two containers. The app declares requests and limits equal. The sidecar declares nothing. What QoS class is the pod?
EXPECTED ANSWER: Burstable — actually BestEffort is impossible here, but it is NOT Guaranteed. One under-declared container downgrades the whole pod. With a LimitRange the sidecar gets defaults, which makes it Burstable.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Produce both failure modes deliberately.
TIMING: 45 minutes
SPEAKER NOTES
Insist they write down their own numbers BEFORE looking at the manifest. Guessing and then checking is how the intuition forms.
Steps 5 and 6 are the payoff: same category of mistake, completely different symptom. They need that contrast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Add the missing namespace-isolation theory before the governance lab.
TIMING: 7 min
SPEAKER NOTES
The common mistake is to over-credit namespaces. They absolutely matter, but for names, RBAC and resource governance first.
Use the generic example in steps 1 and 2, then pivot to axispay-core versus async work. That is the real operational reason for the split: noisy batch work and live payment traffic do not get to share one unbounded namespace budget.
ASK THE ROOM: Can two namespaces both contain a Service called web, and does that stop them reaching each other?
EXPECTED ANSWER: Yes, and no. The names do not collide because identity is namespace-qualified, but nothing about that alone blocks traffic. Reachability is controlled separately by the cluster network and any NetworkPolicy you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Visualise namespace-qualified names and per-namespace governance.
TIMING: 5 min
SPEAKER NOTES
The duplicated names are the point: both namespaces have a Service called web and a database pod called db-0, and Kubernetes is perfectly happy because the namespace qualifies identity.
Then land the second sentence at the bottom. Students often hear 'isolation' and assume a network wall. This diagram corrects that without turning into a NetworkPolicy module.
ASK THE ROOM: What can be different between these two namespaces even if the object names are identical?
EXPECTED ANSWER: Their RBAC, quotas, LimitRanges, labels, secrets and policies. Name reuse is only the visible part; the real value is that each namespace can carry a different operational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Add namespace-level governance and verify it does not break autoscaling.
TIMING: 30 minutes
SPEAKER NOTES
The subtle point in step 3: the quota rejection appears on the ReplicaSet, NOT the Deployment. The Deployment just says 0/1 and looks fine. Students who only check `get deploy` cannot see why.
Step 6 is the one professionals forget — a quota that blocks the HPA halfway up fails during exactly the spike it was meant to absorb.
WARNING: A ResourceQuota WITHOUT a LimitRange breaks every manifest that forgot to declare resources — Kubernetes cannot count what was never declared. Say this explicitly; it is a real outage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Close the biggest gap in the source syllabus.
TIMING: 90 min
SPEAKER NOTES
Say this out loud: the syllabus this course is based on does not mention probes at all. This module exists because almost every 'Kubernetes broke our deployment' story is a missing or wrong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Anchor probes to consequences rather than definitions.
TIMING: 10 min
SPEAKER NOTES
Work the columns left to right, and read the CONSEQUENCE row before the definition row. That inversion is deliberate.
The bottom row is the whole module: liveness must NEVER check a dependency; readiness SHOULD. Everything else follows from that.
Note readiness reacts faster than liveness in our config — 10s versus 30s. That is on purpose: taking a pod out of rotation is cheap and reversible; restarting it is expensive and destroys in-flight work. When in doubt, stop sending traffic — do not restart.
ASK THE ROOM: Your database is down for 30 seconds. Which probe should fail, and which must not?
EXPECTED ANSWER: Readiness should fail — stop sending traffic to a pod that cannot serve. Liveness must NOT fail — restarting the pod does not fix the database, and restarting every replica turns a blip into an outage. This is the next slide.
ANIMATION: Reveal one column at a time. Three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the most damaging probe mistake, and why it looks reasonable.
TIMING: 8 min
SPEAKER NOTES
Frame it as a proposal, not a mistake: 'our architect wants liveness to check the database, so we restart pods that lose their connection.' It sounds careful. It sounds like defensive engineering.
Then walk the right-hand column. A 40-second dependency blip — the kind that happens weekly — restarts every replica simultaneously, empties every connection pool, and the thundering herd of restarts makes recovery slower than the original problem.
In L2.3 step 6 they BUILD this and watch it happen. Do not spoil it here; just plant the shape.
ASK THE ROOM: Why does restarting not help when a dependency is down?
EXPECTED ANSWER: Because the pod was never broken. Restarting it discards a warm process and a working connection pool, then it comes up and finds the dependency still down. You have paid a cost and fixed nothing — and you have done it to every replica at once.
WARNING: This is one of the most common serious mistakes in production Kubernetes, and it is always made by someone who thought they were being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Demonstrate the readiness mechanism live.
TIMING: 8 min
SPEAKER NOTES
The two things to point at: READY goes 1/1 → 0/1, and RESTARTS stays at 0.
That is the entire value of readiness. The pod told Kubernetes it could not serve; Kubernetes stopped sending it traffic and left it alone. No restart, no lost state, automatic recovery.
&gt;&gt; LIVE DEMO: Run this with `watch` on the EndpointSlice in a second terminal so the address disappears in real time. Then set value=false and watch it come back. Takes about 90 seconds and it is worth every one.
ASK THE ROOM: How long between the pod becoming unready and traffic actually stopping?
EXPECTED ANSWER: periodSeconds x failureThreshold (5 x 2 = 10s) PLUS endpoint propagation to every node's kube-proxy. Call it 10-15 seconds. That gap is real, and it is why preStop exists — L2.6.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Pre-empt the six probe errors students are about to make.
TIMING: 6 min
SPEAKER NOTES
Row 1 is the one they will build deliberately in twenty minutes. Row 2 is yesterday's incident. Row 6 is the subtle one worth a moment: a readiness probe that returns 200 as long as the HTTP server is up tells you nothing about whether the service can take a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Build correct probes, then deliberately build the wrong one.
TIMING: 50 minutes
SPEAKER NOTES
Step 6 is the centrepiece of Day 2. They point liveness at /readyz, scale merchant-service to zero for 40 seconds, and watch all three payment pods restart together.
Do not rescue them. Let the restart counter climb. Then have them undo it and explain to a neighbour what they just saw.
WARNING: The validation script FAILS the lab if liveness points at /readyz. That is deliberate — leaving the bug in place would carry it into Day 5's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autoscaling and its hard dependency on resource requests.
TIMING: 90 min
SPEAKER NOTES
The whole module hangs on one formula. Get that on the board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requests-to-HPA dependency arithmetic rather than assertion.
TIMING: 9 min
SPEAKER NOTES
Write the formula on the whiteboard as well. Then point at the red box.
Utilisation is a percentage OF THE REQUEST. Not of the limit. Not of the node. With no request there is literally no denominator, and the HPA reports &lt;unknown&gt; and does nothing — silently, with no error and no event.
In L2.4 step 2 they create an HPA on a Deployment with no requests and watch it sit at &lt;unknown&gt; forever. Seeing that once means they will never debug it blind.
ASK THE ROOM: Four pods, each at 140% of request, target 70%. How many replicas does the HPA request?
EXPECTED ANSWER: ceil(4 x 140 / 70) = ceil(8) = 8. Have them do the arithmetic out loud — it makes the formula concrete and it is a common interview question.
CALLOUT: Kubernetes' own event text says 'cpu resource utilization (percentage of request)'. The API is telling you what the denominator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HPA arithmetic concrete and show how the request changes the answer.
TIMING: 9 min
SPEAKER NOTES
Do the arithmetic on the whiteboard as you go. Students who have watched this once never mis-set an HPA target again.
The kicker is the sharpest point on the slide: the SAME load produces the opposite scaling decision depending only on what you wrote in the request. The request is not documentation — it is the denominator of an equation that controls your capacity.
Also flag step 1: metrics are up to 30 seconds stale, so the HPA reacts on the order of 30-60 seconds. It cannot absorb a sub-minute spike; that is what minReplicas headroom is for.
ASK THE ROOM: Someone doubles the CPU request to make the pod 'safer'. What happens to autoscaling under identical load?
EXPECTED ANSWER: Utilisation halves, so the HPA scales down — fewer pods carrying the same traffic, and each one throttled sooner. Raising a request to be safe can make you LESS available. This is genuinely counter-intuitive and worth the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Justify the behavior block rather than presenting it as configuration.
TIMING: 6 min
SPEAKER NOTES
Flapping is the failure to name. Each cycle costs a pod start and a cold connection pool, and the oscillation is measurably worse than simply keeping the pods.
In L2.4 step 6 they stop the load and watch NOTHING happen for five minutes. That silence is the lesson — most people assume something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Set the boundary of what autoscaling can do.
TIMING: 5 min
SPEAKER NOTES
This is the slide that stops students treating the HPA as a general reliability mechanism. It is a capacity mechanism, and only for the resource you scale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a security control silently weakening as it scales.
TIMING: 7 min
SPEAKER NOTES
This is challenge C1 in L2.4 and it is the best question of the day.
Scaling up for PERFORMANCE has quietly degraded a SECURITY control. Nothing errors. No alert fires. Every dashboard looks healthy. The fraud rule is simply three times weaker at 3 replicas than it was at 1, and six times weaker at 6.
This is the fundamental tension between per-replica state and horizontal scaling, and it is exactly what Redis fixes tomorrow. Do not resolve it now — let it sit.
ASK THE ROOM: You scale fraud-service from 2 to 6 replicas to cut latency. What just happened to your fraud thresholds?
EXPECTED ANSWER: They became three times weaker. A card that would have been flagged at 8 attempts now needs 24 to trip any single replica. Nobody changed a threshold; nobody was notified. Accept any answer that identifies the dilution.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Observe autoscaling on genuine CPU load.
TIMING: 55 minutes
SPEAKER NOTES
fraud-service is CPU-bound BY DESIGN — it evaluates a model per request. That is not an accident of the code; a service that does no work cannot demonstrate horizontal scaling, and an autoscaling lab built on sleep() teaches nothing.
Challenge C1 is the best one of the day: fraud velocity counters are in memory, so with 6 replicas each pod sees a sixth of the traffic and the fraud control silently weakens as you scale. Day 3 fixes it with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Complete the workload taxonomy.
TIMING: 85 min
SPEAKER NOTES
Frame it as shape-matching. Most people reach for a Deployment reflexively; three of today's workloads are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a decision rule students can apply immediately.
TIMING: 8 min
SPEAKER NOTES
Read the left column as the sentence someone actually says in a planning meeting, then the controller that sentence implies.
The DaemonSet row deserves a pause: there is no replicas field. You never choose the count — the node inventory chooses it. Add a node and a pod appears. That is a different mental model from everything they met yesterday.
StatefulSet is greyed out on purpose. It needs PersistentVolumes and headless Services, which is tomorrow.
ASK THE ROOM: PCI requires file-integrity monitoring on every node that touches cardholder data. Which controller, and why not a Deployment with replicas equal to the node count?
EXPECTED ANSWER: DaemonSet. A Deployment with replicas: 3 gives you three pods somewhere — possibly two on one node and none on another. Nothing guarantees coverage, and it does not follow the node inventory when a node is added. An unmonitored node is the one that will fail your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Cover the fields that cause real incidents.
TIMING: 8 min
SPEAKER NOTES
restartPolicy: Always is REJECTED for a Job — worth saying why. With Always the container would restart on success and the Job could never complete. The API refuses it rather than letting you build something that can never finish.
concurrencyPolicy for settlement: Allow would double-count. Replace would kill a run mid-way and leave partial work. Forbid is the only defensible value for money movement, and students should be able to argue that.
ASK THE ROOM: Your settlement CronJob is set to 0 23 * * * with no timeZone, on a cluster in UTC, for merchants in Johannesburg. When does it actually run, and what does it settle?
EXPECTED ANSWER: 01:00 the NEXT day, local time. So the 'Tuesday' batch runs on Wednesday morning and may pick up Wednesday's early transactions. That is a genuine accounting defect and it is entirely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controller chain and overlap policy visual.
TIMING: 6 min
SPEAKER NOTES
Point at the lanes. The CronJob's job is to notice the schedule and create a Job object. The Job's job is then to create pods, retry failures and declare completion. Students often compress those into one thing; this slide separates them.
Then land the Forbid branch on the right. That single policy choice is what stops a slow batch from double-running itself at the next schedule boundary.
ASK THE ROOM: If the CronJob fires again while the previous Job is still running and concurrencyPolicy is Forbid, what new pod appears?
EXPECTED ANSWER: None. The second schedule hit is noticed, but the controller skips creating a new Job. That is exactly what you want for non-idempotent business work such as settlement or payout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Deploy all three controllers independently.
TIMING: 45 minutes
SPEAKER NOTES
INDEPENDENT — fewer commands given. Answer questions about tools, not answers.
Task 1's node-add is worth doing as a room: `minikube node add -p axispay` while everyone watches `kubectl get pods -n axispay-ops -o wide -w`. The new agent appearing with nobody editing anything makes the invariant concrete.
TIP: The recon-worker log line to point at: 'balanced: true'. gross == fees + net, in integer minor units, across every currency. That is the ledger invariant a real reconciliation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safe release, and prove the probe dependency.
TIMING: 95 min
SPEAKER NOTES
This module is where Day 2 pays off. Everything before it exists to make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rollout arithmetic concrete before students run it.
TIMING: 9 min
SPEAKER NOTES
Walk the timeline. The key transition is t1 to t2: the new pod exists but is NOT serving until readiness passes. That gate is the entire safety mechanism.
maxUnavailable: 0 means strictly add-then-remove. Capacity never drops. The cost is headroom for one extra pod and a slower release — for a payment path, correct.
At t5 the old ReplicaSet is retained at zero replicas. That is what makes rollback near-instant, and it is why yesterday's ownership-chain module mattered.
ASK THE ROOM: replicas 3, maxSurge 1, maxUnavailable 0. What is the maximum number of pods that exist at once, and the minimum number SERVING?
EXPECTED ANSWER: Maximum 4, minimum serving 3. Then ask the follow-up: what if maxSurge were 0 as well? Answer: the rollout could never start — it cannot add a pod and cannot remove one. Kubernetes rejects that combination.
ANIMATION: Reveal one time step at a time. Five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the evidence that makes the probe argument unanswerable.
TIMING: 8 min
SPEAKER NOTES
Note the 409s are counted as OK. A fraud decline is a correct business outcome; counting it as an availability failure would make the SLO lie. That distinction is deliberate in the loadgen code and worth pointing at — SLO definition is where a lot of dishonesty hides.
Then the second block. Same rollout, no readiness probe, 37 real failed payments. That is the argument. Nobody needs convincing after seeing both numbers.
&gt;&gt; LIVE DEMO: Do the FIRST half live if time allows — start loadgen at 40 rps, apply the rollout, and let the room watch the FAILED counter stay at zero. Then show the second half from this slide rather than running it, to save time.
CALLOUT: This is the direct answer to yesterday's post-incident question: why did the rollout continue after the first pod failed? Because nothing was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Explain the termination sequence and the reason preStop exists.
TIMING: 7 min
SPEAKER NOTES
The non-obvious part is step 2. Endpoint removal is EVENTUALLY CONSISTENT — it must reach every node's kube-proxy independently. Without the pause, the process can stop accepting connections while some nodes are still routing to it. Those requests are severed mid-authorisation.
Eight seconds of sleep buys correctness for in-flight payments. It looks like a hack; it is the standard answer.
Also flag the exec-form ENTRYPOINT in the Dockerfile: with the shell form, PID 1 is /bin/sh, which does NOT forward SIGTERM. Kubernetes would wait the full 45 seconds and then SIGKILL every pod on every rollout — turning zero-downtime into guaranteed-downtime, silently.
ASK THE ROOM: Your grace period is 45s and a batch request can take 90s. What happens?
EXPECTED ANSWER: SIGKILL at 45 seconds, mid-request. The grace period must exceed the LONGEST possible in-flight operation, not the average. Either raise it, or make long operations resumable. This is challenge C3 in the lab.
WARNING: Dockerfile ENTRYPOINT must use exec form ["python3", ...]. Shell form makes /bin/sh PID 1, which swallows SIGTERM and breaks graceful shutdown for every workload — with no error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Release safely under load, and measure the probe's contribution.
TIMING: 55 minutes
SPEAKER NOTES
Step 1 matters: baseline BEFORE the change. A release you did not measure beforehand is one you cannot prove anything about afterwards.
Step 7 is subtle and worth calling out when they get there: the bad release STALLS and the old pods keep serving. maxUnavailable: 0 means a broken release cannot take capacity away. It fails safe, with no human deciding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what 'complete' means for a Job, and what the job actually checks.
TIMING: 6 min
SPEAKER NOTES
Two things to point at.
First, the pod STATUS is Completed and READY is 0/1 — which looks alarming until you realise that is exactly right. A Job's pod is supposed to stop. Success is defined by exit code 0, not by staying up. That is the whole difference from a Deployment.
Second, balanced:true. gross equals fees plus net, exactly, in every currency. In L2.5 students set RECON_MODE=fail and watch backoffLimit bound the retries — same Job, exit code 1, five attempts with exponential back-off, then BackoffLimitExceeded.
ASK THE ROOM: The reconciliation finds three breaks. Should the Job exit 0 or 1?
EXPECTED ANSWER: 0. Breaks are a FINDING, not a failure — the job did its work correctly. Exiting non-zero would make Kubernetes retry the reconciliation, which cannot fix the underlying data and just burns the backoffLimit. The code comments say exactly this. Distinguishing 'the job failed' from 'the job found a problem' is a real design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Run the second unassisted incident.
TIMING: 35 min triage + 10 min debrief
SPEAKER NOTES
Inject with `make incident N=2` during the break, BEFORE this slide.
The deliberate trap: several students will see CrashLoopBackOff, run `kubectl logs` WITHOUT --previous, get 'container is waiting to start', and conclude it is yesterday's incident again. Let them. The recovery — noticing RESTARTS is non-zero, so a container DID run — is the lesson.
If nobody has it at 20 minutes: 'You have the logs from the run that failed. They are clean. What kills a process without letting it log anything?'
ASK THE ROOM: DEBRIEF — the application logs were completely clean. Why is that itself a clue?
EXPECTED ANSWER: SIGKILL cannot be caught or logged. A clean startup followed by silence points OUTWARD — to the kernel, not the application. An application bug leaves a traceback. That absence is diagnostic, and it is the single most useful thing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Formative check across all of Day 2.
TIMING: 15 min
SPEAKER NOTES
Roughly 90 seconds each. Questions 3, 4 and 8 are the load-bearing ones — if a third of the room misses any of them, recap tomorrow morning before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Consolidate and hand over to Day 3.
TIMING: 3 min
SPEAKER NOTES
Then the pivot: have someone delete a payment-service pod and try to fetch a payment they created this morning. It is gone. Every payment, every idempotency key, every fraud velocity counter — all in memory.
That is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Create demand for Day 3 from Day 2's felt gaps.
TIMING: 4 min
SPEAKER NOTES
Row 4 is the callback to L2.4's challenge — several of them found it themselves, and it is satisfying to see it on the agenda.
End on row 1. The demo of deleting a pod and losing every payment takes fifteen seconds and it sells tomorrow better than any slide.
TRANSITION: Assessment now — ten items,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rot="1080000">
            <a:off x="7711135" y="-1463040"/>
            <a:ext cx="5852160" cy="5852160"/>
          </a:xfrm>
          <a:prstGeom prst="roundRect">
            <a:avLst>
              <a:gd name="adj" fmla="val 15625"/>
            </a:avLst>
          </a:prstGeom>
          <a:solidFill>
            <a:srgbClr val="12314F"/>
          </a:solidFill>
          <a:ln w="12700">
            <a:solidFill>
              <a:srgbClr val="12314F"/>
            </a:solidFill>
            <a:prstDash val="solid"/>
          </a:ln>
        </p:spPr>
      </p:sp>
      <p:sp>
        <p:nvSpPr>
          <p:cNvPr id="3" name="Shape 1"/>
          <p:cNvSpPr/>
          <p:nvPr/>
        </p:nvSpPr>
        <p:spPr>
          <a:xfrm>
            <a:off x="9357055" y="4114800"/>
            <a:ext cx="2011680" cy="2011680"/>
          </a:xfrm>
          <a:prstGeom prst="ellipse">
            <a:avLst/>
          </a:prstGeom>
          <a:solidFill>
            <a:srgbClr val="1C7293">
              <a:alpha val="45000"/>
            </a:srgbClr>
          </a:solidFill>
          <a:ln w="12700">
            <a:solidFill>
              <a:srgbClr val="1C7293">
                <a:alpha val="60000"/>
              </a:srgbClr>
            </a:solidFill>
            <a:prstDash val="solid"/>
          </a:ln>
        </p:spPr>
      </p:sp>
      <p:sp>
        <p:nvSpPr>
          <p:cNvPr id="4" name="Text 2"/>
          <p:cNvSpPr/>
          <p:nvPr/>
        </p:nvSpPr>
        <p:spPr>
          <a:xfrm>
            <a:off x="566928" y="1234440"/>
            <a:ext cx="7680960" cy="365760"/>
          </a:xfrm>
          <a:prstGeom prst="rect">
            <a:avLst/>
          </a:prstGeom>
          <a:noFill/>
          <a:ln/>
        </p:spPr>
        <p:txBody>
          <a:bodyPr wrap="square" lIns="0" tIns="0" rIns="0" bIns="0" rtlCol="0" anchor="ctr"/>
          <a:lstStyle/>
          <a:p>
            <a:pPr indent="0" marL="0">
              <a:buNone/>
            </a:pPr>
            <a:r>
              <a:rPr lang="en-US" sz="1400" b="1" spc="200" kern="0" dirty="0">
                <a:solidFill>
                  <a:srgbClr val="F2A03D"/>
                </a:solidFill>
                <a:latin typeface="Calibri" pitchFamily="34" charset="0"/>
                <a:ea typeface="Calibri" pitchFamily="34" charset="-122"/>
                <a:cs typeface="Calibri" pitchFamily="34" charset="-120"/>
              </a:rPr>
              <a:t>KUBERNETES COMPREHENSIVE · AXP-K8S-5D</a:t>
            </a:r>
            <a:endParaRPr lang="en-US" sz="1400" dirty="0"/>
          </a:p>
        </p:txBody>
      </p:sp>
      <p:sp>
        <p:nvSpPr>
          <p:cNvPr id="5" name="Text 3"/>
          <p:cNvSpPr/>
          <p:nvPr/>
        </p:nvSpPr>
        <p:spPr>
          <a:xfrm>
            <a:off x="566928" y="1737360"/>
            <a:ext cx="7680960" cy="1737360"/>
          </a:xfrm>
          <a:prstGeom prst="rect">
            <a:avLst/>
          </a:prstGeom>
          <a:noFill/>
          <a:ln/>
        </p:spPr>
        <p:txBody>
          <a:bodyPr wrap="square" lIns="0" tIns="0" rIns="0" bIns="0" rtlCol="0" anchor="ctr"/>
          <a:lstStyle/>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Day 2</a:t>
            </a:r>
            <a:endParaRPr lang="en-US" sz="5000" dirty="0"/>
          </a:p>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Reliability &amp; Controlled Change</a:t>
            </a:r>
            <a:endParaRPr lang="en-US" sz="5000" dirty="0"/>
          </a:p>
        </p:txBody>
      </p:sp>
      <p:sp>
        <p:nvSpPr>
          <p:cNvPr id="6" name="Text 4"/>
          <p:cNvSpPr/>
          <p:nvPr/>
        </p:nvSpPr>
        <p:spPr>
          <a:xfrm>
            <a:off x="566928" y="3520440"/>
            <a:ext cx="7315200" cy="868680"/>
          </a:xfrm>
          <a:prstGeom prst="rect">
            <a:avLst/>
          </a:prstGeom>
          <a:noFill/>
          <a:ln/>
        </p:spPr>
        <p:txBody>
          <a:bodyPr wrap="square" lIns="0" tIns="0" rIns="0" bIns="0" rtlCol="0" anchor="ctr"/>
          <a:lstStyle/>
          <a:p>
            <a:pPr indent="0" marL="0">
              <a:buNone/>
            </a:pPr>
            <a:r>
              <a:rPr lang="en-US" sz="1700" dirty="0">
                <a:solidFill>
                  <a:srgbClr val="D8E6F2"/>
                </a:solidFill>
                <a:latin typeface="Calibri" pitchFamily="34" charset="0"/>
                <a:ea typeface="Calibri" pitchFamily="34" charset="-122"/>
                <a:cs typeface="Calibri" pitchFamily="34" charset="-120"/>
              </a:rPr>
              <a:t>Make it survive Monday morning. Traffic arrives, the platform must not fall over, and it must be upgradeable without dropping a single payment.</a:t>
            </a:r>
            <a:endParaRPr lang="en-US" sz="1700" dirty="0"/>
          </a:p>
        </p:txBody>
      </p:sp>
      <p:sp>
        <p:nvSpPr>
          <p:cNvPr id="7" name="Shape 5"/>
          <p:cNvSpPr/>
          <p:nvPr/>
        </p:nvSpPr>
        <p:spPr>
          <a:xfrm>
            <a:off x="566928" y="4709160"/>
            <a:ext cx="2148840" cy="749808"/>
          </a:xfrm>
          <a:prstGeom prst="roundRect">
            <a:avLst>
              <a:gd name="adj" fmla="val 12195"/>
            </a:avLst>
          </a:prstGeom>
          <a:solidFill>
            <a:srgbClr val="12314F"/>
          </a:solidFill>
          <a:ln w="12700">
            <a:solidFill>
              <a:srgbClr val="1B4066"/>
            </a:solidFill>
            <a:prstDash val="solid"/>
          </a:ln>
        </p:spPr>
      </p:sp>
      <p:sp>
        <p:nvSpPr>
          <p:cNvPr id="8" name="Text 6"/>
          <p:cNvSpPr/>
          <p:nvPr/>
        </p:nvSpPr>
        <p:spPr>
          <a:xfrm>
            <a:off x="56692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DURATION</a:t>
            </a:r>
            <a:endParaRPr lang="en-US" sz="900" dirty="0"/>
          </a:p>
        </p:txBody>
      </p:sp>
      <p:sp>
        <p:nvSpPr>
          <p:cNvPr id="9" name="Text 7"/>
          <p:cNvSpPr/>
          <p:nvPr/>
        </p:nvSpPr>
        <p:spPr>
          <a:xfrm>
            <a:off x="56692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hours</a:t>
            </a:r>
            <a:endParaRPr lang="en-US" sz="1300" dirty="0"/>
          </a:p>
        </p:txBody>
      </p:sp>
      <p:sp>
        <p:nvSpPr>
          <p:cNvPr id="10" name="Shape 8"/>
          <p:cNvSpPr/>
          <p:nvPr/>
        </p:nvSpPr>
        <p:spPr>
          <a:xfrm>
            <a:off x="2898648" y="4709160"/>
            <a:ext cx="2148840" cy="749808"/>
          </a:xfrm>
          <a:prstGeom prst="roundRect">
            <a:avLst>
              <a:gd name="adj" fmla="val 12195"/>
            </a:avLst>
          </a:prstGeom>
          <a:solidFill>
            <a:srgbClr val="12314F"/>
          </a:solidFill>
          <a:ln w="12700">
            <a:solidFill>
              <a:srgbClr val="1B4066"/>
            </a:solidFill>
            <a:prstDash val="solid"/>
          </a:ln>
        </p:spPr>
      </p:sp>
      <p:sp>
        <p:nvSpPr>
          <p:cNvPr id="11" name="Text 9"/>
          <p:cNvSpPr/>
          <p:nvPr/>
        </p:nvSpPr>
        <p:spPr>
          <a:xfrm>
            <a:off x="289864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THEORY</a:t>
            </a:r>
            <a:endParaRPr lang="en-US" sz="900" dirty="0"/>
          </a:p>
        </p:txBody>
      </p:sp>
      <p:sp>
        <p:nvSpPr>
          <p:cNvPr id="12" name="Text 10"/>
          <p:cNvSpPr/>
          <p:nvPr/>
        </p:nvSpPr>
        <p:spPr>
          <a:xfrm>
            <a:off x="289864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225 min</a:t>
            </a:r>
            <a:endParaRPr lang="en-US" sz="1300" dirty="0"/>
          </a:p>
        </p:txBody>
      </p:sp>
      <p:sp>
        <p:nvSpPr>
          <p:cNvPr id="13" name="Shape 11"/>
          <p:cNvSpPr/>
          <p:nvPr/>
        </p:nvSpPr>
        <p:spPr>
          <a:xfrm>
            <a:off x="5230368" y="4709160"/>
            <a:ext cx="2148840" cy="749808"/>
          </a:xfrm>
          <a:prstGeom prst="roundRect">
            <a:avLst>
              <a:gd name="adj" fmla="val 12195"/>
            </a:avLst>
          </a:prstGeom>
          <a:solidFill>
            <a:srgbClr val="12314F"/>
          </a:solidFill>
          <a:ln w="12700">
            <a:solidFill>
              <a:srgbClr val="1B4066"/>
            </a:solidFill>
            <a:prstDash val="solid"/>
          </a:ln>
        </p:spPr>
      </p:sp>
      <p:sp>
        <p:nvSpPr>
          <p:cNvPr id="14" name="Text 12"/>
          <p:cNvSpPr/>
          <p:nvPr/>
        </p:nvSpPr>
        <p:spPr>
          <a:xfrm>
            <a:off x="523036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HANDS-ON</a:t>
            </a:r>
            <a:endParaRPr lang="en-US" sz="900" dirty="0"/>
          </a:p>
        </p:txBody>
      </p:sp>
      <p:sp>
        <p:nvSpPr>
          <p:cNvPr id="15" name="Text 13"/>
          <p:cNvSpPr/>
          <p:nvPr/>
        </p:nvSpPr>
        <p:spPr>
          <a:xfrm>
            <a:off x="523036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325 min</a:t>
            </a:r>
            <a:endParaRPr lang="en-US" sz="1300" dirty="0"/>
          </a:p>
        </p:txBody>
      </p:sp>
      <p:sp>
        <p:nvSpPr>
          <p:cNvPr id="16" name="Shape 14"/>
          <p:cNvSpPr/>
          <p:nvPr/>
        </p:nvSpPr>
        <p:spPr>
          <a:xfrm>
            <a:off x="7562088" y="4709160"/>
            <a:ext cx="2148840" cy="749808"/>
          </a:xfrm>
          <a:prstGeom prst="roundRect">
            <a:avLst>
              <a:gd name="adj" fmla="val 12195"/>
            </a:avLst>
          </a:prstGeom>
          <a:solidFill>
            <a:srgbClr val="12314F"/>
          </a:solidFill>
          <a:ln w="12700">
            <a:solidFill>
              <a:srgbClr val="1B4066"/>
            </a:solidFill>
            <a:prstDash val="solid"/>
          </a:ln>
        </p:spPr>
      </p:sp>
      <p:sp>
        <p:nvSpPr>
          <p:cNvPr id="17" name="Text 15"/>
          <p:cNvSpPr/>
          <p:nvPr/>
        </p:nvSpPr>
        <p:spPr>
          <a:xfrm>
            <a:off x="756208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LABS</a:t>
            </a:r>
            <a:endParaRPr lang="en-US" sz="900" dirty="0"/>
          </a:p>
        </p:txBody>
      </p:sp>
      <p:sp>
        <p:nvSpPr>
          <p:cNvPr id="18" name="Text 16"/>
          <p:cNvSpPr/>
          <p:nvPr/>
        </p:nvSpPr>
        <p:spPr>
          <a:xfrm>
            <a:off x="756208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 + 1 incident</a:t>
            </a:r>
            <a:endParaRPr lang="en-US" sz="1300" dirty="0"/>
          </a:p>
        </p:txBody>
      </p:sp>
      <p:sp>
        <p:nvSpPr>
          <p:cNvPr id="19" name="Text 17"/>
          <p:cNvSpPr/>
          <p:nvPr/>
        </p:nvSpPr>
        <p:spPr>
          <a:xfrm>
            <a:off x="566928" y="5943600"/>
            <a:ext cx="8229600" cy="274320"/>
          </a:xfrm>
          <a:prstGeom prst="rect">
            <a:avLst/>
          </a:prstGeom>
          <a:noFill/>
          <a:ln/>
        </p:spPr>
        <p:txBody>
          <a:bodyPr wrap="square" lIns="0" tIns="0" rIns="0" bIns="0" rtlCol="0" anchor="ctr"/>
          <a:lstStyle/>
          <a:p>
            <a:pPr indent="0" marL="0">
              <a:buNone/>
            </a:pPr>
            <a:r>
              <a:rPr lang="en-US" sz="1000" dirty="0">
                <a:solidFill>
                  <a:srgbClr val="63758B"/>
                </a:solidFill>
                <a:latin typeface="Calibri" pitchFamily="34" charset="0"/>
                <a:ea typeface="Calibri" pitchFamily="34" charset="-122"/>
                <a:cs typeface="Calibri" pitchFamily="34" charset="-120"/>
              </a:rPr>
              <a:t>Yesterday you built the platform. Today you make it trustworthy.</a:t>
            </a:r>
            <a:endParaRPr lang="en-US" sz="1000" dirty="0"/>
          </a:p>
        </p:txBody>
      </p:sp>
      <p:pic>
        <p:nvPicPr>
          <p:cNvPr id="2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1" name="NobleProg Wordmark"/>
          <p:cNvSpPr txBox="1"/>
          <p:nvPr/>
        </p:nvSpPr>
        <p:spPr>
          <a:xfrm>
            <a:off x="479376" y="332656"/>
            <a:ext cx="2733441" cy="830997"/>
          </a:xfrm>
          <a:prstGeom prst="rect">
            <a:avLst/>
          </a:prstGeom>
          <a:noFill/>
        </p:spPr>
        <p:txBody>
          <a:bodyPr wrap="none">
            <a:spAutoFit/>
          </a:bodyPr>
          <a:lstStyle/>
          <a:p>
            <a:r>
              <a:rPr sz="4800" b="1" i="1">
                <a:solidFill>
                  <a:srgbClr val="006EBE"/>
                </a:solidFill>
                <a:latin typeface="Arial Narrow"/>
              </a:rPr>
              <a:t>NobleProg</a:t>
            </a:r>
          </a:p>
        </p:txBody>
      </p:sp>
      <p:pic>
        <p:nvPicPr>
          <p:cNvPr id="22" name="NobleProg Logo" descr="nobleprog_logo.png"/>
          <p:cNvPicPr>
            <a:picLocks noChangeAspect="1"/>
          </p:cNvPicPr>
          <p:nvPr/>
        </p:nvPicPr>
        <p:blipFill>
          <a:blip r:embed="rId4"/>
          <a:stretch>
            <a:fillRect/>
          </a:stretch>
        </p:blipFill>
        <p:spPr>
          <a:xfrm>
            <a:off x="9201482" y="-3240"/>
            <a:ext cx="2946216" cy="1112760"/>
          </a:xfrm>
          <a:prstGeom prst="rect">
            <a:avLst/>
          </a:prstGeom>
        </p:spPr>
      </p:pic>
      <p:sp>
        <p:nvSpPr>
          <p:cNvPr id="2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MORNING RECAP</a:t>
            </a:r>
            <a:endParaRPr lang="en-US" sz="1100" dirty="0"/>
          </a:p>
        </p:txBody>
      </p:sp>
      <p:sp>
        <p:nvSpPr>
          <p:cNvPr id="4" name="Shape 2"/>
          <p:cNvSpPr/>
          <p:nvPr/>
        </p:nvSpPr>
        <p:spPr>
          <a:xfrm>
            <a:off x="566928" y="1143000"/>
            <a:ext cx="11057839" cy="2286000"/>
          </a:xfrm>
          <a:prstGeom prst="roundRect">
            <a:avLst>
              <a:gd name="adj" fmla="val 4800"/>
            </a:avLst>
          </a:prstGeom>
          <a:solidFill>
            <a:srgbClr val="12314F"/>
          </a:solidFill>
          <a:ln w="12700">
            <a:solidFill>
              <a:srgbClr val="F2A03D"/>
            </a:solidFill>
            <a:prstDash val="solid"/>
          </a:ln>
        </p:spPr>
      </p:sp>
      <p:sp>
        <p:nvSpPr>
          <p:cNvPr id="5" name="Text 3"/>
          <p:cNvSpPr/>
          <p:nvPr/>
        </p:nvSpPr>
        <p:spPr>
          <a:xfrm>
            <a:off x="841248" y="1143000"/>
            <a:ext cx="914400" cy="2286000"/>
          </a:xfrm>
          <a:prstGeom prst="rect">
            <a:avLst/>
          </a:prstGeom>
          <a:noFill/>
          <a:ln/>
        </p:spPr>
        <p:txBody>
          <a:bodyPr wrap="square" lIns="0" tIns="0" rIns="0" bIns="0" rtlCol="0" anchor="ctr"/>
          <a:lstStyle/>
          <a:p>
            <a:pPr algn="ctr" indent="0" marL="0">
              <a:buNone/>
            </a:pPr>
            <a:r>
              <a:rPr lang="en-US" sz="7400" b="1" dirty="0">
                <a:solidFill>
                  <a:srgbClr val="F2A03D"/>
                </a:solidFill>
                <a:latin typeface="Cambria" pitchFamily="34" charset="0"/>
                <a:ea typeface="Cambria" pitchFamily="34" charset="-122"/>
                <a:cs typeface="Cambria" pitchFamily="34" charset="-120"/>
              </a:rPr>
              <a:t>?</a:t>
            </a:r>
            <a:endParaRPr lang="en-US" sz="7400" dirty="0"/>
          </a:p>
        </p:txBody>
      </p:sp>
      <p:sp>
        <p:nvSpPr>
          <p:cNvPr id="6" name="Text 4"/>
          <p:cNvSpPr/>
          <p:nvPr/>
        </p:nvSpPr>
        <p:spPr>
          <a:xfrm>
            <a:off x="1892808" y="1143000"/>
            <a:ext cx="9320479" cy="2286000"/>
          </a:xfrm>
          <a:prstGeom prst="rect">
            <a:avLst/>
          </a:prstGeom>
          <a:noFill/>
          <a:ln/>
        </p:spPr>
        <p:txBody>
          <a:bodyPr wrap="square" lIns="0" tIns="0" rIns="0" bIns="0" rtlCol="0" anchor="ctr"/>
          <a:lstStyle/>
          <a:p>
            <a:pPr indent="0" marL="0">
              <a:lnSpc>
                <a:spcPts val="3200"/>
              </a:lnSpc>
              <a:buNone/>
            </a:pPr>
            <a:r>
              <a:rPr lang="en-US" sz="2500" b="1" dirty="0">
                <a:solidFill>
                  <a:srgbClr val="FFFFFF"/>
                </a:solidFill>
                <a:latin typeface="Cambria" pitchFamily="34" charset="0"/>
                <a:ea typeface="Cambria" pitchFamily="34" charset="-122"/>
                <a:cs typeface="Cambria" pitchFamily="34" charset="-120"/>
              </a:rPr>
              <a:t>Five questions from yesterday. Answer out loud.</a:t>
            </a:r>
            <a:endParaRPr lang="en-US" sz="2500" dirty="0"/>
          </a:p>
        </p:txBody>
      </p:sp>
      <p:sp>
        <p:nvSpPr>
          <p:cNvPr id="7" name="Text 5"/>
          <p:cNvSpPr/>
          <p:nvPr/>
        </p:nvSpPr>
        <p:spPr>
          <a:xfrm>
            <a:off x="566928" y="36301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Answers</a:t>
            </a:r>
            <a:endParaRPr lang="en-US" sz="1100" dirty="0"/>
          </a:p>
        </p:txBody>
      </p:sp>
      <p:sp>
        <p:nvSpPr>
          <p:cNvPr id="8" name="Text 6"/>
          <p:cNvSpPr/>
          <p:nvPr/>
        </p:nvSpPr>
        <p:spPr>
          <a:xfrm>
            <a:off x="640080" y="3922776"/>
            <a:ext cx="10966399" cy="2450592"/>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What are the two states every object has, and who writes each?  →  spec (you), status (a controller)</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What owns a Pod created by a Deployment?  →  the ReplicaSet</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A Service has a ClusterIP but requests fail — first command?  →  kubectl get endpointslice</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Do namespaces isolate the network?  →  No. Names, RBAC and quota only.</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ImagePullBackOff: will kubectl logs help?  →  No. The container never started.</a:t>
            </a:r>
            <a:endParaRPr lang="en-US" sz="135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a:t>
            </a:r>
            <a:endParaRPr lang="en-US" sz="900" dirty="0"/>
          </a:p>
        </p:txBody>
      </p:sp>
      <p:pic>
        <p:nvPicPr>
          <p:cNvPr id="1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00584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TODAY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is missing, and what breaks because of it</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Kubernetes only behaves predictably when key runtime rules are declared explicitly. Each missing control below leaves the platform guessing about placement, health, scale or shutdown — and yesterday's incident was exactly that kind of ambiguity.</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566160"/>
                <a:gridCol w="5394960"/>
                <a:gridCol w="2103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Missing right now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costs you</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resource requests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scheduler is guessing. Pods land badly, get throttled, get OOM-killed.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namespace ceiling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One workload can starve the whole namespace. It has happened.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probes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Kubernetes cannot tell 'started' from 'able to serve'. Yesterday's incident.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autoscaling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Black Friday is a manual kubectl scale at 06:00 — and nobody scales back down.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Only Deployments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per-node agent, no batch reconciliation, no nightly settlement.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release strategy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deploy drops payments. In-flight authorisations are severed.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L2.6</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a:t>
            </a:r>
            <a:endParaRPr lang="en-US" sz="9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M2.2</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Resource requests, limits and QoS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What the scheduler reserves, and what the kernel enforces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Calculate requests from observed usage rather than guessing</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Distinguish CPU throttling from an OOM kill by symptom</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Apply ResourceQuota and LimitRange to a namespace</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90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330452"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33045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SETUP</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p99 authorisation: 217 ms.  SLO: 300 ms.</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Headroom: 83 milliseconds.</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This morning a merchant reports intermittent slowness. Nothing is down. Nothing has restarted. The logs are clean. Latency has simply crept past 300 ms during busy periods and nobody can say why.</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cause is a CPU limit set by someone who wanted to 'be safe'.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It is consuming the entire 83 ms of headroom.</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It produces no log line, no event, and no restart.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By the end of this module you will be able to find it in one command.</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M2.2 · RESOURCES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Two numbers, two completely different jobs</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In Kubernetes, requests and limits are separate resource declarations read by different subsystems. A request is a scheduler reservation used before a pod exists; a limit is a kernel-enforced ceiling applied after placement, so the same numbers answer two different operational questions.</a:t>
            </a:r>
            <a:endParaRPr lang="en-US" sz="1500" dirty="0"/>
          </a:p>
        </p:txBody>
      </p:sp>
      <p:sp>
        <p:nvSpPr>
          <p:cNvPr id="6" name="Shape 4"/>
          <p:cNvSpPr/>
          <p:nvPr/>
        </p:nvSpPr>
        <p:spPr>
          <a:xfrm>
            <a:off x="566928" y="2331720"/>
            <a:ext cx="5382616" cy="3611880"/>
          </a:xfrm>
          <a:prstGeom prst="roundRect">
            <a:avLst>
              <a:gd name="adj" fmla="val 2278"/>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7" name="Shape 5"/>
          <p:cNvSpPr/>
          <p:nvPr/>
        </p:nvSpPr>
        <p:spPr>
          <a:xfrm>
            <a:off x="822960" y="2606040"/>
            <a:ext cx="566928" cy="566928"/>
          </a:xfrm>
          <a:prstGeom prst="ellipse">
            <a:avLst/>
          </a:prstGeom>
          <a:solidFill>
            <a:srgbClr val="1C7293"/>
          </a:solidFill>
          <a:ln w="12700">
            <a:solidFill>
              <a:srgbClr val="1C7293"/>
            </a:solidFill>
            <a:prstDash val="solid"/>
          </a:ln>
        </p:spPr>
      </p:sp>
      <p:sp>
        <p:nvSpPr>
          <p:cNvPr id="8" name="Text 6"/>
          <p:cNvSpPr/>
          <p:nvPr/>
        </p:nvSpPr>
        <p:spPr>
          <a:xfrm>
            <a:off x="82296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9" name="Text 7"/>
          <p:cNvSpPr/>
          <p:nvPr/>
        </p:nvSpPr>
        <p:spPr>
          <a:xfrm>
            <a:off x="822960" y="3300984"/>
            <a:ext cx="4870552"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requests</a:t>
            </a:r>
            <a:endParaRPr lang="en-US" sz="1600" dirty="0"/>
          </a:p>
        </p:txBody>
      </p:sp>
      <p:sp>
        <p:nvSpPr>
          <p:cNvPr id="10" name="Text 8"/>
          <p:cNvSpPr/>
          <p:nvPr/>
        </p:nvSpPr>
        <p:spPr>
          <a:xfrm>
            <a:off x="822960" y="3886200"/>
            <a:ext cx="4870552"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request is the amount of CPU or memory Kubernetes books on a node before a container starts. If a node has 2000m allocatable and 1400m already requested, a generic web-app asking for 300m fits and one asking for 700m does not, even if the node is nearly idle.</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This is a reservation the scheduler uses for placement and bin-packing; it is not live usage.</a:t>
            </a:r>
            <a:endParaRPr lang="en-US" sz="1250" dirty="0"/>
          </a:p>
        </p:txBody>
      </p:sp>
      <p:sp>
        <p:nvSpPr>
          <p:cNvPr id="11" name="Shape 9"/>
          <p:cNvSpPr/>
          <p:nvPr/>
        </p:nvSpPr>
        <p:spPr>
          <a:xfrm>
            <a:off x="6242152" y="2331720"/>
            <a:ext cx="5382616" cy="3611880"/>
          </a:xfrm>
          <a:prstGeom prst="roundRect">
            <a:avLst>
              <a:gd name="adj" fmla="val 2278"/>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2" name="Shape 10"/>
          <p:cNvSpPr/>
          <p:nvPr/>
        </p:nvSpPr>
        <p:spPr>
          <a:xfrm>
            <a:off x="6498184" y="2606040"/>
            <a:ext cx="566928" cy="566928"/>
          </a:xfrm>
          <a:prstGeom prst="ellipse">
            <a:avLst/>
          </a:prstGeom>
          <a:solidFill>
            <a:srgbClr val="C97B1E"/>
          </a:solidFill>
          <a:ln w="12700">
            <a:solidFill>
              <a:srgbClr val="C97B1E"/>
            </a:solidFill>
            <a:prstDash val="solid"/>
          </a:ln>
        </p:spPr>
      </p:sp>
      <p:sp>
        <p:nvSpPr>
          <p:cNvPr id="13" name="Text 11"/>
          <p:cNvSpPr/>
          <p:nvPr/>
        </p:nvSpPr>
        <p:spPr>
          <a:xfrm>
            <a:off x="6498184"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L</a:t>
            </a:r>
            <a:endParaRPr lang="en-US" sz="2000" dirty="0"/>
          </a:p>
        </p:txBody>
      </p:sp>
      <p:sp>
        <p:nvSpPr>
          <p:cNvPr id="14" name="Text 12"/>
          <p:cNvSpPr/>
          <p:nvPr/>
        </p:nvSpPr>
        <p:spPr>
          <a:xfrm>
            <a:off x="6498184" y="3300984"/>
            <a:ext cx="4870552"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limits</a:t>
            </a:r>
            <a:endParaRPr lang="en-US" sz="1600" dirty="0"/>
          </a:p>
        </p:txBody>
      </p:sp>
      <p:sp>
        <p:nvSpPr>
          <p:cNvPr id="15" name="Text 13"/>
          <p:cNvSpPr/>
          <p:nvPr/>
        </p:nvSpPr>
        <p:spPr>
          <a:xfrm>
            <a:off x="6498184" y="3886200"/>
            <a:ext cx="4870552"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limit is the runtime ceiling Linux enforces on the container's cgroup after placement. In AxisPay, a too-low CPU limit on payment-service silently burns the 83 ms latency headroom, while a too-low memory limit on fraud-service ends in OOMKilled and restart.</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Limits protect neighbours, but badly sized limits create the exact symptoms we debug today.</a:t>
            </a:r>
            <a:endParaRPr lang="en-US" sz="1250" dirty="0"/>
          </a:p>
        </p:txBody>
      </p:sp>
      <p:sp>
        <p:nvSpPr>
          <p:cNvPr id="16" name="Text 1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7" name="Text 1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6</a:t>
            </a:r>
            <a:endParaRPr lang="en-US" sz="900" dirty="0"/>
          </a:p>
        </p:txBody>
      </p:sp>
      <p:pic>
        <p:nvPicPr>
          <p:cNvPr id="18"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9"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0"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M2.2 · RESOURCES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Requests book node space; limits cap runtime</a:t>
            </a:r>
            <a:endParaRPr lang="en-US" sz="3200" dirty="0"/>
          </a:p>
        </p:txBody>
      </p:sp>
      <p:sp>
        <p:nvSpPr>
          <p:cNvPr id="5" name="Text 3"/>
          <p:cNvSpPr/>
          <p:nvPr/>
        </p:nvSpPr>
        <p:spPr>
          <a:xfrm>
            <a:off x="868680" y="1783080"/>
            <a:ext cx="3566160" cy="274320"/>
          </a:xfrm>
          <a:prstGeom prst="rect">
            <a:avLst/>
          </a:prstGeom>
          <a:noFill/>
          <a:ln/>
        </p:spPr>
        <p:txBody>
          <a:bodyPr wrap="square" lIns="0" tIns="0" rIns="0" bIns="0" rtlCol="0" anchor="ctr"/>
          <a:lstStyle/>
          <a:p>
            <a:pPr algn="ctr" indent="0" marL="0">
              <a:buNone/>
            </a:pPr>
            <a:r>
              <a:rPr lang="en-US" sz="1500" b="1" dirty="0">
                <a:solidFill>
                  <a:srgbClr val="1C7293"/>
                </a:solidFill>
                <a:latin typeface="Cambria" pitchFamily="34" charset="0"/>
                <a:ea typeface="Cambria" pitchFamily="34" charset="-122"/>
                <a:cs typeface="Cambria" pitchFamily="34" charset="-120"/>
              </a:rPr>
              <a:t>scheduler sees REQUESTS</a:t>
            </a:r>
            <a:endParaRPr lang="en-US" sz="1500" dirty="0"/>
          </a:p>
        </p:txBody>
      </p:sp>
      <p:sp>
        <p:nvSpPr>
          <p:cNvPr id="6" name="Text 4"/>
          <p:cNvSpPr/>
          <p:nvPr/>
        </p:nvSpPr>
        <p:spPr>
          <a:xfrm>
            <a:off x="7726680" y="1783080"/>
            <a:ext cx="3566160" cy="274320"/>
          </a:xfrm>
          <a:prstGeom prst="rect">
            <a:avLst/>
          </a:prstGeom>
          <a:noFill/>
          <a:ln/>
        </p:spPr>
        <p:txBody>
          <a:bodyPr wrap="square" lIns="0" tIns="0" rIns="0" bIns="0" rtlCol="0" anchor="ctr"/>
          <a:lstStyle/>
          <a:p>
            <a:pPr algn="ctr" indent="0" marL="0">
              <a:buNone/>
            </a:pPr>
            <a:r>
              <a:rPr lang="en-US" sz="1500" b="1" dirty="0">
                <a:solidFill>
                  <a:srgbClr val="F2A03D"/>
                </a:solidFill>
                <a:latin typeface="Cambria" pitchFamily="34" charset="0"/>
                <a:ea typeface="Cambria" pitchFamily="34" charset="-122"/>
                <a:cs typeface="Cambria" pitchFamily="34" charset="-120"/>
              </a:rPr>
              <a:t>kernel enforces LIMITS</a:t>
            </a:r>
            <a:endParaRPr lang="en-US" sz="1500" dirty="0"/>
          </a:p>
        </p:txBody>
      </p:sp>
      <p:sp>
        <p:nvSpPr>
          <p:cNvPr id="7" name="Shape 5"/>
          <p:cNvSpPr/>
          <p:nvPr/>
        </p:nvSpPr>
        <p:spPr>
          <a:xfrm>
            <a:off x="731520" y="2103120"/>
            <a:ext cx="3794760" cy="3383280"/>
          </a:xfrm>
          <a:prstGeom prst="roundRect">
            <a:avLst>
              <a:gd name="adj" fmla="val 2703"/>
            </a:avLst>
          </a:prstGeom>
          <a:solidFill>
            <a:srgbClr val="12314F"/>
          </a:solidFill>
          <a:ln w="12700">
            <a:solidFill>
              <a:srgbClr val="1C7293"/>
            </a:solidFill>
            <a:prstDash val="solid"/>
          </a:ln>
        </p:spPr>
      </p:sp>
      <p:sp>
        <p:nvSpPr>
          <p:cNvPr id="8" name="Text 6"/>
          <p:cNvSpPr/>
          <p:nvPr/>
        </p:nvSpPr>
        <p:spPr>
          <a:xfrm>
            <a:off x="914400" y="2240280"/>
            <a:ext cx="3429000"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Node allocatable</a:t>
            </a: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2000m CPU</a:t>
            </a:r>
            <a:endParaRPr lang="en-US" sz="1800" dirty="0"/>
          </a:p>
        </p:txBody>
      </p:sp>
      <p:sp>
        <p:nvSpPr>
          <p:cNvPr id="9" name="Shape 7"/>
          <p:cNvSpPr/>
          <p:nvPr/>
        </p:nvSpPr>
        <p:spPr>
          <a:xfrm>
            <a:off x="1143000" y="2834640"/>
            <a:ext cx="2971800" cy="384048"/>
          </a:xfrm>
          <a:prstGeom prst="roundRect">
            <a:avLst>
              <a:gd name="adj" fmla="val 11905"/>
            </a:avLst>
          </a:prstGeom>
          <a:solidFill>
            <a:srgbClr val="2E9E63"/>
          </a:solidFill>
          <a:ln w="12700">
            <a:solidFill>
              <a:srgbClr val="2E9E63"/>
            </a:solidFill>
            <a:prstDash val="solid"/>
          </a:ln>
        </p:spPr>
      </p:sp>
      <p:sp>
        <p:nvSpPr>
          <p:cNvPr id="10" name="Text 8"/>
          <p:cNvSpPr/>
          <p:nvPr/>
        </p:nvSpPr>
        <p:spPr>
          <a:xfrm>
            <a:off x="1143000" y="2834640"/>
            <a:ext cx="29718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web 500m</a:t>
            </a:r>
            <a:endParaRPr lang="en-US" sz="1250" dirty="0"/>
          </a:p>
        </p:txBody>
      </p:sp>
      <p:sp>
        <p:nvSpPr>
          <p:cNvPr id="11" name="Shape 9"/>
          <p:cNvSpPr/>
          <p:nvPr/>
        </p:nvSpPr>
        <p:spPr>
          <a:xfrm>
            <a:off x="1143000" y="3291840"/>
            <a:ext cx="2971800" cy="384048"/>
          </a:xfrm>
          <a:prstGeom prst="roundRect">
            <a:avLst>
              <a:gd name="adj" fmla="val 11905"/>
            </a:avLst>
          </a:prstGeom>
          <a:solidFill>
            <a:srgbClr val="8E6FBF"/>
          </a:solidFill>
          <a:ln w="12700">
            <a:solidFill>
              <a:srgbClr val="8E6FBF"/>
            </a:solidFill>
            <a:prstDash val="solid"/>
          </a:ln>
        </p:spPr>
      </p:sp>
      <p:sp>
        <p:nvSpPr>
          <p:cNvPr id="12" name="Text 10"/>
          <p:cNvSpPr/>
          <p:nvPr/>
        </p:nvSpPr>
        <p:spPr>
          <a:xfrm>
            <a:off x="1143000" y="3291840"/>
            <a:ext cx="29718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api 300m</a:t>
            </a:r>
            <a:endParaRPr lang="en-US" sz="1250" dirty="0"/>
          </a:p>
        </p:txBody>
      </p:sp>
      <p:sp>
        <p:nvSpPr>
          <p:cNvPr id="13" name="Shape 11"/>
          <p:cNvSpPr/>
          <p:nvPr/>
        </p:nvSpPr>
        <p:spPr>
          <a:xfrm>
            <a:off x="1143000" y="3749040"/>
            <a:ext cx="2971800" cy="384048"/>
          </a:xfrm>
          <a:prstGeom prst="roundRect">
            <a:avLst>
              <a:gd name="adj" fmla="val 11905"/>
            </a:avLst>
          </a:prstGeom>
          <a:solidFill>
            <a:srgbClr val="C97B1E"/>
          </a:solidFill>
          <a:ln w="12700">
            <a:solidFill>
              <a:srgbClr val="C97B1E"/>
            </a:solidFill>
            <a:prstDash val="solid"/>
          </a:ln>
        </p:spPr>
      </p:sp>
      <p:sp>
        <p:nvSpPr>
          <p:cNvPr id="14" name="Text 12"/>
          <p:cNvSpPr/>
          <p:nvPr/>
        </p:nvSpPr>
        <p:spPr>
          <a:xfrm>
            <a:off x="1143000" y="3749040"/>
            <a:ext cx="29718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worker 700m</a:t>
            </a:r>
            <a:endParaRPr lang="en-US" sz="1250" dirty="0"/>
          </a:p>
        </p:txBody>
      </p:sp>
      <p:sp>
        <p:nvSpPr>
          <p:cNvPr id="15" name="Shape 13"/>
          <p:cNvSpPr/>
          <p:nvPr/>
        </p:nvSpPr>
        <p:spPr>
          <a:xfrm>
            <a:off x="1143000" y="4206240"/>
            <a:ext cx="2971800" cy="384048"/>
          </a:xfrm>
          <a:prstGeom prst="roundRect">
            <a:avLst>
              <a:gd name="adj" fmla="val 11905"/>
            </a:avLst>
          </a:prstGeom>
          <a:solidFill>
            <a:srgbClr val="0E2740"/>
          </a:solidFill>
          <a:ln w="12700">
            <a:solidFill>
              <a:srgbClr val="0E2740"/>
            </a:solidFill>
            <a:prstDash val="solid"/>
          </a:ln>
        </p:spPr>
      </p:sp>
      <p:sp>
        <p:nvSpPr>
          <p:cNvPr id="16" name="Text 14"/>
          <p:cNvSpPr/>
          <p:nvPr/>
        </p:nvSpPr>
        <p:spPr>
          <a:xfrm>
            <a:off x="1143000" y="4206240"/>
            <a:ext cx="2971800" cy="384048"/>
          </a:xfrm>
          <a:prstGeom prst="rect">
            <a:avLst/>
          </a:prstGeom>
          <a:noFill/>
          <a:ln/>
        </p:spPr>
        <p:txBody>
          <a:bodyPr wrap="square" lIns="0" tIns="0" rIns="0" bIns="0" rtlCol="0" anchor="ctr"/>
          <a:lstStyle/>
          <a:p>
            <a:pPr algn="ctr" indent="0" marL="0">
              <a:buNone/>
            </a:pPr>
            <a:r>
              <a:rPr lang="en-US" sz="1250" b="1" dirty="0">
                <a:solidFill>
                  <a:srgbClr val="D8E6F2"/>
                </a:solidFill>
                <a:latin typeface="Cambria" pitchFamily="34" charset="0"/>
                <a:ea typeface="Cambria" pitchFamily="34" charset="-122"/>
                <a:cs typeface="Cambria" pitchFamily="34" charset="-120"/>
              </a:rPr>
              <a:t>free 500m</a:t>
            </a:r>
            <a:endParaRPr lang="en-US" sz="1250" dirty="0"/>
          </a:p>
        </p:txBody>
      </p:sp>
      <p:sp>
        <p:nvSpPr>
          <p:cNvPr id="17" name="Text 15"/>
          <p:cNvSpPr/>
          <p:nvPr/>
        </p:nvSpPr>
        <p:spPr>
          <a:xfrm>
            <a:off x="960120" y="5138928"/>
            <a:ext cx="3337560" cy="292608"/>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booking only — idle CPU does not change this</a:t>
            </a:r>
            <a:endParaRPr lang="en-US" sz="1050" dirty="0"/>
          </a:p>
        </p:txBody>
      </p:sp>
      <p:sp>
        <p:nvSpPr>
          <p:cNvPr id="18" name="Shape 16"/>
          <p:cNvSpPr/>
          <p:nvPr/>
        </p:nvSpPr>
        <p:spPr>
          <a:xfrm>
            <a:off x="5074920" y="2468880"/>
            <a:ext cx="2011680" cy="822960"/>
          </a:xfrm>
          <a:prstGeom prst="roundRect">
            <a:avLst>
              <a:gd name="adj" fmla="val 8889"/>
            </a:avLst>
          </a:prstGeom>
          <a:solidFill>
            <a:srgbClr val="8E6FBF"/>
          </a:solidFill>
          <a:ln w="12700">
            <a:solidFill>
              <a:srgbClr val="8E6FBF"/>
            </a:solidFill>
            <a:prstDash val="solid"/>
          </a:ln>
        </p:spPr>
      </p:sp>
      <p:sp>
        <p:nvSpPr>
          <p:cNvPr id="19" name="Text 17"/>
          <p:cNvSpPr/>
          <p:nvPr/>
        </p:nvSpPr>
        <p:spPr>
          <a:xfrm>
            <a:off x="5148072" y="2578608"/>
            <a:ext cx="1865376" cy="37856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 spec</a:t>
            </a:r>
            <a:endParaRPr lang="en-US" sz="1400" dirty="0"/>
          </a:p>
        </p:txBody>
      </p:sp>
      <p:sp>
        <p:nvSpPr>
          <p:cNvPr id="20" name="Text 18"/>
          <p:cNvSpPr/>
          <p:nvPr/>
        </p:nvSpPr>
        <p:spPr>
          <a:xfrm>
            <a:off x="5148072" y="2880360"/>
            <a:ext cx="1865376" cy="36210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request 300m</a:t>
            </a:r>
            <a:endParaRPr lang="en-US" sz="1050" dirty="0"/>
          </a:p>
        </p:txBody>
      </p:sp>
      <p:sp>
        <p:nvSpPr>
          <p:cNvPr id="21" name="Shape 19"/>
          <p:cNvSpPr/>
          <p:nvPr/>
        </p:nvSpPr>
        <p:spPr>
          <a:xfrm>
            <a:off x="5074920" y="3566160"/>
            <a:ext cx="2011680" cy="822960"/>
          </a:xfrm>
          <a:prstGeom prst="roundRect">
            <a:avLst>
              <a:gd name="adj" fmla="val 8889"/>
            </a:avLst>
          </a:prstGeom>
          <a:solidFill>
            <a:srgbClr val="C97B1E"/>
          </a:solidFill>
          <a:ln w="12700">
            <a:solidFill>
              <a:srgbClr val="C97B1E"/>
            </a:solidFill>
            <a:prstDash val="solid"/>
          </a:ln>
        </p:spPr>
      </p:sp>
      <p:sp>
        <p:nvSpPr>
          <p:cNvPr id="22" name="Text 20"/>
          <p:cNvSpPr/>
          <p:nvPr/>
        </p:nvSpPr>
        <p:spPr>
          <a:xfrm>
            <a:off x="5148072" y="3675888"/>
            <a:ext cx="1865376" cy="37856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Same pod</a:t>
            </a:r>
            <a:endParaRPr lang="en-US" sz="1400" dirty="0"/>
          </a:p>
        </p:txBody>
      </p:sp>
      <p:sp>
        <p:nvSpPr>
          <p:cNvPr id="23" name="Text 21"/>
          <p:cNvSpPr/>
          <p:nvPr/>
        </p:nvSpPr>
        <p:spPr>
          <a:xfrm>
            <a:off x="5148072" y="3977640"/>
            <a:ext cx="1865376" cy="36210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limit 600m</a:t>
            </a:r>
            <a:endParaRPr lang="en-US" sz="1050" dirty="0"/>
          </a:p>
        </p:txBody>
      </p:sp>
      <p:sp>
        <p:nvSpPr>
          <p:cNvPr id="24" name="Shape 22"/>
          <p:cNvSpPr/>
          <p:nvPr/>
        </p:nvSpPr>
        <p:spPr>
          <a:xfrm>
            <a:off x="4572000" y="2907792"/>
            <a:ext cx="411480" cy="0"/>
          </a:xfrm>
          <a:prstGeom prst="line">
            <a:avLst/>
          </a:prstGeom>
          <a:noFill/>
          <a:ln w="25400">
            <a:solidFill>
              <a:srgbClr val="1C7293"/>
            </a:solidFill>
            <a:prstDash val="solid"/>
            <a:tailEnd type="triangle"/>
          </a:ln>
        </p:spPr>
      </p:sp>
      <p:sp>
        <p:nvSpPr>
          <p:cNvPr id="25" name="Text 23"/>
          <p:cNvSpPr/>
          <p:nvPr/>
        </p:nvSpPr>
        <p:spPr>
          <a:xfrm>
            <a:off x="4114800" y="2523744"/>
            <a:ext cx="2377440" cy="310896"/>
          </a:xfrm>
          <a:prstGeom prst="rect">
            <a:avLst/>
          </a:prstGeom>
          <a:noFill/>
          <a:ln/>
        </p:spPr>
        <p:txBody>
          <a:bodyPr wrap="square" lIns="0" tIns="0" rIns="0" bIns="0" rtlCol="0" anchor="ctr"/>
          <a:lstStyle/>
          <a:p>
            <a:pPr algn="ctr" indent="0" marL="0">
              <a:buNone/>
            </a:pPr>
            <a:r>
              <a:rPr lang="en-US" sz="1000" b="1" dirty="0">
                <a:solidFill>
                  <a:srgbClr val="1C7293"/>
                </a:solidFill>
                <a:latin typeface="Calibri" pitchFamily="34" charset="0"/>
                <a:ea typeface="Calibri" pitchFamily="34" charset="-122"/>
                <a:cs typeface="Calibri" pitchFamily="34" charset="-120"/>
              </a:rPr>
              <a:t>fits?</a:t>
            </a:r>
            <a:endParaRPr lang="en-US" sz="1000" dirty="0"/>
          </a:p>
        </p:txBody>
      </p:sp>
      <p:sp>
        <p:nvSpPr>
          <p:cNvPr id="26" name="Shape 24"/>
          <p:cNvSpPr/>
          <p:nvPr/>
        </p:nvSpPr>
        <p:spPr>
          <a:xfrm>
            <a:off x="7178040" y="3977640"/>
            <a:ext cx="502920" cy="0"/>
          </a:xfrm>
          <a:prstGeom prst="line">
            <a:avLst/>
          </a:prstGeom>
          <a:noFill/>
          <a:ln w="25400">
            <a:solidFill>
              <a:srgbClr val="F2A03D"/>
            </a:solidFill>
            <a:prstDash val="solid"/>
            <a:tailEnd type="triangle"/>
          </a:ln>
        </p:spPr>
      </p:sp>
      <p:sp>
        <p:nvSpPr>
          <p:cNvPr id="27" name="Text 25"/>
          <p:cNvSpPr/>
          <p:nvPr/>
        </p:nvSpPr>
        <p:spPr>
          <a:xfrm>
            <a:off x="6720840" y="3593592"/>
            <a:ext cx="237744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cap</a:t>
            </a:r>
            <a:endParaRPr lang="en-US" sz="1000" dirty="0"/>
          </a:p>
        </p:txBody>
      </p:sp>
      <p:sp>
        <p:nvSpPr>
          <p:cNvPr id="28" name="Shape 26"/>
          <p:cNvSpPr/>
          <p:nvPr/>
        </p:nvSpPr>
        <p:spPr>
          <a:xfrm>
            <a:off x="7818120" y="2103120"/>
            <a:ext cx="3657600" cy="3154680"/>
          </a:xfrm>
          <a:prstGeom prst="roundRect">
            <a:avLst>
              <a:gd name="adj" fmla="val 2899"/>
            </a:avLst>
          </a:prstGeom>
          <a:solidFill>
            <a:srgbClr val="12314F"/>
          </a:solidFill>
          <a:ln w="12700">
            <a:solidFill>
              <a:srgbClr val="F2A03D"/>
            </a:solidFill>
            <a:prstDash val="solid"/>
          </a:ln>
        </p:spPr>
      </p:sp>
      <p:sp>
        <p:nvSpPr>
          <p:cNvPr id="29" name="Text 27"/>
          <p:cNvSpPr/>
          <p:nvPr/>
        </p:nvSpPr>
        <p:spPr>
          <a:xfrm>
            <a:off x="8046720" y="2304288"/>
            <a:ext cx="3200400" cy="31089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Container runtime</a:t>
            </a:r>
            <a:endParaRPr lang="en-US" sz="1700" dirty="0"/>
          </a:p>
        </p:txBody>
      </p:sp>
      <p:sp>
        <p:nvSpPr>
          <p:cNvPr id="30" name="Shape 28"/>
          <p:cNvSpPr/>
          <p:nvPr/>
        </p:nvSpPr>
        <p:spPr>
          <a:xfrm>
            <a:off x="8247888" y="2761488"/>
            <a:ext cx="2788920" cy="713232"/>
          </a:xfrm>
          <a:prstGeom prst="roundRect">
            <a:avLst>
              <a:gd name="adj" fmla="val 10256"/>
            </a:avLst>
          </a:prstGeom>
          <a:solidFill>
            <a:srgbClr val="2E9E63"/>
          </a:solidFill>
          <a:ln w="12700">
            <a:solidFill>
              <a:srgbClr val="2E9E63"/>
            </a:solidFill>
            <a:prstDash val="solid"/>
          </a:ln>
        </p:spPr>
      </p:sp>
      <p:sp>
        <p:nvSpPr>
          <p:cNvPr id="31" name="Text 29"/>
          <p:cNvSpPr/>
          <p:nvPr/>
        </p:nvSpPr>
        <p:spPr>
          <a:xfrm>
            <a:off x="8321040" y="2871216"/>
            <a:ext cx="264261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usage 580m</a:t>
            </a:r>
            <a:endParaRPr lang="en-US" sz="1400" dirty="0"/>
          </a:p>
        </p:txBody>
      </p:sp>
      <p:sp>
        <p:nvSpPr>
          <p:cNvPr id="32" name="Text 30"/>
          <p:cNvSpPr/>
          <p:nvPr/>
        </p:nvSpPr>
        <p:spPr>
          <a:xfrm>
            <a:off x="8321040" y="3118104"/>
            <a:ext cx="264261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still allowed</a:t>
            </a:r>
            <a:endParaRPr lang="en-US" sz="1050" dirty="0"/>
          </a:p>
        </p:txBody>
      </p:sp>
      <p:sp>
        <p:nvSpPr>
          <p:cNvPr id="33" name="Shape 31"/>
          <p:cNvSpPr/>
          <p:nvPr/>
        </p:nvSpPr>
        <p:spPr>
          <a:xfrm>
            <a:off x="8247888" y="3657600"/>
            <a:ext cx="2788920" cy="804672"/>
          </a:xfrm>
          <a:prstGeom prst="roundRect">
            <a:avLst>
              <a:gd name="adj" fmla="val 9091"/>
            </a:avLst>
          </a:prstGeom>
          <a:solidFill>
            <a:srgbClr val="D64545"/>
          </a:solidFill>
          <a:ln w="12700">
            <a:solidFill>
              <a:srgbClr val="D64545"/>
            </a:solidFill>
            <a:prstDash val="solid"/>
          </a:ln>
        </p:spPr>
      </p:sp>
      <p:sp>
        <p:nvSpPr>
          <p:cNvPr id="34" name="Text 32"/>
          <p:cNvSpPr/>
          <p:nvPr/>
        </p:nvSpPr>
        <p:spPr>
          <a:xfrm>
            <a:off x="8321040" y="3767328"/>
            <a:ext cx="2642616" cy="3701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usage 750m</a:t>
            </a:r>
            <a:endParaRPr lang="en-US" sz="1400" dirty="0"/>
          </a:p>
        </p:txBody>
      </p:sp>
      <p:sp>
        <p:nvSpPr>
          <p:cNvPr id="35" name="Text 33"/>
          <p:cNvSpPr/>
          <p:nvPr/>
        </p:nvSpPr>
        <p:spPr>
          <a:xfrm>
            <a:off x="8321040" y="4059936"/>
            <a:ext cx="2642616" cy="35405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CPU throttled here</a:t>
            </a:r>
            <a:endParaRPr lang="en-US" sz="1050" dirty="0"/>
          </a:p>
        </p:txBody>
      </p:sp>
      <p:sp>
        <p:nvSpPr>
          <p:cNvPr id="36" name="Text 34"/>
          <p:cNvSpPr/>
          <p:nvPr/>
        </p:nvSpPr>
        <p:spPr>
          <a:xfrm>
            <a:off x="8183880" y="4645152"/>
            <a:ext cx="2926080" cy="292608"/>
          </a:xfrm>
          <a:prstGeom prst="rect">
            <a:avLst/>
          </a:prstGeom>
          <a:noFill/>
          <a:ln/>
        </p:spPr>
        <p:txBody>
          <a:bodyPr wrap="square" lIns="0" tIns="0" rIns="0" bIns="0" rtlCol="0" anchor="ctr"/>
          <a:lstStyle/>
          <a:p>
            <a:pPr algn="ctr" indent="0" marL="0">
              <a:buNone/>
            </a:pPr>
            <a:r>
              <a:rPr lang="en-US" sz="1080" i="1" dirty="0">
                <a:solidFill>
                  <a:srgbClr val="D8E6F2"/>
                </a:solidFill>
                <a:latin typeface="Calibri" pitchFamily="34" charset="0"/>
                <a:ea typeface="Calibri" pitchFamily="34" charset="-122"/>
                <a:cs typeface="Calibri" pitchFamily="34" charset="-120"/>
              </a:rPr>
              <a:t>memory over limit would be OOMKilled, not slowed</a:t>
            </a:r>
            <a:endParaRPr lang="en-US" sz="1080" dirty="0"/>
          </a:p>
        </p:txBody>
      </p:sp>
      <p:sp>
        <p:nvSpPr>
          <p:cNvPr id="37" name="Text 35"/>
          <p:cNvSpPr/>
          <p:nvPr/>
        </p:nvSpPr>
        <p:spPr>
          <a:xfrm>
            <a:off x="566928" y="5742432"/>
            <a:ext cx="11057839" cy="384048"/>
          </a:xfrm>
          <a:prstGeom prst="rect">
            <a:avLst/>
          </a:prstGeom>
          <a:noFill/>
          <a:ln/>
        </p:spPr>
        <p:txBody>
          <a:bodyPr wrap="square" lIns="0" tIns="0" rIns="0" bIns="0" rtlCol="0" anchor="ctr"/>
          <a:lstStyle/>
          <a:p>
            <a:pPr algn="ctr" indent="0" marL="0">
              <a:buNone/>
            </a:pPr>
            <a:r>
              <a:rPr lang="en-US" sz="1400" b="1" dirty="0">
                <a:solidFill>
                  <a:srgbClr val="F2A03D"/>
                </a:solidFill>
                <a:latin typeface="Calibri" pitchFamily="34" charset="0"/>
                <a:ea typeface="Calibri" pitchFamily="34" charset="-122"/>
                <a:cs typeface="Calibri" pitchFamily="34" charset="-120"/>
              </a:rPr>
              <a:t>Requests answer 'Can it be placed?' Limits answer 'How far may it run once placed?'</a:t>
            </a:r>
            <a:endParaRPr lang="en-US" sz="1400" dirty="0"/>
          </a:p>
        </p:txBody>
      </p:sp>
      <p:sp>
        <p:nvSpPr>
          <p:cNvPr id="38" name="Text 3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39" name="Text 3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7</a:t>
            </a:r>
            <a:endParaRPr lang="en-US" sz="900" dirty="0"/>
          </a:p>
        </p:txBody>
      </p:sp>
      <p:pic>
        <p:nvPicPr>
          <p:cNvPr id="4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M2.2 · RESOURCES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asymmetry that decides how you debug</a:t>
            </a:r>
            <a:endParaRPr lang="en-US" sz="3200" dirty="0"/>
          </a:p>
        </p:txBody>
      </p:sp>
      <p:sp>
        <p:nvSpPr>
          <p:cNvPr id="5" name="Text 3"/>
          <p:cNvSpPr/>
          <p:nvPr/>
        </p:nvSpPr>
        <p:spPr>
          <a:xfrm>
            <a:off x="566928" y="2103120"/>
            <a:ext cx="5368900"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CPU</a:t>
            </a:r>
            <a:endParaRPr lang="en-US" sz="5800" dirty="0"/>
          </a:p>
        </p:txBody>
      </p:sp>
      <p:sp>
        <p:nvSpPr>
          <p:cNvPr id="6" name="Text 4"/>
          <p:cNvSpPr/>
          <p:nvPr/>
        </p:nvSpPr>
        <p:spPr>
          <a:xfrm>
            <a:off x="566928" y="3364992"/>
            <a:ext cx="536890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COMPRESSIBLE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Exceed the limit → THROTTLED</a:t>
            </a:r>
            <a:endParaRPr lang="en-US" sz="1300" dirty="0"/>
          </a:p>
          <a:p>
            <a:pPr algn="ctr" indent="0" marL="0">
              <a:lnSpc>
                <a:spcPts val="1700"/>
              </a:lnSpc>
              <a:buNone/>
            </a:pP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Slow. No error. No event.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No restart. No log line.</a:t>
            </a:r>
            <a:endParaRPr lang="en-US" sz="1300" dirty="0"/>
          </a:p>
        </p:txBody>
      </p:sp>
      <p:sp>
        <p:nvSpPr>
          <p:cNvPr id="7" name="Text 5"/>
          <p:cNvSpPr/>
          <p:nvPr/>
        </p:nvSpPr>
        <p:spPr>
          <a:xfrm>
            <a:off x="6255868" y="2103120"/>
            <a:ext cx="5368900" cy="1234440"/>
          </a:xfrm>
          <a:prstGeom prst="rect">
            <a:avLst/>
          </a:prstGeom>
          <a:noFill/>
          <a:ln/>
        </p:spPr>
        <p:txBody>
          <a:bodyPr wrap="square" lIns="0" tIns="0" rIns="0" bIns="0" rtlCol="0" anchor="ctr"/>
          <a:lstStyle/>
          <a:p>
            <a:pPr algn="ctr" indent="0" marL="0">
              <a:buNone/>
            </a:pPr>
            <a:r>
              <a:rPr lang="en-US" sz="5800" b="1" dirty="0">
                <a:solidFill>
                  <a:srgbClr val="D64545"/>
                </a:solidFill>
                <a:latin typeface="Cambria" pitchFamily="34" charset="0"/>
                <a:ea typeface="Cambria" pitchFamily="34" charset="-122"/>
                <a:cs typeface="Cambria" pitchFamily="34" charset="-120"/>
              </a:rPr>
              <a:t>MEM</a:t>
            </a:r>
            <a:endParaRPr lang="en-US" sz="5800" dirty="0"/>
          </a:p>
        </p:txBody>
      </p:sp>
      <p:sp>
        <p:nvSpPr>
          <p:cNvPr id="8" name="Text 6"/>
          <p:cNvSpPr/>
          <p:nvPr/>
        </p:nvSpPr>
        <p:spPr>
          <a:xfrm>
            <a:off x="6255868" y="3364992"/>
            <a:ext cx="536890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INCOMPRESSIBLE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Exceed the limit → OOMKILLED</a:t>
            </a:r>
            <a:endParaRPr lang="en-US" sz="1300" dirty="0"/>
          </a:p>
          <a:p>
            <a:pPr algn="ctr" indent="0" marL="0">
              <a:lnSpc>
                <a:spcPts val="1700"/>
              </a:lnSpc>
              <a:buNone/>
            </a:pP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Exit 137. Restart.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Impossible to miss.</a:t>
            </a:r>
            <a:endParaRPr lang="en-US" sz="1300" dirty="0"/>
          </a:p>
        </p:txBody>
      </p:sp>
      <p:sp>
        <p:nvSpPr>
          <p:cNvPr id="9" name="Text 7"/>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One is a latency mystery you will hunt for weeks. The other is a crash you find in thirty seconds.</a:t>
            </a:r>
            <a:endParaRPr lang="en-US" sz="1400" dirty="0"/>
          </a:p>
        </p:txBody>
      </p:sp>
      <p:sp>
        <p:nvSpPr>
          <p:cNvPr id="10" name="Text 8"/>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1" name="Text 9"/>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8</a:t>
            </a:r>
            <a:endParaRPr lang="en-US" sz="900" dirty="0"/>
          </a:p>
        </p:txBody>
      </p:sp>
      <p:pic>
        <p:nvPicPr>
          <p:cNvPr id="12"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3"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4"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M2.2 · RESOURCES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How the kernel actually enforces a CPU limit</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A CPU limit is not an advisory setting inside Kubernetes. The kubelet translates it into a Linux cgroup quota, and the kernel enforces that quota in short repeating periods, so a container can look healthy overall while repeatedly being stopped for slices of time.</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You set limits.cpu: 500m. What does the kernel do with that number?</a:t>
            </a:r>
            <a:endParaRPr lang="en-US" sz="1500" dirty="0"/>
          </a:p>
        </p:txBody>
      </p:sp>
      <p:sp>
        <p:nvSpPr>
          <p:cNvPr id="8" name="Shape 6"/>
          <p:cNvSpPr/>
          <p:nvPr/>
        </p:nvSpPr>
        <p:spPr>
          <a:xfrm>
            <a:off x="566928" y="3160395"/>
            <a:ext cx="402336" cy="402336"/>
          </a:xfrm>
          <a:prstGeom prst="ellipse">
            <a:avLst/>
          </a:prstGeom>
          <a:solidFill>
            <a:srgbClr val="1C7293"/>
          </a:solidFill>
          <a:ln w="12700">
            <a:solidFill>
              <a:srgbClr val="1C7293"/>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Translate to a quota</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For any CPU-limited container, kubelet writes a CFS quota into the cgroup's cpu.max file. Here it becomes "50000 100000": 50,000 microseconds of CPU every 100,000-microsecond period, so 500m means half a core.</a:t>
            </a:r>
            <a:endParaRPr lang="en-US" sz="1250" dirty="0"/>
          </a:p>
        </p:txBody>
      </p:sp>
      <p:sp>
        <p:nvSpPr>
          <p:cNvPr id="12" name="Shape 10"/>
          <p:cNvSpPr/>
          <p:nvPr/>
        </p:nvSpPr>
        <p:spPr>
          <a:xfrm>
            <a:off x="566928" y="3885057"/>
            <a:ext cx="402336" cy="402336"/>
          </a:xfrm>
          <a:prstGeom prst="ellipse">
            <a:avLst/>
          </a:prstGeom>
          <a:solidFill>
            <a:srgbClr val="1C7293"/>
          </a:solidFill>
          <a:ln w="12700">
            <a:solidFill>
              <a:srgbClr val="1C7293"/>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Meter each period</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Linux enforces that budget one period at a time. Every 100 ms the counter resets, and the container's threads may run until they have consumed their 50 ms of CPU across the node's cores.</a:t>
            </a:r>
            <a:endParaRPr lang="en-US" sz="1250" dirty="0"/>
          </a:p>
        </p:txBody>
      </p:sp>
      <p:sp>
        <p:nvSpPr>
          <p:cNvPr id="16" name="Shape 14"/>
          <p:cNvSpPr/>
          <p:nvPr/>
        </p:nvSpPr>
        <p:spPr>
          <a:xfrm>
            <a:off x="566928" y="4609719"/>
            <a:ext cx="402336" cy="402336"/>
          </a:xfrm>
          <a:prstGeom prst="ellipse">
            <a:avLst/>
          </a:prstGeom>
          <a:solidFill>
            <a:srgbClr val="D64545"/>
          </a:solidFill>
          <a:ln w="12700">
            <a:solidFill>
              <a:srgbClr val="D64545"/>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Stall the payment path</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On AxisPay, payment-service can burn that 50 ms budget early while fanning out to auth-service, fraud-service and the acquirer. The pod then waits for the rest of the 100 ms window while checkout requests simply queue behind it.</a:t>
            </a:r>
            <a:endParaRPr lang="en-US" sz="1250" dirty="0"/>
          </a:p>
        </p:txBody>
      </p:sp>
      <p:sp>
        <p:nvSpPr>
          <p:cNvPr id="20" name="Shape 18"/>
          <p:cNvSpPr/>
          <p:nvPr/>
        </p:nvSpPr>
        <p:spPr>
          <a:xfrm>
            <a:off x="566928" y="5334381"/>
            <a:ext cx="402336" cy="402336"/>
          </a:xfrm>
          <a:prstGeom prst="ellipse">
            <a:avLst/>
          </a:prstGeom>
          <a:solidFill>
            <a:srgbClr val="D64545"/>
          </a:solidFill>
          <a:ln w="12700">
            <a:solidFill>
              <a:srgbClr val="D64545"/>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Find the proof</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pod stays Running and the application logs stay clean, so the evidence is inside the container: cpu.stat shows nr_throttled and throttled_usec climbing. That is how the 'nothing is broken, but p99 is awful' incident is actually diagnosed.</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This is why a throttled service shows modest AVERAGE CPU and terrible p99 — the stalls are concentrated, not spread.</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9</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M2.2 · RESOURCES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QoS class — who gets evicted first</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QoS is a derived eviction priority, not a field you type into YAML. Kubernetes assigns it from each container's requests and limits, then uses that class when a node runs short of memory or other critical resources.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103120"/>
                <a:gridCol w="4754880"/>
                <a:gridCol w="2377440"/>
                <a:gridCol w="182880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Evicted under node pressure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AxisPay uses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Guaranteed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requests == limits, for EVERY container and BOTH resources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Last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 see C2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Burstable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requests set, limits higher (or absent)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Second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 everywhere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BestEffort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nothing declared at all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FIRST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10</a:t>
            </a:r>
            <a:endParaRPr lang="en-US" sz="900" dirty="0"/>
          </a:p>
        </p:txBody>
      </p:sp>
      <p:pic>
        <p:nvPicPr>
          <p:cNvPr id="12"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3"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4"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L2.1</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Requests, limits and QoS classes</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Measure real usage with kubectl top under 25 rps of load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Derive requests and limits yourself, then compare with the manifest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Throttle fraud-service to 100m and watch p99 breach the SLO</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Read nr_throttled from the cgroup — the only signal there is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OOM-kill routing-service and read exit code 137</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All workloads have requests AND limits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No BestEffort pods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name both failure symptoms</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LAB=L2.1</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45 minutes   ·   labs/day2/L2.1-resources/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11</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17170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1717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M2.2 · GOVERNANCE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a namespace does — and does not — isolate</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A namespace is a logical partition inside one Kubernetes cluster that scopes object names and can carry its own RBAC, quotas and defaults. It lets multiple teams or environments share a control plane without making every Service, Secret or Role globally unique.</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If two teams both create a Service named api, what keeps them separate?</a:t>
            </a:r>
            <a:endParaRPr lang="en-US" sz="1500" dirty="0"/>
          </a:p>
        </p:txBody>
      </p:sp>
      <p:sp>
        <p:nvSpPr>
          <p:cNvPr id="8" name="Shape 6"/>
          <p:cNvSpPr/>
          <p:nvPr/>
        </p:nvSpPr>
        <p:spPr>
          <a:xfrm>
            <a:off x="566928" y="3160395"/>
            <a:ext cx="402336" cy="402336"/>
          </a:xfrm>
          <a:prstGeom prst="ellipse">
            <a:avLst/>
          </a:prstGeom>
          <a:solidFill>
            <a:srgbClr val="1C7293"/>
          </a:solidFill>
          <a:ln w="12700">
            <a:solidFill>
              <a:srgbClr val="1C7293"/>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Scope the names</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Object identity is namespace-qualified, so team-a/api and team-b/api are different Services with different DNS names, labels and policies. That is why the same simple names can be reused safely across a shared cluster.</a:t>
            </a:r>
            <a:endParaRPr lang="en-US" sz="1250" dirty="0"/>
          </a:p>
        </p:txBody>
      </p:sp>
      <p:sp>
        <p:nvSpPr>
          <p:cNvPr id="12" name="Shape 10"/>
          <p:cNvSpPr/>
          <p:nvPr/>
        </p:nvSpPr>
        <p:spPr>
          <a:xfrm>
            <a:off x="566928" y="3885057"/>
            <a:ext cx="402336" cy="402336"/>
          </a:xfrm>
          <a:prstGeom prst="ellipse">
            <a:avLst/>
          </a:prstGeom>
          <a:solidFill>
            <a:srgbClr val="1C7293"/>
          </a:solidFill>
          <a:ln w="12700">
            <a:solidFill>
              <a:srgbClr val="1C7293"/>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Attach local policy</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ResourceQuota, LimitRange and RBAC are evaluated per namespace. A generic web-app namespace can have its own CPU budget, default requests and read permissions without changing what another namespace is allowed to do.</a:t>
            </a:r>
            <a:endParaRPr lang="en-US" sz="1250" dirty="0"/>
          </a:p>
        </p:txBody>
      </p:sp>
      <p:sp>
        <p:nvSpPr>
          <p:cNvPr id="16" name="Shape 14"/>
          <p:cNvSpPr/>
          <p:nvPr/>
        </p:nvSpPr>
        <p:spPr>
          <a:xfrm>
            <a:off x="566928" y="4609719"/>
            <a:ext cx="402336" cy="402336"/>
          </a:xfrm>
          <a:prstGeom prst="ellipse">
            <a:avLst/>
          </a:prstGeom>
          <a:solidFill>
            <a:srgbClr val="C97B1E"/>
          </a:solidFill>
          <a:ln w="12700">
            <a:solidFill>
              <a:srgbClr val="C97B1E"/>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Apply it to AxisPay</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 keeps payment-service, auth-service and edge-gateway in axispay-core, while async work such as recon-worker lives outside that namespace. A batch retry must not consume the same budget or secret visibility as the live payment path.</a:t>
            </a:r>
            <a:endParaRPr lang="en-US" sz="1250" dirty="0"/>
          </a:p>
        </p:txBody>
      </p:sp>
      <p:sp>
        <p:nvSpPr>
          <p:cNvPr id="20" name="Shape 18"/>
          <p:cNvSpPr/>
          <p:nvPr/>
        </p:nvSpPr>
        <p:spPr>
          <a:xfrm>
            <a:off x="566928" y="5334381"/>
            <a:ext cx="402336" cy="402336"/>
          </a:xfrm>
          <a:prstGeom prst="ellipse">
            <a:avLst/>
          </a:prstGeom>
          <a:solidFill>
            <a:srgbClr val="D64545"/>
          </a:solidFill>
          <a:ln w="12700">
            <a:solidFill>
              <a:srgbClr val="D64545"/>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Know the boundary</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Namespaces do not magically isolate network traffic. If axispay-core must be unable to talk to another namespace, that requires NetworkPolicy; namespace alone only scopes names, access and budgets.</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Namespaces are an administrative wall, not a packet filter. Treat quota and NetworkPolicy as separate controls.</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12</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17170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1717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M2.2 · GOVERNANCE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Namespace scoping inside one cluster</a:t>
            </a:r>
            <a:endParaRPr lang="en-US" sz="3200" dirty="0"/>
          </a:p>
        </p:txBody>
      </p:sp>
      <p:sp>
        <p:nvSpPr>
          <p:cNvPr id="5" name="Shape 3"/>
          <p:cNvSpPr/>
          <p:nvPr/>
        </p:nvSpPr>
        <p:spPr>
          <a:xfrm>
            <a:off x="658368" y="1783080"/>
            <a:ext cx="10881360" cy="3611880"/>
          </a:xfrm>
          <a:prstGeom prst="roundRect">
            <a:avLst>
              <a:gd name="adj" fmla="val 2025"/>
            </a:avLst>
          </a:prstGeom>
          <a:solidFill>
            <a:srgbClr val="F7F9FC"/>
          </a:solidFill>
          <a:ln w="12700">
            <a:solidFill>
              <a:srgbClr val="DCE4EE"/>
            </a:solidFill>
            <a:prstDash val="solid"/>
          </a:ln>
        </p:spPr>
      </p:sp>
      <p:sp>
        <p:nvSpPr>
          <p:cNvPr id="6" name="Text 4"/>
          <p:cNvSpPr/>
          <p:nvPr/>
        </p:nvSpPr>
        <p:spPr>
          <a:xfrm>
            <a:off x="868680" y="1901952"/>
            <a:ext cx="1280160" cy="27432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One cluster</a:t>
            </a:r>
            <a:endParaRPr lang="en-US" sz="1600" dirty="0"/>
          </a:p>
        </p:txBody>
      </p:sp>
      <p:sp>
        <p:nvSpPr>
          <p:cNvPr id="7" name="Shape 5"/>
          <p:cNvSpPr/>
          <p:nvPr/>
        </p:nvSpPr>
        <p:spPr>
          <a:xfrm>
            <a:off x="960120" y="2286000"/>
            <a:ext cx="4572000" cy="2606040"/>
          </a:xfrm>
          <a:prstGeom prst="roundRect">
            <a:avLst>
              <a:gd name="adj" fmla="val 2807"/>
            </a:avLst>
          </a:prstGeom>
          <a:solidFill>
            <a:srgbClr val="FFFFFF"/>
          </a:solidFill>
          <a:ln w="12700">
            <a:solidFill>
              <a:srgbClr val="1C7293"/>
            </a:solidFill>
            <a:prstDash val="solid"/>
          </a:ln>
        </p:spPr>
      </p:sp>
      <p:sp>
        <p:nvSpPr>
          <p:cNvPr id="8" name="Shape 6"/>
          <p:cNvSpPr/>
          <p:nvPr/>
        </p:nvSpPr>
        <p:spPr>
          <a:xfrm>
            <a:off x="6629400" y="2286000"/>
            <a:ext cx="4572000" cy="2606040"/>
          </a:xfrm>
          <a:prstGeom prst="roundRect">
            <a:avLst>
              <a:gd name="adj" fmla="val 2807"/>
            </a:avLst>
          </a:prstGeom>
          <a:solidFill>
            <a:srgbClr val="FFFFFF"/>
          </a:solidFill>
          <a:ln w="12700">
            <a:solidFill>
              <a:srgbClr val="8E6FBF"/>
            </a:solidFill>
            <a:prstDash val="solid"/>
          </a:ln>
        </p:spPr>
      </p:sp>
      <p:sp>
        <p:nvSpPr>
          <p:cNvPr id="9" name="Text 7"/>
          <p:cNvSpPr/>
          <p:nvPr/>
        </p:nvSpPr>
        <p:spPr>
          <a:xfrm>
            <a:off x="1188720" y="2487168"/>
            <a:ext cx="2103120" cy="27432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namespace: team-a</a:t>
            </a:r>
            <a:endParaRPr lang="en-US" sz="1500" dirty="0"/>
          </a:p>
        </p:txBody>
      </p:sp>
      <p:sp>
        <p:nvSpPr>
          <p:cNvPr id="10" name="Text 8"/>
          <p:cNvSpPr/>
          <p:nvPr/>
        </p:nvSpPr>
        <p:spPr>
          <a:xfrm>
            <a:off x="6858000" y="2487168"/>
            <a:ext cx="2103120" cy="274320"/>
          </a:xfrm>
          <a:prstGeom prst="rect">
            <a:avLst/>
          </a:prstGeom>
          <a:noFill/>
          <a:ln/>
        </p:spPr>
        <p:txBody>
          <a:bodyPr wrap="square" lIns="0" tIns="0" rIns="0" bIns="0" rtlCol="0" anchor="ctr"/>
          <a:lstStyle/>
          <a:p>
            <a:pPr indent="0" marL="0">
              <a:buNone/>
            </a:pPr>
            <a:r>
              <a:rPr lang="en-US" sz="1500" b="1" dirty="0">
                <a:solidFill>
                  <a:srgbClr val="8E6FBF"/>
                </a:solidFill>
                <a:latin typeface="Cambria" pitchFamily="34" charset="0"/>
                <a:ea typeface="Cambria" pitchFamily="34" charset="-122"/>
                <a:cs typeface="Cambria" pitchFamily="34" charset="-120"/>
              </a:rPr>
              <a:t>namespace: team-b</a:t>
            </a:r>
            <a:endParaRPr lang="en-US" sz="1500" dirty="0"/>
          </a:p>
        </p:txBody>
      </p:sp>
      <p:sp>
        <p:nvSpPr>
          <p:cNvPr id="11" name="Shape 9"/>
          <p:cNvSpPr/>
          <p:nvPr/>
        </p:nvSpPr>
        <p:spPr>
          <a:xfrm>
            <a:off x="1298448" y="2907792"/>
            <a:ext cx="1600200" cy="713232"/>
          </a:xfrm>
          <a:prstGeom prst="roundRect">
            <a:avLst>
              <a:gd name="adj" fmla="val 10256"/>
            </a:avLst>
          </a:prstGeom>
          <a:solidFill>
            <a:srgbClr val="1B4066"/>
          </a:solidFill>
          <a:ln w="12700">
            <a:solidFill>
              <a:srgbClr val="1B4066"/>
            </a:solidFill>
            <a:prstDash val="solid"/>
          </a:ln>
        </p:spPr>
      </p:sp>
      <p:sp>
        <p:nvSpPr>
          <p:cNvPr id="12" name="Text 10"/>
          <p:cNvSpPr/>
          <p:nvPr/>
        </p:nvSpPr>
        <p:spPr>
          <a:xfrm>
            <a:off x="1371600" y="3017520"/>
            <a:ext cx="145389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Service</a:t>
            </a:r>
            <a:endParaRPr lang="en-US" sz="1400" dirty="0"/>
          </a:p>
        </p:txBody>
      </p:sp>
      <p:sp>
        <p:nvSpPr>
          <p:cNvPr id="13" name="Text 11"/>
          <p:cNvSpPr/>
          <p:nvPr/>
        </p:nvSpPr>
        <p:spPr>
          <a:xfrm>
            <a:off x="1371600" y="3264408"/>
            <a:ext cx="145389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web</a:t>
            </a:r>
            <a:endParaRPr lang="en-US" sz="1050" dirty="0"/>
          </a:p>
        </p:txBody>
      </p:sp>
      <p:sp>
        <p:nvSpPr>
          <p:cNvPr id="14" name="Shape 12"/>
          <p:cNvSpPr/>
          <p:nvPr/>
        </p:nvSpPr>
        <p:spPr>
          <a:xfrm>
            <a:off x="3529584" y="2907792"/>
            <a:ext cx="1600200" cy="713232"/>
          </a:xfrm>
          <a:prstGeom prst="roundRect">
            <a:avLst>
              <a:gd name="adj" fmla="val 10256"/>
            </a:avLst>
          </a:prstGeom>
          <a:solidFill>
            <a:srgbClr val="1B4066"/>
          </a:solidFill>
          <a:ln w="12700">
            <a:solidFill>
              <a:srgbClr val="1B4066"/>
            </a:solidFill>
            <a:prstDash val="solid"/>
          </a:ln>
        </p:spPr>
      </p:sp>
      <p:sp>
        <p:nvSpPr>
          <p:cNvPr id="15" name="Text 13"/>
          <p:cNvSpPr/>
          <p:nvPr/>
        </p:nvSpPr>
        <p:spPr>
          <a:xfrm>
            <a:off x="3602736" y="3017520"/>
            <a:ext cx="145389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StatefulSet</a:t>
            </a:r>
            <a:endParaRPr lang="en-US" sz="1400" dirty="0"/>
          </a:p>
        </p:txBody>
      </p:sp>
      <p:sp>
        <p:nvSpPr>
          <p:cNvPr id="16" name="Text 14"/>
          <p:cNvSpPr/>
          <p:nvPr/>
        </p:nvSpPr>
        <p:spPr>
          <a:xfrm>
            <a:off x="3602736" y="3264408"/>
            <a:ext cx="145389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db</a:t>
            </a:r>
            <a:endParaRPr lang="en-US" sz="1050" dirty="0"/>
          </a:p>
        </p:txBody>
      </p:sp>
      <p:sp>
        <p:nvSpPr>
          <p:cNvPr id="17" name="Shape 15"/>
          <p:cNvSpPr/>
          <p:nvPr/>
        </p:nvSpPr>
        <p:spPr>
          <a:xfrm>
            <a:off x="1298448" y="3858768"/>
            <a:ext cx="1600200" cy="713232"/>
          </a:xfrm>
          <a:prstGeom prst="roundRect">
            <a:avLst>
              <a:gd name="adj" fmla="val 10256"/>
            </a:avLst>
          </a:prstGeom>
          <a:solidFill>
            <a:srgbClr val="2E9E63"/>
          </a:solidFill>
          <a:ln w="12700">
            <a:solidFill>
              <a:srgbClr val="2E9E63"/>
            </a:solidFill>
            <a:prstDash val="solid"/>
          </a:ln>
        </p:spPr>
      </p:sp>
      <p:sp>
        <p:nvSpPr>
          <p:cNvPr id="18" name="Text 16"/>
          <p:cNvSpPr/>
          <p:nvPr/>
        </p:nvSpPr>
        <p:spPr>
          <a:xfrm>
            <a:off x="1371600" y="3968496"/>
            <a:ext cx="145389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19" name="Text 17"/>
          <p:cNvSpPr/>
          <p:nvPr/>
        </p:nvSpPr>
        <p:spPr>
          <a:xfrm>
            <a:off x="1371600" y="4215384"/>
            <a:ext cx="145389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web-7fd8</a:t>
            </a:r>
            <a:endParaRPr lang="en-US" sz="1050" dirty="0"/>
          </a:p>
        </p:txBody>
      </p:sp>
      <p:sp>
        <p:nvSpPr>
          <p:cNvPr id="20" name="Shape 18"/>
          <p:cNvSpPr/>
          <p:nvPr/>
        </p:nvSpPr>
        <p:spPr>
          <a:xfrm>
            <a:off x="3529584" y="3858768"/>
            <a:ext cx="1600200" cy="713232"/>
          </a:xfrm>
          <a:prstGeom prst="roundRect">
            <a:avLst>
              <a:gd name="adj" fmla="val 10256"/>
            </a:avLst>
          </a:prstGeom>
          <a:solidFill>
            <a:srgbClr val="8A93A0"/>
          </a:solidFill>
          <a:ln w="12700">
            <a:solidFill>
              <a:srgbClr val="8A93A0"/>
            </a:solidFill>
            <a:prstDash val="solid"/>
          </a:ln>
        </p:spPr>
      </p:sp>
      <p:sp>
        <p:nvSpPr>
          <p:cNvPr id="21" name="Text 19"/>
          <p:cNvSpPr/>
          <p:nvPr/>
        </p:nvSpPr>
        <p:spPr>
          <a:xfrm>
            <a:off x="3602736" y="3968496"/>
            <a:ext cx="145389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22" name="Text 20"/>
          <p:cNvSpPr/>
          <p:nvPr/>
        </p:nvSpPr>
        <p:spPr>
          <a:xfrm>
            <a:off x="3602736" y="4215384"/>
            <a:ext cx="145389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db-0</a:t>
            </a:r>
            <a:endParaRPr lang="en-US" sz="1050" dirty="0"/>
          </a:p>
        </p:txBody>
      </p:sp>
      <p:sp>
        <p:nvSpPr>
          <p:cNvPr id="23" name="Shape 21"/>
          <p:cNvSpPr/>
          <p:nvPr/>
        </p:nvSpPr>
        <p:spPr>
          <a:xfrm>
            <a:off x="6967728" y="2907792"/>
            <a:ext cx="1600200" cy="713232"/>
          </a:xfrm>
          <a:prstGeom prst="roundRect">
            <a:avLst>
              <a:gd name="adj" fmla="val 10256"/>
            </a:avLst>
          </a:prstGeom>
          <a:solidFill>
            <a:srgbClr val="1B4066"/>
          </a:solidFill>
          <a:ln w="12700">
            <a:solidFill>
              <a:srgbClr val="1B4066"/>
            </a:solidFill>
            <a:prstDash val="solid"/>
          </a:ln>
        </p:spPr>
      </p:sp>
      <p:sp>
        <p:nvSpPr>
          <p:cNvPr id="24" name="Text 22"/>
          <p:cNvSpPr/>
          <p:nvPr/>
        </p:nvSpPr>
        <p:spPr>
          <a:xfrm>
            <a:off x="7040880" y="3017520"/>
            <a:ext cx="145389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Service</a:t>
            </a:r>
            <a:endParaRPr lang="en-US" sz="1400" dirty="0"/>
          </a:p>
        </p:txBody>
      </p:sp>
      <p:sp>
        <p:nvSpPr>
          <p:cNvPr id="25" name="Text 23"/>
          <p:cNvSpPr/>
          <p:nvPr/>
        </p:nvSpPr>
        <p:spPr>
          <a:xfrm>
            <a:off x="7040880" y="3264408"/>
            <a:ext cx="145389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web</a:t>
            </a:r>
            <a:endParaRPr lang="en-US" sz="1050" dirty="0"/>
          </a:p>
        </p:txBody>
      </p:sp>
      <p:sp>
        <p:nvSpPr>
          <p:cNvPr id="26" name="Shape 24"/>
          <p:cNvSpPr/>
          <p:nvPr/>
        </p:nvSpPr>
        <p:spPr>
          <a:xfrm>
            <a:off x="9198864" y="2907792"/>
            <a:ext cx="1600200" cy="713232"/>
          </a:xfrm>
          <a:prstGeom prst="roundRect">
            <a:avLst>
              <a:gd name="adj" fmla="val 10256"/>
            </a:avLst>
          </a:prstGeom>
          <a:solidFill>
            <a:srgbClr val="1B4066"/>
          </a:solidFill>
          <a:ln w="12700">
            <a:solidFill>
              <a:srgbClr val="1B4066"/>
            </a:solidFill>
            <a:prstDash val="solid"/>
          </a:ln>
        </p:spPr>
      </p:sp>
      <p:sp>
        <p:nvSpPr>
          <p:cNvPr id="27" name="Text 25"/>
          <p:cNvSpPr/>
          <p:nvPr/>
        </p:nvSpPr>
        <p:spPr>
          <a:xfrm>
            <a:off x="9272016" y="3017520"/>
            <a:ext cx="145389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StatefulSet</a:t>
            </a:r>
            <a:endParaRPr lang="en-US" sz="1400" dirty="0"/>
          </a:p>
        </p:txBody>
      </p:sp>
      <p:sp>
        <p:nvSpPr>
          <p:cNvPr id="28" name="Text 26"/>
          <p:cNvSpPr/>
          <p:nvPr/>
        </p:nvSpPr>
        <p:spPr>
          <a:xfrm>
            <a:off x="9272016" y="3264408"/>
            <a:ext cx="145389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db</a:t>
            </a:r>
            <a:endParaRPr lang="en-US" sz="1050" dirty="0"/>
          </a:p>
        </p:txBody>
      </p:sp>
      <p:sp>
        <p:nvSpPr>
          <p:cNvPr id="29" name="Shape 27"/>
          <p:cNvSpPr/>
          <p:nvPr/>
        </p:nvSpPr>
        <p:spPr>
          <a:xfrm>
            <a:off x="6967728" y="3858768"/>
            <a:ext cx="1600200" cy="713232"/>
          </a:xfrm>
          <a:prstGeom prst="roundRect">
            <a:avLst>
              <a:gd name="adj" fmla="val 10256"/>
            </a:avLst>
          </a:prstGeom>
          <a:solidFill>
            <a:srgbClr val="2E9E63"/>
          </a:solidFill>
          <a:ln w="12700">
            <a:solidFill>
              <a:srgbClr val="2E9E63"/>
            </a:solidFill>
            <a:prstDash val="solid"/>
          </a:ln>
        </p:spPr>
      </p:sp>
      <p:sp>
        <p:nvSpPr>
          <p:cNvPr id="30" name="Text 28"/>
          <p:cNvSpPr/>
          <p:nvPr/>
        </p:nvSpPr>
        <p:spPr>
          <a:xfrm>
            <a:off x="7040880" y="3968496"/>
            <a:ext cx="145389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31" name="Text 29"/>
          <p:cNvSpPr/>
          <p:nvPr/>
        </p:nvSpPr>
        <p:spPr>
          <a:xfrm>
            <a:off x="7040880" y="4215384"/>
            <a:ext cx="145389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web-2ac4</a:t>
            </a:r>
            <a:endParaRPr lang="en-US" sz="1050" dirty="0"/>
          </a:p>
        </p:txBody>
      </p:sp>
      <p:sp>
        <p:nvSpPr>
          <p:cNvPr id="32" name="Shape 30"/>
          <p:cNvSpPr/>
          <p:nvPr/>
        </p:nvSpPr>
        <p:spPr>
          <a:xfrm>
            <a:off x="9198864" y="3858768"/>
            <a:ext cx="1600200" cy="713232"/>
          </a:xfrm>
          <a:prstGeom prst="roundRect">
            <a:avLst>
              <a:gd name="adj" fmla="val 10256"/>
            </a:avLst>
          </a:prstGeom>
          <a:solidFill>
            <a:srgbClr val="8A93A0"/>
          </a:solidFill>
          <a:ln w="12700">
            <a:solidFill>
              <a:srgbClr val="8A93A0"/>
            </a:solidFill>
            <a:prstDash val="solid"/>
          </a:ln>
        </p:spPr>
      </p:sp>
      <p:sp>
        <p:nvSpPr>
          <p:cNvPr id="33" name="Text 31"/>
          <p:cNvSpPr/>
          <p:nvPr/>
        </p:nvSpPr>
        <p:spPr>
          <a:xfrm>
            <a:off x="9272016" y="3968496"/>
            <a:ext cx="145389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34" name="Text 32"/>
          <p:cNvSpPr/>
          <p:nvPr/>
        </p:nvSpPr>
        <p:spPr>
          <a:xfrm>
            <a:off x="9272016" y="4215384"/>
            <a:ext cx="145389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db-0</a:t>
            </a:r>
            <a:endParaRPr lang="en-US" sz="1050" dirty="0"/>
          </a:p>
        </p:txBody>
      </p:sp>
      <p:sp>
        <p:nvSpPr>
          <p:cNvPr id="35" name="Text 33"/>
          <p:cNvSpPr/>
          <p:nvPr/>
        </p:nvSpPr>
        <p:spPr>
          <a:xfrm>
            <a:off x="1828800" y="4965192"/>
            <a:ext cx="8138160" cy="256032"/>
          </a:xfrm>
          <a:prstGeom prst="rect">
            <a:avLst/>
          </a:prstGeom>
          <a:noFill/>
          <a:ln/>
        </p:spPr>
        <p:txBody>
          <a:bodyPr wrap="square" lIns="0" tIns="0" rIns="0" bIns="0" rtlCol="0" anchor="ctr"/>
          <a:lstStyle/>
          <a:p>
            <a:pPr algn="ctr" indent="0" marL="0">
              <a:buNone/>
            </a:pPr>
            <a:r>
              <a:rPr lang="en-US" sz="1050" i="1" dirty="0">
                <a:solidFill>
                  <a:srgbClr val="63758B"/>
                </a:solidFill>
                <a:latin typeface="Calibri" pitchFamily="34" charset="0"/>
                <a:ea typeface="Calibri" pitchFamily="34" charset="-122"/>
                <a:cs typeface="Calibri" pitchFamily="34" charset="-120"/>
              </a:rPr>
              <a:t>same object names are legal because the namespace qualifies identity</a:t>
            </a:r>
            <a:endParaRPr lang="en-US" sz="1050" dirty="0"/>
          </a:p>
        </p:txBody>
      </p:sp>
      <p:sp>
        <p:nvSpPr>
          <p:cNvPr id="36" name="Text 34"/>
          <p:cNvSpPr/>
          <p:nvPr/>
        </p:nvSpPr>
        <p:spPr>
          <a:xfrm>
            <a:off x="566928" y="5742432"/>
            <a:ext cx="11057839" cy="38404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quota, RBAC and defaults attach per namespace; traffic is NOT isolated unless NetworkPolicy says so</a:t>
            </a:r>
            <a:endParaRPr lang="en-US" sz="1400" dirty="0"/>
          </a:p>
        </p:txBody>
      </p:sp>
      <p:sp>
        <p:nvSpPr>
          <p:cNvPr id="37" name="Text 35"/>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38" name="Text 36"/>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13</a:t>
            </a:r>
            <a:endParaRPr lang="en-US" sz="900" dirty="0"/>
          </a:p>
        </p:txBody>
      </p:sp>
      <p:pic>
        <p:nvPicPr>
          <p:cNvPr id="3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L2.2</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Namespace governance: quota and LimitRange</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Apply a ResourceQuota and a LimitRange to the CDE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Get a Deployment REJECTED and read the message correctly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Watch the LimitRange fill in defaults for a bare pod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Verify the quota still allows the HPA to reach maxReplicas</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Quota and LimitRange applied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read a FailedCreate on a ReplicaSet</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LAB=L2.2</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30 minutes   ·   labs/day2/L2.2-quota-limitrange/</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14</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M2.3</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Health probes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The most important 90 minutes of the week</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Distinguish the three probes by their CONSEQUENCE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Write dependency-aware readiness without breaking liveness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and reproduce probe-induced cascading failure</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90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M2.3 · PROBES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probes, three consequences</a:t>
            </a:r>
            <a:endParaRPr lang="en-US" sz="3200" dirty="0"/>
          </a:p>
        </p:txBody>
      </p:sp>
      <p:sp>
        <p:nvSpPr>
          <p:cNvPr id="5" name="Shape 3"/>
          <p:cNvSpPr/>
          <p:nvPr/>
        </p:nvSpPr>
        <p:spPr>
          <a:xfrm>
            <a:off x="685800" y="1783080"/>
            <a:ext cx="3429000" cy="3794760"/>
          </a:xfrm>
          <a:prstGeom prst="roundRect">
            <a:avLst>
              <a:gd name="adj" fmla="val 2667"/>
            </a:avLst>
          </a:prstGeom>
          <a:solidFill>
            <a:srgbClr val="12314F"/>
          </a:solidFill>
          <a:ln w="12700">
            <a:solidFill>
              <a:srgbClr val="C97B1E"/>
            </a:solidFill>
            <a:prstDash val="solid"/>
          </a:ln>
        </p:spPr>
      </p:sp>
      <p:sp>
        <p:nvSpPr>
          <p:cNvPr id="6" name="Text 4"/>
          <p:cNvSpPr/>
          <p:nvPr/>
        </p:nvSpPr>
        <p:spPr>
          <a:xfrm>
            <a:off x="685800" y="1920240"/>
            <a:ext cx="3429000" cy="365760"/>
          </a:xfrm>
          <a:prstGeom prst="rect">
            <a:avLst/>
          </a:prstGeom>
          <a:noFill/>
          <a:ln/>
        </p:spPr>
        <p:txBody>
          <a:bodyPr wrap="square" lIns="0" tIns="0" rIns="0" bIns="0" rtlCol="0" anchor="ctr"/>
          <a:lstStyle/>
          <a:p>
            <a:pPr algn="ctr" indent="0" marL="0">
              <a:buNone/>
            </a:pPr>
            <a:r>
              <a:rPr lang="en-US" sz="1700" b="1" dirty="0">
                <a:solidFill>
                  <a:srgbClr val="C97B1E"/>
                </a:solidFill>
                <a:latin typeface="Cambria" pitchFamily="34" charset="0"/>
                <a:ea typeface="Cambria" pitchFamily="34" charset="-122"/>
                <a:cs typeface="Cambria" pitchFamily="34" charset="-120"/>
              </a:rPr>
              <a:t>startupProbe</a:t>
            </a:r>
            <a:endParaRPr lang="en-US" sz="1700" dirty="0"/>
          </a:p>
        </p:txBody>
      </p:sp>
      <p:sp>
        <p:nvSpPr>
          <p:cNvPr id="7" name="Text 5"/>
          <p:cNvSpPr/>
          <p:nvPr/>
        </p:nvSpPr>
        <p:spPr>
          <a:xfrm>
            <a:off x="685800" y="2304288"/>
            <a:ext cx="3429000" cy="292608"/>
          </a:xfrm>
          <a:prstGeom prst="rect">
            <a:avLst/>
          </a:prstGeom>
          <a:noFill/>
          <a:ln/>
        </p:spPr>
        <p:txBody>
          <a:bodyPr wrap="square" lIns="0" tIns="0" rIns="0" bIns="0" rtlCol="0" anchor="ctr"/>
          <a:lstStyle/>
          <a:p>
            <a:pPr algn="ctr" indent="0" marL="0">
              <a:buNone/>
            </a:pPr>
            <a:r>
              <a:rPr lang="en-US" sz="1200" dirty="0">
                <a:solidFill>
                  <a:srgbClr val="D8E6F2"/>
                </a:solidFill>
                <a:latin typeface="Courier New" pitchFamily="34" charset="0"/>
                <a:ea typeface="Courier New" pitchFamily="34" charset="-122"/>
                <a:cs typeface="Courier New" pitchFamily="34" charset="-120"/>
              </a:rPr>
              <a:t>/startupz</a:t>
            </a:r>
            <a:endParaRPr lang="en-US" sz="1200" dirty="0"/>
          </a:p>
        </p:txBody>
      </p:sp>
      <p:sp>
        <p:nvSpPr>
          <p:cNvPr id="8" name="Text 6"/>
          <p:cNvSpPr/>
          <p:nvPr/>
        </p:nvSpPr>
        <p:spPr>
          <a:xfrm>
            <a:off x="868680" y="2697480"/>
            <a:ext cx="3063240" cy="64008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Has init finished?</a:t>
            </a:r>
            <a:endParaRPr lang="en-US" sz="1300" dirty="0"/>
          </a:p>
        </p:txBody>
      </p:sp>
      <p:sp>
        <p:nvSpPr>
          <p:cNvPr id="9" name="Text 7"/>
          <p:cNvSpPr/>
          <p:nvPr/>
        </p:nvSpPr>
        <p:spPr>
          <a:xfrm>
            <a:off x="685800" y="3401568"/>
            <a:ext cx="3429000" cy="256032"/>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CONSEQUENCE OF FAILURE</a:t>
            </a:r>
            <a:endParaRPr lang="en-US" sz="900" dirty="0"/>
          </a:p>
        </p:txBody>
      </p:sp>
      <p:sp>
        <p:nvSpPr>
          <p:cNvPr id="10" name="Shape 8"/>
          <p:cNvSpPr/>
          <p:nvPr/>
        </p:nvSpPr>
        <p:spPr>
          <a:xfrm>
            <a:off x="941832" y="3675888"/>
            <a:ext cx="2916936" cy="841248"/>
          </a:xfrm>
          <a:prstGeom prst="roundRect">
            <a:avLst>
              <a:gd name="adj" fmla="val 8696"/>
            </a:avLst>
          </a:prstGeom>
          <a:solidFill>
            <a:srgbClr val="C97B1E"/>
          </a:solidFill>
          <a:ln w="12700">
            <a:solidFill>
              <a:srgbClr val="C97B1E"/>
            </a:solidFill>
            <a:prstDash val="solid"/>
          </a:ln>
        </p:spPr>
      </p:sp>
      <p:sp>
        <p:nvSpPr>
          <p:cNvPr id="11" name="Text 9"/>
          <p:cNvSpPr/>
          <p:nvPr/>
        </p:nvSpPr>
        <p:spPr>
          <a:xfrm>
            <a:off x="941832" y="3675888"/>
            <a:ext cx="2916936" cy="841248"/>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Keep waiting.</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Liveness SUSPENDED.</a:t>
            </a:r>
            <a:endParaRPr lang="en-US" sz="1350" dirty="0"/>
          </a:p>
        </p:txBody>
      </p:sp>
      <p:sp>
        <p:nvSpPr>
          <p:cNvPr id="12" name="Text 10"/>
          <p:cNvSpPr/>
          <p:nvPr/>
        </p:nvSpPr>
        <p:spPr>
          <a:xfrm>
            <a:off x="685800" y="4645152"/>
            <a:ext cx="3429000" cy="256032"/>
          </a:xfrm>
          <a:prstGeom prst="rect">
            <a:avLst/>
          </a:prstGeom>
          <a:noFill/>
          <a:ln/>
        </p:spPr>
        <p:txBody>
          <a:bodyPr wrap="square" lIns="0" tIns="0" rIns="0" bIns="0" rtlCol="0" anchor="ctr"/>
          <a:lstStyle/>
          <a:p>
            <a:pPr algn="ctr" indent="0" marL="0">
              <a:buNone/>
            </a:pPr>
            <a:r>
              <a:rPr lang="en-US" sz="1000" dirty="0">
                <a:solidFill>
                  <a:srgbClr val="63758B"/>
                </a:solidFill>
                <a:latin typeface="Calibri" pitchFamily="34" charset="0"/>
                <a:ea typeface="Calibri" pitchFamily="34" charset="-122"/>
                <a:cs typeface="Calibri" pitchFamily="34" charset="-120"/>
              </a:rPr>
              <a:t>Check dependencies?</a:t>
            </a:r>
            <a:endParaRPr lang="en-US" sz="1000" dirty="0"/>
          </a:p>
        </p:txBody>
      </p:sp>
      <p:sp>
        <p:nvSpPr>
          <p:cNvPr id="13" name="Text 11"/>
          <p:cNvSpPr/>
          <p:nvPr/>
        </p:nvSpPr>
        <p:spPr>
          <a:xfrm>
            <a:off x="685800" y="4901184"/>
            <a:ext cx="3429000" cy="365760"/>
          </a:xfrm>
          <a:prstGeom prst="rect">
            <a:avLst/>
          </a:prstGeom>
          <a:noFill/>
          <a:ln/>
        </p:spPr>
        <p:txBody>
          <a:bodyPr wrap="square" lIns="0" tIns="0" rIns="0" bIns="0" rtlCol="0" anchor="ctr"/>
          <a:lstStyle/>
          <a:p>
            <a:pPr algn="ctr" indent="0" marL="0">
              <a:buNone/>
            </a:pPr>
            <a:r>
              <a:rPr lang="en-US" sz="1600" b="1" dirty="0">
                <a:solidFill>
                  <a:srgbClr val="63758B"/>
                </a:solidFill>
                <a:latin typeface="Cambria" pitchFamily="34" charset="0"/>
                <a:ea typeface="Cambria" pitchFamily="34" charset="-122"/>
                <a:cs typeface="Cambria" pitchFamily="34" charset="-120"/>
              </a:rPr>
              <a:t>No</a:t>
            </a:r>
            <a:endParaRPr lang="en-US" sz="1600" dirty="0"/>
          </a:p>
        </p:txBody>
      </p:sp>
      <p:sp>
        <p:nvSpPr>
          <p:cNvPr id="14" name="Shape 12"/>
          <p:cNvSpPr/>
          <p:nvPr/>
        </p:nvSpPr>
        <p:spPr>
          <a:xfrm>
            <a:off x="4434840" y="1783080"/>
            <a:ext cx="3429000" cy="3794760"/>
          </a:xfrm>
          <a:prstGeom prst="roundRect">
            <a:avLst>
              <a:gd name="adj" fmla="val 2667"/>
            </a:avLst>
          </a:prstGeom>
          <a:solidFill>
            <a:srgbClr val="12314F"/>
          </a:solidFill>
          <a:ln w="12700">
            <a:solidFill>
              <a:srgbClr val="D64545"/>
            </a:solidFill>
            <a:prstDash val="solid"/>
          </a:ln>
        </p:spPr>
      </p:sp>
      <p:sp>
        <p:nvSpPr>
          <p:cNvPr id="15" name="Text 13"/>
          <p:cNvSpPr/>
          <p:nvPr/>
        </p:nvSpPr>
        <p:spPr>
          <a:xfrm>
            <a:off x="4434840" y="1920240"/>
            <a:ext cx="3429000" cy="365760"/>
          </a:xfrm>
          <a:prstGeom prst="rect">
            <a:avLst/>
          </a:prstGeom>
          <a:noFill/>
          <a:ln/>
        </p:spPr>
        <p:txBody>
          <a:bodyPr wrap="square" lIns="0" tIns="0" rIns="0" bIns="0" rtlCol="0" anchor="ctr"/>
          <a:lstStyle/>
          <a:p>
            <a:pPr algn="ctr" indent="0" marL="0">
              <a:buNone/>
            </a:pPr>
            <a:r>
              <a:rPr lang="en-US" sz="1700" b="1" dirty="0">
                <a:solidFill>
                  <a:srgbClr val="D64545"/>
                </a:solidFill>
                <a:latin typeface="Cambria" pitchFamily="34" charset="0"/>
                <a:ea typeface="Cambria" pitchFamily="34" charset="-122"/>
                <a:cs typeface="Cambria" pitchFamily="34" charset="-120"/>
              </a:rPr>
              <a:t>livenessProbe</a:t>
            </a:r>
            <a:endParaRPr lang="en-US" sz="1700" dirty="0"/>
          </a:p>
        </p:txBody>
      </p:sp>
      <p:sp>
        <p:nvSpPr>
          <p:cNvPr id="16" name="Text 14"/>
          <p:cNvSpPr/>
          <p:nvPr/>
        </p:nvSpPr>
        <p:spPr>
          <a:xfrm>
            <a:off x="4434840" y="2304288"/>
            <a:ext cx="3429000" cy="292608"/>
          </a:xfrm>
          <a:prstGeom prst="rect">
            <a:avLst/>
          </a:prstGeom>
          <a:noFill/>
          <a:ln/>
        </p:spPr>
        <p:txBody>
          <a:bodyPr wrap="square" lIns="0" tIns="0" rIns="0" bIns="0" rtlCol="0" anchor="ctr"/>
          <a:lstStyle/>
          <a:p>
            <a:pPr algn="ctr" indent="0" marL="0">
              <a:buNone/>
            </a:pPr>
            <a:r>
              <a:rPr lang="en-US" sz="1200" dirty="0">
                <a:solidFill>
                  <a:srgbClr val="D8E6F2"/>
                </a:solidFill>
                <a:latin typeface="Courier New" pitchFamily="34" charset="0"/>
                <a:ea typeface="Courier New" pitchFamily="34" charset="-122"/>
                <a:cs typeface="Courier New" pitchFamily="34" charset="-120"/>
              </a:rPr>
              <a:t>/healthz</a:t>
            </a:r>
            <a:endParaRPr lang="en-US" sz="1200" dirty="0"/>
          </a:p>
        </p:txBody>
      </p:sp>
      <p:sp>
        <p:nvSpPr>
          <p:cNvPr id="17" name="Text 15"/>
          <p:cNvSpPr/>
          <p:nvPr/>
        </p:nvSpPr>
        <p:spPr>
          <a:xfrm>
            <a:off x="4617720" y="2697480"/>
            <a:ext cx="3063240" cy="64008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Is this process</a:t>
            </a:r>
            <a:endParaRPr lang="en-US" sz="1300" dirty="0"/>
          </a:p>
          <a:p>
            <a:pPr algn="ctr" indent="0" marL="0">
              <a:buNone/>
            </a:pPr>
            <a:r>
              <a:rPr lang="en-US" sz="1300" i="1" dirty="0">
                <a:solidFill>
                  <a:srgbClr val="FFFFFF"/>
                </a:solidFill>
                <a:latin typeface="Calibri" pitchFamily="34" charset="0"/>
                <a:ea typeface="Calibri" pitchFamily="34" charset="-122"/>
                <a:cs typeface="Calibri" pitchFamily="34" charset="-120"/>
              </a:rPr>
              <a:t>unrecoverable?</a:t>
            </a:r>
            <a:endParaRPr lang="en-US" sz="1300" dirty="0"/>
          </a:p>
        </p:txBody>
      </p:sp>
      <p:sp>
        <p:nvSpPr>
          <p:cNvPr id="18" name="Text 16"/>
          <p:cNvSpPr/>
          <p:nvPr/>
        </p:nvSpPr>
        <p:spPr>
          <a:xfrm>
            <a:off x="4434840" y="3401568"/>
            <a:ext cx="3429000" cy="256032"/>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CONSEQUENCE OF FAILURE</a:t>
            </a:r>
            <a:endParaRPr lang="en-US" sz="900" dirty="0"/>
          </a:p>
        </p:txBody>
      </p:sp>
      <p:sp>
        <p:nvSpPr>
          <p:cNvPr id="19" name="Shape 17"/>
          <p:cNvSpPr/>
          <p:nvPr/>
        </p:nvSpPr>
        <p:spPr>
          <a:xfrm>
            <a:off x="4690872" y="3675888"/>
            <a:ext cx="2916936" cy="841248"/>
          </a:xfrm>
          <a:prstGeom prst="roundRect">
            <a:avLst>
              <a:gd name="adj" fmla="val 8696"/>
            </a:avLst>
          </a:prstGeom>
          <a:solidFill>
            <a:srgbClr val="D64545"/>
          </a:solidFill>
          <a:ln w="12700">
            <a:solidFill>
              <a:srgbClr val="D64545"/>
            </a:solidFill>
            <a:prstDash val="solid"/>
          </a:ln>
        </p:spPr>
      </p:sp>
      <p:sp>
        <p:nvSpPr>
          <p:cNvPr id="20" name="Text 18"/>
          <p:cNvSpPr/>
          <p:nvPr/>
        </p:nvSpPr>
        <p:spPr>
          <a:xfrm>
            <a:off x="4690872" y="3675888"/>
            <a:ext cx="2916936" cy="841248"/>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RESTART</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the container</a:t>
            </a:r>
            <a:endParaRPr lang="en-US" sz="1350" dirty="0"/>
          </a:p>
        </p:txBody>
      </p:sp>
      <p:sp>
        <p:nvSpPr>
          <p:cNvPr id="21" name="Text 19"/>
          <p:cNvSpPr/>
          <p:nvPr/>
        </p:nvSpPr>
        <p:spPr>
          <a:xfrm>
            <a:off x="4434840" y="4645152"/>
            <a:ext cx="3429000" cy="256032"/>
          </a:xfrm>
          <a:prstGeom prst="rect">
            <a:avLst/>
          </a:prstGeom>
          <a:noFill/>
          <a:ln/>
        </p:spPr>
        <p:txBody>
          <a:bodyPr wrap="square" lIns="0" tIns="0" rIns="0" bIns="0" rtlCol="0" anchor="ctr"/>
          <a:lstStyle/>
          <a:p>
            <a:pPr algn="ctr" indent="0" marL="0">
              <a:buNone/>
            </a:pPr>
            <a:r>
              <a:rPr lang="en-US" sz="1000" dirty="0">
                <a:solidFill>
                  <a:srgbClr val="63758B"/>
                </a:solidFill>
                <a:latin typeface="Calibri" pitchFamily="34" charset="0"/>
                <a:ea typeface="Calibri" pitchFamily="34" charset="-122"/>
                <a:cs typeface="Calibri" pitchFamily="34" charset="-120"/>
              </a:rPr>
              <a:t>Check dependencies?</a:t>
            </a:r>
            <a:endParaRPr lang="en-US" sz="1000" dirty="0"/>
          </a:p>
        </p:txBody>
      </p:sp>
      <p:sp>
        <p:nvSpPr>
          <p:cNvPr id="22" name="Text 20"/>
          <p:cNvSpPr/>
          <p:nvPr/>
        </p:nvSpPr>
        <p:spPr>
          <a:xfrm>
            <a:off x="4434840" y="4901184"/>
            <a:ext cx="3429000" cy="365760"/>
          </a:xfrm>
          <a:prstGeom prst="rect">
            <a:avLst/>
          </a:prstGeom>
          <a:noFill/>
          <a:ln/>
        </p:spPr>
        <p:txBody>
          <a:bodyPr wrap="square" lIns="0" tIns="0" rIns="0" bIns="0" rtlCol="0" anchor="ctr"/>
          <a:lstStyle/>
          <a:p>
            <a:pPr algn="ctr" indent="0" marL="0">
              <a:buNone/>
            </a:pPr>
            <a:r>
              <a:rPr lang="en-US" sz="1600" b="1" dirty="0">
                <a:solidFill>
                  <a:srgbClr val="D64545"/>
                </a:solidFill>
                <a:latin typeface="Cambria" pitchFamily="34" charset="0"/>
                <a:ea typeface="Cambria" pitchFamily="34" charset="-122"/>
                <a:cs typeface="Cambria" pitchFamily="34" charset="-120"/>
              </a:rPr>
              <a:t>NEVER</a:t>
            </a:r>
            <a:endParaRPr lang="en-US" sz="1600" dirty="0"/>
          </a:p>
        </p:txBody>
      </p:sp>
      <p:sp>
        <p:nvSpPr>
          <p:cNvPr id="23" name="Shape 21"/>
          <p:cNvSpPr/>
          <p:nvPr/>
        </p:nvSpPr>
        <p:spPr>
          <a:xfrm>
            <a:off x="8183880" y="1783080"/>
            <a:ext cx="3429000" cy="3794760"/>
          </a:xfrm>
          <a:prstGeom prst="roundRect">
            <a:avLst>
              <a:gd name="adj" fmla="val 2667"/>
            </a:avLst>
          </a:prstGeom>
          <a:solidFill>
            <a:srgbClr val="12314F"/>
          </a:solidFill>
          <a:ln w="12700">
            <a:solidFill>
              <a:srgbClr val="2E9E63"/>
            </a:solidFill>
            <a:prstDash val="solid"/>
          </a:ln>
        </p:spPr>
      </p:sp>
      <p:sp>
        <p:nvSpPr>
          <p:cNvPr id="24" name="Text 22"/>
          <p:cNvSpPr/>
          <p:nvPr/>
        </p:nvSpPr>
        <p:spPr>
          <a:xfrm>
            <a:off x="8183880" y="1920240"/>
            <a:ext cx="3429000" cy="365760"/>
          </a:xfrm>
          <a:prstGeom prst="rect">
            <a:avLst/>
          </a:prstGeom>
          <a:noFill/>
          <a:ln/>
        </p:spPr>
        <p:txBody>
          <a:bodyPr wrap="square" lIns="0" tIns="0" rIns="0" bIns="0" rtlCol="0" anchor="ctr"/>
          <a:lstStyle/>
          <a:p>
            <a:pPr algn="ctr" indent="0" marL="0">
              <a:buNone/>
            </a:pPr>
            <a:r>
              <a:rPr lang="en-US" sz="1700" b="1" dirty="0">
                <a:solidFill>
                  <a:srgbClr val="2E9E63"/>
                </a:solidFill>
                <a:latin typeface="Cambria" pitchFamily="34" charset="0"/>
                <a:ea typeface="Cambria" pitchFamily="34" charset="-122"/>
                <a:cs typeface="Cambria" pitchFamily="34" charset="-120"/>
              </a:rPr>
              <a:t>readinessProbe</a:t>
            </a:r>
            <a:endParaRPr lang="en-US" sz="1700" dirty="0"/>
          </a:p>
        </p:txBody>
      </p:sp>
      <p:sp>
        <p:nvSpPr>
          <p:cNvPr id="25" name="Text 23"/>
          <p:cNvSpPr/>
          <p:nvPr/>
        </p:nvSpPr>
        <p:spPr>
          <a:xfrm>
            <a:off x="8183880" y="2304288"/>
            <a:ext cx="3429000" cy="292608"/>
          </a:xfrm>
          <a:prstGeom prst="rect">
            <a:avLst/>
          </a:prstGeom>
          <a:noFill/>
          <a:ln/>
        </p:spPr>
        <p:txBody>
          <a:bodyPr wrap="square" lIns="0" tIns="0" rIns="0" bIns="0" rtlCol="0" anchor="ctr"/>
          <a:lstStyle/>
          <a:p>
            <a:pPr algn="ctr" indent="0" marL="0">
              <a:buNone/>
            </a:pPr>
            <a:r>
              <a:rPr lang="en-US" sz="1200" dirty="0">
                <a:solidFill>
                  <a:srgbClr val="D8E6F2"/>
                </a:solidFill>
                <a:latin typeface="Courier New" pitchFamily="34" charset="0"/>
                <a:ea typeface="Courier New" pitchFamily="34" charset="-122"/>
                <a:cs typeface="Courier New" pitchFamily="34" charset="-120"/>
              </a:rPr>
              <a:t>/readyz</a:t>
            </a:r>
            <a:endParaRPr lang="en-US" sz="1200" dirty="0"/>
          </a:p>
        </p:txBody>
      </p:sp>
      <p:sp>
        <p:nvSpPr>
          <p:cNvPr id="26" name="Text 24"/>
          <p:cNvSpPr/>
          <p:nvPr/>
        </p:nvSpPr>
        <p:spPr>
          <a:xfrm>
            <a:off x="8366760" y="2697480"/>
            <a:ext cx="3063240" cy="64008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Can THIS pod</a:t>
            </a:r>
            <a:endParaRPr lang="en-US" sz="1300" dirty="0"/>
          </a:p>
          <a:p>
            <a:pPr algn="ctr" indent="0" marL="0">
              <a:buNone/>
            </a:pPr>
            <a:r>
              <a:rPr lang="en-US" sz="1300" i="1" dirty="0">
                <a:solidFill>
                  <a:srgbClr val="FFFFFF"/>
                </a:solidFill>
                <a:latin typeface="Calibri" pitchFamily="34" charset="0"/>
                <a:ea typeface="Calibri" pitchFamily="34" charset="-122"/>
                <a:cs typeface="Calibri" pitchFamily="34" charset="-120"/>
              </a:rPr>
              <a:t>serve right now?</a:t>
            </a:r>
            <a:endParaRPr lang="en-US" sz="1300" dirty="0"/>
          </a:p>
        </p:txBody>
      </p:sp>
      <p:sp>
        <p:nvSpPr>
          <p:cNvPr id="27" name="Text 25"/>
          <p:cNvSpPr/>
          <p:nvPr/>
        </p:nvSpPr>
        <p:spPr>
          <a:xfrm>
            <a:off x="8183880" y="3401568"/>
            <a:ext cx="3429000" cy="256032"/>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CONSEQUENCE OF FAILURE</a:t>
            </a:r>
            <a:endParaRPr lang="en-US" sz="900" dirty="0"/>
          </a:p>
        </p:txBody>
      </p:sp>
      <p:sp>
        <p:nvSpPr>
          <p:cNvPr id="28" name="Shape 26"/>
          <p:cNvSpPr/>
          <p:nvPr/>
        </p:nvSpPr>
        <p:spPr>
          <a:xfrm>
            <a:off x="8439912" y="3675888"/>
            <a:ext cx="2916936" cy="841248"/>
          </a:xfrm>
          <a:prstGeom prst="roundRect">
            <a:avLst>
              <a:gd name="adj" fmla="val 8696"/>
            </a:avLst>
          </a:prstGeom>
          <a:solidFill>
            <a:srgbClr val="2E9E63"/>
          </a:solidFill>
          <a:ln w="12700">
            <a:solidFill>
              <a:srgbClr val="2E9E63"/>
            </a:solidFill>
            <a:prstDash val="solid"/>
          </a:ln>
        </p:spPr>
      </p:sp>
      <p:sp>
        <p:nvSpPr>
          <p:cNvPr id="29" name="Text 27"/>
          <p:cNvSpPr/>
          <p:nvPr/>
        </p:nvSpPr>
        <p:spPr>
          <a:xfrm>
            <a:off x="8439912" y="3675888"/>
            <a:ext cx="2916936" cy="841248"/>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Remove from</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Endpoints</a:t>
            </a:r>
            <a:endParaRPr lang="en-US" sz="1350" dirty="0"/>
          </a:p>
        </p:txBody>
      </p:sp>
      <p:sp>
        <p:nvSpPr>
          <p:cNvPr id="30" name="Text 28"/>
          <p:cNvSpPr/>
          <p:nvPr/>
        </p:nvSpPr>
        <p:spPr>
          <a:xfrm>
            <a:off x="8183880" y="4645152"/>
            <a:ext cx="3429000" cy="256032"/>
          </a:xfrm>
          <a:prstGeom prst="rect">
            <a:avLst/>
          </a:prstGeom>
          <a:noFill/>
          <a:ln/>
        </p:spPr>
        <p:txBody>
          <a:bodyPr wrap="square" lIns="0" tIns="0" rIns="0" bIns="0" rtlCol="0" anchor="ctr"/>
          <a:lstStyle/>
          <a:p>
            <a:pPr algn="ctr" indent="0" marL="0">
              <a:buNone/>
            </a:pPr>
            <a:r>
              <a:rPr lang="en-US" sz="1000" dirty="0">
                <a:solidFill>
                  <a:srgbClr val="63758B"/>
                </a:solidFill>
                <a:latin typeface="Calibri" pitchFamily="34" charset="0"/>
                <a:ea typeface="Calibri" pitchFamily="34" charset="-122"/>
                <a:cs typeface="Calibri" pitchFamily="34" charset="-120"/>
              </a:rPr>
              <a:t>Check dependencies?</a:t>
            </a:r>
            <a:endParaRPr lang="en-US" sz="1000" dirty="0"/>
          </a:p>
        </p:txBody>
      </p:sp>
      <p:sp>
        <p:nvSpPr>
          <p:cNvPr id="31" name="Text 29"/>
          <p:cNvSpPr/>
          <p:nvPr/>
        </p:nvSpPr>
        <p:spPr>
          <a:xfrm>
            <a:off x="8183880" y="4901184"/>
            <a:ext cx="3429000" cy="365760"/>
          </a:xfrm>
          <a:prstGeom prst="rect">
            <a:avLst/>
          </a:prstGeom>
          <a:noFill/>
          <a:ln/>
        </p:spPr>
        <p:txBody>
          <a:bodyPr wrap="square" lIns="0" tIns="0" rIns="0" bIns="0" rtlCol="0" anchor="ctr"/>
          <a:lstStyle/>
          <a:p>
            <a:pPr algn="ctr" indent="0" marL="0">
              <a:buNone/>
            </a:pPr>
            <a:r>
              <a:rPr lang="en-US" sz="1600" b="1" dirty="0">
                <a:solidFill>
                  <a:srgbClr val="2E9E63"/>
                </a:solidFill>
                <a:latin typeface="Cambria" pitchFamily="34" charset="0"/>
                <a:ea typeface="Cambria" pitchFamily="34" charset="-122"/>
                <a:cs typeface="Cambria" pitchFamily="34" charset="-120"/>
              </a:rPr>
              <a:t>YES — the point</a:t>
            </a:r>
            <a:endParaRPr lang="en-US" sz="1600" dirty="0"/>
          </a:p>
        </p:txBody>
      </p:sp>
      <p:sp>
        <p:nvSpPr>
          <p:cNvPr id="32" name="Text 30"/>
          <p:cNvSpPr/>
          <p:nvPr/>
        </p:nvSpPr>
        <p:spPr>
          <a:xfrm>
            <a:off x="566928" y="5760720"/>
            <a:ext cx="11057839" cy="411480"/>
          </a:xfrm>
          <a:prstGeom prst="rect">
            <a:avLst/>
          </a:prstGeom>
          <a:noFill/>
          <a:ln/>
        </p:spPr>
        <p:txBody>
          <a:bodyPr wrap="square" lIns="0" tIns="0" rIns="0" bIns="0" rtlCol="0" anchor="ctr"/>
          <a:lstStyle/>
          <a:p>
            <a:pPr algn="ctr" indent="0" marL="0">
              <a:buNone/>
            </a:pPr>
            <a:r>
              <a:rPr lang="en-US" sz="1400" b="1" dirty="0">
                <a:solidFill>
                  <a:srgbClr val="F2A03D"/>
                </a:solidFill>
                <a:latin typeface="Calibri" pitchFamily="34" charset="0"/>
                <a:ea typeface="Calibri" pitchFamily="34" charset="-122"/>
                <a:cs typeface="Calibri" pitchFamily="34" charset="-120"/>
              </a:rPr>
              <a:t>Learn the CONSEQUENCE, not the name. Every probe mistake in production is made by someone who knew the definitions.</a:t>
            </a:r>
            <a:endParaRPr lang="en-US" sz="1400" dirty="0"/>
          </a:p>
        </p:txBody>
      </p:sp>
      <p:sp>
        <p:nvSpPr>
          <p:cNvPr id="33" name="Text 31"/>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34" name="Text 32"/>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16</a:t>
            </a:r>
            <a:endParaRPr lang="en-US" sz="900" dirty="0"/>
          </a:p>
        </p:txBody>
      </p:sp>
      <p:pic>
        <p:nvPicPr>
          <p:cNvPr id="35"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6"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7"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M2.3 · PROBES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cascading-failure bug</a:t>
            </a:r>
            <a:endParaRPr lang="en-US" sz="3200" dirty="0"/>
          </a:p>
        </p:txBody>
      </p:sp>
      <p:sp>
        <p:nvSpPr>
          <p:cNvPr id="5" name="Shape 3"/>
          <p:cNvSpPr/>
          <p:nvPr/>
        </p:nvSpPr>
        <p:spPr>
          <a:xfrm>
            <a:off x="4480560" y="1737360"/>
            <a:ext cx="3200400" cy="731520"/>
          </a:xfrm>
          <a:prstGeom prst="roundRect">
            <a:avLst>
              <a:gd name="adj" fmla="val 10000"/>
            </a:avLst>
          </a:prstGeom>
          <a:solidFill>
            <a:srgbClr val="1B4066"/>
          </a:solidFill>
          <a:ln w="12700">
            <a:solidFill>
              <a:srgbClr val="1B4066"/>
            </a:solidFill>
            <a:prstDash val="solid"/>
          </a:ln>
        </p:spPr>
      </p:sp>
      <p:sp>
        <p:nvSpPr>
          <p:cNvPr id="6" name="Text 4"/>
          <p:cNvSpPr/>
          <p:nvPr/>
        </p:nvSpPr>
        <p:spPr>
          <a:xfrm>
            <a:off x="4553712" y="1847088"/>
            <a:ext cx="305409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40-second blip</a:t>
            </a:r>
            <a:endParaRPr lang="en-US" sz="1400" dirty="0"/>
          </a:p>
        </p:txBody>
      </p:sp>
      <p:sp>
        <p:nvSpPr>
          <p:cNvPr id="7" name="Text 5"/>
          <p:cNvSpPr/>
          <p:nvPr/>
        </p:nvSpPr>
        <p:spPr>
          <a:xfrm>
            <a:off x="4553712" y="2103120"/>
            <a:ext cx="305409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in ONE dependency</a:t>
            </a:r>
            <a:endParaRPr lang="en-US" sz="1050" dirty="0"/>
          </a:p>
        </p:txBody>
      </p:sp>
      <p:sp>
        <p:nvSpPr>
          <p:cNvPr id="8" name="Text 6"/>
          <p:cNvSpPr/>
          <p:nvPr/>
        </p:nvSpPr>
        <p:spPr>
          <a:xfrm>
            <a:off x="731520" y="2697480"/>
            <a:ext cx="4937760" cy="320040"/>
          </a:xfrm>
          <a:prstGeom prst="rect">
            <a:avLst/>
          </a:prstGeom>
          <a:noFill/>
          <a:ln/>
        </p:spPr>
        <p:txBody>
          <a:bodyPr wrap="square" lIns="0" tIns="0" rIns="0" bIns="0" rtlCol="0" anchor="ctr"/>
          <a:lstStyle/>
          <a:p>
            <a:pPr algn="ctr" indent="0" marL="0">
              <a:buNone/>
            </a:pPr>
            <a:r>
              <a:rPr lang="en-US" sz="1500" b="1" dirty="0">
                <a:solidFill>
                  <a:srgbClr val="2E9E63"/>
                </a:solidFill>
                <a:latin typeface="Cambria" pitchFamily="34" charset="0"/>
                <a:ea typeface="Cambria" pitchFamily="34" charset="-122"/>
                <a:cs typeface="Cambria" pitchFamily="34" charset="-120"/>
              </a:rPr>
              <a:t>liveness → /healthz</a:t>
            </a:r>
            <a:endParaRPr lang="en-US" sz="1500" dirty="0"/>
          </a:p>
        </p:txBody>
      </p:sp>
      <p:sp>
        <p:nvSpPr>
          <p:cNvPr id="9" name="Text 7"/>
          <p:cNvSpPr/>
          <p:nvPr/>
        </p:nvSpPr>
        <p:spPr>
          <a:xfrm>
            <a:off x="6492240" y="2697480"/>
            <a:ext cx="4937760" cy="320040"/>
          </a:xfrm>
          <a:prstGeom prst="rect">
            <a:avLst/>
          </a:prstGeom>
          <a:noFill/>
          <a:ln/>
        </p:spPr>
        <p:txBody>
          <a:bodyPr wrap="square" lIns="0" tIns="0" rIns="0" bIns="0" rtlCol="0" anchor="ctr"/>
          <a:lstStyle/>
          <a:p>
            <a:pPr algn="ctr" indent="0" marL="0">
              <a:buNone/>
            </a:pPr>
            <a:r>
              <a:rPr lang="en-US" sz="1500" b="1" dirty="0">
                <a:solidFill>
                  <a:srgbClr val="D64545"/>
                </a:solidFill>
                <a:latin typeface="Cambria" pitchFamily="34" charset="0"/>
                <a:ea typeface="Cambria" pitchFamily="34" charset="-122"/>
                <a:cs typeface="Cambria" pitchFamily="34" charset="-120"/>
              </a:rPr>
              <a:t>liveness → /readyz</a:t>
            </a:r>
            <a:endParaRPr lang="en-US" sz="1500" dirty="0"/>
          </a:p>
        </p:txBody>
      </p:sp>
      <p:sp>
        <p:nvSpPr>
          <p:cNvPr id="10" name="Shape 8"/>
          <p:cNvSpPr/>
          <p:nvPr/>
        </p:nvSpPr>
        <p:spPr>
          <a:xfrm>
            <a:off x="731520" y="3108960"/>
            <a:ext cx="4937760" cy="512064"/>
          </a:xfrm>
          <a:prstGeom prst="roundRect">
            <a:avLst>
              <a:gd name="adj" fmla="val 12500"/>
            </a:avLst>
          </a:prstGeom>
          <a:solidFill>
            <a:srgbClr val="12314F"/>
          </a:solidFill>
          <a:ln w="12700">
            <a:solidFill>
              <a:srgbClr val="2E9E63"/>
            </a:solidFill>
            <a:prstDash val="solid"/>
          </a:ln>
        </p:spPr>
      </p:sp>
      <p:sp>
        <p:nvSpPr>
          <p:cNvPr id="11" name="Text 9"/>
          <p:cNvSpPr/>
          <p:nvPr/>
        </p:nvSpPr>
        <p:spPr>
          <a:xfrm>
            <a:off x="914400" y="3108960"/>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1.  Readiness fails → pods leave endpoints</a:t>
            </a:r>
            <a:endParaRPr lang="en-US" sz="1250" dirty="0"/>
          </a:p>
        </p:txBody>
      </p:sp>
      <p:sp>
        <p:nvSpPr>
          <p:cNvPr id="12" name="Shape 10"/>
          <p:cNvSpPr/>
          <p:nvPr/>
        </p:nvSpPr>
        <p:spPr>
          <a:xfrm>
            <a:off x="731520" y="3730752"/>
            <a:ext cx="4937760" cy="512064"/>
          </a:xfrm>
          <a:prstGeom prst="roundRect">
            <a:avLst>
              <a:gd name="adj" fmla="val 12500"/>
            </a:avLst>
          </a:prstGeom>
          <a:solidFill>
            <a:srgbClr val="12314F"/>
          </a:solidFill>
          <a:ln w="12700">
            <a:solidFill>
              <a:srgbClr val="2E9E63"/>
            </a:solidFill>
            <a:prstDash val="solid"/>
          </a:ln>
        </p:spPr>
      </p:sp>
      <p:sp>
        <p:nvSpPr>
          <p:cNvPr id="13" name="Text 11"/>
          <p:cNvSpPr/>
          <p:nvPr/>
        </p:nvSpPr>
        <p:spPr>
          <a:xfrm>
            <a:off x="914400" y="3730752"/>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  Pods keep running, keep their state</a:t>
            </a:r>
            <a:endParaRPr lang="en-US" sz="1250" dirty="0"/>
          </a:p>
        </p:txBody>
      </p:sp>
      <p:sp>
        <p:nvSpPr>
          <p:cNvPr id="14" name="Shape 12"/>
          <p:cNvSpPr/>
          <p:nvPr/>
        </p:nvSpPr>
        <p:spPr>
          <a:xfrm>
            <a:off x="731520" y="4352544"/>
            <a:ext cx="4937760" cy="512064"/>
          </a:xfrm>
          <a:prstGeom prst="roundRect">
            <a:avLst>
              <a:gd name="adj" fmla="val 12500"/>
            </a:avLst>
          </a:prstGeom>
          <a:solidFill>
            <a:srgbClr val="12314F"/>
          </a:solidFill>
          <a:ln w="12700">
            <a:solidFill>
              <a:srgbClr val="2E9E63"/>
            </a:solidFill>
            <a:prstDash val="solid"/>
          </a:ln>
        </p:spPr>
      </p:sp>
      <p:sp>
        <p:nvSpPr>
          <p:cNvPr id="15" name="Text 13"/>
          <p:cNvSpPr/>
          <p:nvPr/>
        </p:nvSpPr>
        <p:spPr>
          <a:xfrm>
            <a:off x="914400" y="4352544"/>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3.  Dependency returns → rejoin in ~10s</a:t>
            </a:r>
            <a:endParaRPr lang="en-US" sz="1250" dirty="0"/>
          </a:p>
        </p:txBody>
      </p:sp>
      <p:sp>
        <p:nvSpPr>
          <p:cNvPr id="16" name="Shape 14"/>
          <p:cNvSpPr/>
          <p:nvPr/>
        </p:nvSpPr>
        <p:spPr>
          <a:xfrm>
            <a:off x="731520" y="4974336"/>
            <a:ext cx="4937760" cy="512064"/>
          </a:xfrm>
          <a:prstGeom prst="roundRect">
            <a:avLst>
              <a:gd name="adj" fmla="val 12500"/>
            </a:avLst>
          </a:prstGeom>
          <a:solidFill>
            <a:srgbClr val="12314F"/>
          </a:solidFill>
          <a:ln w="12700">
            <a:solidFill>
              <a:srgbClr val="2E9E63"/>
            </a:solidFill>
            <a:prstDash val="solid"/>
          </a:ln>
        </p:spPr>
      </p:sp>
      <p:sp>
        <p:nvSpPr>
          <p:cNvPr id="17" name="Text 15"/>
          <p:cNvSpPr/>
          <p:nvPr/>
        </p:nvSpPr>
        <p:spPr>
          <a:xfrm>
            <a:off x="914400" y="4974336"/>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4.  NO intervention. NO restart.</a:t>
            </a:r>
            <a:endParaRPr lang="en-US" sz="1250" dirty="0"/>
          </a:p>
        </p:txBody>
      </p:sp>
      <p:sp>
        <p:nvSpPr>
          <p:cNvPr id="18" name="Shape 16"/>
          <p:cNvSpPr/>
          <p:nvPr/>
        </p:nvSpPr>
        <p:spPr>
          <a:xfrm>
            <a:off x="6492240" y="3108960"/>
            <a:ext cx="4937760" cy="512064"/>
          </a:xfrm>
          <a:prstGeom prst="roundRect">
            <a:avLst>
              <a:gd name="adj" fmla="val 12500"/>
            </a:avLst>
          </a:prstGeom>
          <a:solidFill>
            <a:srgbClr val="12314F"/>
          </a:solidFill>
          <a:ln w="12700">
            <a:solidFill>
              <a:srgbClr val="D64545"/>
            </a:solidFill>
            <a:prstDash val="solid"/>
          </a:ln>
        </p:spPr>
      </p:sp>
      <p:sp>
        <p:nvSpPr>
          <p:cNvPr id="19" name="Text 17"/>
          <p:cNvSpPr/>
          <p:nvPr/>
        </p:nvSpPr>
        <p:spPr>
          <a:xfrm>
            <a:off x="6675120" y="3108960"/>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1.  Liveness fails on EVERY replica</a:t>
            </a:r>
            <a:endParaRPr lang="en-US" sz="1250" dirty="0"/>
          </a:p>
        </p:txBody>
      </p:sp>
      <p:sp>
        <p:nvSpPr>
          <p:cNvPr id="20" name="Shape 18"/>
          <p:cNvSpPr/>
          <p:nvPr/>
        </p:nvSpPr>
        <p:spPr>
          <a:xfrm>
            <a:off x="6492240" y="3730752"/>
            <a:ext cx="4937760" cy="512064"/>
          </a:xfrm>
          <a:prstGeom prst="roundRect">
            <a:avLst>
              <a:gd name="adj" fmla="val 12500"/>
            </a:avLst>
          </a:prstGeom>
          <a:solidFill>
            <a:srgbClr val="12314F"/>
          </a:solidFill>
          <a:ln w="12700">
            <a:solidFill>
              <a:srgbClr val="D64545"/>
            </a:solidFill>
            <a:prstDash val="solid"/>
          </a:ln>
        </p:spPr>
      </p:sp>
      <p:sp>
        <p:nvSpPr>
          <p:cNvPr id="21" name="Text 19"/>
          <p:cNvSpPr/>
          <p:nvPr/>
        </p:nvSpPr>
        <p:spPr>
          <a:xfrm>
            <a:off x="6675120" y="3730752"/>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  ALL pods restart simultaneously</a:t>
            </a:r>
            <a:endParaRPr lang="en-US" sz="1250" dirty="0"/>
          </a:p>
        </p:txBody>
      </p:sp>
      <p:sp>
        <p:nvSpPr>
          <p:cNvPr id="22" name="Shape 20"/>
          <p:cNvSpPr/>
          <p:nvPr/>
        </p:nvSpPr>
        <p:spPr>
          <a:xfrm>
            <a:off x="6492240" y="4352544"/>
            <a:ext cx="4937760" cy="512064"/>
          </a:xfrm>
          <a:prstGeom prst="roundRect">
            <a:avLst>
              <a:gd name="adj" fmla="val 12500"/>
            </a:avLst>
          </a:prstGeom>
          <a:solidFill>
            <a:srgbClr val="12314F"/>
          </a:solidFill>
          <a:ln w="12700">
            <a:solidFill>
              <a:srgbClr val="D64545"/>
            </a:solidFill>
            <a:prstDash val="solid"/>
          </a:ln>
        </p:spPr>
      </p:sp>
      <p:sp>
        <p:nvSpPr>
          <p:cNvPr id="23" name="Text 21"/>
          <p:cNvSpPr/>
          <p:nvPr/>
        </p:nvSpPr>
        <p:spPr>
          <a:xfrm>
            <a:off x="6675120" y="4352544"/>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3.  Cold start, empty pools, thundering herd</a:t>
            </a:r>
            <a:endParaRPr lang="en-US" sz="1250" dirty="0"/>
          </a:p>
        </p:txBody>
      </p:sp>
      <p:sp>
        <p:nvSpPr>
          <p:cNvPr id="24" name="Shape 22"/>
          <p:cNvSpPr/>
          <p:nvPr/>
        </p:nvSpPr>
        <p:spPr>
          <a:xfrm>
            <a:off x="6492240" y="4974336"/>
            <a:ext cx="4937760" cy="512064"/>
          </a:xfrm>
          <a:prstGeom prst="roundRect">
            <a:avLst>
              <a:gd name="adj" fmla="val 12500"/>
            </a:avLst>
          </a:prstGeom>
          <a:solidFill>
            <a:srgbClr val="5A2A2A"/>
          </a:solidFill>
          <a:ln w="12700">
            <a:solidFill>
              <a:srgbClr val="D64545"/>
            </a:solidFill>
            <a:prstDash val="solid"/>
          </a:ln>
        </p:spPr>
      </p:sp>
      <p:sp>
        <p:nvSpPr>
          <p:cNvPr id="25" name="Text 23"/>
          <p:cNvSpPr/>
          <p:nvPr/>
        </p:nvSpPr>
        <p:spPr>
          <a:xfrm>
            <a:off x="6675120" y="4974336"/>
            <a:ext cx="466344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4.  CrashLoopBackOff — total outage</a:t>
            </a:r>
            <a:endParaRPr lang="en-US" sz="1250" dirty="0"/>
          </a:p>
        </p:txBody>
      </p:sp>
      <p:sp>
        <p:nvSpPr>
          <p:cNvPr id="26" name="Shape 24"/>
          <p:cNvSpPr/>
          <p:nvPr/>
        </p:nvSpPr>
        <p:spPr>
          <a:xfrm>
            <a:off x="4754880" y="2487168"/>
            <a:ext cx="-1463040" cy="164592"/>
          </a:xfrm>
          <a:prstGeom prst="line">
            <a:avLst/>
          </a:prstGeom>
          <a:noFill/>
          <a:ln w="25400">
            <a:solidFill>
              <a:srgbClr val="2E9E63"/>
            </a:solidFill>
            <a:prstDash val="solid"/>
            <a:tailEnd type="triangle"/>
          </a:ln>
        </p:spPr>
      </p:sp>
      <p:sp>
        <p:nvSpPr>
          <p:cNvPr id="27" name="Shape 25"/>
          <p:cNvSpPr/>
          <p:nvPr/>
        </p:nvSpPr>
        <p:spPr>
          <a:xfrm>
            <a:off x="7406640" y="2487168"/>
            <a:ext cx="1463040" cy="164592"/>
          </a:xfrm>
          <a:prstGeom prst="line">
            <a:avLst/>
          </a:prstGeom>
          <a:noFill/>
          <a:ln w="25400">
            <a:solidFill>
              <a:srgbClr val="D64545"/>
            </a:solidFill>
            <a:prstDash val="solid"/>
            <a:tailEnd type="triangle"/>
          </a:ln>
        </p:spPr>
      </p:sp>
      <p:sp>
        <p:nvSpPr>
          <p:cNvPr id="28" name="Text 26"/>
          <p:cNvSpPr/>
          <p:nvPr/>
        </p:nvSpPr>
        <p:spPr>
          <a:xfrm>
            <a:off x="566928" y="5806440"/>
            <a:ext cx="11057839" cy="384048"/>
          </a:xfrm>
          <a:prstGeom prst="rect">
            <a:avLst/>
          </a:prstGeom>
          <a:noFill/>
          <a:ln/>
        </p:spPr>
        <p:txBody>
          <a:bodyPr wrap="square" lIns="0" tIns="0" rIns="0" bIns="0" rtlCol="0" anchor="ctr"/>
          <a:lstStyle/>
          <a:p>
            <a:pPr algn="ctr" indent="0" marL="0">
              <a:buNone/>
            </a:pPr>
            <a:r>
              <a:rPr lang="en-US" sz="1450" b="1" dirty="0">
                <a:solidFill>
                  <a:srgbClr val="D64545"/>
                </a:solidFill>
                <a:latin typeface="Calibri" pitchFamily="34" charset="0"/>
                <a:ea typeface="Calibri" pitchFamily="34" charset="-122"/>
                <a:cs typeface="Calibri" pitchFamily="34" charset="-120"/>
              </a:rPr>
              <a:t>A 40-second dependency blip becomes a total outage — long after the blip is over.</a:t>
            </a:r>
            <a:endParaRPr lang="en-US" sz="1450" dirty="0"/>
          </a:p>
        </p:txBody>
      </p:sp>
      <p:sp>
        <p:nvSpPr>
          <p:cNvPr id="29" name="Text 2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30" name="Text 2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17</a:t>
            </a:r>
            <a:endParaRPr lang="en-US" sz="900" dirty="0"/>
          </a:p>
        </p:txBody>
      </p:sp>
      <p:pic>
        <p:nvPicPr>
          <p:cNvPr id="3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M2.3 · LIVE DEMO</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Readiness gates traffic without restarting</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Watch the RESTARTS column. It does not move.</a:t>
            </a:r>
            <a:endParaRPr lang="en-US" sz="1400" dirty="0"/>
          </a:p>
        </p:txBody>
      </p:sp>
      <p:sp>
        <p:nvSpPr>
          <p:cNvPr id="6" name="Shape 4"/>
          <p:cNvSpPr/>
          <p:nvPr/>
        </p:nvSpPr>
        <p:spPr>
          <a:xfrm>
            <a:off x="566928" y="2249424"/>
            <a:ext cx="11057839" cy="3259455"/>
          </a:xfrm>
          <a:prstGeom prst="roundRect">
            <a:avLst>
              <a:gd name="adj" fmla="val 224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619375"/>
          </a:xfrm>
          <a:prstGeom prst="rect">
            <a:avLst/>
          </a:prstGeom>
          <a:noFill/>
          <a:ln/>
        </p:spPr>
        <p:txBody>
          <a:bodyPr wrap="square" lIns="0" tIns="0" rIns="0" bIns="0" rtlCol="0" anchor="t"/>
          <a:lstStyle/>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kubectl exec -n axispay-core $POD --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curl -sX POST localhost:8080/api/v1/_admin/unready?value=true</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kubectl get pods -n axispay-core -l app.kubernetes.io/name=payment-service</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NAME                              READY   STATUS    RESTARTS   AGE</a:t>
            </a:r>
            <a:endParaRPr lang="en-US" sz="1250" dirty="0"/>
          </a:p>
          <a:p>
            <a:pPr indent="0" marL="0">
              <a:lnSpc>
                <a:spcPts val="1875"/>
              </a:lnSpc>
              <a:buNone/>
            </a:pPr>
            <a:r>
              <a:rPr lang="en-US" sz="1250" dirty="0">
                <a:solidFill>
                  <a:srgbClr val="D64545"/>
                </a:solidFill>
                <a:latin typeface="Courier New" pitchFamily="34" charset="0"/>
                <a:ea typeface="Courier New" pitchFamily="34" charset="-122"/>
                <a:cs typeface="Courier New" pitchFamily="34" charset="-120"/>
              </a:rPr>
              <a:t>payment-service-6b7f9d4c5-2xk9p   0/1     Running   0          4m12s</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payment-service-6b7f9d4c5-8vm3q   1/1     Running   0          4m12s</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payment-service-6b7f9d4c5-p7n2w   1/1     Running   0          4m12s</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kubectl get endpointslice -n axispay-core -l kubernetes.io/service-name=payment-service</a:t>
            </a:r>
            <a:endParaRPr lang="en-US" sz="1250" dirty="0"/>
          </a:p>
          <a:p>
            <a:pPr indent="0" marL="0">
              <a:lnSpc>
                <a:spcPts val="1875"/>
              </a:lnSpc>
              <a:buNone/>
            </a:pPr>
            <a:r>
              <a:rPr lang="en-US" sz="1250" b="1" dirty="0">
                <a:solidFill>
                  <a:srgbClr val="FFFFFF"/>
                </a:solidFill>
                <a:latin typeface="Courier New" pitchFamily="34" charset="0"/>
                <a:ea typeface="Courier New" pitchFamily="34" charset="-122"/>
                <a:cs typeface="Courier New" pitchFamily="34" charset="-120"/>
              </a:rPr>
              <a:t>  2 addresses  (the unready pod was REMOVED — but not restarted)</a:t>
            </a:r>
            <a:endParaRPr lang="en-US" sz="1250" dirty="0"/>
          </a:p>
        </p:txBody>
      </p:sp>
      <p:sp>
        <p:nvSpPr>
          <p:cNvPr id="11" name="Text 9"/>
          <p:cNvSpPr/>
          <p:nvPr/>
        </p:nvSpPr>
        <p:spPr>
          <a:xfrm>
            <a:off x="566928" y="5673471"/>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0/1 and RESTARTS 0. Traffic stopped arriving; the process kept running; nothing was lost. When it recovers, it rejoins on its own.</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18</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COMMON MISTAKES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Probe mistakes and what they look like</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3108960"/>
                <a:gridCol w="3931920"/>
                <a:gridCol w="4023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MISTAKE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SEE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 INSTEAD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Generic web-api liveness checks its database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ALL replicas restart together on a dependency blip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Liveness -&gt; /healthz. Process only.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Generic rollout has no readiness probe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Deploy 'succeeds' while cold pods still receive traffic</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Readiness -&gt; /readyz, checks dependencies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payment-service liveness checks merchant-service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Merchant outage restarts every payment pod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Dependency truth belongs in readiness, not liveness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auth-service cold start has no startupProbe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CrashLoopBackOff during key load or cache warm-up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startupProbe with a real startup budget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edge-gateway readiness successThreshold &gt; 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pod stays unready far longer than intended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Readiness successThreshold must stay 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payment-service /readyz only checks HTTP listener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Probes pass, but authorisations still fail downstream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Make /readyz reflect REAL serving dependencies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19</a:t>
            </a:r>
            <a:endParaRPr lang="en-US" sz="900" dirty="0"/>
          </a:p>
        </p:txBody>
      </p:sp>
      <p:pic>
        <p:nvPicPr>
          <p:cNvPr id="2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L2.3</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Probes that tell the truth</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Kubernetes cannot currently tell a working pod from a broken one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Apply all three probes across the platform</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Watch readiness remove a pod from endpoints WITHOUT restarting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BUILD the cascading-failure bug and watch every replica restart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Use a startup probe to protect a 25-second cold start</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Three probes on every service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Liveness targets /healthz, never /readyz</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have seen the cascade</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LAB=L2.3</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50 minutes   ·   labs/day2/L2.3-probes/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20</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M2.4</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Scaling</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Manual, automatic, and the arithmetic that connects them to requests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Scale manually and explain who places the new pods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Configure an HPA and prove why it needs requests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scale-up and scale-down stabilisation</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90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M2.4 · SCALING</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HPA loop — and its denominator</a:t>
            </a:r>
            <a:endParaRPr lang="en-US" sz="3200" dirty="0"/>
          </a:p>
        </p:txBody>
      </p:sp>
      <p:sp>
        <p:nvSpPr>
          <p:cNvPr id="5" name="Shape 3"/>
          <p:cNvSpPr/>
          <p:nvPr/>
        </p:nvSpPr>
        <p:spPr>
          <a:xfrm>
            <a:off x="731520" y="2194560"/>
            <a:ext cx="2103120" cy="914400"/>
          </a:xfrm>
          <a:prstGeom prst="roundRect">
            <a:avLst>
              <a:gd name="adj" fmla="val 8000"/>
            </a:avLst>
          </a:prstGeom>
          <a:solidFill>
            <a:srgbClr val="1B4066"/>
          </a:solidFill>
          <a:ln w="12700">
            <a:solidFill>
              <a:srgbClr val="1B4066"/>
            </a:solidFill>
            <a:prstDash val="solid"/>
          </a:ln>
        </p:spPr>
      </p:sp>
      <p:sp>
        <p:nvSpPr>
          <p:cNvPr id="6" name="Text 4"/>
          <p:cNvSpPr/>
          <p:nvPr/>
        </p:nvSpPr>
        <p:spPr>
          <a:xfrm>
            <a:off x="804672" y="2304288"/>
            <a:ext cx="195681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Pods</a:t>
            </a:r>
            <a:endParaRPr lang="en-US" sz="1400" dirty="0"/>
          </a:p>
        </p:txBody>
      </p:sp>
      <p:sp>
        <p:nvSpPr>
          <p:cNvPr id="7" name="Text 5"/>
          <p:cNvSpPr/>
          <p:nvPr/>
        </p:nvSpPr>
        <p:spPr>
          <a:xfrm>
            <a:off x="804672" y="2651760"/>
            <a:ext cx="195681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actual CPU</a:t>
            </a:r>
            <a:endParaRPr lang="en-US" sz="1050" dirty="0"/>
          </a:p>
        </p:txBody>
      </p:sp>
      <p:sp>
        <p:nvSpPr>
          <p:cNvPr id="8" name="Shape 6"/>
          <p:cNvSpPr/>
          <p:nvPr/>
        </p:nvSpPr>
        <p:spPr>
          <a:xfrm>
            <a:off x="3200400" y="2194560"/>
            <a:ext cx="2103120" cy="914400"/>
          </a:xfrm>
          <a:prstGeom prst="roundRect">
            <a:avLst>
              <a:gd name="adj" fmla="val 8000"/>
            </a:avLst>
          </a:prstGeom>
          <a:solidFill>
            <a:srgbClr val="1B4066"/>
          </a:solidFill>
          <a:ln w="12700">
            <a:solidFill>
              <a:srgbClr val="1B4066"/>
            </a:solidFill>
            <a:prstDash val="solid"/>
          </a:ln>
        </p:spPr>
      </p:sp>
      <p:sp>
        <p:nvSpPr>
          <p:cNvPr id="9" name="Text 7"/>
          <p:cNvSpPr/>
          <p:nvPr/>
        </p:nvSpPr>
        <p:spPr>
          <a:xfrm>
            <a:off x="3273552" y="2304288"/>
            <a:ext cx="195681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kubelet</a:t>
            </a:r>
            <a:endParaRPr lang="en-US" sz="1400" dirty="0"/>
          </a:p>
        </p:txBody>
      </p:sp>
      <p:sp>
        <p:nvSpPr>
          <p:cNvPr id="10" name="Text 8"/>
          <p:cNvSpPr/>
          <p:nvPr/>
        </p:nvSpPr>
        <p:spPr>
          <a:xfrm>
            <a:off x="3273552" y="2651760"/>
            <a:ext cx="195681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cAdvisor</a:t>
            </a:r>
            <a:endParaRPr lang="en-US" sz="1050" dirty="0"/>
          </a:p>
        </p:txBody>
      </p:sp>
      <p:sp>
        <p:nvSpPr>
          <p:cNvPr id="11" name="Shape 9"/>
          <p:cNvSpPr/>
          <p:nvPr/>
        </p:nvSpPr>
        <p:spPr>
          <a:xfrm>
            <a:off x="5669280" y="2194560"/>
            <a:ext cx="2286000" cy="914400"/>
          </a:xfrm>
          <a:prstGeom prst="roundRect">
            <a:avLst>
              <a:gd name="adj" fmla="val 8000"/>
            </a:avLst>
          </a:prstGeom>
          <a:solidFill>
            <a:srgbClr val="8E6FBF"/>
          </a:solidFill>
          <a:ln w="12700">
            <a:solidFill>
              <a:srgbClr val="8E6FBF"/>
            </a:solidFill>
            <a:prstDash val="solid"/>
          </a:ln>
        </p:spPr>
      </p:sp>
      <p:sp>
        <p:nvSpPr>
          <p:cNvPr id="12" name="Text 10"/>
          <p:cNvSpPr/>
          <p:nvPr/>
        </p:nvSpPr>
        <p:spPr>
          <a:xfrm>
            <a:off x="5742432" y="2304288"/>
            <a:ext cx="213969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metrics-server</a:t>
            </a:r>
            <a:endParaRPr lang="en-US" sz="1400" dirty="0"/>
          </a:p>
        </p:txBody>
      </p:sp>
      <p:sp>
        <p:nvSpPr>
          <p:cNvPr id="13" name="Text 11"/>
          <p:cNvSpPr/>
          <p:nvPr/>
        </p:nvSpPr>
        <p:spPr>
          <a:xfrm>
            <a:off x="5742432" y="2651760"/>
            <a:ext cx="213969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aggregates</a:t>
            </a:r>
            <a:endParaRPr lang="en-US" sz="1050" dirty="0"/>
          </a:p>
        </p:txBody>
      </p:sp>
      <p:sp>
        <p:nvSpPr>
          <p:cNvPr id="14" name="Shape 12"/>
          <p:cNvSpPr/>
          <p:nvPr/>
        </p:nvSpPr>
        <p:spPr>
          <a:xfrm>
            <a:off x="8321040" y="2194560"/>
            <a:ext cx="3108960" cy="914400"/>
          </a:xfrm>
          <a:prstGeom prst="roundRect">
            <a:avLst>
              <a:gd name="adj" fmla="val 8000"/>
            </a:avLst>
          </a:prstGeom>
          <a:solidFill>
            <a:srgbClr val="2E9E63"/>
          </a:solidFill>
          <a:ln w="12700">
            <a:solidFill>
              <a:srgbClr val="2E9E63"/>
            </a:solidFill>
            <a:prstDash val="solid"/>
          </a:ln>
        </p:spPr>
      </p:sp>
      <p:sp>
        <p:nvSpPr>
          <p:cNvPr id="15" name="Text 13"/>
          <p:cNvSpPr/>
          <p:nvPr/>
        </p:nvSpPr>
        <p:spPr>
          <a:xfrm>
            <a:off x="8394192" y="2304288"/>
            <a:ext cx="296265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HPA controller</a:t>
            </a:r>
            <a:endParaRPr lang="en-US" sz="1400" dirty="0"/>
          </a:p>
        </p:txBody>
      </p:sp>
      <p:sp>
        <p:nvSpPr>
          <p:cNvPr id="16" name="Text 14"/>
          <p:cNvSpPr/>
          <p:nvPr/>
        </p:nvSpPr>
        <p:spPr>
          <a:xfrm>
            <a:off x="8394192" y="2651760"/>
            <a:ext cx="296265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every 15 seconds</a:t>
            </a:r>
            <a:endParaRPr lang="en-US" sz="1050" dirty="0"/>
          </a:p>
        </p:txBody>
      </p:sp>
      <p:sp>
        <p:nvSpPr>
          <p:cNvPr id="17" name="Shape 15"/>
          <p:cNvSpPr/>
          <p:nvPr/>
        </p:nvSpPr>
        <p:spPr>
          <a:xfrm>
            <a:off x="2880360" y="2651760"/>
            <a:ext cx="274320" cy="0"/>
          </a:xfrm>
          <a:prstGeom prst="line">
            <a:avLst/>
          </a:prstGeom>
          <a:noFill/>
          <a:ln w="25400">
            <a:solidFill>
              <a:srgbClr val="1C7293"/>
            </a:solidFill>
            <a:prstDash val="solid"/>
            <a:tailEnd type="triangle"/>
          </a:ln>
        </p:spPr>
      </p:sp>
      <p:sp>
        <p:nvSpPr>
          <p:cNvPr id="18" name="Shape 16"/>
          <p:cNvSpPr/>
          <p:nvPr/>
        </p:nvSpPr>
        <p:spPr>
          <a:xfrm>
            <a:off x="5349240" y="2651760"/>
            <a:ext cx="274320" cy="0"/>
          </a:xfrm>
          <a:prstGeom prst="line">
            <a:avLst/>
          </a:prstGeom>
          <a:noFill/>
          <a:ln w="25400">
            <a:solidFill>
              <a:srgbClr val="1C7293"/>
            </a:solidFill>
            <a:prstDash val="solid"/>
            <a:tailEnd type="triangle"/>
          </a:ln>
        </p:spPr>
      </p:sp>
      <p:sp>
        <p:nvSpPr>
          <p:cNvPr id="19" name="Shape 17"/>
          <p:cNvSpPr/>
          <p:nvPr/>
        </p:nvSpPr>
        <p:spPr>
          <a:xfrm>
            <a:off x="8001000" y="2651760"/>
            <a:ext cx="274320" cy="0"/>
          </a:xfrm>
          <a:prstGeom prst="line">
            <a:avLst/>
          </a:prstGeom>
          <a:noFill/>
          <a:ln w="25400">
            <a:solidFill>
              <a:srgbClr val="1C7293"/>
            </a:solidFill>
            <a:prstDash val="solid"/>
            <a:tailEnd type="triangle"/>
          </a:ln>
        </p:spPr>
      </p:sp>
      <p:sp>
        <p:nvSpPr>
          <p:cNvPr id="20" name="Shape 18"/>
          <p:cNvSpPr/>
          <p:nvPr/>
        </p:nvSpPr>
        <p:spPr>
          <a:xfrm>
            <a:off x="2377440" y="3520440"/>
            <a:ext cx="7406640" cy="914400"/>
          </a:xfrm>
          <a:prstGeom prst="roundRect">
            <a:avLst>
              <a:gd name="adj" fmla="val 8000"/>
            </a:avLst>
          </a:prstGeom>
          <a:solidFill>
            <a:srgbClr val="0E2740"/>
          </a:solidFill>
          <a:ln w="12700">
            <a:solidFill>
              <a:srgbClr val="F2A03D"/>
            </a:solidFill>
            <a:prstDash val="solid"/>
          </a:ln>
        </p:spPr>
      </p:sp>
      <p:sp>
        <p:nvSpPr>
          <p:cNvPr id="21" name="Text 19"/>
          <p:cNvSpPr/>
          <p:nvPr/>
        </p:nvSpPr>
        <p:spPr>
          <a:xfrm>
            <a:off x="2377440" y="3520440"/>
            <a:ext cx="7406640" cy="914400"/>
          </a:xfrm>
          <a:prstGeom prst="rect">
            <a:avLst/>
          </a:prstGeom>
          <a:noFill/>
          <a:ln/>
        </p:spPr>
        <p:txBody>
          <a:bodyPr wrap="square" lIns="0" tIns="0" rIns="0" bIns="0" rtlCol="0" anchor="ctr"/>
          <a:lstStyle/>
          <a:p>
            <a:pPr algn="ctr" indent="0" marL="0">
              <a:buNone/>
            </a:pPr>
            <a:r>
              <a:rPr lang="en-US" sz="1350" b="1" dirty="0">
                <a:solidFill>
                  <a:srgbClr val="F2A03D"/>
                </a:solidFill>
                <a:latin typeface="Courier New" pitchFamily="34" charset="0"/>
                <a:ea typeface="Courier New" pitchFamily="34" charset="-122"/>
                <a:cs typeface="Courier New" pitchFamily="34" charset="-120"/>
              </a:rPr>
              <a:t>desiredReplicas = ceil( currentReplicas × currentUtilisation ÷ targetUtilisation )</a:t>
            </a:r>
            <a:endParaRPr lang="en-US" sz="1350" dirty="0"/>
          </a:p>
        </p:txBody>
      </p:sp>
      <p:sp>
        <p:nvSpPr>
          <p:cNvPr id="22" name="Shape 20"/>
          <p:cNvSpPr/>
          <p:nvPr/>
        </p:nvSpPr>
        <p:spPr>
          <a:xfrm>
            <a:off x="2377440" y="4617720"/>
            <a:ext cx="7406640" cy="1051560"/>
          </a:xfrm>
          <a:prstGeom prst="roundRect">
            <a:avLst>
              <a:gd name="adj" fmla="val 6957"/>
            </a:avLst>
          </a:prstGeom>
          <a:solidFill>
            <a:srgbClr val="5A2A2A"/>
          </a:solidFill>
          <a:ln w="12700">
            <a:solidFill>
              <a:srgbClr val="D64545"/>
            </a:solidFill>
            <a:prstDash val="solid"/>
          </a:ln>
        </p:spPr>
      </p:sp>
      <p:sp>
        <p:nvSpPr>
          <p:cNvPr id="23" name="Text 21"/>
          <p:cNvSpPr/>
          <p:nvPr/>
        </p:nvSpPr>
        <p:spPr>
          <a:xfrm>
            <a:off x="2377440" y="4709160"/>
            <a:ext cx="7406640" cy="365760"/>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utilisation = usage ÷ the REQUEST   (not the limit, not the node)</a:t>
            </a:r>
            <a:endParaRPr lang="en-US" sz="1450" dirty="0"/>
          </a:p>
        </p:txBody>
      </p:sp>
      <p:sp>
        <p:nvSpPr>
          <p:cNvPr id="24" name="Text 22"/>
          <p:cNvSpPr/>
          <p:nvPr/>
        </p:nvSpPr>
        <p:spPr>
          <a:xfrm>
            <a:off x="2468880" y="5102352"/>
            <a:ext cx="7223760" cy="457200"/>
          </a:xfrm>
          <a:prstGeom prst="rect">
            <a:avLst/>
          </a:prstGeom>
          <a:noFill/>
          <a:ln/>
        </p:spPr>
        <p:txBody>
          <a:bodyPr wrap="square" lIns="0" tIns="0" rIns="0" bIns="0" rtlCol="0" anchor="ctr"/>
          <a:lstStyle/>
          <a:p>
            <a:pPr algn="ctr" indent="0" marL="0">
              <a:buNone/>
            </a:pPr>
            <a:r>
              <a:rPr lang="en-US" sz="1200" i="1" dirty="0">
                <a:solidFill>
                  <a:srgbClr val="D8E6F2"/>
                </a:solidFill>
                <a:latin typeface="Calibri" pitchFamily="34" charset="0"/>
                <a:ea typeface="Calibri" pitchFamily="34" charset="-122"/>
                <a:cs typeface="Calibri" pitchFamily="34" charset="-120"/>
              </a:rPr>
              <a:t>No request → no denominator → TARGETS: &lt;unknown&gt; → the HPA does nothing, forever, with no error.</a:t>
            </a:r>
            <a:endParaRPr lang="en-US" sz="1200" dirty="0"/>
          </a:p>
        </p:txBody>
      </p:sp>
      <p:sp>
        <p:nvSpPr>
          <p:cNvPr id="25" name="Shape 23"/>
          <p:cNvSpPr/>
          <p:nvPr/>
        </p:nvSpPr>
        <p:spPr>
          <a:xfrm>
            <a:off x="9875520" y="3108960"/>
            <a:ext cx="0" cy="365760"/>
          </a:xfrm>
          <a:prstGeom prst="line">
            <a:avLst/>
          </a:prstGeom>
          <a:noFill/>
          <a:ln w="25400">
            <a:solidFill>
              <a:srgbClr val="2E9E63"/>
            </a:solidFill>
            <a:prstDash val="solid"/>
            <a:tailEnd type="triangle"/>
          </a:ln>
        </p:spPr>
      </p:sp>
      <p:sp>
        <p:nvSpPr>
          <p:cNvPr id="26" name="Text 24"/>
          <p:cNvSpPr/>
          <p:nvPr/>
        </p:nvSpPr>
        <p:spPr>
          <a:xfrm>
            <a:off x="566928" y="5806440"/>
            <a:ext cx="11057839" cy="384048"/>
          </a:xfrm>
          <a:prstGeom prst="rect">
            <a:avLst/>
          </a:prstGeom>
          <a:noFill/>
          <a:ln/>
        </p:spPr>
        <p:txBody>
          <a:bodyPr wrap="square" lIns="0" tIns="0" rIns="0" bIns="0" rtlCol="0" anchor="ctr"/>
          <a:lstStyle/>
          <a:p>
            <a:pPr algn="ctr" indent="0" marL="0">
              <a:buNone/>
            </a:pPr>
            <a:r>
              <a:rPr lang="en-US" sz="1350" b="1" dirty="0">
                <a:solidFill>
                  <a:srgbClr val="F2A03D"/>
                </a:solidFill>
                <a:latin typeface="Calibri" pitchFamily="34" charset="0"/>
                <a:ea typeface="Calibri" pitchFamily="34" charset="-122"/>
                <a:cs typeface="Calibri" pitchFamily="34" charset="-120"/>
              </a:rPr>
              <a:t>This is why L2.1 (resources) comes before L2.4 (autoscaling). The dependency is arithmetic, not preference.</a:t>
            </a:r>
            <a:endParaRPr lang="en-US" sz="1350" dirty="0"/>
          </a:p>
        </p:txBody>
      </p:sp>
      <p:sp>
        <p:nvSpPr>
          <p:cNvPr id="27" name="Text 25"/>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28" name="Text 26"/>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22</a:t>
            </a:r>
            <a:endParaRPr lang="en-US" sz="900" dirty="0"/>
          </a:p>
        </p:txBody>
      </p:sp>
      <p:pic>
        <p:nvPicPr>
          <p:cNvPr id="2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M2.4 · SCALING</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One HPA cycle, worked end to end</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The HorizontalPodAutoscaler is a feedback controller that periodically compares observed metrics with a target and rewrites a workload's desired replica count. For CPU scaling, the utilisation calculation is always relative to each ready pod's CPU request, so request sizing directly changes the answer.</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Generic web-api: 2 pods, request 200m, target 70%. Load arrives. Walk one 15-second cycle.</a:t>
            </a:r>
            <a:endParaRPr lang="en-US" sz="1500" dirty="0"/>
          </a:p>
        </p:txBody>
      </p:sp>
      <p:sp>
        <p:nvSpPr>
          <p:cNvPr id="8" name="Shape 6"/>
          <p:cNvSpPr/>
          <p:nvPr/>
        </p:nvSpPr>
        <p:spPr>
          <a:xfrm>
            <a:off x="566928" y="3087929"/>
            <a:ext cx="402336" cy="402336"/>
          </a:xfrm>
          <a:prstGeom prst="ellipse">
            <a:avLst/>
          </a:prstGeom>
          <a:solidFill>
            <a:srgbClr val="1C7293"/>
          </a:solidFill>
          <a:ln w="12700">
            <a:solidFill>
              <a:srgbClr val="1C7293"/>
            </a:solidFill>
            <a:prstDash val="solid"/>
          </a:ln>
        </p:spPr>
      </p:sp>
      <p:sp>
        <p:nvSpPr>
          <p:cNvPr id="9" name="Text 7"/>
          <p:cNvSpPr/>
          <p:nvPr/>
        </p:nvSpPr>
        <p:spPr>
          <a:xfrm>
            <a:off x="566928" y="308792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Read usage</a:t>
            </a:r>
            <a:endParaRPr lang="en-US" sz="1400" dirty="0"/>
          </a:p>
        </p:txBody>
      </p:sp>
      <p:sp>
        <p:nvSpPr>
          <p:cNvPr id="11" name="Text 9"/>
          <p:cNvSpPr/>
          <p:nvPr/>
        </p:nvSpPr>
        <p:spPr>
          <a:xfrm>
            <a:off x="4407408" y="2999232"/>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HPA reads CPU metrics gathered from kubelets via metrics-server. In a generic example, pod A reports 260m and pod B 220m; because the pipeline scrapes periodically, the numbers are near-real-time but can already be 15-30 seconds old.</a:t>
            </a:r>
            <a:endParaRPr lang="en-US" sz="1250" dirty="0"/>
          </a:p>
        </p:txBody>
      </p:sp>
      <p:sp>
        <p:nvSpPr>
          <p:cNvPr id="12" name="Shape 10"/>
          <p:cNvSpPr/>
          <p:nvPr/>
        </p:nvSpPr>
        <p:spPr>
          <a:xfrm>
            <a:off x="566928" y="3667658"/>
            <a:ext cx="402336" cy="402336"/>
          </a:xfrm>
          <a:prstGeom prst="ellipse">
            <a:avLst/>
          </a:prstGeom>
          <a:solidFill>
            <a:srgbClr val="C97B1E"/>
          </a:solidFill>
          <a:ln w="12700">
            <a:solidFill>
              <a:srgbClr val="C97B1E"/>
            </a:solidFill>
            <a:prstDash val="solid"/>
          </a:ln>
        </p:spPr>
      </p:sp>
      <p:sp>
        <p:nvSpPr>
          <p:cNvPr id="13" name="Text 11"/>
          <p:cNvSpPr/>
          <p:nvPr/>
        </p:nvSpPr>
        <p:spPr>
          <a:xfrm>
            <a:off x="566928" y="366765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578962"/>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Compute utilisation</a:t>
            </a:r>
            <a:endParaRPr lang="en-US" sz="1400" dirty="0"/>
          </a:p>
        </p:txBody>
      </p:sp>
      <p:sp>
        <p:nvSpPr>
          <p:cNvPr id="15" name="Text 13"/>
          <p:cNvSpPr/>
          <p:nvPr/>
        </p:nvSpPr>
        <p:spPr>
          <a:xfrm>
            <a:off x="4407408" y="3578962"/>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CPU utilisation is usage divided by request for each READY pod. So 260/200 = 130% and 220/200 = 110%; the average is 120%. The denominator is the REQUEST, not the limit and not node capacity.</a:t>
            </a:r>
            <a:endParaRPr lang="en-US" sz="1250" dirty="0"/>
          </a:p>
        </p:txBody>
      </p:sp>
      <p:sp>
        <p:nvSpPr>
          <p:cNvPr id="16" name="Shape 14"/>
          <p:cNvSpPr/>
          <p:nvPr/>
        </p:nvSpPr>
        <p:spPr>
          <a:xfrm>
            <a:off x="566928" y="4247388"/>
            <a:ext cx="402336" cy="402336"/>
          </a:xfrm>
          <a:prstGeom prst="ellipse">
            <a:avLst/>
          </a:prstGeom>
          <a:solidFill>
            <a:srgbClr val="2E9E63"/>
          </a:solidFill>
          <a:ln w="12700">
            <a:solidFill>
              <a:srgbClr val="2E9E63"/>
            </a:solidFill>
            <a:prstDash val="solid"/>
          </a:ln>
        </p:spPr>
      </p:sp>
      <p:sp>
        <p:nvSpPr>
          <p:cNvPr id="17" name="Text 15"/>
          <p:cNvSpPr/>
          <p:nvPr/>
        </p:nvSpPr>
        <p:spPr>
          <a:xfrm>
            <a:off x="566928" y="42473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158691"/>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Apply it to AxisPay</a:t>
            </a:r>
            <a:endParaRPr lang="en-US" sz="1400" dirty="0"/>
          </a:p>
        </p:txBody>
      </p:sp>
      <p:sp>
        <p:nvSpPr>
          <p:cNvPr id="19" name="Text 17"/>
          <p:cNvSpPr/>
          <p:nvPr/>
        </p:nvSpPr>
        <p:spPr>
          <a:xfrm>
            <a:off x="4407408" y="4158691"/>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fraud-service uses the same arithmetic. With 2 pods at 198m and 186m on a 150m request, average utilisation is 128%, so the controller computes ceil(2 x 128 / 65) = 4 replicas.</a:t>
            </a:r>
            <a:endParaRPr lang="en-US" sz="1250" dirty="0"/>
          </a:p>
        </p:txBody>
      </p:sp>
      <p:sp>
        <p:nvSpPr>
          <p:cNvPr id="20" name="Shape 18"/>
          <p:cNvSpPr/>
          <p:nvPr/>
        </p:nvSpPr>
        <p:spPr>
          <a:xfrm>
            <a:off x="566928" y="4827118"/>
            <a:ext cx="402336" cy="402336"/>
          </a:xfrm>
          <a:prstGeom prst="ellipse">
            <a:avLst/>
          </a:prstGeom>
          <a:solidFill>
            <a:srgbClr val="2E9E63"/>
          </a:solidFill>
          <a:ln w="12700">
            <a:solidFill>
              <a:srgbClr val="2E9E63"/>
            </a:solidFill>
            <a:prstDash val="solid"/>
          </a:ln>
        </p:spPr>
      </p:sp>
      <p:sp>
        <p:nvSpPr>
          <p:cNvPr id="21" name="Text 19"/>
          <p:cNvSpPr/>
          <p:nvPr/>
        </p:nvSpPr>
        <p:spPr>
          <a:xfrm>
            <a:off x="566928" y="482711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4738421"/>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Clamp by policy</a:t>
            </a:r>
            <a:endParaRPr lang="en-US" sz="1400" dirty="0"/>
          </a:p>
        </p:txBody>
      </p:sp>
      <p:sp>
        <p:nvSpPr>
          <p:cNvPr id="23" name="Text 21"/>
          <p:cNvSpPr/>
          <p:nvPr/>
        </p:nvSpPr>
        <p:spPr>
          <a:xfrm>
            <a:off x="4407408" y="4738421"/>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 still bounds that raw answer by policy. scaleUp allows +2 pods per 30s and at most 100%; minReplicas is 2 and maxReplicas is 6. Four fits, so the HPA writes spec.replicas: 4.</a:t>
            </a:r>
            <a:endParaRPr lang="en-US" sz="1250" dirty="0"/>
          </a:p>
        </p:txBody>
      </p:sp>
      <p:sp>
        <p:nvSpPr>
          <p:cNvPr id="24" name="Shape 22"/>
          <p:cNvSpPr/>
          <p:nvPr/>
        </p:nvSpPr>
        <p:spPr>
          <a:xfrm>
            <a:off x="566928" y="5406847"/>
            <a:ext cx="402336" cy="402336"/>
          </a:xfrm>
          <a:prstGeom prst="ellipse">
            <a:avLst/>
          </a:prstGeom>
          <a:solidFill>
            <a:srgbClr val="1C7293"/>
          </a:solidFill>
          <a:ln w="12700">
            <a:solidFill>
              <a:srgbClr val="1C7293"/>
            </a:solidFill>
            <a:prstDash val="solid"/>
          </a:ln>
        </p:spPr>
      </p:sp>
      <p:sp>
        <p:nvSpPr>
          <p:cNvPr id="25" name="Text 23"/>
          <p:cNvSpPr/>
          <p:nvPr/>
        </p:nvSpPr>
        <p:spPr>
          <a:xfrm>
            <a:off x="566928" y="540684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6" name="Text 24"/>
          <p:cNvSpPr/>
          <p:nvPr/>
        </p:nvSpPr>
        <p:spPr>
          <a:xfrm>
            <a:off x="1133856" y="5318150"/>
            <a:ext cx="3200400" cy="57973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Hand off</a:t>
            </a:r>
            <a:endParaRPr lang="en-US" sz="1400" dirty="0"/>
          </a:p>
        </p:txBody>
      </p:sp>
      <p:sp>
        <p:nvSpPr>
          <p:cNvPr id="27" name="Text 25"/>
          <p:cNvSpPr/>
          <p:nvPr/>
        </p:nvSpPr>
        <p:spPr>
          <a:xfrm>
            <a:off x="4407408" y="5318150"/>
            <a:ext cx="7217359" cy="579730"/>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HPA updates desired state and stops there. The Deployment controller notices 4 desired versus 2 actual and creates the extra fraud-service pods; the HPA never creates pods directly.</a:t>
            </a:r>
            <a:endParaRPr lang="en-US" sz="1250" dirty="0"/>
          </a:p>
        </p:txBody>
      </p:sp>
      <p:sp>
        <p:nvSpPr>
          <p:cNvPr id="28" name="Text 26"/>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Change the request to 600m and utilisation becomes 32% — the HPA scales DOWN. Same load, opposite decision.</a:t>
            </a:r>
            <a:endParaRPr lang="en-US" sz="1400" dirty="0"/>
          </a:p>
        </p:txBody>
      </p:sp>
      <p:sp>
        <p:nvSpPr>
          <p:cNvPr id="29" name="Text 2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30" name="Text 2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23</a:t>
            </a:r>
            <a:endParaRPr lang="en-US" sz="900" dirty="0"/>
          </a:p>
        </p:txBody>
      </p:sp>
      <p:pic>
        <p:nvPicPr>
          <p:cNvPr id="3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M2.4 · SCALING</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Scale up fast. Scale down slowly.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Autoscaling is intentionally asymmetric because adding capacity and removing capacity carry different risks. Kubernetes usually scales up quickly to absorb demand, but scales down cautiously so short-lived dips do not create oscillation.</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743200"/>
                <a:gridCol w="4160520"/>
                <a:gridCol w="4160520"/>
              </a:tblGrid>
              <a:tr h="658368">
                <a:tc>
                  <a:txBody>
                    <a:bodyPr/>
                    <a:lstStyle/>
                    <a:p>
                      <a:pP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Scale UP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Scale DOWN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65836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Stabilisation window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15–30 seconds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300 seconds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Payments do not wait. A spike must be absorbed now.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Removing capacity too eagerly causes flapping.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65836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The failure it prevents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Queueing, latency breach, timeouts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Remove pods → latency rises → scale up → remove again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What it costs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Slightly over-provisioned during a spike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Five minutes of extra capacity. Almost nothing.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24</a:t>
            </a:r>
            <a:endParaRPr lang="en-US" sz="900" dirty="0"/>
          </a:p>
        </p:txBody>
      </p:sp>
      <p:pic>
        <p:nvPicPr>
          <p:cNvPr id="26"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7"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8"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120140"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1201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WARNING</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Autoscaling responds to LOAD.</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It cannot fix CORRECTNESS.</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In L2.4 step 7 you scale merchant-service to zero. Payments start failing. The HPA does nothing at all — because CPU usage FALLS. The pods are idle precisely because they cannot serve.</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An HPA scales a bottleneck. It cannot scale around a broken dependency.</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payment-service spends most of its time WAITING on the acquirer, not burning CPU — so CPU is a poor signal for it (challenge C3).</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Scaling a service that is failing just gives you more failing replicas.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Custom and external metrics exist for exactly this. Signposted on Day 5.</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25</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M2.4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velocity bug, measured</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Real output from fraud-service. Twelve rapid attempts on one card.</a:t>
            </a:r>
            <a:endParaRPr lang="en-US" sz="1400" dirty="0"/>
          </a:p>
        </p:txBody>
      </p:sp>
      <p:sp>
        <p:nvSpPr>
          <p:cNvPr id="6" name="Shape 4"/>
          <p:cNvSpPr/>
          <p:nvPr/>
        </p:nvSpPr>
        <p:spPr>
          <a:xfrm>
            <a:off x="566928" y="2249424"/>
            <a:ext cx="11057839" cy="3049905"/>
          </a:xfrm>
          <a:prstGeom prst="roundRect">
            <a:avLst>
              <a:gd name="adj" fmla="val 2399"/>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409825"/>
          </a:xfrm>
          <a:prstGeom prst="rect">
            <a:avLst/>
          </a:prstGeom>
          <a:noFill/>
          <a:ln/>
        </p:spPr>
        <p:txBody>
          <a:bodyPr wrap="square" lIns="0" tIns="0" rIns="0" bIns="0" rtlCol="0" anchor="t"/>
          <a:lstStyle/>
          <a:p>
            <a:pPr indent="0" marL="0">
              <a:lnSpc>
                <a:spcPts val="1725"/>
              </a:lnSpc>
              <a:buNone/>
            </a:pPr>
            <a:r>
              <a:rPr lang="en-US" sz="1150" b="1" dirty="0">
                <a:solidFill>
                  <a:srgbClr val="F2A03D"/>
                </a:solidFill>
                <a:latin typeface="Courier New" pitchFamily="34" charset="0"/>
                <a:ea typeface="Courier New" pitchFamily="34" charset="-122"/>
                <a:cs typeface="Courier New" pitchFamily="34" charset="-120"/>
              </a:rPr>
              <a:t>$ for i in $(seq 1 12); do curl -sX POST fraud-service:8080/api/v1/score \</a:t>
            </a:r>
            <a:endParaRPr lang="en-US" sz="1150" dirty="0"/>
          </a:p>
          <a:p>
            <a:pPr indent="0" marL="0">
              <a:lnSpc>
                <a:spcPts val="1725"/>
              </a:lnSpc>
              <a:buNone/>
            </a:pPr>
            <a:r>
              <a:rPr lang="en-US" sz="1150" b="1" dirty="0">
                <a:solidFill>
                  <a:srgbClr val="F2A03D"/>
                </a:solidFill>
                <a:latin typeface="Courier New" pitchFamily="34" charset="0"/>
                <a:ea typeface="Courier New" pitchFamily="34" charset="-122"/>
                <a:cs typeface="Courier New" pitchFamily="34" charset="-120"/>
              </a:rPr>
              <a:t>    -d '{"card_token":"tok_3f6a91...","amount_minor":1450000,"currency":"KES"}'; done</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 </a:t>
            </a:r>
            <a:endParaRPr lang="en-US" sz="1150" dirty="0"/>
          </a:p>
          <a:p>
            <a:pPr indent="0" marL="0">
              <a:lnSpc>
                <a:spcPts val="1725"/>
              </a:lnSpc>
              <a:buNone/>
            </a:pPr>
            <a:r>
              <a:rPr lang="en-US" sz="1150" b="1" dirty="0">
                <a:solidFill>
                  <a:srgbClr val="FFFFFF"/>
                </a:solidFill>
                <a:latin typeface="Courier New" pitchFamily="34" charset="0"/>
                <a:ea typeface="Courier New" pitchFamily="34" charset="-122"/>
                <a:cs typeface="Courier New" pitchFamily="34" charset="-120"/>
              </a:rPr>
              <a:t>scores:    [22, 22, 30, 30, 44, 44, 44, 44, 67, 67, 67, 67]</a:t>
            </a:r>
            <a:endParaRPr lang="en-US" sz="1150" dirty="0"/>
          </a:p>
          <a:p>
            <a:pPr indent="0" marL="0">
              <a:lnSpc>
                <a:spcPts val="1725"/>
              </a:lnSpc>
              <a:buNone/>
            </a:pPr>
            <a:r>
              <a:rPr lang="en-US" sz="1150" b="1" dirty="0">
                <a:solidFill>
                  <a:srgbClr val="FFFFFF"/>
                </a:solidFill>
                <a:latin typeface="Courier New" pitchFamily="34" charset="0"/>
                <a:ea typeface="Courier New" pitchFamily="34" charset="-122"/>
                <a:cs typeface="Courier New" pitchFamily="34" charset="-120"/>
              </a:rPr>
              <a:t>decisions: [approve x8,                    review x4]</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 </a:t>
            </a:r>
            <a:endParaRPr lang="en-US" sz="1150" dirty="0"/>
          </a:p>
          <a:p>
            <a:pPr indent="0" marL="0">
              <a:lnSpc>
                <a:spcPts val="1725"/>
              </a:lnSpc>
              <a:buNone/>
            </a:pPr>
            <a:r>
              <a:rPr lang="en-US" sz="1150" b="1" dirty="0">
                <a:solidFill>
                  <a:srgbClr val="F2A03D"/>
                </a:solidFill>
                <a:latin typeface="Courier New" pitchFamily="34" charset="0"/>
                <a:ea typeface="Courier New" pitchFamily="34" charset="-122"/>
                <a:cs typeface="Courier New" pitchFamily="34" charset="-120"/>
              </a:rPr>
              <a:t>$ curl -s fraud-service:8080/api/v1/velocity/tok_3f6a91...</a:t>
            </a:r>
            <a:endParaRPr lang="en-US" sz="1150" dirty="0"/>
          </a:p>
          <a:p>
            <a:pPr indent="0" marL="0">
              <a:lnSpc>
                <a:spcPts val="1725"/>
              </a:lnSpc>
              <a:buNone/>
            </a:pPr>
            <a:r>
              <a:rPr lang="en-US" sz="1150" dirty="0">
                <a:solidFill>
                  <a:srgbClr val="2E9E63"/>
                </a:solidFill>
                <a:latin typeface="Courier New" pitchFamily="34" charset="0"/>
                <a:ea typeface="Courier New" pitchFamily="34" charset="-122"/>
                <a:cs typeface="Courier New" pitchFamily="34" charset="-120"/>
              </a:rPr>
              <a:t>{ "recent_attempts": 12,</a:t>
            </a:r>
            <a:endParaRPr lang="en-US" sz="1150" dirty="0"/>
          </a:p>
          <a:p>
            <a:pPr indent="0" marL="0">
              <a:lnSpc>
                <a:spcPts val="1725"/>
              </a:lnSpc>
              <a:buNone/>
            </a:pPr>
            <a:r>
              <a:rPr lang="en-US" sz="1150" dirty="0">
                <a:solidFill>
                  <a:srgbClr val="2E9E63"/>
                </a:solidFill>
                <a:latin typeface="Courier New" pitchFamily="34" charset="0"/>
                <a:ea typeface="Courier New" pitchFamily="34" charset="-122"/>
                <a:cs typeface="Courier New" pitchFamily="34" charset="-120"/>
              </a:rPr>
              <a:t>  "window_seconds": 300,</a:t>
            </a:r>
            <a:endParaRPr lang="en-US" sz="1150" dirty="0"/>
          </a:p>
          <a:p>
            <a:pPr indent="0" marL="0">
              <a:lnSpc>
                <a:spcPts val="1725"/>
              </a:lnSpc>
              <a:buNone/>
            </a:pPr>
            <a:r>
              <a:rPr lang="en-US" sz="1150" dirty="0">
                <a:solidFill>
                  <a:srgbClr val="D64545"/>
                </a:solidFill>
                <a:latin typeface="Courier New" pitchFamily="34" charset="0"/>
                <a:ea typeface="Courier New" pitchFamily="34" charset="-122"/>
                <a:cs typeface="Courier New" pitchFamily="34" charset="-120"/>
              </a:rPr>
              <a:t>  "counted_by_pod": "fraud-service-6d4b9f7c8-f8j3k",</a:t>
            </a:r>
            <a:endParaRPr lang="en-US" sz="1150" dirty="0"/>
          </a:p>
          <a:p>
            <a:pPr indent="0" marL="0">
              <a:lnSpc>
                <a:spcPts val="1725"/>
              </a:lnSpc>
              <a:buNone/>
            </a:pPr>
            <a:r>
              <a:rPr lang="en-US" sz="1150" dirty="0">
                <a:solidFill>
                  <a:srgbClr val="D64545"/>
                </a:solidFill>
                <a:latin typeface="Courier New" pitchFamily="34" charset="0"/>
                <a:ea typeface="Courier New" pitchFamily="34" charset="-122"/>
                <a:cs typeface="Courier New" pitchFamily="34" charset="-120"/>
              </a:rPr>
              <a:t>  "warning": "in-memory per-pod counters" }</a:t>
            </a:r>
            <a:endParaRPr lang="en-US" sz="1150" dirty="0"/>
          </a:p>
        </p:txBody>
      </p:sp>
      <p:sp>
        <p:nvSpPr>
          <p:cNvPr id="11" name="Text 9"/>
          <p:cNvSpPr/>
          <p:nvPr/>
        </p:nvSpPr>
        <p:spPr>
          <a:xfrm>
            <a:off x="566928" y="5463921"/>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counted_by_pod is the tell. Each replica has its OWN counters. With 6 pods behind the Service, each sees ~1/6 of the traffic — so a rule of 'more than 8 in 5 minutes' effectively fires at 48.</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26</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L2.4</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Autoscaling under merchant load</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Scale manually and see why it diverges from your YAML</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Create an HPA with NO requests and watch it report &lt;unknown&gt; forever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Drive 60 rps through loadgen and watch fraud-service scale 2 to 6</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Stop the load and watch nothing happen for five minutes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Break a dependency and watch the HPA correctly do nothing</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Both HPAs report a percentage, not &lt;unknown&gt;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watched a real scale-up event</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LAB=L2.4</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55 minutes   ·   labs/day2/L2.4-autoscaling/</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27</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M2.5</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other three controllers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DaemonSet, Job, CronJob — when a Deployment is the wrong shape</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Choose the correct controller for a given workload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the DaemonSet per-node invariant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Reason about concurrencyPolicy for a settlement batch</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85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M2.5 · WORKLOADS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Choose by shape, not by habit</a:t>
            </a:r>
            <a:endParaRPr lang="en-US" sz="3200" dirty="0"/>
          </a:p>
        </p:txBody>
      </p:sp>
      <p:sp>
        <p:nvSpPr>
          <p:cNvPr id="5" name="Shape 3"/>
          <p:cNvSpPr/>
          <p:nvPr/>
        </p:nvSpPr>
        <p:spPr>
          <a:xfrm>
            <a:off x="566928" y="1874520"/>
            <a:ext cx="4572000" cy="676656"/>
          </a:xfrm>
          <a:prstGeom prst="roundRect">
            <a:avLst>
              <a:gd name="adj" fmla="val 9459"/>
            </a:avLst>
          </a:prstGeom>
          <a:solidFill>
            <a:srgbClr val="FFFFFF"/>
          </a:solidFill>
          <a:ln w="12700">
            <a:solidFill>
              <a:srgbClr val="DCE4EE"/>
            </a:solidFill>
            <a:prstDash val="solid"/>
          </a:ln>
        </p:spPr>
      </p:sp>
      <p:sp>
        <p:nvSpPr>
          <p:cNvPr id="6" name="Text 4"/>
          <p:cNvSpPr/>
          <p:nvPr/>
        </p:nvSpPr>
        <p:spPr>
          <a:xfrm>
            <a:off x="749808" y="1874520"/>
            <a:ext cx="4206240" cy="676656"/>
          </a:xfrm>
          <a:prstGeom prst="rect">
            <a:avLst/>
          </a:prstGeom>
          <a:noFill/>
          <a:ln/>
        </p:spPr>
        <p:txBody>
          <a:bodyPr wrap="square" lIns="0" tIns="0" rIns="0" bIns="0" rtlCol="0" anchor="ctr"/>
          <a:lstStyle/>
          <a:p>
            <a:pPr indent="0" marL="0">
              <a:buNone/>
            </a:pPr>
            <a:r>
              <a:rPr lang="en-US" sz="1300" i="1" dirty="0">
                <a:solidFill>
                  <a:srgbClr val="16232F"/>
                </a:solidFill>
                <a:latin typeface="Calibri" pitchFamily="34" charset="0"/>
                <a:ea typeface="Calibri" pitchFamily="34" charset="-122"/>
                <a:cs typeface="Calibri" pitchFamily="34" charset="-120"/>
              </a:rPr>
              <a:t>"N copies, always running"</a:t>
            </a:r>
            <a:endParaRPr lang="en-US" sz="1300" dirty="0"/>
          </a:p>
        </p:txBody>
      </p:sp>
      <p:sp>
        <p:nvSpPr>
          <p:cNvPr id="7" name="Shape 5"/>
          <p:cNvSpPr/>
          <p:nvPr/>
        </p:nvSpPr>
        <p:spPr>
          <a:xfrm>
            <a:off x="5413248" y="1874520"/>
            <a:ext cx="2286000" cy="676656"/>
          </a:xfrm>
          <a:prstGeom prst="roundRect">
            <a:avLst>
              <a:gd name="adj" fmla="val 9459"/>
            </a:avLst>
          </a:prstGeom>
          <a:solidFill>
            <a:srgbClr val="1C7293"/>
          </a:solidFill>
          <a:ln w="12700">
            <a:solidFill>
              <a:srgbClr val="1C7293"/>
            </a:solidFill>
            <a:prstDash val="solid"/>
          </a:ln>
        </p:spPr>
      </p:sp>
      <p:sp>
        <p:nvSpPr>
          <p:cNvPr id="8" name="Text 6"/>
          <p:cNvSpPr/>
          <p:nvPr/>
        </p:nvSpPr>
        <p:spPr>
          <a:xfrm>
            <a:off x="5413248" y="1874520"/>
            <a:ext cx="228600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Deployment</a:t>
            </a:r>
            <a:endParaRPr lang="en-US" sz="1500" dirty="0"/>
          </a:p>
        </p:txBody>
      </p:sp>
      <p:sp>
        <p:nvSpPr>
          <p:cNvPr id="9" name="Text 7"/>
          <p:cNvSpPr/>
          <p:nvPr/>
        </p:nvSpPr>
        <p:spPr>
          <a:xfrm>
            <a:off x="7927848" y="1874520"/>
            <a:ext cx="3657600" cy="676656"/>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edge-gateway, payment-service</a:t>
            </a:r>
            <a:endParaRPr lang="en-US" sz="1200" dirty="0"/>
          </a:p>
        </p:txBody>
      </p:sp>
      <p:sp>
        <p:nvSpPr>
          <p:cNvPr id="10" name="Shape 8"/>
          <p:cNvSpPr/>
          <p:nvPr/>
        </p:nvSpPr>
        <p:spPr>
          <a:xfrm>
            <a:off x="5184648" y="2212848"/>
            <a:ext cx="182880" cy="0"/>
          </a:xfrm>
          <a:prstGeom prst="line">
            <a:avLst/>
          </a:prstGeom>
          <a:noFill/>
          <a:ln w="25400">
            <a:solidFill>
              <a:srgbClr val="1C7293"/>
            </a:solidFill>
            <a:prstDash val="solid"/>
            <a:tailEnd type="triangle"/>
          </a:ln>
        </p:spPr>
      </p:sp>
      <p:sp>
        <p:nvSpPr>
          <p:cNvPr id="11" name="Shape 9"/>
          <p:cNvSpPr/>
          <p:nvPr/>
        </p:nvSpPr>
        <p:spPr>
          <a:xfrm>
            <a:off x="566928" y="2697480"/>
            <a:ext cx="4572000" cy="676656"/>
          </a:xfrm>
          <a:prstGeom prst="roundRect">
            <a:avLst>
              <a:gd name="adj" fmla="val 9459"/>
            </a:avLst>
          </a:prstGeom>
          <a:solidFill>
            <a:srgbClr val="FFFFFF"/>
          </a:solidFill>
          <a:ln w="12700">
            <a:solidFill>
              <a:srgbClr val="DCE4EE"/>
            </a:solidFill>
            <a:prstDash val="solid"/>
          </a:ln>
        </p:spPr>
      </p:sp>
      <p:sp>
        <p:nvSpPr>
          <p:cNvPr id="12" name="Text 10"/>
          <p:cNvSpPr/>
          <p:nvPr/>
        </p:nvSpPr>
        <p:spPr>
          <a:xfrm>
            <a:off x="749808" y="2697480"/>
            <a:ext cx="4206240" cy="676656"/>
          </a:xfrm>
          <a:prstGeom prst="rect">
            <a:avLst/>
          </a:prstGeom>
          <a:noFill/>
          <a:ln/>
        </p:spPr>
        <p:txBody>
          <a:bodyPr wrap="square" lIns="0" tIns="0" rIns="0" bIns="0" rtlCol="0" anchor="ctr"/>
          <a:lstStyle/>
          <a:p>
            <a:pPr indent="0" marL="0">
              <a:buNone/>
            </a:pPr>
            <a:r>
              <a:rPr lang="en-US" sz="1300" i="1" dirty="0">
                <a:solidFill>
                  <a:srgbClr val="16232F"/>
                </a:solidFill>
                <a:latin typeface="Calibri" pitchFamily="34" charset="0"/>
                <a:ea typeface="Calibri" pitchFamily="34" charset="-122"/>
                <a:cs typeface="Calibri" pitchFamily="34" charset="-120"/>
              </a:rPr>
              <a:t>"One on EVERY node, whatever the count"</a:t>
            </a:r>
            <a:endParaRPr lang="en-US" sz="1300" dirty="0"/>
          </a:p>
        </p:txBody>
      </p:sp>
      <p:sp>
        <p:nvSpPr>
          <p:cNvPr id="13" name="Shape 11"/>
          <p:cNvSpPr/>
          <p:nvPr/>
        </p:nvSpPr>
        <p:spPr>
          <a:xfrm>
            <a:off x="5413248" y="2697480"/>
            <a:ext cx="2286000" cy="676656"/>
          </a:xfrm>
          <a:prstGeom prst="roundRect">
            <a:avLst>
              <a:gd name="adj" fmla="val 9459"/>
            </a:avLst>
          </a:prstGeom>
          <a:solidFill>
            <a:srgbClr val="2E9E63"/>
          </a:solidFill>
          <a:ln w="12700">
            <a:solidFill>
              <a:srgbClr val="2E9E63"/>
            </a:solidFill>
            <a:prstDash val="solid"/>
          </a:ln>
        </p:spPr>
      </p:sp>
      <p:sp>
        <p:nvSpPr>
          <p:cNvPr id="14" name="Text 12"/>
          <p:cNvSpPr/>
          <p:nvPr/>
        </p:nvSpPr>
        <p:spPr>
          <a:xfrm>
            <a:off x="5413248" y="2697480"/>
            <a:ext cx="228600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DaemonSet</a:t>
            </a:r>
            <a:endParaRPr lang="en-US" sz="1500" dirty="0"/>
          </a:p>
        </p:txBody>
      </p:sp>
      <p:sp>
        <p:nvSpPr>
          <p:cNvPr id="15" name="Text 13"/>
          <p:cNvSpPr/>
          <p:nvPr/>
        </p:nvSpPr>
        <p:spPr>
          <a:xfrm>
            <a:off x="7927848" y="2697480"/>
            <a:ext cx="3657600" cy="676656"/>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node-agent — PCI file integrity</a:t>
            </a:r>
            <a:endParaRPr lang="en-US" sz="1200" dirty="0"/>
          </a:p>
        </p:txBody>
      </p:sp>
      <p:sp>
        <p:nvSpPr>
          <p:cNvPr id="16" name="Shape 14"/>
          <p:cNvSpPr/>
          <p:nvPr/>
        </p:nvSpPr>
        <p:spPr>
          <a:xfrm>
            <a:off x="5184648" y="3035808"/>
            <a:ext cx="182880" cy="0"/>
          </a:xfrm>
          <a:prstGeom prst="line">
            <a:avLst/>
          </a:prstGeom>
          <a:noFill/>
          <a:ln w="25400">
            <a:solidFill>
              <a:srgbClr val="2E9E63"/>
            </a:solidFill>
            <a:prstDash val="solid"/>
            <a:tailEnd type="triangle"/>
          </a:ln>
        </p:spPr>
      </p:sp>
      <p:sp>
        <p:nvSpPr>
          <p:cNvPr id="17" name="Shape 15"/>
          <p:cNvSpPr/>
          <p:nvPr/>
        </p:nvSpPr>
        <p:spPr>
          <a:xfrm>
            <a:off x="566928" y="3520440"/>
            <a:ext cx="4572000" cy="676656"/>
          </a:xfrm>
          <a:prstGeom prst="roundRect">
            <a:avLst>
              <a:gd name="adj" fmla="val 9459"/>
            </a:avLst>
          </a:prstGeom>
          <a:solidFill>
            <a:srgbClr val="FFFFFF"/>
          </a:solidFill>
          <a:ln w="12700">
            <a:solidFill>
              <a:srgbClr val="DCE4EE"/>
            </a:solidFill>
            <a:prstDash val="solid"/>
          </a:ln>
        </p:spPr>
      </p:sp>
      <p:sp>
        <p:nvSpPr>
          <p:cNvPr id="18" name="Text 16"/>
          <p:cNvSpPr/>
          <p:nvPr/>
        </p:nvSpPr>
        <p:spPr>
          <a:xfrm>
            <a:off x="749808" y="3520440"/>
            <a:ext cx="4206240" cy="676656"/>
          </a:xfrm>
          <a:prstGeom prst="rect">
            <a:avLst/>
          </a:prstGeom>
          <a:noFill/>
          <a:ln/>
        </p:spPr>
        <p:txBody>
          <a:bodyPr wrap="square" lIns="0" tIns="0" rIns="0" bIns="0" rtlCol="0" anchor="ctr"/>
          <a:lstStyle/>
          <a:p>
            <a:pPr indent="0" marL="0">
              <a:buNone/>
            </a:pPr>
            <a:r>
              <a:rPr lang="en-US" sz="1300" i="1" dirty="0">
                <a:solidFill>
                  <a:srgbClr val="16232F"/>
                </a:solidFill>
                <a:latin typeface="Calibri" pitchFamily="34" charset="0"/>
                <a:ea typeface="Calibri" pitchFamily="34" charset="-122"/>
                <a:cs typeface="Calibri" pitchFamily="34" charset="-120"/>
              </a:rPr>
              <a:t>"Do this once, then stop"</a:t>
            </a:r>
            <a:endParaRPr lang="en-US" sz="1300" dirty="0"/>
          </a:p>
        </p:txBody>
      </p:sp>
      <p:sp>
        <p:nvSpPr>
          <p:cNvPr id="19" name="Shape 17"/>
          <p:cNvSpPr/>
          <p:nvPr/>
        </p:nvSpPr>
        <p:spPr>
          <a:xfrm>
            <a:off x="5413248" y="3520440"/>
            <a:ext cx="2286000" cy="676656"/>
          </a:xfrm>
          <a:prstGeom prst="roundRect">
            <a:avLst>
              <a:gd name="adj" fmla="val 9459"/>
            </a:avLst>
          </a:prstGeom>
          <a:solidFill>
            <a:srgbClr val="C97B1E"/>
          </a:solidFill>
          <a:ln w="12700">
            <a:solidFill>
              <a:srgbClr val="C97B1E"/>
            </a:solidFill>
            <a:prstDash val="solid"/>
          </a:ln>
        </p:spPr>
      </p:sp>
      <p:sp>
        <p:nvSpPr>
          <p:cNvPr id="20" name="Text 18"/>
          <p:cNvSpPr/>
          <p:nvPr/>
        </p:nvSpPr>
        <p:spPr>
          <a:xfrm>
            <a:off x="5413248" y="3520440"/>
            <a:ext cx="228600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Job</a:t>
            </a:r>
            <a:endParaRPr lang="en-US" sz="1500" dirty="0"/>
          </a:p>
        </p:txBody>
      </p:sp>
      <p:sp>
        <p:nvSpPr>
          <p:cNvPr id="21" name="Text 19"/>
          <p:cNvSpPr/>
          <p:nvPr/>
        </p:nvSpPr>
        <p:spPr>
          <a:xfrm>
            <a:off x="7927848" y="3520440"/>
            <a:ext cx="3657600" cy="676656"/>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recon-worker — ledger reconciliation</a:t>
            </a:r>
            <a:endParaRPr lang="en-US" sz="1200" dirty="0"/>
          </a:p>
        </p:txBody>
      </p:sp>
      <p:sp>
        <p:nvSpPr>
          <p:cNvPr id="22" name="Shape 20"/>
          <p:cNvSpPr/>
          <p:nvPr/>
        </p:nvSpPr>
        <p:spPr>
          <a:xfrm>
            <a:off x="5184648" y="3858768"/>
            <a:ext cx="182880" cy="0"/>
          </a:xfrm>
          <a:prstGeom prst="line">
            <a:avLst/>
          </a:prstGeom>
          <a:noFill/>
          <a:ln w="25400">
            <a:solidFill>
              <a:srgbClr val="C97B1E"/>
            </a:solidFill>
            <a:prstDash val="solid"/>
            <a:tailEnd type="triangle"/>
          </a:ln>
        </p:spPr>
      </p:sp>
      <p:sp>
        <p:nvSpPr>
          <p:cNvPr id="23" name="Shape 21"/>
          <p:cNvSpPr/>
          <p:nvPr/>
        </p:nvSpPr>
        <p:spPr>
          <a:xfrm>
            <a:off x="566928" y="4343400"/>
            <a:ext cx="4572000" cy="676656"/>
          </a:xfrm>
          <a:prstGeom prst="roundRect">
            <a:avLst>
              <a:gd name="adj" fmla="val 9459"/>
            </a:avLst>
          </a:prstGeom>
          <a:solidFill>
            <a:srgbClr val="FFFFFF"/>
          </a:solidFill>
          <a:ln w="12700">
            <a:solidFill>
              <a:srgbClr val="DCE4EE"/>
            </a:solidFill>
            <a:prstDash val="solid"/>
          </a:ln>
        </p:spPr>
      </p:sp>
      <p:sp>
        <p:nvSpPr>
          <p:cNvPr id="24" name="Text 22"/>
          <p:cNvSpPr/>
          <p:nvPr/>
        </p:nvSpPr>
        <p:spPr>
          <a:xfrm>
            <a:off x="749808" y="4343400"/>
            <a:ext cx="4206240" cy="676656"/>
          </a:xfrm>
          <a:prstGeom prst="rect">
            <a:avLst/>
          </a:prstGeom>
          <a:noFill/>
          <a:ln/>
        </p:spPr>
        <p:txBody>
          <a:bodyPr wrap="square" lIns="0" tIns="0" rIns="0" bIns="0" rtlCol="0" anchor="ctr"/>
          <a:lstStyle/>
          <a:p>
            <a:pPr indent="0" marL="0">
              <a:buNone/>
            </a:pPr>
            <a:r>
              <a:rPr lang="en-US" sz="1300" i="1" dirty="0">
                <a:solidFill>
                  <a:srgbClr val="16232F"/>
                </a:solidFill>
                <a:latin typeface="Calibri" pitchFamily="34" charset="0"/>
                <a:ea typeface="Calibri" pitchFamily="34" charset="-122"/>
                <a:cs typeface="Calibri" pitchFamily="34" charset="-120"/>
              </a:rPr>
              <a:t>"Do this at 23:00 every night"</a:t>
            </a:r>
            <a:endParaRPr lang="en-US" sz="1300" dirty="0"/>
          </a:p>
        </p:txBody>
      </p:sp>
      <p:sp>
        <p:nvSpPr>
          <p:cNvPr id="25" name="Shape 23"/>
          <p:cNvSpPr/>
          <p:nvPr/>
        </p:nvSpPr>
        <p:spPr>
          <a:xfrm>
            <a:off x="5413248" y="4343400"/>
            <a:ext cx="2286000" cy="676656"/>
          </a:xfrm>
          <a:prstGeom prst="roundRect">
            <a:avLst>
              <a:gd name="adj" fmla="val 9459"/>
            </a:avLst>
          </a:prstGeom>
          <a:solidFill>
            <a:srgbClr val="8E6FBF"/>
          </a:solidFill>
          <a:ln w="12700">
            <a:solidFill>
              <a:srgbClr val="8E6FBF"/>
            </a:solidFill>
            <a:prstDash val="solid"/>
          </a:ln>
        </p:spPr>
      </p:sp>
      <p:sp>
        <p:nvSpPr>
          <p:cNvPr id="26" name="Text 24"/>
          <p:cNvSpPr/>
          <p:nvPr/>
        </p:nvSpPr>
        <p:spPr>
          <a:xfrm>
            <a:off x="5413248" y="4343400"/>
            <a:ext cx="228600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CronJob</a:t>
            </a:r>
            <a:endParaRPr lang="en-US" sz="1500" dirty="0"/>
          </a:p>
        </p:txBody>
      </p:sp>
      <p:sp>
        <p:nvSpPr>
          <p:cNvPr id="27" name="Text 25"/>
          <p:cNvSpPr/>
          <p:nvPr/>
        </p:nvSpPr>
        <p:spPr>
          <a:xfrm>
            <a:off x="7927848" y="4343400"/>
            <a:ext cx="3657600" cy="676656"/>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settlement-cron — nightly batch</a:t>
            </a:r>
            <a:endParaRPr lang="en-US" sz="1200" dirty="0"/>
          </a:p>
        </p:txBody>
      </p:sp>
      <p:sp>
        <p:nvSpPr>
          <p:cNvPr id="28" name="Shape 26"/>
          <p:cNvSpPr/>
          <p:nvPr/>
        </p:nvSpPr>
        <p:spPr>
          <a:xfrm>
            <a:off x="5184648" y="4681728"/>
            <a:ext cx="182880" cy="0"/>
          </a:xfrm>
          <a:prstGeom prst="line">
            <a:avLst/>
          </a:prstGeom>
          <a:noFill/>
          <a:ln w="25400">
            <a:solidFill>
              <a:srgbClr val="8E6FBF"/>
            </a:solidFill>
            <a:prstDash val="solid"/>
            <a:tailEnd type="triangle"/>
          </a:ln>
        </p:spPr>
      </p:sp>
      <p:sp>
        <p:nvSpPr>
          <p:cNvPr id="29" name="Shape 27"/>
          <p:cNvSpPr/>
          <p:nvPr/>
        </p:nvSpPr>
        <p:spPr>
          <a:xfrm>
            <a:off x="566928" y="5166360"/>
            <a:ext cx="4572000" cy="676656"/>
          </a:xfrm>
          <a:prstGeom prst="roundRect">
            <a:avLst>
              <a:gd name="adj" fmla="val 9459"/>
            </a:avLst>
          </a:prstGeom>
          <a:solidFill>
            <a:srgbClr val="FFFFFF"/>
          </a:solidFill>
          <a:ln w="12700">
            <a:solidFill>
              <a:srgbClr val="DCE4EE"/>
            </a:solidFill>
            <a:prstDash val="solid"/>
          </a:ln>
        </p:spPr>
      </p:sp>
      <p:sp>
        <p:nvSpPr>
          <p:cNvPr id="30" name="Text 28"/>
          <p:cNvSpPr/>
          <p:nvPr/>
        </p:nvSpPr>
        <p:spPr>
          <a:xfrm>
            <a:off x="749808" y="5166360"/>
            <a:ext cx="4206240" cy="676656"/>
          </a:xfrm>
          <a:prstGeom prst="rect">
            <a:avLst/>
          </a:prstGeom>
          <a:noFill/>
          <a:ln/>
        </p:spPr>
        <p:txBody>
          <a:bodyPr wrap="square" lIns="0" tIns="0" rIns="0" bIns="0" rtlCol="0" anchor="ctr"/>
          <a:lstStyle/>
          <a:p>
            <a:pPr indent="0" marL="0">
              <a:buNone/>
            </a:pPr>
            <a:r>
              <a:rPr lang="en-US" sz="1300" i="1" dirty="0">
                <a:solidFill>
                  <a:srgbClr val="16232F"/>
                </a:solidFill>
                <a:latin typeface="Calibri" pitchFamily="34" charset="0"/>
                <a:ea typeface="Calibri" pitchFamily="34" charset="-122"/>
                <a:cs typeface="Calibri" pitchFamily="34" charset="-120"/>
              </a:rPr>
              <a:t>"Stable identity + its own storage"</a:t>
            </a:r>
            <a:endParaRPr lang="en-US" sz="1300" dirty="0"/>
          </a:p>
        </p:txBody>
      </p:sp>
      <p:sp>
        <p:nvSpPr>
          <p:cNvPr id="31" name="Shape 29"/>
          <p:cNvSpPr/>
          <p:nvPr/>
        </p:nvSpPr>
        <p:spPr>
          <a:xfrm>
            <a:off x="5413248" y="5166360"/>
            <a:ext cx="2286000" cy="676656"/>
          </a:xfrm>
          <a:prstGeom prst="roundRect">
            <a:avLst>
              <a:gd name="adj" fmla="val 9459"/>
            </a:avLst>
          </a:prstGeom>
          <a:solidFill>
            <a:srgbClr val="8A93A0"/>
          </a:solidFill>
          <a:ln w="12700">
            <a:solidFill>
              <a:srgbClr val="8A93A0"/>
            </a:solidFill>
            <a:prstDash val="solid"/>
          </a:ln>
        </p:spPr>
      </p:sp>
      <p:sp>
        <p:nvSpPr>
          <p:cNvPr id="32" name="Text 30"/>
          <p:cNvSpPr/>
          <p:nvPr/>
        </p:nvSpPr>
        <p:spPr>
          <a:xfrm>
            <a:off x="5413248" y="5166360"/>
            <a:ext cx="228600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StatefulSet</a:t>
            </a:r>
            <a:endParaRPr lang="en-US" sz="1500" dirty="0"/>
          </a:p>
        </p:txBody>
      </p:sp>
      <p:sp>
        <p:nvSpPr>
          <p:cNvPr id="33" name="Text 31"/>
          <p:cNvSpPr/>
          <p:nvPr/>
        </p:nvSpPr>
        <p:spPr>
          <a:xfrm>
            <a:off x="7927848" y="5166360"/>
            <a:ext cx="3657600" cy="676656"/>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PostgreSQL — Day 3</a:t>
            </a:r>
            <a:endParaRPr lang="en-US" sz="1200" dirty="0"/>
          </a:p>
        </p:txBody>
      </p:sp>
      <p:sp>
        <p:nvSpPr>
          <p:cNvPr id="34" name="Shape 32"/>
          <p:cNvSpPr/>
          <p:nvPr/>
        </p:nvSpPr>
        <p:spPr>
          <a:xfrm>
            <a:off x="5184648" y="5504688"/>
            <a:ext cx="182880" cy="0"/>
          </a:xfrm>
          <a:prstGeom prst="line">
            <a:avLst/>
          </a:prstGeom>
          <a:noFill/>
          <a:ln w="25400">
            <a:solidFill>
              <a:srgbClr val="8A93A0"/>
            </a:solidFill>
            <a:prstDash val="solid"/>
            <a:tailEnd type="triangle"/>
          </a:ln>
        </p:spPr>
      </p:sp>
      <p:sp>
        <p:nvSpPr>
          <p:cNvPr id="35" name="Text 33"/>
          <p:cNvSpPr/>
          <p:nvPr/>
        </p:nvSpPr>
        <p:spPr>
          <a:xfrm>
            <a:off x="566928" y="6126480"/>
            <a:ext cx="11057839"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Choose by SHAPE, not by habit. Three of these are not a Deployment.</a:t>
            </a:r>
            <a:endParaRPr lang="en-US" sz="1400" dirty="0"/>
          </a:p>
        </p:txBody>
      </p:sp>
      <p:sp>
        <p:nvSpPr>
          <p:cNvPr id="36" name="Text 3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37" name="Text 3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29</a:t>
            </a:r>
            <a:endParaRPr lang="en-US" sz="900" dirty="0"/>
          </a:p>
        </p:txBody>
      </p:sp>
      <p:pic>
        <p:nvPicPr>
          <p:cNvPr id="38"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9"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0"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M2.5 · WORKLOADS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Job and CronJob: the fields that matter</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Jobs and CronJobs manage finite work rather than continuously serving traffic. Their key fields answer three control questions: when should work start, how long may it run, and what should Kubernetes do if an attempt fails, runs late or collides with another run?</a:t>
            </a:r>
            <a:endParaRPr lang="en-US" sz="1500" dirty="0"/>
          </a:p>
        </p:txBody>
      </p:sp>
      <p:sp>
        <p:nvSpPr>
          <p:cNvPr id="6" name="Shape 4"/>
          <p:cNvSpPr/>
          <p:nvPr/>
        </p:nvSpPr>
        <p:spPr>
          <a:xfrm>
            <a:off x="566928" y="2331720"/>
            <a:ext cx="5382616" cy="3611880"/>
          </a:xfrm>
          <a:prstGeom prst="roundRect">
            <a:avLst>
              <a:gd name="adj" fmla="val 2278"/>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7" name="Shape 5"/>
          <p:cNvSpPr/>
          <p:nvPr/>
        </p:nvSpPr>
        <p:spPr>
          <a:xfrm>
            <a:off x="822960" y="2606040"/>
            <a:ext cx="566928" cy="566928"/>
          </a:xfrm>
          <a:prstGeom prst="ellipse">
            <a:avLst/>
          </a:prstGeom>
          <a:solidFill>
            <a:srgbClr val="C97B1E"/>
          </a:solidFill>
          <a:ln w="12700">
            <a:solidFill>
              <a:srgbClr val="C97B1E"/>
            </a:solidFill>
            <a:prstDash val="solid"/>
          </a:ln>
        </p:spPr>
      </p:sp>
      <p:sp>
        <p:nvSpPr>
          <p:cNvPr id="8" name="Text 6"/>
          <p:cNvSpPr/>
          <p:nvPr/>
        </p:nvSpPr>
        <p:spPr>
          <a:xfrm>
            <a:off x="82296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J</a:t>
            </a:r>
            <a:endParaRPr lang="en-US" sz="2000" dirty="0"/>
          </a:p>
        </p:txBody>
      </p:sp>
      <p:sp>
        <p:nvSpPr>
          <p:cNvPr id="9" name="Text 7"/>
          <p:cNvSpPr/>
          <p:nvPr/>
        </p:nvSpPr>
        <p:spPr>
          <a:xfrm>
            <a:off x="822960" y="3300984"/>
            <a:ext cx="4870552"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Job</a:t>
            </a:r>
            <a:endParaRPr lang="en-US" sz="1600" dirty="0"/>
          </a:p>
        </p:txBody>
      </p:sp>
      <p:sp>
        <p:nvSpPr>
          <p:cNvPr id="10" name="Text 8"/>
          <p:cNvSpPr/>
          <p:nvPr/>
        </p:nvSpPr>
        <p:spPr>
          <a:xfrm>
            <a:off x="822960" y="3886200"/>
            <a:ext cx="4870552"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Job tracks completion, so failure policy matters more than steady-state uptime. backoffLimit: 4 means retry the pod four times before the Job is marked failed, with exponential back-off between attempts.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activeDeadlineSeconds is a wall-clock cutoff, and restartPolicy must be Never or OnFailure because Always would never let the Job finish.</a:t>
            </a:r>
            <a:endParaRPr lang="en-US" sz="1250" dirty="0"/>
          </a:p>
        </p:txBody>
      </p:sp>
      <p:sp>
        <p:nvSpPr>
          <p:cNvPr id="11" name="Shape 9"/>
          <p:cNvSpPr/>
          <p:nvPr/>
        </p:nvSpPr>
        <p:spPr>
          <a:xfrm>
            <a:off x="6242152" y="2331720"/>
            <a:ext cx="5382616" cy="3611880"/>
          </a:xfrm>
          <a:prstGeom prst="roundRect">
            <a:avLst>
              <a:gd name="adj" fmla="val 2278"/>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2" name="Shape 10"/>
          <p:cNvSpPr/>
          <p:nvPr/>
        </p:nvSpPr>
        <p:spPr>
          <a:xfrm>
            <a:off x="6498184" y="2606040"/>
            <a:ext cx="566928" cy="566928"/>
          </a:xfrm>
          <a:prstGeom prst="ellipse">
            <a:avLst/>
          </a:prstGeom>
          <a:solidFill>
            <a:srgbClr val="8E6FBF"/>
          </a:solidFill>
          <a:ln w="12700">
            <a:solidFill>
              <a:srgbClr val="8E6FBF"/>
            </a:solidFill>
            <a:prstDash val="solid"/>
          </a:ln>
        </p:spPr>
      </p:sp>
      <p:sp>
        <p:nvSpPr>
          <p:cNvPr id="13" name="Text 11"/>
          <p:cNvSpPr/>
          <p:nvPr/>
        </p:nvSpPr>
        <p:spPr>
          <a:xfrm>
            <a:off x="6498184"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14" name="Text 12"/>
          <p:cNvSpPr/>
          <p:nvPr/>
        </p:nvSpPr>
        <p:spPr>
          <a:xfrm>
            <a:off x="6498184" y="3300984"/>
            <a:ext cx="4870552"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CronJob</a:t>
            </a:r>
            <a:endParaRPr lang="en-US" sz="1600" dirty="0"/>
          </a:p>
        </p:txBody>
      </p:sp>
      <p:sp>
        <p:nvSpPr>
          <p:cNvPr id="15" name="Text 13"/>
          <p:cNvSpPr/>
          <p:nvPr/>
        </p:nvSpPr>
        <p:spPr>
          <a:xfrm>
            <a:off x="6498184" y="3886200"/>
            <a:ext cx="4870552"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CronJob adds a schedule, overlap policy and missed-run handling on top of a Job. A generic nightly report uses concurrencyPolicy: Forbid so one slow run does not spawn a second copy on top of it.</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In AxisPay, timeZone makes settlement align with the merchant's business day, and startingDeadlineSeconds allows a late start without replaying stale money movement.</a:t>
            </a:r>
            <a:endParaRPr lang="en-US" sz="1250" dirty="0"/>
          </a:p>
        </p:txBody>
      </p:sp>
      <p:sp>
        <p:nvSpPr>
          <p:cNvPr id="16" name="Text 1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7" name="Text 1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30</a:t>
            </a:r>
            <a:endParaRPr lang="en-US" sz="900" dirty="0"/>
          </a:p>
        </p:txBody>
      </p:sp>
      <p:pic>
        <p:nvPicPr>
          <p:cNvPr id="18"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9"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0"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8E6FBF"/>
          </a:solidFill>
          <a:ln w="12700">
            <a:solidFill>
              <a:srgbClr val="8E6FBF"/>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M2.5 · WORKLOADS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CronJob creates Jobs; Jobs own Pods</a:t>
            </a:r>
            <a:endParaRPr lang="en-US" sz="3200" dirty="0"/>
          </a:p>
        </p:txBody>
      </p:sp>
      <p:sp>
        <p:nvSpPr>
          <p:cNvPr id="5" name="Text 3"/>
          <p:cNvSpPr/>
          <p:nvPr/>
        </p:nvSpPr>
        <p:spPr>
          <a:xfrm>
            <a:off x="804672" y="1874520"/>
            <a:ext cx="548640" cy="219456"/>
          </a:xfrm>
          <a:prstGeom prst="rect">
            <a:avLst/>
          </a:prstGeom>
          <a:noFill/>
          <a:ln/>
        </p:spPr>
        <p:txBody>
          <a:bodyPr wrap="square" lIns="0" tIns="0" rIns="0" bIns="0" rtlCol="0" anchor="ctr"/>
          <a:lstStyle/>
          <a:p>
            <a:pPr indent="0" marL="0">
              <a:buNone/>
            </a:pPr>
            <a:r>
              <a:rPr lang="en-US" sz="1300" b="1" dirty="0">
                <a:solidFill>
                  <a:srgbClr val="63758B"/>
                </a:solidFill>
                <a:latin typeface="Cambria" pitchFamily="34" charset="0"/>
                <a:ea typeface="Cambria" pitchFamily="34" charset="-122"/>
                <a:cs typeface="Cambria" pitchFamily="34" charset="-120"/>
              </a:rPr>
              <a:t>time</a:t>
            </a:r>
            <a:endParaRPr lang="en-US" sz="1300" dirty="0"/>
          </a:p>
        </p:txBody>
      </p:sp>
      <p:sp>
        <p:nvSpPr>
          <p:cNvPr id="6" name="Shape 4"/>
          <p:cNvSpPr/>
          <p:nvPr/>
        </p:nvSpPr>
        <p:spPr>
          <a:xfrm>
            <a:off x="1417320" y="2240280"/>
            <a:ext cx="0" cy="2880360"/>
          </a:xfrm>
          <a:prstGeom prst="line">
            <a:avLst/>
          </a:prstGeom>
          <a:noFill/>
          <a:ln w="15240">
            <a:solidFill>
              <a:srgbClr val="DCE4EE"/>
            </a:solidFill>
            <a:prstDash val="solid"/>
          </a:ln>
        </p:spPr>
      </p:sp>
      <p:sp>
        <p:nvSpPr>
          <p:cNvPr id="7" name="Text 5"/>
          <p:cNvSpPr/>
          <p:nvPr/>
        </p:nvSpPr>
        <p:spPr>
          <a:xfrm>
            <a:off x="1069848" y="1938528"/>
            <a:ext cx="694944" cy="219456"/>
          </a:xfrm>
          <a:prstGeom prst="rect">
            <a:avLst/>
          </a:prstGeom>
          <a:noFill/>
          <a:ln/>
        </p:spPr>
        <p:txBody>
          <a:bodyPr wrap="square" lIns="0" tIns="0" rIns="0" bIns="0" rtlCol="0" anchor="ctr"/>
          <a:lstStyle/>
          <a:p>
            <a:pPr algn="ctr" indent="0" marL="0">
              <a:buNone/>
            </a:pPr>
            <a:r>
              <a:rPr lang="en-US" sz="1150" dirty="0">
                <a:solidFill>
                  <a:srgbClr val="0B1F3A"/>
                </a:solidFill>
                <a:latin typeface="Courier New" pitchFamily="34" charset="0"/>
                <a:ea typeface="Courier New" pitchFamily="34" charset="-122"/>
                <a:cs typeface="Courier New" pitchFamily="34" charset="-120"/>
              </a:rPr>
              <a:t>22:59</a:t>
            </a:r>
            <a:endParaRPr lang="en-US" sz="1150" dirty="0"/>
          </a:p>
        </p:txBody>
      </p:sp>
      <p:sp>
        <p:nvSpPr>
          <p:cNvPr id="8" name="Shape 6"/>
          <p:cNvSpPr/>
          <p:nvPr/>
        </p:nvSpPr>
        <p:spPr>
          <a:xfrm>
            <a:off x="3429000" y="2240280"/>
            <a:ext cx="0" cy="2880360"/>
          </a:xfrm>
          <a:prstGeom prst="line">
            <a:avLst/>
          </a:prstGeom>
          <a:noFill/>
          <a:ln w="15240">
            <a:solidFill>
              <a:srgbClr val="DCE4EE"/>
            </a:solidFill>
            <a:prstDash val="solid"/>
          </a:ln>
        </p:spPr>
      </p:sp>
      <p:sp>
        <p:nvSpPr>
          <p:cNvPr id="9" name="Text 7"/>
          <p:cNvSpPr/>
          <p:nvPr/>
        </p:nvSpPr>
        <p:spPr>
          <a:xfrm>
            <a:off x="3081528" y="1938528"/>
            <a:ext cx="694944" cy="219456"/>
          </a:xfrm>
          <a:prstGeom prst="rect">
            <a:avLst/>
          </a:prstGeom>
          <a:noFill/>
          <a:ln/>
        </p:spPr>
        <p:txBody>
          <a:bodyPr wrap="square" lIns="0" tIns="0" rIns="0" bIns="0" rtlCol="0" anchor="ctr"/>
          <a:lstStyle/>
          <a:p>
            <a:pPr algn="ctr" indent="0" marL="0">
              <a:buNone/>
            </a:pPr>
            <a:r>
              <a:rPr lang="en-US" sz="1150" dirty="0">
                <a:solidFill>
                  <a:srgbClr val="0B1F3A"/>
                </a:solidFill>
                <a:latin typeface="Courier New" pitchFamily="34" charset="0"/>
                <a:ea typeface="Courier New" pitchFamily="34" charset="-122"/>
                <a:cs typeface="Courier New" pitchFamily="34" charset="-120"/>
              </a:rPr>
              <a:t>23:00</a:t>
            </a:r>
            <a:endParaRPr lang="en-US" sz="1150" dirty="0"/>
          </a:p>
        </p:txBody>
      </p:sp>
      <p:sp>
        <p:nvSpPr>
          <p:cNvPr id="10" name="Shape 8"/>
          <p:cNvSpPr/>
          <p:nvPr/>
        </p:nvSpPr>
        <p:spPr>
          <a:xfrm>
            <a:off x="5440680" y="2240280"/>
            <a:ext cx="0" cy="2880360"/>
          </a:xfrm>
          <a:prstGeom prst="line">
            <a:avLst/>
          </a:prstGeom>
          <a:noFill/>
          <a:ln w="15240">
            <a:solidFill>
              <a:srgbClr val="DCE4EE"/>
            </a:solidFill>
            <a:prstDash val="solid"/>
          </a:ln>
        </p:spPr>
      </p:sp>
      <p:sp>
        <p:nvSpPr>
          <p:cNvPr id="11" name="Text 9"/>
          <p:cNvSpPr/>
          <p:nvPr/>
        </p:nvSpPr>
        <p:spPr>
          <a:xfrm>
            <a:off x="5093208" y="1938528"/>
            <a:ext cx="694944" cy="219456"/>
          </a:xfrm>
          <a:prstGeom prst="rect">
            <a:avLst/>
          </a:prstGeom>
          <a:noFill/>
          <a:ln/>
        </p:spPr>
        <p:txBody>
          <a:bodyPr wrap="square" lIns="0" tIns="0" rIns="0" bIns="0" rtlCol="0" anchor="ctr"/>
          <a:lstStyle/>
          <a:p>
            <a:pPr algn="ctr" indent="0" marL="0">
              <a:buNone/>
            </a:pPr>
            <a:r>
              <a:rPr lang="en-US" sz="1150" dirty="0">
                <a:solidFill>
                  <a:srgbClr val="0B1F3A"/>
                </a:solidFill>
                <a:latin typeface="Courier New" pitchFamily="34" charset="0"/>
                <a:ea typeface="Courier New" pitchFamily="34" charset="-122"/>
                <a:cs typeface="Courier New" pitchFamily="34" charset="-120"/>
              </a:rPr>
              <a:t>23:03</a:t>
            </a:r>
            <a:endParaRPr lang="en-US" sz="1150" dirty="0"/>
          </a:p>
        </p:txBody>
      </p:sp>
      <p:sp>
        <p:nvSpPr>
          <p:cNvPr id="12" name="Shape 10"/>
          <p:cNvSpPr/>
          <p:nvPr/>
        </p:nvSpPr>
        <p:spPr>
          <a:xfrm>
            <a:off x="7452360" y="2240280"/>
            <a:ext cx="0" cy="2880360"/>
          </a:xfrm>
          <a:prstGeom prst="line">
            <a:avLst/>
          </a:prstGeom>
          <a:noFill/>
          <a:ln w="15240">
            <a:solidFill>
              <a:srgbClr val="DCE4EE"/>
            </a:solidFill>
            <a:prstDash val="solid"/>
          </a:ln>
        </p:spPr>
      </p:sp>
      <p:sp>
        <p:nvSpPr>
          <p:cNvPr id="13" name="Text 11"/>
          <p:cNvSpPr/>
          <p:nvPr/>
        </p:nvSpPr>
        <p:spPr>
          <a:xfrm>
            <a:off x="7104888" y="1938528"/>
            <a:ext cx="694944" cy="219456"/>
          </a:xfrm>
          <a:prstGeom prst="rect">
            <a:avLst/>
          </a:prstGeom>
          <a:noFill/>
          <a:ln/>
        </p:spPr>
        <p:txBody>
          <a:bodyPr wrap="square" lIns="0" tIns="0" rIns="0" bIns="0" rtlCol="0" anchor="ctr"/>
          <a:lstStyle/>
          <a:p>
            <a:pPr algn="ctr" indent="0" marL="0">
              <a:buNone/>
            </a:pPr>
            <a:r>
              <a:rPr lang="en-US" sz="1150" dirty="0">
                <a:solidFill>
                  <a:srgbClr val="0B1F3A"/>
                </a:solidFill>
                <a:latin typeface="Courier New" pitchFamily="34" charset="0"/>
                <a:ea typeface="Courier New" pitchFamily="34" charset="-122"/>
                <a:cs typeface="Courier New" pitchFamily="34" charset="-120"/>
              </a:rPr>
              <a:t>23:06</a:t>
            </a:r>
            <a:endParaRPr lang="en-US" sz="1150" dirty="0"/>
          </a:p>
        </p:txBody>
      </p:sp>
      <p:sp>
        <p:nvSpPr>
          <p:cNvPr id="14" name="Shape 12"/>
          <p:cNvSpPr/>
          <p:nvPr/>
        </p:nvSpPr>
        <p:spPr>
          <a:xfrm>
            <a:off x="9464040" y="2240280"/>
            <a:ext cx="0" cy="2880360"/>
          </a:xfrm>
          <a:prstGeom prst="line">
            <a:avLst/>
          </a:prstGeom>
          <a:noFill/>
          <a:ln w="15240">
            <a:solidFill>
              <a:srgbClr val="DCE4EE"/>
            </a:solidFill>
            <a:prstDash val="solid"/>
          </a:ln>
        </p:spPr>
      </p:sp>
      <p:sp>
        <p:nvSpPr>
          <p:cNvPr id="15" name="Text 13"/>
          <p:cNvSpPr/>
          <p:nvPr/>
        </p:nvSpPr>
        <p:spPr>
          <a:xfrm>
            <a:off x="9116568" y="1938528"/>
            <a:ext cx="694944" cy="219456"/>
          </a:xfrm>
          <a:prstGeom prst="rect">
            <a:avLst/>
          </a:prstGeom>
          <a:noFill/>
          <a:ln/>
        </p:spPr>
        <p:txBody>
          <a:bodyPr wrap="square" lIns="0" tIns="0" rIns="0" bIns="0" rtlCol="0" anchor="ctr"/>
          <a:lstStyle/>
          <a:p>
            <a:pPr algn="ctr" indent="0" marL="0">
              <a:buNone/>
            </a:pPr>
            <a:r>
              <a:rPr lang="en-US" sz="1150" dirty="0">
                <a:solidFill>
                  <a:srgbClr val="0B1F3A"/>
                </a:solidFill>
                <a:latin typeface="Courier New" pitchFamily="34" charset="0"/>
                <a:ea typeface="Courier New" pitchFamily="34" charset="-122"/>
                <a:cs typeface="Courier New" pitchFamily="34" charset="-120"/>
              </a:rPr>
              <a:t>23:10</a:t>
            </a:r>
            <a:endParaRPr lang="en-US" sz="1150" dirty="0"/>
          </a:p>
        </p:txBody>
      </p:sp>
      <p:sp>
        <p:nvSpPr>
          <p:cNvPr id="16" name="Text 14"/>
          <p:cNvSpPr/>
          <p:nvPr/>
        </p:nvSpPr>
        <p:spPr>
          <a:xfrm>
            <a:off x="749808" y="2487168"/>
            <a:ext cx="822960" cy="219456"/>
          </a:xfrm>
          <a:prstGeom prst="rect">
            <a:avLst/>
          </a:prstGeom>
          <a:noFill/>
          <a:ln/>
        </p:spPr>
        <p:txBody>
          <a:bodyPr wrap="square" lIns="0" tIns="0" rIns="0" bIns="0" rtlCol="0" anchor="ctr"/>
          <a:lstStyle/>
          <a:p>
            <a:pPr indent="0" marL="0">
              <a:buNone/>
            </a:pPr>
            <a:r>
              <a:rPr lang="en-US" sz="1300" b="1" dirty="0">
                <a:solidFill>
                  <a:srgbClr val="8E6FBF"/>
                </a:solidFill>
                <a:latin typeface="Cambria" pitchFamily="34" charset="0"/>
                <a:ea typeface="Cambria" pitchFamily="34" charset="-122"/>
                <a:cs typeface="Cambria" pitchFamily="34" charset="-120"/>
              </a:rPr>
              <a:t>CronJob</a:t>
            </a:r>
            <a:endParaRPr lang="en-US" sz="1300" dirty="0"/>
          </a:p>
        </p:txBody>
      </p:sp>
      <p:sp>
        <p:nvSpPr>
          <p:cNvPr id="17" name="Text 15"/>
          <p:cNvSpPr/>
          <p:nvPr/>
        </p:nvSpPr>
        <p:spPr>
          <a:xfrm>
            <a:off x="896112" y="3364992"/>
            <a:ext cx="548640" cy="219456"/>
          </a:xfrm>
          <a:prstGeom prst="rect">
            <a:avLst/>
          </a:prstGeom>
          <a:noFill/>
          <a:ln/>
        </p:spPr>
        <p:txBody>
          <a:bodyPr wrap="square" lIns="0" tIns="0" rIns="0" bIns="0" rtlCol="0" anchor="ctr"/>
          <a:lstStyle/>
          <a:p>
            <a:pPr indent="0" marL="0">
              <a:buNone/>
            </a:pPr>
            <a:r>
              <a:rPr lang="en-US" sz="1300" b="1" dirty="0">
                <a:solidFill>
                  <a:srgbClr val="C97B1E"/>
                </a:solidFill>
                <a:latin typeface="Cambria" pitchFamily="34" charset="0"/>
                <a:ea typeface="Cambria" pitchFamily="34" charset="-122"/>
                <a:cs typeface="Cambria" pitchFamily="34" charset="-120"/>
              </a:rPr>
              <a:t>Job</a:t>
            </a:r>
            <a:endParaRPr lang="en-US" sz="1300" dirty="0"/>
          </a:p>
        </p:txBody>
      </p:sp>
      <p:sp>
        <p:nvSpPr>
          <p:cNvPr id="18" name="Text 16"/>
          <p:cNvSpPr/>
          <p:nvPr/>
        </p:nvSpPr>
        <p:spPr>
          <a:xfrm>
            <a:off x="896112" y="4242816"/>
            <a:ext cx="548640" cy="219456"/>
          </a:xfrm>
          <a:prstGeom prst="rect">
            <a:avLst/>
          </a:prstGeom>
          <a:noFill/>
          <a:ln/>
        </p:spPr>
        <p:txBody>
          <a:bodyPr wrap="square" lIns="0" tIns="0" rIns="0" bIns="0" rtlCol="0" anchor="ctr"/>
          <a:lstStyle/>
          <a:p>
            <a:pPr indent="0" marL="0">
              <a:buNone/>
            </a:pPr>
            <a:r>
              <a:rPr lang="en-US" sz="1300" b="1" dirty="0">
                <a:solidFill>
                  <a:srgbClr val="2E9E63"/>
                </a:solidFill>
                <a:latin typeface="Cambria" pitchFamily="34" charset="0"/>
                <a:ea typeface="Cambria" pitchFamily="34" charset="-122"/>
                <a:cs typeface="Cambria" pitchFamily="34" charset="-120"/>
              </a:rPr>
              <a:t>Pod</a:t>
            </a:r>
            <a:endParaRPr lang="en-US" sz="1300" dirty="0"/>
          </a:p>
        </p:txBody>
      </p:sp>
      <p:sp>
        <p:nvSpPr>
          <p:cNvPr id="19" name="Shape 17"/>
          <p:cNvSpPr/>
          <p:nvPr/>
        </p:nvSpPr>
        <p:spPr>
          <a:xfrm>
            <a:off x="2743200" y="2377440"/>
            <a:ext cx="1143000" cy="566928"/>
          </a:xfrm>
          <a:prstGeom prst="roundRect">
            <a:avLst>
              <a:gd name="adj" fmla="val 12903"/>
            </a:avLst>
          </a:prstGeom>
          <a:solidFill>
            <a:srgbClr val="8E6FBF"/>
          </a:solidFill>
          <a:ln w="12700">
            <a:solidFill>
              <a:srgbClr val="8E6FBF"/>
            </a:solidFill>
            <a:prstDash val="solid"/>
          </a:ln>
        </p:spPr>
      </p:sp>
      <p:sp>
        <p:nvSpPr>
          <p:cNvPr id="20" name="Text 18"/>
          <p:cNvSpPr/>
          <p:nvPr/>
        </p:nvSpPr>
        <p:spPr>
          <a:xfrm>
            <a:off x="2816352" y="2377440"/>
            <a:ext cx="9966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 23 * * *</a:t>
            </a:r>
            <a:endParaRPr lang="en-US" sz="1400" dirty="0"/>
          </a:p>
        </p:txBody>
      </p:sp>
      <p:sp>
        <p:nvSpPr>
          <p:cNvPr id="21" name="Shape 19"/>
          <p:cNvSpPr/>
          <p:nvPr/>
        </p:nvSpPr>
        <p:spPr>
          <a:xfrm>
            <a:off x="3310128" y="2962656"/>
            <a:ext cx="0" cy="310896"/>
          </a:xfrm>
          <a:prstGeom prst="line">
            <a:avLst/>
          </a:prstGeom>
          <a:noFill/>
          <a:ln w="25400">
            <a:solidFill>
              <a:srgbClr val="8E6FBF"/>
            </a:solidFill>
            <a:prstDash val="solid"/>
            <a:tailEnd type="triangle"/>
          </a:ln>
        </p:spPr>
      </p:sp>
      <p:sp>
        <p:nvSpPr>
          <p:cNvPr id="22" name="Shape 20"/>
          <p:cNvSpPr/>
          <p:nvPr/>
        </p:nvSpPr>
        <p:spPr>
          <a:xfrm>
            <a:off x="2450592" y="3328416"/>
            <a:ext cx="1737360" cy="621792"/>
          </a:xfrm>
          <a:prstGeom prst="roundRect">
            <a:avLst>
              <a:gd name="adj" fmla="val 11765"/>
            </a:avLst>
          </a:prstGeom>
          <a:solidFill>
            <a:srgbClr val="C97B1E"/>
          </a:solidFill>
          <a:ln w="12700">
            <a:solidFill>
              <a:srgbClr val="C97B1E"/>
            </a:solidFill>
            <a:prstDash val="solid"/>
          </a:ln>
        </p:spPr>
      </p:sp>
      <p:sp>
        <p:nvSpPr>
          <p:cNvPr id="23" name="Text 21"/>
          <p:cNvSpPr/>
          <p:nvPr/>
        </p:nvSpPr>
        <p:spPr>
          <a:xfrm>
            <a:off x="2523744" y="3328416"/>
            <a:ext cx="1591056"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Job nightly-report-291</a:t>
            </a:r>
            <a:endParaRPr lang="en-US" sz="1400" dirty="0"/>
          </a:p>
        </p:txBody>
      </p:sp>
      <p:sp>
        <p:nvSpPr>
          <p:cNvPr id="24" name="Shape 22"/>
          <p:cNvSpPr/>
          <p:nvPr/>
        </p:nvSpPr>
        <p:spPr>
          <a:xfrm>
            <a:off x="3310128" y="3968496"/>
            <a:ext cx="0" cy="310896"/>
          </a:xfrm>
          <a:prstGeom prst="line">
            <a:avLst/>
          </a:prstGeom>
          <a:noFill/>
          <a:ln w="25400">
            <a:solidFill>
              <a:srgbClr val="C97B1E"/>
            </a:solidFill>
            <a:prstDash val="solid"/>
            <a:tailEnd type="triangle"/>
          </a:ln>
        </p:spPr>
      </p:sp>
      <p:sp>
        <p:nvSpPr>
          <p:cNvPr id="25" name="Shape 23"/>
          <p:cNvSpPr/>
          <p:nvPr/>
        </p:nvSpPr>
        <p:spPr>
          <a:xfrm>
            <a:off x="2724912" y="4224528"/>
            <a:ext cx="1188720" cy="621792"/>
          </a:xfrm>
          <a:prstGeom prst="roundRect">
            <a:avLst>
              <a:gd name="adj" fmla="val 11765"/>
            </a:avLst>
          </a:prstGeom>
          <a:solidFill>
            <a:srgbClr val="2E9E63"/>
          </a:solidFill>
          <a:ln w="12700">
            <a:solidFill>
              <a:srgbClr val="2E9E63"/>
            </a:solidFill>
            <a:prstDash val="solid"/>
          </a:ln>
        </p:spPr>
      </p:sp>
      <p:sp>
        <p:nvSpPr>
          <p:cNvPr id="26" name="Text 24"/>
          <p:cNvSpPr/>
          <p:nvPr/>
        </p:nvSpPr>
        <p:spPr>
          <a:xfrm>
            <a:off x="2798064" y="4224528"/>
            <a:ext cx="1042416"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 run #1</a:t>
            </a:r>
            <a:endParaRPr lang="en-US" sz="1400" dirty="0"/>
          </a:p>
        </p:txBody>
      </p:sp>
      <p:sp>
        <p:nvSpPr>
          <p:cNvPr id="27" name="Shape 25"/>
          <p:cNvSpPr/>
          <p:nvPr/>
        </p:nvSpPr>
        <p:spPr>
          <a:xfrm>
            <a:off x="3913632" y="4535424"/>
            <a:ext cx="1874520" cy="0"/>
          </a:xfrm>
          <a:prstGeom prst="line">
            <a:avLst/>
          </a:prstGeom>
          <a:noFill/>
          <a:ln w="25400">
            <a:solidFill>
              <a:srgbClr val="2E9E63"/>
            </a:solidFill>
            <a:prstDash val="solid"/>
          </a:ln>
        </p:spPr>
      </p:sp>
      <p:sp>
        <p:nvSpPr>
          <p:cNvPr id="28" name="Text 26"/>
          <p:cNvSpPr/>
          <p:nvPr/>
        </p:nvSpPr>
        <p:spPr>
          <a:xfrm>
            <a:off x="4361688" y="4233672"/>
            <a:ext cx="914400" cy="201168"/>
          </a:xfrm>
          <a:prstGeom prst="rect">
            <a:avLst/>
          </a:prstGeom>
          <a:noFill/>
          <a:ln/>
        </p:spPr>
        <p:txBody>
          <a:bodyPr wrap="square" lIns="0" tIns="0" rIns="0" bIns="0" rtlCol="0" anchor="ctr"/>
          <a:lstStyle/>
          <a:p>
            <a:pPr algn="ctr" indent="0" marL="0">
              <a:buNone/>
            </a:pPr>
            <a:r>
              <a:rPr lang="en-US" sz="1100" i="1" dirty="0">
                <a:solidFill>
                  <a:srgbClr val="63758B"/>
                </a:solidFill>
                <a:latin typeface="Calibri" pitchFamily="34" charset="0"/>
                <a:ea typeface="Calibri" pitchFamily="34" charset="-122"/>
                <a:cs typeface="Calibri" pitchFamily="34" charset="-120"/>
              </a:rPr>
              <a:t>running</a:t>
            </a:r>
            <a:endParaRPr lang="en-US" sz="1100" dirty="0"/>
          </a:p>
        </p:txBody>
      </p:sp>
      <p:sp>
        <p:nvSpPr>
          <p:cNvPr id="29" name="Shape 27"/>
          <p:cNvSpPr/>
          <p:nvPr/>
        </p:nvSpPr>
        <p:spPr>
          <a:xfrm>
            <a:off x="5687568" y="4224528"/>
            <a:ext cx="960120" cy="621792"/>
          </a:xfrm>
          <a:prstGeom prst="roundRect">
            <a:avLst>
              <a:gd name="adj" fmla="val 11765"/>
            </a:avLst>
          </a:prstGeom>
          <a:solidFill>
            <a:srgbClr val="1C7293"/>
          </a:solidFill>
          <a:ln w="12700">
            <a:solidFill>
              <a:srgbClr val="1C7293"/>
            </a:solidFill>
            <a:prstDash val="solid"/>
          </a:ln>
        </p:spPr>
      </p:sp>
      <p:sp>
        <p:nvSpPr>
          <p:cNvPr id="30" name="Text 28"/>
          <p:cNvSpPr/>
          <p:nvPr/>
        </p:nvSpPr>
        <p:spPr>
          <a:xfrm>
            <a:off x="5760720" y="4224528"/>
            <a:ext cx="813816"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Complete</a:t>
            </a:r>
            <a:endParaRPr lang="en-US" sz="1400" dirty="0"/>
          </a:p>
        </p:txBody>
      </p:sp>
      <p:sp>
        <p:nvSpPr>
          <p:cNvPr id="31" name="Shape 29"/>
          <p:cNvSpPr/>
          <p:nvPr/>
        </p:nvSpPr>
        <p:spPr>
          <a:xfrm>
            <a:off x="6748272" y="2377440"/>
            <a:ext cx="1143000" cy="566928"/>
          </a:xfrm>
          <a:prstGeom prst="roundRect">
            <a:avLst>
              <a:gd name="adj" fmla="val 12903"/>
            </a:avLst>
          </a:prstGeom>
          <a:solidFill>
            <a:srgbClr val="8E6FBF"/>
          </a:solidFill>
          <a:ln w="12700">
            <a:solidFill>
              <a:srgbClr val="8E6FBF"/>
            </a:solidFill>
            <a:prstDash val="solid"/>
          </a:ln>
        </p:spPr>
      </p:sp>
      <p:sp>
        <p:nvSpPr>
          <p:cNvPr id="32" name="Text 30"/>
          <p:cNvSpPr/>
          <p:nvPr/>
        </p:nvSpPr>
        <p:spPr>
          <a:xfrm>
            <a:off x="6821424" y="2377440"/>
            <a:ext cx="99669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 23 * * *</a:t>
            </a:r>
            <a:endParaRPr lang="en-US" sz="1400" dirty="0"/>
          </a:p>
        </p:txBody>
      </p:sp>
      <p:sp>
        <p:nvSpPr>
          <p:cNvPr id="33" name="Shape 31"/>
          <p:cNvSpPr/>
          <p:nvPr/>
        </p:nvSpPr>
        <p:spPr>
          <a:xfrm>
            <a:off x="7315200" y="2962656"/>
            <a:ext cx="0" cy="310896"/>
          </a:xfrm>
          <a:prstGeom prst="line">
            <a:avLst/>
          </a:prstGeom>
          <a:noFill/>
          <a:ln w="25400">
            <a:solidFill>
              <a:srgbClr val="8E6FBF"/>
            </a:solidFill>
            <a:prstDash val="solid"/>
            <a:tailEnd type="triangle"/>
          </a:ln>
        </p:spPr>
      </p:sp>
      <p:sp>
        <p:nvSpPr>
          <p:cNvPr id="34" name="Shape 32"/>
          <p:cNvSpPr/>
          <p:nvPr/>
        </p:nvSpPr>
        <p:spPr>
          <a:xfrm>
            <a:off x="6537960" y="3310128"/>
            <a:ext cx="1554480" cy="658368"/>
          </a:xfrm>
          <a:prstGeom prst="roundRect">
            <a:avLst>
              <a:gd name="adj" fmla="val 11111"/>
            </a:avLst>
          </a:prstGeom>
          <a:solidFill>
            <a:srgbClr val="1B4066"/>
          </a:solidFill>
          <a:ln w="12700">
            <a:solidFill>
              <a:srgbClr val="1B4066"/>
            </a:solidFill>
            <a:prstDash val="solid"/>
          </a:ln>
        </p:spPr>
      </p:sp>
      <p:sp>
        <p:nvSpPr>
          <p:cNvPr id="35" name="Text 33"/>
          <p:cNvSpPr/>
          <p:nvPr/>
        </p:nvSpPr>
        <p:spPr>
          <a:xfrm>
            <a:off x="6611112" y="3310128"/>
            <a:ext cx="1408176"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if prior Job</a:t>
            </a:r>
            <a:endParaRPr lang="en-US" sz="1400" dirty="0"/>
          </a:p>
          <a:p>
            <a:pPr algn="ctr" indent="0" marL="0">
              <a:buNone/>
            </a:pPr>
            <a:r>
              <a:rPr lang="en-US" sz="1400" b="1" dirty="0">
                <a:solidFill>
                  <a:srgbClr val="FFFFFF"/>
                </a:solidFill>
                <a:latin typeface="Cambria" pitchFamily="34" charset="0"/>
                <a:ea typeface="Cambria" pitchFamily="34" charset="-122"/>
                <a:cs typeface="Cambria" pitchFamily="34" charset="-120"/>
              </a:rPr>
              <a:t>still running</a:t>
            </a:r>
            <a:endParaRPr lang="en-US" sz="1400" dirty="0"/>
          </a:p>
        </p:txBody>
      </p:sp>
      <p:sp>
        <p:nvSpPr>
          <p:cNvPr id="36" name="Shape 34"/>
          <p:cNvSpPr/>
          <p:nvPr/>
        </p:nvSpPr>
        <p:spPr>
          <a:xfrm>
            <a:off x="8522208" y="3328416"/>
            <a:ext cx="1463040" cy="621792"/>
          </a:xfrm>
          <a:prstGeom prst="roundRect">
            <a:avLst>
              <a:gd name="adj" fmla="val 11765"/>
            </a:avLst>
          </a:prstGeom>
          <a:solidFill>
            <a:srgbClr val="D64545"/>
          </a:solidFill>
          <a:ln w="12700">
            <a:solidFill>
              <a:srgbClr val="D64545"/>
            </a:solidFill>
            <a:prstDash val="solid"/>
          </a:ln>
        </p:spPr>
      </p:sp>
      <p:sp>
        <p:nvSpPr>
          <p:cNvPr id="37" name="Text 35"/>
          <p:cNvSpPr/>
          <p:nvPr/>
        </p:nvSpPr>
        <p:spPr>
          <a:xfrm>
            <a:off x="8595360" y="3328416"/>
            <a:ext cx="1316736"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Forbid → skip</a:t>
            </a:r>
            <a:endParaRPr lang="en-US" sz="1400" dirty="0"/>
          </a:p>
        </p:txBody>
      </p:sp>
      <p:sp>
        <p:nvSpPr>
          <p:cNvPr id="38" name="Shape 36"/>
          <p:cNvSpPr/>
          <p:nvPr/>
        </p:nvSpPr>
        <p:spPr>
          <a:xfrm>
            <a:off x="8119872" y="3639312"/>
            <a:ext cx="310896" cy="0"/>
          </a:xfrm>
          <a:prstGeom prst="line">
            <a:avLst/>
          </a:prstGeom>
          <a:noFill/>
          <a:ln w="25400">
            <a:solidFill>
              <a:srgbClr val="D64545"/>
            </a:solidFill>
            <a:prstDash val="solid"/>
            <a:tailEnd type="triangle"/>
          </a:ln>
        </p:spPr>
      </p:sp>
      <p:sp>
        <p:nvSpPr>
          <p:cNvPr id="39" name="Text 37"/>
          <p:cNvSpPr/>
          <p:nvPr/>
        </p:nvSpPr>
        <p:spPr>
          <a:xfrm>
            <a:off x="566928" y="5742432"/>
            <a:ext cx="11057839" cy="38404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CronJob decides WHEN to start; Job decides WHEN the work is finished or failed.</a:t>
            </a:r>
            <a:endParaRPr lang="en-US" sz="1400" dirty="0"/>
          </a:p>
        </p:txBody>
      </p:sp>
      <p:sp>
        <p:nvSpPr>
          <p:cNvPr id="40" name="Text 38"/>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41" name="Text 39"/>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31</a:t>
            </a:r>
            <a:endParaRPr lang="en-US" sz="900" dirty="0"/>
          </a:p>
        </p:txBody>
      </p:sp>
      <p:pic>
        <p:nvPicPr>
          <p:cNvPr id="42"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3"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4"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INDEPENDENT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L2.5</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other three controllers</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Deploy node-agent and prove the one-per-node invariant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Add a node and watch an agent appear with no manifest change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Work out why node-agent needs a toleration and payment-service does not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Run recon-worker, then break it and watch backoffLimit bound the retries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Schedule settlement-cron, trigger it manually, and reason about Forbid</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One node-agent per node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recon-worker succeeded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CronJob has timeZone and Forbid</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LAB=L2.5</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45 minutes   ·   labs/day2/L2.5-workload-types/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32</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M2.6</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Rolling updates, rollbacks and graceful shutdown</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Release under live traffic. Prove it, do not assert it.</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maxSurge and maxUnavailable arithmetically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Perform a zero-downtime release and MEASURE it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SIGTERM, grace period and preStop</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95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M2.6 · ROLLOUTS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maxSurge 1, maxUnavailable 0 — step by step</a:t>
            </a:r>
            <a:endParaRPr lang="en-US" sz="3200" dirty="0"/>
          </a:p>
        </p:txBody>
      </p:sp>
      <p:sp>
        <p:nvSpPr>
          <p:cNvPr id="5" name="Shape 3"/>
          <p:cNvSpPr/>
          <p:nvPr/>
        </p:nvSpPr>
        <p:spPr>
          <a:xfrm>
            <a:off x="566928" y="2057400"/>
            <a:ext cx="2084832" cy="2286000"/>
          </a:xfrm>
          <a:prstGeom prst="roundRect">
            <a:avLst>
              <a:gd name="adj" fmla="val 4386"/>
            </a:avLst>
          </a:prstGeom>
          <a:solidFill>
            <a:srgbClr val="12314F"/>
          </a:solidFill>
          <a:ln w="12700">
            <a:solidFill>
              <a:srgbClr val="1C7293"/>
            </a:solidFill>
            <a:prstDash val="solid"/>
          </a:ln>
        </p:spPr>
      </p:sp>
      <p:sp>
        <p:nvSpPr>
          <p:cNvPr id="6" name="Text 4"/>
          <p:cNvSpPr/>
          <p:nvPr/>
        </p:nvSpPr>
        <p:spPr>
          <a:xfrm>
            <a:off x="566928" y="2194560"/>
            <a:ext cx="2084832" cy="365760"/>
          </a:xfrm>
          <a:prstGeom prst="rect">
            <a:avLst/>
          </a:prstGeom>
          <a:noFill/>
          <a:ln/>
        </p:spPr>
        <p:txBody>
          <a:bodyPr wrap="square" lIns="0" tIns="0" rIns="0" bIns="0" rtlCol="0" anchor="ctr"/>
          <a:lstStyle/>
          <a:p>
            <a:pPr algn="ctr" indent="0" marL="0">
              <a:buNone/>
            </a:pPr>
            <a:r>
              <a:rPr lang="en-US" sz="1800" b="1" dirty="0">
                <a:solidFill>
                  <a:srgbClr val="1C7293"/>
                </a:solidFill>
                <a:latin typeface="Cambria" pitchFamily="34" charset="0"/>
                <a:ea typeface="Cambria" pitchFamily="34" charset="-122"/>
                <a:cs typeface="Cambria" pitchFamily="34" charset="-120"/>
              </a:rPr>
              <a:t>t0</a:t>
            </a:r>
            <a:endParaRPr lang="en-US" sz="1800" dirty="0"/>
          </a:p>
        </p:txBody>
      </p:sp>
      <p:sp>
        <p:nvSpPr>
          <p:cNvPr id="7" name="Text 5"/>
          <p:cNvSpPr/>
          <p:nvPr/>
        </p:nvSpPr>
        <p:spPr>
          <a:xfrm>
            <a:off x="676656" y="2606040"/>
            <a:ext cx="1865376"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RS-A: 3 ready</a:t>
            </a:r>
            <a:endParaRPr lang="en-US" sz="1250" dirty="0"/>
          </a:p>
        </p:txBody>
      </p:sp>
      <p:sp>
        <p:nvSpPr>
          <p:cNvPr id="8" name="Text 6"/>
          <p:cNvSpPr/>
          <p:nvPr/>
        </p:nvSpPr>
        <p:spPr>
          <a:xfrm>
            <a:off x="676656" y="3127248"/>
            <a:ext cx="1865376" cy="45720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v1.0.0</a:t>
            </a:r>
            <a:endParaRPr lang="en-US" sz="1050" dirty="0"/>
          </a:p>
        </p:txBody>
      </p:sp>
      <p:sp>
        <p:nvSpPr>
          <p:cNvPr id="9" name="Shape 7"/>
          <p:cNvSpPr/>
          <p:nvPr/>
        </p:nvSpPr>
        <p:spPr>
          <a:xfrm>
            <a:off x="694944" y="3675888"/>
            <a:ext cx="1828800" cy="502920"/>
          </a:xfrm>
          <a:prstGeom prst="roundRect">
            <a:avLst>
              <a:gd name="adj" fmla="val 10909"/>
            </a:avLst>
          </a:prstGeom>
          <a:solidFill>
            <a:srgbClr val="0E2740"/>
          </a:solidFill>
          <a:ln w="12700">
            <a:solidFill>
              <a:srgbClr val="1B4066"/>
            </a:solidFill>
            <a:prstDash val="solid"/>
          </a:ln>
        </p:spPr>
      </p:sp>
      <p:sp>
        <p:nvSpPr>
          <p:cNvPr id="10" name="Text 8"/>
          <p:cNvSpPr/>
          <p:nvPr/>
        </p:nvSpPr>
        <p:spPr>
          <a:xfrm>
            <a:off x="694944" y="3675888"/>
            <a:ext cx="1828800" cy="502920"/>
          </a:xfrm>
          <a:prstGeom prst="rect">
            <a:avLst/>
          </a:prstGeom>
          <a:noFill/>
          <a:ln/>
        </p:spPr>
        <p:txBody>
          <a:bodyPr wrap="square" lIns="0" tIns="0" rIns="0" bIns="0" rtlCol="0" anchor="ctr"/>
          <a:lstStyle/>
          <a:p>
            <a:pPr algn="ctr" indent="0" marL="0">
              <a:buNone/>
            </a:pPr>
            <a:r>
              <a:rPr lang="en-US" sz="950" dirty="0">
                <a:solidFill>
                  <a:srgbClr val="F2A03D"/>
                </a:solidFill>
                <a:latin typeface="Courier New" pitchFamily="34" charset="0"/>
                <a:ea typeface="Courier New" pitchFamily="34" charset="-122"/>
                <a:cs typeface="Courier New" pitchFamily="34" charset="-120"/>
              </a:rPr>
              <a:t>total 3 · serving 3</a:t>
            </a:r>
            <a:endParaRPr lang="en-US" sz="950" dirty="0"/>
          </a:p>
        </p:txBody>
      </p:sp>
      <p:sp>
        <p:nvSpPr>
          <p:cNvPr id="11" name="Shape 9"/>
          <p:cNvSpPr/>
          <p:nvPr/>
        </p:nvSpPr>
        <p:spPr>
          <a:xfrm>
            <a:off x="2670048" y="3200400"/>
            <a:ext cx="146304" cy="0"/>
          </a:xfrm>
          <a:prstGeom prst="line">
            <a:avLst/>
          </a:prstGeom>
          <a:noFill/>
          <a:ln w="25400">
            <a:solidFill>
              <a:srgbClr val="1C7293"/>
            </a:solidFill>
            <a:prstDash val="solid"/>
            <a:tailEnd type="triangle"/>
          </a:ln>
        </p:spPr>
      </p:sp>
      <p:sp>
        <p:nvSpPr>
          <p:cNvPr id="12" name="Shape 10"/>
          <p:cNvSpPr/>
          <p:nvPr/>
        </p:nvSpPr>
        <p:spPr>
          <a:xfrm>
            <a:off x="2834640" y="2057400"/>
            <a:ext cx="2084832" cy="2286000"/>
          </a:xfrm>
          <a:prstGeom prst="roundRect">
            <a:avLst>
              <a:gd name="adj" fmla="val 4386"/>
            </a:avLst>
          </a:prstGeom>
          <a:solidFill>
            <a:srgbClr val="12314F"/>
          </a:solidFill>
          <a:ln w="12700">
            <a:solidFill>
              <a:srgbClr val="C97B1E"/>
            </a:solidFill>
            <a:prstDash val="solid"/>
          </a:ln>
        </p:spPr>
      </p:sp>
      <p:sp>
        <p:nvSpPr>
          <p:cNvPr id="13" name="Text 11"/>
          <p:cNvSpPr/>
          <p:nvPr/>
        </p:nvSpPr>
        <p:spPr>
          <a:xfrm>
            <a:off x="2834640" y="2194560"/>
            <a:ext cx="2084832" cy="365760"/>
          </a:xfrm>
          <a:prstGeom prst="rect">
            <a:avLst/>
          </a:prstGeom>
          <a:noFill/>
          <a:ln/>
        </p:spPr>
        <p:txBody>
          <a:bodyPr wrap="square" lIns="0" tIns="0" rIns="0" bIns="0" rtlCol="0" anchor="ctr"/>
          <a:lstStyle/>
          <a:p>
            <a:pPr algn="ctr" indent="0" marL="0">
              <a:buNone/>
            </a:pPr>
            <a:r>
              <a:rPr lang="en-US" sz="1800" b="1" dirty="0">
                <a:solidFill>
                  <a:srgbClr val="C97B1E"/>
                </a:solidFill>
                <a:latin typeface="Cambria" pitchFamily="34" charset="0"/>
                <a:ea typeface="Cambria" pitchFamily="34" charset="-122"/>
                <a:cs typeface="Cambria" pitchFamily="34" charset="-120"/>
              </a:rPr>
              <a:t>t1</a:t>
            </a:r>
            <a:endParaRPr lang="en-US" sz="1800" dirty="0"/>
          </a:p>
        </p:txBody>
      </p:sp>
      <p:sp>
        <p:nvSpPr>
          <p:cNvPr id="14" name="Text 12"/>
          <p:cNvSpPr/>
          <p:nvPr/>
        </p:nvSpPr>
        <p:spPr>
          <a:xfrm>
            <a:off x="2944368" y="2606040"/>
            <a:ext cx="1865376"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RS-B: +1 pod</a:t>
            </a:r>
            <a:endParaRPr lang="en-US" sz="1250" dirty="0"/>
          </a:p>
        </p:txBody>
      </p:sp>
      <p:sp>
        <p:nvSpPr>
          <p:cNvPr id="15" name="Text 13"/>
          <p:cNvSpPr/>
          <p:nvPr/>
        </p:nvSpPr>
        <p:spPr>
          <a:xfrm>
            <a:off x="2944368" y="3127248"/>
            <a:ext cx="1865376" cy="45720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not ready yet</a:t>
            </a:r>
            <a:endParaRPr lang="en-US" sz="1050" dirty="0"/>
          </a:p>
        </p:txBody>
      </p:sp>
      <p:sp>
        <p:nvSpPr>
          <p:cNvPr id="16" name="Shape 14"/>
          <p:cNvSpPr/>
          <p:nvPr/>
        </p:nvSpPr>
        <p:spPr>
          <a:xfrm>
            <a:off x="2962656" y="3675888"/>
            <a:ext cx="1828800" cy="502920"/>
          </a:xfrm>
          <a:prstGeom prst="roundRect">
            <a:avLst>
              <a:gd name="adj" fmla="val 10909"/>
            </a:avLst>
          </a:prstGeom>
          <a:solidFill>
            <a:srgbClr val="0E2740"/>
          </a:solidFill>
          <a:ln w="12700">
            <a:solidFill>
              <a:srgbClr val="1B4066"/>
            </a:solidFill>
            <a:prstDash val="solid"/>
          </a:ln>
        </p:spPr>
      </p:sp>
      <p:sp>
        <p:nvSpPr>
          <p:cNvPr id="17" name="Text 15"/>
          <p:cNvSpPr/>
          <p:nvPr/>
        </p:nvSpPr>
        <p:spPr>
          <a:xfrm>
            <a:off x="2962656" y="3675888"/>
            <a:ext cx="1828800" cy="502920"/>
          </a:xfrm>
          <a:prstGeom prst="rect">
            <a:avLst/>
          </a:prstGeom>
          <a:noFill/>
          <a:ln/>
        </p:spPr>
        <p:txBody>
          <a:bodyPr wrap="square" lIns="0" tIns="0" rIns="0" bIns="0" rtlCol="0" anchor="ctr"/>
          <a:lstStyle/>
          <a:p>
            <a:pPr algn="ctr" indent="0" marL="0">
              <a:buNone/>
            </a:pPr>
            <a:r>
              <a:rPr lang="en-US" sz="950" dirty="0">
                <a:solidFill>
                  <a:srgbClr val="F2A03D"/>
                </a:solidFill>
                <a:latin typeface="Courier New" pitchFamily="34" charset="0"/>
                <a:ea typeface="Courier New" pitchFamily="34" charset="-122"/>
                <a:cs typeface="Courier New" pitchFamily="34" charset="-120"/>
              </a:rPr>
              <a:t>total 4 · serving 3</a:t>
            </a:r>
            <a:endParaRPr lang="en-US" sz="950" dirty="0"/>
          </a:p>
        </p:txBody>
      </p:sp>
      <p:sp>
        <p:nvSpPr>
          <p:cNvPr id="18" name="Shape 16"/>
          <p:cNvSpPr/>
          <p:nvPr/>
        </p:nvSpPr>
        <p:spPr>
          <a:xfrm>
            <a:off x="4937760" y="3200400"/>
            <a:ext cx="146304" cy="0"/>
          </a:xfrm>
          <a:prstGeom prst="line">
            <a:avLst/>
          </a:prstGeom>
          <a:noFill/>
          <a:ln w="25400">
            <a:solidFill>
              <a:srgbClr val="1C7293"/>
            </a:solidFill>
            <a:prstDash val="solid"/>
            <a:tailEnd type="triangle"/>
          </a:ln>
        </p:spPr>
      </p:sp>
      <p:sp>
        <p:nvSpPr>
          <p:cNvPr id="19" name="Shape 17"/>
          <p:cNvSpPr/>
          <p:nvPr/>
        </p:nvSpPr>
        <p:spPr>
          <a:xfrm>
            <a:off x="5102352" y="2057400"/>
            <a:ext cx="2084832" cy="2286000"/>
          </a:xfrm>
          <a:prstGeom prst="roundRect">
            <a:avLst>
              <a:gd name="adj" fmla="val 4386"/>
            </a:avLst>
          </a:prstGeom>
          <a:solidFill>
            <a:srgbClr val="12314F"/>
          </a:solidFill>
          <a:ln w="12700">
            <a:solidFill>
              <a:srgbClr val="2E9E63"/>
            </a:solidFill>
            <a:prstDash val="solid"/>
          </a:ln>
        </p:spPr>
      </p:sp>
      <p:sp>
        <p:nvSpPr>
          <p:cNvPr id="20" name="Text 18"/>
          <p:cNvSpPr/>
          <p:nvPr/>
        </p:nvSpPr>
        <p:spPr>
          <a:xfrm>
            <a:off x="5102352" y="2194560"/>
            <a:ext cx="2084832" cy="365760"/>
          </a:xfrm>
          <a:prstGeom prst="rect">
            <a:avLst/>
          </a:prstGeom>
          <a:noFill/>
          <a:ln/>
        </p:spPr>
        <p:txBody>
          <a:bodyPr wrap="square" lIns="0" tIns="0" rIns="0" bIns="0" rtlCol="0" anchor="ctr"/>
          <a:lstStyle/>
          <a:p>
            <a:pPr algn="ctr" indent="0" marL="0">
              <a:buNone/>
            </a:pPr>
            <a:r>
              <a:rPr lang="en-US" sz="1800" b="1" dirty="0">
                <a:solidFill>
                  <a:srgbClr val="2E9E63"/>
                </a:solidFill>
                <a:latin typeface="Cambria" pitchFamily="34" charset="0"/>
                <a:ea typeface="Cambria" pitchFamily="34" charset="-122"/>
                <a:cs typeface="Cambria" pitchFamily="34" charset="-120"/>
              </a:rPr>
              <a:t>t2</a:t>
            </a:r>
            <a:endParaRPr lang="en-US" sz="1800" dirty="0"/>
          </a:p>
        </p:txBody>
      </p:sp>
      <p:sp>
        <p:nvSpPr>
          <p:cNvPr id="21" name="Text 19"/>
          <p:cNvSpPr/>
          <p:nvPr/>
        </p:nvSpPr>
        <p:spPr>
          <a:xfrm>
            <a:off x="5212080" y="2606040"/>
            <a:ext cx="1865376"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new pod READY</a:t>
            </a:r>
            <a:endParaRPr lang="en-US" sz="1250" dirty="0"/>
          </a:p>
        </p:txBody>
      </p:sp>
      <p:sp>
        <p:nvSpPr>
          <p:cNvPr id="22" name="Text 20"/>
          <p:cNvSpPr/>
          <p:nvPr/>
        </p:nvSpPr>
        <p:spPr>
          <a:xfrm>
            <a:off x="5212080" y="3127248"/>
            <a:ext cx="1865376" cy="45720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joins endpoints</a:t>
            </a:r>
            <a:endParaRPr lang="en-US" sz="1050" dirty="0"/>
          </a:p>
        </p:txBody>
      </p:sp>
      <p:sp>
        <p:nvSpPr>
          <p:cNvPr id="23" name="Shape 21"/>
          <p:cNvSpPr/>
          <p:nvPr/>
        </p:nvSpPr>
        <p:spPr>
          <a:xfrm>
            <a:off x="5230368" y="3675888"/>
            <a:ext cx="1828800" cy="502920"/>
          </a:xfrm>
          <a:prstGeom prst="roundRect">
            <a:avLst>
              <a:gd name="adj" fmla="val 10909"/>
            </a:avLst>
          </a:prstGeom>
          <a:solidFill>
            <a:srgbClr val="0E2740"/>
          </a:solidFill>
          <a:ln w="12700">
            <a:solidFill>
              <a:srgbClr val="1B4066"/>
            </a:solidFill>
            <a:prstDash val="solid"/>
          </a:ln>
        </p:spPr>
      </p:sp>
      <p:sp>
        <p:nvSpPr>
          <p:cNvPr id="24" name="Text 22"/>
          <p:cNvSpPr/>
          <p:nvPr/>
        </p:nvSpPr>
        <p:spPr>
          <a:xfrm>
            <a:off x="5230368" y="3675888"/>
            <a:ext cx="1828800" cy="502920"/>
          </a:xfrm>
          <a:prstGeom prst="rect">
            <a:avLst/>
          </a:prstGeom>
          <a:noFill/>
          <a:ln/>
        </p:spPr>
        <p:txBody>
          <a:bodyPr wrap="square" lIns="0" tIns="0" rIns="0" bIns="0" rtlCol="0" anchor="ctr"/>
          <a:lstStyle/>
          <a:p>
            <a:pPr algn="ctr" indent="0" marL="0">
              <a:buNone/>
            </a:pPr>
            <a:r>
              <a:rPr lang="en-US" sz="950" dirty="0">
                <a:solidFill>
                  <a:srgbClr val="F2A03D"/>
                </a:solidFill>
                <a:latin typeface="Courier New" pitchFamily="34" charset="0"/>
                <a:ea typeface="Courier New" pitchFamily="34" charset="-122"/>
                <a:cs typeface="Courier New" pitchFamily="34" charset="-120"/>
              </a:rPr>
              <a:t>total 4 · serving 4</a:t>
            </a:r>
            <a:endParaRPr lang="en-US" sz="950" dirty="0"/>
          </a:p>
        </p:txBody>
      </p:sp>
      <p:sp>
        <p:nvSpPr>
          <p:cNvPr id="25" name="Shape 23"/>
          <p:cNvSpPr/>
          <p:nvPr/>
        </p:nvSpPr>
        <p:spPr>
          <a:xfrm>
            <a:off x="7205472" y="3200400"/>
            <a:ext cx="146304" cy="0"/>
          </a:xfrm>
          <a:prstGeom prst="line">
            <a:avLst/>
          </a:prstGeom>
          <a:noFill/>
          <a:ln w="25400">
            <a:solidFill>
              <a:srgbClr val="1C7293"/>
            </a:solidFill>
            <a:prstDash val="solid"/>
            <a:tailEnd type="triangle"/>
          </a:ln>
        </p:spPr>
      </p:sp>
      <p:sp>
        <p:nvSpPr>
          <p:cNvPr id="26" name="Shape 24"/>
          <p:cNvSpPr/>
          <p:nvPr/>
        </p:nvSpPr>
        <p:spPr>
          <a:xfrm>
            <a:off x="7370064" y="2057400"/>
            <a:ext cx="2084832" cy="2286000"/>
          </a:xfrm>
          <a:prstGeom prst="roundRect">
            <a:avLst>
              <a:gd name="adj" fmla="val 4386"/>
            </a:avLst>
          </a:prstGeom>
          <a:solidFill>
            <a:srgbClr val="12314F"/>
          </a:solidFill>
          <a:ln w="12700">
            <a:solidFill>
              <a:srgbClr val="1C7293"/>
            </a:solidFill>
            <a:prstDash val="solid"/>
          </a:ln>
        </p:spPr>
      </p:sp>
      <p:sp>
        <p:nvSpPr>
          <p:cNvPr id="27" name="Text 25"/>
          <p:cNvSpPr/>
          <p:nvPr/>
        </p:nvSpPr>
        <p:spPr>
          <a:xfrm>
            <a:off x="7370064" y="2194560"/>
            <a:ext cx="2084832" cy="365760"/>
          </a:xfrm>
          <a:prstGeom prst="rect">
            <a:avLst/>
          </a:prstGeom>
          <a:noFill/>
          <a:ln/>
        </p:spPr>
        <p:txBody>
          <a:bodyPr wrap="square" lIns="0" tIns="0" rIns="0" bIns="0" rtlCol="0" anchor="ctr"/>
          <a:lstStyle/>
          <a:p>
            <a:pPr algn="ctr" indent="0" marL="0">
              <a:buNone/>
            </a:pPr>
            <a:r>
              <a:rPr lang="en-US" sz="1800" b="1" dirty="0">
                <a:solidFill>
                  <a:srgbClr val="1C7293"/>
                </a:solidFill>
                <a:latin typeface="Cambria" pitchFamily="34" charset="0"/>
                <a:ea typeface="Cambria" pitchFamily="34" charset="-122"/>
                <a:cs typeface="Cambria" pitchFamily="34" charset="-120"/>
              </a:rPr>
              <a:t>t3</a:t>
            </a:r>
            <a:endParaRPr lang="en-US" sz="1800" dirty="0"/>
          </a:p>
        </p:txBody>
      </p:sp>
      <p:sp>
        <p:nvSpPr>
          <p:cNvPr id="28" name="Text 26"/>
          <p:cNvSpPr/>
          <p:nvPr/>
        </p:nvSpPr>
        <p:spPr>
          <a:xfrm>
            <a:off x="7479792" y="2606040"/>
            <a:ext cx="1865376"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old pod drains</a:t>
            </a:r>
            <a:endParaRPr lang="en-US" sz="1250" dirty="0"/>
          </a:p>
        </p:txBody>
      </p:sp>
      <p:sp>
        <p:nvSpPr>
          <p:cNvPr id="29" name="Text 27"/>
          <p:cNvSpPr/>
          <p:nvPr/>
        </p:nvSpPr>
        <p:spPr>
          <a:xfrm>
            <a:off x="7479792" y="3127248"/>
            <a:ext cx="1865376" cy="45720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preStop → SIGTERM</a:t>
            </a:r>
            <a:endParaRPr lang="en-US" sz="1050" dirty="0"/>
          </a:p>
        </p:txBody>
      </p:sp>
      <p:sp>
        <p:nvSpPr>
          <p:cNvPr id="30" name="Shape 28"/>
          <p:cNvSpPr/>
          <p:nvPr/>
        </p:nvSpPr>
        <p:spPr>
          <a:xfrm>
            <a:off x="7498080" y="3675888"/>
            <a:ext cx="1828800" cy="502920"/>
          </a:xfrm>
          <a:prstGeom prst="roundRect">
            <a:avLst>
              <a:gd name="adj" fmla="val 10909"/>
            </a:avLst>
          </a:prstGeom>
          <a:solidFill>
            <a:srgbClr val="0E2740"/>
          </a:solidFill>
          <a:ln w="12700">
            <a:solidFill>
              <a:srgbClr val="1B4066"/>
            </a:solidFill>
            <a:prstDash val="solid"/>
          </a:ln>
        </p:spPr>
      </p:sp>
      <p:sp>
        <p:nvSpPr>
          <p:cNvPr id="31" name="Text 29"/>
          <p:cNvSpPr/>
          <p:nvPr/>
        </p:nvSpPr>
        <p:spPr>
          <a:xfrm>
            <a:off x="7498080" y="3675888"/>
            <a:ext cx="1828800" cy="502920"/>
          </a:xfrm>
          <a:prstGeom prst="rect">
            <a:avLst/>
          </a:prstGeom>
          <a:noFill/>
          <a:ln/>
        </p:spPr>
        <p:txBody>
          <a:bodyPr wrap="square" lIns="0" tIns="0" rIns="0" bIns="0" rtlCol="0" anchor="ctr"/>
          <a:lstStyle/>
          <a:p>
            <a:pPr algn="ctr" indent="0" marL="0">
              <a:buNone/>
            </a:pPr>
            <a:r>
              <a:rPr lang="en-US" sz="950" dirty="0">
                <a:solidFill>
                  <a:srgbClr val="F2A03D"/>
                </a:solidFill>
                <a:latin typeface="Courier New" pitchFamily="34" charset="0"/>
                <a:ea typeface="Courier New" pitchFamily="34" charset="-122"/>
                <a:cs typeface="Courier New" pitchFamily="34" charset="-120"/>
              </a:rPr>
              <a:t>total 3 · serving 3</a:t>
            </a:r>
            <a:endParaRPr lang="en-US" sz="950" dirty="0"/>
          </a:p>
        </p:txBody>
      </p:sp>
      <p:sp>
        <p:nvSpPr>
          <p:cNvPr id="32" name="Shape 30"/>
          <p:cNvSpPr/>
          <p:nvPr/>
        </p:nvSpPr>
        <p:spPr>
          <a:xfrm>
            <a:off x="9473184" y="3200400"/>
            <a:ext cx="146304" cy="0"/>
          </a:xfrm>
          <a:prstGeom prst="line">
            <a:avLst/>
          </a:prstGeom>
          <a:noFill/>
          <a:ln w="25400">
            <a:solidFill>
              <a:srgbClr val="1C7293"/>
            </a:solidFill>
            <a:prstDash val="solid"/>
            <a:tailEnd type="triangle"/>
          </a:ln>
        </p:spPr>
      </p:sp>
      <p:sp>
        <p:nvSpPr>
          <p:cNvPr id="33" name="Shape 31"/>
          <p:cNvSpPr/>
          <p:nvPr/>
        </p:nvSpPr>
        <p:spPr>
          <a:xfrm>
            <a:off x="9637776" y="2057400"/>
            <a:ext cx="2084832" cy="2286000"/>
          </a:xfrm>
          <a:prstGeom prst="roundRect">
            <a:avLst>
              <a:gd name="adj" fmla="val 4386"/>
            </a:avLst>
          </a:prstGeom>
          <a:solidFill>
            <a:srgbClr val="12314F"/>
          </a:solidFill>
          <a:ln w="12700">
            <a:solidFill>
              <a:srgbClr val="2E9E63"/>
            </a:solidFill>
            <a:prstDash val="solid"/>
          </a:ln>
        </p:spPr>
      </p:sp>
      <p:sp>
        <p:nvSpPr>
          <p:cNvPr id="34" name="Text 32"/>
          <p:cNvSpPr/>
          <p:nvPr/>
        </p:nvSpPr>
        <p:spPr>
          <a:xfrm>
            <a:off x="9637776" y="2194560"/>
            <a:ext cx="2084832" cy="365760"/>
          </a:xfrm>
          <a:prstGeom prst="rect">
            <a:avLst/>
          </a:prstGeom>
          <a:noFill/>
          <a:ln/>
        </p:spPr>
        <p:txBody>
          <a:bodyPr wrap="square" lIns="0" tIns="0" rIns="0" bIns="0" rtlCol="0" anchor="ctr"/>
          <a:lstStyle/>
          <a:p>
            <a:pPr algn="ctr" indent="0" marL="0">
              <a:buNone/>
            </a:pPr>
            <a:r>
              <a:rPr lang="en-US" sz="1800" b="1" dirty="0">
                <a:solidFill>
                  <a:srgbClr val="2E9E63"/>
                </a:solidFill>
                <a:latin typeface="Cambria" pitchFamily="34" charset="0"/>
                <a:ea typeface="Cambria" pitchFamily="34" charset="-122"/>
                <a:cs typeface="Cambria" pitchFamily="34" charset="-120"/>
              </a:rPr>
              <a:t>t5</a:t>
            </a:r>
            <a:endParaRPr lang="en-US" sz="1800" dirty="0"/>
          </a:p>
        </p:txBody>
      </p:sp>
      <p:sp>
        <p:nvSpPr>
          <p:cNvPr id="35" name="Text 33"/>
          <p:cNvSpPr/>
          <p:nvPr/>
        </p:nvSpPr>
        <p:spPr>
          <a:xfrm>
            <a:off x="9747504" y="2606040"/>
            <a:ext cx="1865376"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RS-B: 3 ready</a:t>
            </a:r>
            <a:endParaRPr lang="en-US" sz="1250" dirty="0"/>
          </a:p>
        </p:txBody>
      </p:sp>
      <p:sp>
        <p:nvSpPr>
          <p:cNvPr id="36" name="Text 34"/>
          <p:cNvSpPr/>
          <p:nvPr/>
        </p:nvSpPr>
        <p:spPr>
          <a:xfrm>
            <a:off x="9747504" y="3127248"/>
            <a:ext cx="1865376" cy="45720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RS-A: 0, kept</a:t>
            </a:r>
            <a:endParaRPr lang="en-US" sz="1050" dirty="0"/>
          </a:p>
        </p:txBody>
      </p:sp>
      <p:sp>
        <p:nvSpPr>
          <p:cNvPr id="37" name="Shape 35"/>
          <p:cNvSpPr/>
          <p:nvPr/>
        </p:nvSpPr>
        <p:spPr>
          <a:xfrm>
            <a:off x="9765792" y="3675888"/>
            <a:ext cx="1828800" cy="502920"/>
          </a:xfrm>
          <a:prstGeom prst="roundRect">
            <a:avLst>
              <a:gd name="adj" fmla="val 10909"/>
            </a:avLst>
          </a:prstGeom>
          <a:solidFill>
            <a:srgbClr val="0E2740"/>
          </a:solidFill>
          <a:ln w="12700">
            <a:solidFill>
              <a:srgbClr val="1B4066"/>
            </a:solidFill>
            <a:prstDash val="solid"/>
          </a:ln>
        </p:spPr>
      </p:sp>
      <p:sp>
        <p:nvSpPr>
          <p:cNvPr id="38" name="Text 36"/>
          <p:cNvSpPr/>
          <p:nvPr/>
        </p:nvSpPr>
        <p:spPr>
          <a:xfrm>
            <a:off x="9765792" y="3675888"/>
            <a:ext cx="1828800" cy="502920"/>
          </a:xfrm>
          <a:prstGeom prst="rect">
            <a:avLst/>
          </a:prstGeom>
          <a:noFill/>
          <a:ln/>
        </p:spPr>
        <p:txBody>
          <a:bodyPr wrap="square" lIns="0" tIns="0" rIns="0" bIns="0" rtlCol="0" anchor="ctr"/>
          <a:lstStyle/>
          <a:p>
            <a:pPr algn="ctr" indent="0" marL="0">
              <a:buNone/>
            </a:pPr>
            <a:r>
              <a:rPr lang="en-US" sz="950" dirty="0">
                <a:solidFill>
                  <a:srgbClr val="F2A03D"/>
                </a:solidFill>
                <a:latin typeface="Courier New" pitchFamily="34" charset="0"/>
                <a:ea typeface="Courier New" pitchFamily="34" charset="-122"/>
                <a:cs typeface="Courier New" pitchFamily="34" charset="-120"/>
              </a:rPr>
              <a:t>total 3 · serving 3</a:t>
            </a:r>
            <a:endParaRPr lang="en-US" sz="950" dirty="0"/>
          </a:p>
        </p:txBody>
      </p:sp>
      <p:sp>
        <p:nvSpPr>
          <p:cNvPr id="39" name="Shape 37"/>
          <p:cNvSpPr/>
          <p:nvPr/>
        </p:nvSpPr>
        <p:spPr>
          <a:xfrm>
            <a:off x="566928" y="4709160"/>
            <a:ext cx="11057839" cy="777240"/>
          </a:xfrm>
          <a:prstGeom prst="roundRect">
            <a:avLst>
              <a:gd name="adj" fmla="val 11765"/>
            </a:avLst>
          </a:prstGeom>
          <a:solidFill>
            <a:srgbClr val="12314F"/>
          </a:solidFill>
          <a:ln w="12700">
            <a:solidFill>
              <a:srgbClr val="2E9E63"/>
            </a:solidFill>
            <a:prstDash val="solid"/>
          </a:ln>
        </p:spPr>
      </p:sp>
      <p:sp>
        <p:nvSpPr>
          <p:cNvPr id="40" name="Text 38"/>
          <p:cNvSpPr/>
          <p:nvPr/>
        </p:nvSpPr>
        <p:spPr>
          <a:xfrm>
            <a:off x="566928" y="4709160"/>
            <a:ext cx="11057839"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maxUnavailable: 0   ·   maxSurge: 1        →   serving capacity NEVER drops below 3</a:t>
            </a:r>
            <a:endParaRPr lang="en-US" sz="1600" dirty="0"/>
          </a:p>
        </p:txBody>
      </p:sp>
      <p:sp>
        <p:nvSpPr>
          <p:cNvPr id="41" name="Text 39"/>
          <p:cNvSpPr/>
          <p:nvPr/>
        </p:nvSpPr>
        <p:spPr>
          <a:xfrm>
            <a:off x="566928" y="5669280"/>
            <a:ext cx="11057839" cy="365760"/>
          </a:xfrm>
          <a:prstGeom prst="rect">
            <a:avLst/>
          </a:prstGeom>
          <a:noFill/>
          <a:ln/>
        </p:spPr>
        <p:txBody>
          <a:bodyPr wrap="square" lIns="0" tIns="0" rIns="0" bIns="0" rtlCol="0" anchor="ctr"/>
          <a:lstStyle/>
          <a:p>
            <a:pPr algn="ctr" indent="0" marL="0">
              <a:buNone/>
            </a:pPr>
            <a:r>
              <a:rPr lang="en-US" sz="1300" i="1" dirty="0">
                <a:solidFill>
                  <a:srgbClr val="D8E6F2"/>
                </a:solidFill>
                <a:latin typeface="Calibri" pitchFamily="34" charset="0"/>
                <a:ea typeface="Calibri" pitchFamily="34" charset="-122"/>
                <a:cs typeface="Calibri" pitchFamily="34" charset="-120"/>
              </a:rPr>
              <a:t>Cost: headroom for one extra pod, and a slower release. On a payment path, that is the correct trade.</a:t>
            </a:r>
            <a:endParaRPr lang="en-US" sz="1300" dirty="0"/>
          </a:p>
        </p:txBody>
      </p:sp>
      <p:sp>
        <p:nvSpPr>
          <p:cNvPr id="42" name="Text 4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43" name="Text 4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34</a:t>
            </a:r>
            <a:endParaRPr lang="en-US" sz="900" dirty="0"/>
          </a:p>
        </p:txBody>
      </p:sp>
      <p:pic>
        <p:nvPicPr>
          <p:cNvPr id="4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M2.6 · THE PROOF</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Not 'it worked'. Measured.</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4,812 real payment requests, across a version change that added two new dependencies.</a:t>
            </a:r>
            <a:endParaRPr lang="en-US" sz="1400" dirty="0"/>
          </a:p>
        </p:txBody>
      </p:sp>
      <p:sp>
        <p:nvSpPr>
          <p:cNvPr id="6" name="Shape 4"/>
          <p:cNvSpPr/>
          <p:nvPr/>
        </p:nvSpPr>
        <p:spPr>
          <a:xfrm>
            <a:off x="566928" y="2249424"/>
            <a:ext cx="11057839" cy="3259455"/>
          </a:xfrm>
          <a:prstGeom prst="roundRect">
            <a:avLst>
              <a:gd name="adj" fmla="val 224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619375"/>
          </a:xfrm>
          <a:prstGeom prst="rect">
            <a:avLst/>
          </a:prstGeom>
          <a:noFill/>
          <a:ln/>
        </p:spPr>
        <p:txBody>
          <a:bodyPr wrap="square" lIns="0" tIns="0" rIns="0" bIns="0" rtlCol="0" anchor="t"/>
          <a:lstStyle/>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curl -s localhost:8090/api/v1/loadgen/stats | jq</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requests: 4812      ok: 4812      FAILED: 0</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availability: 100.0%          (SLO 99.5%)</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p99 latency: 241.8 ms          (SLO 300 ms)</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status codes: {'201': 4788, '409': 24}</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   409 = fraud declines — a business outcome, not an availability failure</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now remove the readiness probe and repeat:</a:t>
            </a:r>
            <a:endParaRPr lang="en-US" sz="1250" dirty="0"/>
          </a:p>
          <a:p>
            <a:pPr indent="0" marL="0">
              <a:lnSpc>
                <a:spcPts val="1875"/>
              </a:lnSpc>
              <a:buNone/>
            </a:pPr>
            <a:r>
              <a:rPr lang="en-US" sz="1250" dirty="0">
                <a:solidFill>
                  <a:srgbClr val="D64545"/>
                </a:solidFill>
                <a:latin typeface="Courier New" pitchFamily="34" charset="0"/>
                <a:ea typeface="Courier New" pitchFamily="34" charset="-122"/>
                <a:cs typeface="Courier New" pitchFamily="34" charset="-120"/>
              </a:rPr>
              <a:t>FAILED: 37          availability: 98.412%</a:t>
            </a:r>
            <a:endParaRPr lang="en-US" sz="1250" dirty="0"/>
          </a:p>
          <a:p>
            <a:pPr indent="0" marL="0">
              <a:lnSpc>
                <a:spcPts val="1875"/>
              </a:lnSpc>
              <a:buNone/>
            </a:pPr>
            <a:r>
              <a:rPr lang="en-US" sz="1250" dirty="0">
                <a:solidFill>
                  <a:srgbClr val="D64545"/>
                </a:solidFill>
                <a:latin typeface="Courier New" pitchFamily="34" charset="0"/>
                <a:ea typeface="Courier New" pitchFamily="34" charset="-122"/>
                <a:cs typeface="Courier New" pitchFamily="34" charset="-120"/>
              </a:rPr>
              <a:t>status codes: {'201': 2258, '502': 37, '409': 11}</a:t>
            </a:r>
            <a:endParaRPr lang="en-US" sz="1250" dirty="0"/>
          </a:p>
        </p:txBody>
      </p:sp>
      <p:sp>
        <p:nvSpPr>
          <p:cNvPr id="11" name="Text 9"/>
          <p:cNvSpPr/>
          <p:nvPr/>
        </p:nvSpPr>
        <p:spPr>
          <a:xfrm>
            <a:off x="566928" y="5673471"/>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Same rollout. Same cluster. The only difference is one probe.</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35</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90779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90779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M2.6 · GRACEFUL SHUTDOWN</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SIGTERM, grace period, SIGKILL — and why the order matters</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Pod termination in Kubernetes is a coordinated shutdown sequence, not an instant stop. Traffic removal and process termination happen in parallel, so applications need time to leave load balancers, stop accepting new work and finish in-flight requests before the kernel finally forces them down.</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640080"/>
                <a:gridCol w="5120640"/>
                <a:gridCol w="5303520"/>
              </a:tblGrid>
              <a:tr h="60350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matters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Pod marked Terminating; endpoint controller removes it from the EndpointSlice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New traffic should stop — but that removal must propagate to every node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preStop hook runs: sleep 8</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This delay gives step 1 time to reach kube-proxy everywhere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SIGTERM sent to PID 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App should stop new work and finish in-flight requests; in AxisPay, live authorisations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Up to terminationGracePeriodSeconds (45s) to exit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Set it longer than the LONGEST authorisation or callback, not the average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SIGKILL if still alive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This cannot be caught. Any work still running is severed.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36</a:t>
            </a:r>
            <a:endParaRPr lang="en-US" sz="900" dirty="0"/>
          </a:p>
        </p:txBody>
      </p:sp>
      <p:pic>
        <p:nvPicPr>
          <p:cNvPr id="38"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9"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0"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L2.6</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Zero-downtime release under live traffic</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Start measuring BEFORE changing anything</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Roll out v1.1.0 — fraud scoring and acquirer routing — under 40 rps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zero failures with the loadgen counter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REMOVE the readiness probe and measure the difference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Stall a bad release and watch old pods keep serving</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Observe SIGTERM, preStop and the 45-second grace period</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payment-service on v1.1.0</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Zero failed payments across the rollout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measured both with and without the probe</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LAB=L2.6</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55 minutes   ·   labs/day2/L2.6-zero-downtime-rollout/</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37</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M2.5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recon-worker — a Job's output and its exit code</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Real output. Note the last line: the exit code IS the Job's success signal.</a:t>
            </a:r>
            <a:endParaRPr lang="en-US" sz="1400" dirty="0"/>
          </a:p>
        </p:txBody>
      </p:sp>
      <p:sp>
        <p:nvSpPr>
          <p:cNvPr id="6" name="Shape 4"/>
          <p:cNvSpPr/>
          <p:nvPr/>
        </p:nvSpPr>
        <p:spPr>
          <a:xfrm>
            <a:off x="566928" y="2249424"/>
            <a:ext cx="11057839" cy="2945130"/>
          </a:xfrm>
          <a:prstGeom prst="roundRect">
            <a:avLst>
              <a:gd name="adj" fmla="val 248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305050"/>
          </a:xfrm>
          <a:prstGeom prst="rect">
            <a:avLst/>
          </a:prstGeom>
          <a:noFill/>
          <a:ln/>
        </p:spPr>
        <p:txBody>
          <a:bodyPr wrap="square" lIns="0" tIns="0" rIns="0" bIns="0" rtlCol="0" anchor="t"/>
          <a:lstStyle/>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logs -n axispay-async job/recon-worker</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{"service":"recon-worker","pod":"recon-worker-x7k2p","node":"axispay-m02",</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"msg":"reconciliation started","mode":"normal"}</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{"msg":"currency position","currency":"ZAR","count":16,</a:t>
            </a:r>
            <a:endParaRPr lang="en-US" sz="1100" dirty="0"/>
          </a:p>
          <a:p>
            <a:pPr indent="0" marL="0">
              <a:lnSpc>
                <a:spcPts val="1650"/>
              </a:lnSpc>
              <a:buNone/>
            </a:pPr>
            <a:r>
              <a:rPr lang="en-US" sz="1100" b="1" dirty="0">
                <a:solidFill>
                  <a:srgbClr val="FFFFFF"/>
                </a:solidFill>
                <a:latin typeface="Courier New" pitchFamily="34" charset="0"/>
                <a:ea typeface="Courier New" pitchFamily="34" charset="-122"/>
                <a:cs typeface="Courier New" pitchFamily="34" charset="-120"/>
              </a:rPr>
              <a:t>  "gross_minor":804900,"fees_minor":16888,"net_minor":788012,"balanced":true}</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{"msg":"reconciliation complete","total_payments":16,"breaks":0}</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get job,pods -n axispay-async</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job.batch/recon-worker   Complete   1/1        6s</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pod/recon-worker-x7k2p   0/1        Completed  6s</a:t>
            </a:r>
            <a:endParaRPr lang="en-US" sz="1100" dirty="0"/>
          </a:p>
        </p:txBody>
      </p:sp>
      <p:sp>
        <p:nvSpPr>
          <p:cNvPr id="11" name="Text 9"/>
          <p:cNvSpPr/>
          <p:nvPr/>
        </p:nvSpPr>
        <p:spPr>
          <a:xfrm>
            <a:off x="566928" y="53591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804900 = 16888 + 788012. The ledger balances, in integer minor units, across every currency. That invariant is what a real reconciliation checks — and a break here is something a human must explain before close of business.</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38</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INCIDENT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SEV-1 · Automated alert.</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Approval rate 98.4% → 31%.  INTERMITTENT.</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Three merchants have called. Some payments go through, some do not. A resource tuning PR merged twenty minutes ago. SEV-1 means an update every ten minutes.</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Note what is DIFFERENT from yesterday: this is intermittent, not total.</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That single fact rules out several causes before you touch a keyboard. Which, and why?</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Today kubectl logs WILL work — there is a container and it has run. That tells you something on its own.</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Scored on METHOD. Following the loop and not finishing beats guessing right in thirty seconds.</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39</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4" name="Shape 2"/>
          <p:cNvSpPr/>
          <p:nvPr/>
        </p:nvSpPr>
        <p:spPr>
          <a:xfrm>
            <a:off x="566928" y="1143000"/>
            <a:ext cx="11057839" cy="1371600"/>
          </a:xfrm>
          <a:prstGeom prst="roundRect">
            <a:avLst>
              <a:gd name="adj" fmla="val 8000"/>
            </a:avLst>
          </a:prstGeom>
          <a:solidFill>
            <a:srgbClr val="12314F"/>
          </a:solidFill>
          <a:ln w="12700">
            <a:solidFill>
              <a:srgbClr val="F2A03D"/>
            </a:solidFill>
            <a:prstDash val="solid"/>
          </a:ln>
        </p:spPr>
      </p:sp>
      <p:sp>
        <p:nvSpPr>
          <p:cNvPr id="5" name="Text 3"/>
          <p:cNvSpPr/>
          <p:nvPr/>
        </p:nvSpPr>
        <p:spPr>
          <a:xfrm>
            <a:off x="841248" y="1143000"/>
            <a:ext cx="914400" cy="1371600"/>
          </a:xfrm>
          <a:prstGeom prst="rect">
            <a:avLst/>
          </a:prstGeom>
          <a:noFill/>
          <a:ln/>
        </p:spPr>
        <p:txBody>
          <a:bodyPr wrap="square" lIns="0" tIns="0" rIns="0" bIns="0" rtlCol="0" anchor="ctr"/>
          <a:lstStyle/>
          <a:p>
            <a:pPr algn="ctr" indent="0" marL="0">
              <a:buNone/>
            </a:pPr>
            <a:r>
              <a:rPr lang="en-US" sz="4600" b="1" dirty="0">
                <a:solidFill>
                  <a:srgbClr val="F2A03D"/>
                </a:solidFill>
                <a:latin typeface="Cambria" pitchFamily="34" charset="0"/>
                <a:ea typeface="Cambria" pitchFamily="34" charset="-122"/>
                <a:cs typeface="Cambria" pitchFamily="34" charset="-120"/>
              </a:rPr>
              <a:t>?</a:t>
            </a:r>
            <a:endParaRPr lang="en-US" sz="4600" dirty="0"/>
          </a:p>
        </p:txBody>
      </p:sp>
      <p:sp>
        <p:nvSpPr>
          <p:cNvPr id="6" name="Text 4"/>
          <p:cNvSpPr/>
          <p:nvPr/>
        </p:nvSpPr>
        <p:spPr>
          <a:xfrm>
            <a:off x="1892808" y="1143000"/>
            <a:ext cx="9320479" cy="1371600"/>
          </a:xfrm>
          <a:prstGeom prst="rect">
            <a:avLst/>
          </a:prstGeom>
          <a:noFill/>
          <a:ln/>
        </p:spPr>
        <p:txBody>
          <a:bodyPr wrap="square" lIns="0" tIns="0" rIns="0" bIns="0" rtlCol="0" anchor="ctr"/>
          <a:lstStyle/>
          <a:p>
            <a:pPr indent="0" marL="0">
              <a:lnSpc>
                <a:spcPts val="2600"/>
              </a:lnSpc>
              <a:buNone/>
            </a:pPr>
            <a:r>
              <a:rPr lang="en-US" sz="2000" b="1" dirty="0">
                <a:solidFill>
                  <a:srgbClr val="FFFFFF"/>
                </a:solidFill>
                <a:latin typeface="Cambria" pitchFamily="34" charset="0"/>
                <a:ea typeface="Cambria" pitchFamily="34" charset="-122"/>
                <a:cs typeface="Cambria" pitchFamily="34" charset="-120"/>
              </a:rPr>
              <a:t>Eight questions. Answer out loud. Not scored.</a:t>
            </a:r>
            <a:endParaRPr lang="en-US" sz="2000" dirty="0"/>
          </a:p>
        </p:txBody>
      </p:sp>
      <p:sp>
        <p:nvSpPr>
          <p:cNvPr id="7" name="Text 5"/>
          <p:cNvSpPr/>
          <p:nvPr/>
        </p:nvSpPr>
        <p:spPr>
          <a:xfrm>
            <a:off x="566928" y="27157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Answers</a:t>
            </a:r>
            <a:endParaRPr lang="en-US" sz="1100" dirty="0"/>
          </a:p>
        </p:txBody>
      </p:sp>
      <p:sp>
        <p:nvSpPr>
          <p:cNvPr id="8" name="Text 6"/>
          <p:cNvSpPr/>
          <p:nvPr/>
        </p:nvSpPr>
        <p:spPr>
          <a:xfrm>
            <a:off x="640080" y="3008376"/>
            <a:ext cx="10966399" cy="336499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1. Which does the scheduler use — requests or limits?  →  requests only</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2. CPU over limit vs memory over limit?  →  throttled (silent) vs OOMKilled (exit 137)</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3. Which probe restarts the container?  →  liveness. Readiness only removes it from endpoints.</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4. Why must liveness never check a dependency?  →  a blip restarts every replica at once</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5. HPA shows TARGETS &lt;unknown&gt;. Why?  →  no CPU request, so no denominator</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6. Why is scale-down slower than scale-up?  →  to prevent flapping</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7. Which controller for one pod per node?  →  DaemonSet. There is no replicas field.</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8. What makes a rolling update zero-downtime?  →  readiness probe + maxUnavailable: 0</a:t>
            </a:r>
            <a:endParaRPr lang="en-US" sz="120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40</a:t>
            </a:r>
            <a:endParaRPr lang="en-US" sz="900" dirty="0"/>
          </a:p>
        </p:txBody>
      </p:sp>
      <p:pic>
        <p:nvPicPr>
          <p:cNvPr id="1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64592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645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 OF DAY 2</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you built today</a:t>
            </a:r>
            <a:endParaRPr lang="en-US" sz="3200" dirty="0"/>
          </a:p>
        </p:txBody>
      </p:sp>
      <p:sp>
        <p:nvSpPr>
          <p:cNvPr id="5" name="Text 3"/>
          <p:cNvSpPr/>
          <p:nvPr/>
        </p:nvSpPr>
        <p:spPr>
          <a:xfrm>
            <a:off x="56692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0</a:t>
            </a:r>
            <a:endParaRPr lang="en-US" sz="5800" dirty="0"/>
          </a:p>
        </p:txBody>
      </p:sp>
      <p:sp>
        <p:nvSpPr>
          <p:cNvPr id="6" name="Text 4"/>
          <p:cNvSpPr/>
          <p:nvPr/>
        </p:nvSpPr>
        <p:spPr>
          <a:xfrm>
            <a:off x="56692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failed payments across a live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production release of v1.1.0</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at 40 requests per second</a:t>
            </a:r>
            <a:endParaRPr lang="en-US" sz="1300" dirty="0"/>
          </a:p>
        </p:txBody>
      </p:sp>
      <p:sp>
        <p:nvSpPr>
          <p:cNvPr id="7" name="Text 5"/>
          <p:cNvSpPr/>
          <p:nvPr/>
        </p:nvSpPr>
        <p:spPr>
          <a:xfrm>
            <a:off x="341139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3</a:t>
            </a:r>
            <a:endParaRPr lang="en-US" sz="5800" dirty="0"/>
          </a:p>
        </p:txBody>
      </p:sp>
      <p:sp>
        <p:nvSpPr>
          <p:cNvPr id="8" name="Text 6"/>
          <p:cNvSpPr/>
          <p:nvPr/>
        </p:nvSpPr>
        <p:spPr>
          <a:xfrm>
            <a:off x="341139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probe types on every service,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correctly separated by</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consequence</a:t>
            </a:r>
            <a:endParaRPr lang="en-US" sz="1300" dirty="0"/>
          </a:p>
        </p:txBody>
      </p:sp>
      <p:sp>
        <p:nvSpPr>
          <p:cNvPr id="9" name="Text 7"/>
          <p:cNvSpPr/>
          <p:nvPr/>
        </p:nvSpPr>
        <p:spPr>
          <a:xfrm>
            <a:off x="6255868" y="2103120"/>
            <a:ext cx="2524430"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2</a:t>
            </a:r>
            <a:endParaRPr lang="en-US" sz="5800" dirty="0"/>
          </a:p>
        </p:txBody>
      </p:sp>
      <p:sp>
        <p:nvSpPr>
          <p:cNvPr id="10" name="Text 8"/>
          <p:cNvSpPr/>
          <p:nvPr/>
        </p:nvSpPr>
        <p:spPr>
          <a:xfrm>
            <a:off x="625586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HPAs scaling on real CPU load,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inside a namespace budget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that permits the maximum</a:t>
            </a:r>
            <a:endParaRPr lang="en-US" sz="1300" dirty="0"/>
          </a:p>
        </p:txBody>
      </p:sp>
      <p:sp>
        <p:nvSpPr>
          <p:cNvPr id="11" name="Text 9"/>
          <p:cNvSpPr/>
          <p:nvPr/>
        </p:nvSpPr>
        <p:spPr>
          <a:xfrm>
            <a:off x="9100337" y="2103120"/>
            <a:ext cx="2524430" cy="1234440"/>
          </a:xfrm>
          <a:prstGeom prst="rect">
            <a:avLst/>
          </a:prstGeom>
          <a:noFill/>
          <a:ln/>
        </p:spPr>
        <p:txBody>
          <a:bodyPr wrap="square" lIns="0" tIns="0" rIns="0" bIns="0" rtlCol="0" anchor="ctr"/>
          <a:lstStyle/>
          <a:p>
            <a:pPr algn="ctr" indent="0" marL="0">
              <a:buNone/>
            </a:pPr>
            <a:r>
              <a:rPr lang="en-US" sz="5800" b="1" dirty="0">
                <a:solidFill>
                  <a:srgbClr val="1C7293"/>
                </a:solidFill>
                <a:latin typeface="Cambria" pitchFamily="34" charset="0"/>
                <a:ea typeface="Cambria" pitchFamily="34" charset="-122"/>
                <a:cs typeface="Cambria" pitchFamily="34" charset="-120"/>
              </a:rPr>
              <a:t>4</a:t>
            </a:r>
            <a:endParaRPr lang="en-US" sz="5800" dirty="0"/>
          </a:p>
        </p:txBody>
      </p:sp>
      <p:sp>
        <p:nvSpPr>
          <p:cNvPr id="12" name="Text 10"/>
          <p:cNvSpPr/>
          <p:nvPr/>
        </p:nvSpPr>
        <p:spPr>
          <a:xfrm>
            <a:off x="9100337"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workload controllers in use: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Deployment, DaemonSet,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Job, CronJob</a:t>
            </a:r>
            <a:endParaRPr lang="en-US" sz="1300" dirty="0"/>
          </a:p>
        </p:txBody>
      </p:sp>
      <p:sp>
        <p:nvSpPr>
          <p:cNvPr id="13" name="Text 11"/>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The platform now survives load, failure and change. It still forgets everything when a pod restarts.</a:t>
            </a:r>
            <a:endParaRPr lang="en-US" sz="1400" dirty="0"/>
          </a:p>
        </p:txBody>
      </p:sp>
      <p:sp>
        <p:nvSpPr>
          <p:cNvPr id="14" name="Text 1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5" name="Text 1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41</a:t>
            </a:r>
            <a:endParaRPr lang="en-US" sz="900" dirty="0"/>
          </a:p>
        </p:txBody>
      </p:sp>
      <p:pic>
        <p:nvPicPr>
          <p:cNvPr id="16"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7"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8"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TOMORROW</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Day 3 — give it a memory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Stateless scaling is only half the platform story. Any workload that must retain transactions, configuration, secrets or state across restarts needs persistent storage and externalised data, otherwise correct Kubernetes behaviour still loses business context.</a:t>
            </a:r>
            <a:endParaRPr lang="en-US" sz="14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840480"/>
                <a:gridCol w="5120640"/>
                <a:gridCol w="2103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missing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database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Every payment is lost on pod restart. Nothing to reconcile against.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Config baked into manifests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log-level change needs a redeploy of every service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JWT signing key in a plain env var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Visible to anyone with namespace read access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Fraud counters in memory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control weakens as you scale — challenge C1 today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L3.5 (Redis)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persistent storage at all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StatefulSet has nowhere to keep its data</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L3.3, L3.4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Containers run as root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container escape becomes a host compromise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L3.7</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42</a:t>
            </a:r>
            <a:endParaRPr lang="en-US" sz="900" dirty="0"/>
          </a:p>
        </p:txBody>
      </p:sp>
      <p:pic>
        <p:nvPicPr>
          <p:cNvPr id="4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Axis Financial Services (fictional)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AxisPay Kubernetes Comprehensive — Day 2</dc:title>
  <dc:subject>Reliability, Resource Governance and Controlled Change</dc:subject>
  <dc:creator>AxisPay Curriculum Team</dc:creator>
  <cp:lastModifiedBy>AxisPay Curriculum Team</cp:lastModifiedBy>
  <cp:revision>1</cp:revision>
  <dcterms:created xsi:type="dcterms:W3CDTF">2026-08-14T23:02:44Z</dcterms:created>
  <dcterms:modified xsi:type="dcterms:W3CDTF">2026-08-14T23:02:44Z</dcterms:modified>
</cp:coreProperties>
</file>