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Open on the finding, demonstrated rather than described.
TIMING: 2 min
SPEAKER NOTES
Do not describe the problem — show it. Exec into edge-gateway and connect straight to PostgreSQL. It works.\n\nThen say what that means: in a PCI assessment, the DMZ is now inside the cardholder data environment. Every control that applies to the CDE applies to the gateway, to everyone who can deploy it, and to its logs. The audit gets bigger, longer and more expensive.\n\nThat thirty-second demo is the whole day.
&gt;&gt; LIVE DEMO: kubectl exec -n axispay-edge deploy/edge-gateway -- python3 -c "import socket; socket.create_connection(('postgres-0.postgres.axispay-data.svc.cluster.local',5432),timeout=5); print('CONNECTED')"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Retrieval practice on Day 3.
TIMING: 20 min
SPEAKER NOTES
Then everyone runs `make validate-day3` before anything else. Today's labs assume a healthy data tier and several of them will fail confusingly without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Derive the agenda from felt gaps.
TIMING: 5 min
SPEAKER NOTES
Row 3 is the one you just demonstrated. Everything else today is in service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Open up what students have used for three days without examining.
TIMING: 75 min
SPEAKER NOTES
Keep this brisk — most of it is confirmation of things they have already relied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Explain the CNI contract before students depend on one specific behaviour of it.
TIMING: 7 min
SPEAKER NOTES
Rule 4 is the one worth dwelling on. Under Docker's default bridge a container sees itself as 172.17.0.x while the outside world reaches it on a mapped host port — so it cannot truthfully tell anyone its own address. Kubernetes forbids that, and it is why service discovery is straightforward here and painful there.\n\nThen the punchline: none of this is implemented by Kubernetes. It is a contract, and the plugin fulfils it. Which is exactly why a plugin can fulfil the connectivity rules and NOT implement NetworkPolicy — and everything still appears to work.
ASK THE ROOM: Your NetworkPolicies apply cleanly and traffic still flows. What is wrong?
EXPECTED ANSWER: The CNI does not enforce policy. Kubernetes accepts and stores the object regardless — enforcement is the plugin's job. This is why the course insists on --cni=calico, and why L1.1 made you check on Monday.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Complete the Service taxonomy started on Day 1.
TIMING: 8 min
SPEAKER NOTES
The headless row deserves the time. kube-proxy load-balances CONNECTIONS, not requests — so a single long-lived HTTP/2 connection pins to one pod forever. gRPC multiplexes everything over one connection, so a normal Service gives you no balancing at all. A headless Service hands the client every address and lets it decide.\n\nThat is not an edge case; it is the single most common gRPC-on-Kubernetes surprise.
ASK THE ROOM: Why is NodePort discouraged in production?
EXPECTED ANSWER: It opens a port on EVERY node in the cluster, including nodes running nothing related. That is a large attack surface for one service, and it bypasses the Ingress where your TLS, rate limiting and routing rules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Open up the network and DNS before they are needed under pressure.
TIMING: 65 minutes
SPEAKER NOTES
L4.2 step 6 — deliberately scaling CoreDNS to zero — is the important one. Students must SEE that a DNS failure looks like a name-resolution error rather than a connection refusal.\n\nIn two hours they will block DNS by accident with a default-deny policy, and in four hours INC-4b will break CoreDNS on purpose. Recognising the shape is the whole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Make the platform reachable.
TIMING: 70 min
SPEAKER NOTES
Frame it as the milestone it is: four days of work, and this is the first request a merchant could actually make.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Prevent the most common Ingress dead-end.
TIMING: 7 min
SPEAKER NOTES
On Minikube the controller comes from an addon, so students may never have installed one deliberately and will not think to check.\n\nAlso flag pathType. Prefix matches /api and everything below it; Exact matches ONLY the literal path. Changing one word turns a working API into a 404 on every endpoint but one — and that is INC-4a this afternoon.
ASK THE ROOM: Your Ingress exists, ADDRESS is populated, and you get a 503. Where is the fault?
EXPECTED ANSWER: Not the Ingress. 503 means the controller found the backend Service and it has no ready endpoints — so the problem is the Service selector or the pods' readiness. A 404 would be the routing rules; a 502 would be the wrong backend port. Those three codes point at three different layers, and knowing which saves ten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Expose the platform properly.
TIMING: 55 minutes
SPEAKER NOTES
Step 6 is the milestone — the first request in four days that did not need kubectl. Let them enjoy it.\n\nStep 8 (pathType Exact) is deliberate practice for INC-4a. Make sure everyone runs it and sees the 404.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Deliver the security core of the week.
TIMING: 80 min
SPEAKER NOTES
This is the most important module of Day 4 and one of the most important of the course. It is also the one where the whole platform breaks in the middle, on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Give the mental model before the lab breaks the platform.
TIMING: 9 min
SPEAKER NOTES
Property 1 explains the confusion students are about to have: they add ONE narrow policy to fraud-service and payment-service stops working, even though payment-service is not mentioned anywhere in it. That is INC-4c.\n\nProperty 3 is why L4.4 has them fix DNS and then STILL find connections failing. Two separate problems; fixing one does not fix the other.
ASK THE ROOM: You want to stop reporting-service reaching the ledger. Which policy do you write?
EXPECTED ANSWER: You do not write a deny. You ensure some policy selects ledger-service and that none of them permit ingress from reporting-service. Absence of permission IS the denial. People look for a deny rule for a long time before this lands.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Show the control as evidence rather than assertion.
TIMING: 7 min
SPEAKER NOTES
Point at the failure mode. BLOCKED means the packet was DROPPED — no connection-refused, no log line, no Kubernetes event. From the application's side it is indistinguishable from a slow network.\n\nThat is why the repository ships simulate-netpol.py: it evaluates every policy the way Kubernetes does and checks it against a list of calls that must work and controls that must hold. Run it in CI. A policy that silently stops enforcing is otherwise invisible until an auditor finds it.
&gt;&gt; LIVE DEMO: Run both halves live if the platform is up. The before/after with an identical command is far more convincing than any diagram.
CALLOUT: 22 policies across four namespaces. The one that matters most is the one that ISN'T there — nothing grants axispay-edge access to axispay-data. That omission is the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Prepare students to derive the DNS rule rather than copy it.
TIMING: 5 min
SPEAKER NOTES
Do NOT give them the answer on this slide. The lab has them run a DNS lookup from inside a pod and discover it themselves.\n\nStudents who learned DNS properly yesterday morning derive this in two minutes. Students who skimmed it lose twenty. That is the whole reason L4.2 comes before L4.4 — the dependency map calls it out explicitly.
WARNING: Allow BOTH UDP and TCP on port 53. DNS falls back to TCP for large responses; allowing only UDP produces INTERMITTENT failures that are far harder to diagnose than a total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Build the segmentation and verify it empirically.
TIMING: 50 minutes
SPEAKER NOTES
The lab is deliberately structured as prove-the-problem, break-everything, derive-the-fix, prove-the-fix. Step 1 and step 6 run the IDENTICAL command with opposite results.\n\nIf a student's cluster lacks Calico, they will apply all 22 policies and step 6 will still say CONNECTED. Deal with that immediately — it is the worst possible outcome and it is silent.
WARNING: Check `kubectl get ds -n kube-system calico-node` for every student BEFORE this lab. Without it the policies enforce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Deliver the objects Friday's capstone depends on.
TIMING: 110 min
SPEAKER NOTES
Frame the whole block as preparation for tomorrow. Everything written here is what makes the capstone's node drain a non-event.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Explain a choice students will otherwise make by coin-flip.
TIMING: 8 min
SPEAKER NOTES
In L4.5 step 4 they scale payment-service to 4 on a 3-node cluster and watch the fourth pod sit Pending with 'didn't match pod anti-affinity rules'. Doing it once means they never debug it blind.\n\nThe combination that bites in production: required anti-affinity plus an HPA. Autoscaling appears to work until the replica count reaches the node count, then silently stops — during exactly the spike it exists to absorb.
ASK THE ROOM: Your HPA is set to max 10, you have 4 nodes, and it never scales past 4. Where do you look?
EXPECTED ANSWER: kubectl describe on a Pending pod. If it says 'didn't match pod anti-affinity rules', a required rule is the cap. Change it to preferred, or add topology spread with ScheduleAnyway. The HPA is working perfectly; the scheduler is refusing.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Set the boundary of what a PDB can promise.
TIMING: 7 min
SPEAKER NOTES
The last row surprises people: `kubectl delete pod` is NOT gated by a PDB. Only the eviction API is, and `drain` uses it. A careless delete bypasses your budget entirely.\n\nAlso flag the minAvailable trap: with an HPA, an absolute minAvailable can equal the current replica count at minReplicas, making ALLOWED DISRUPTIONS zero and the node undrainable. A node that cannot be drained cannot be patched. Prefer maxUnavailable.
ASK THE ROOM: Your PDB says minAvailable: 3 and the HPA has scaled down to 3. What happens when you drain?
EXPECTED ANSWER: Nothing — forever. Zero disruptions are allowed, so the drain hangs and the node can never be maintained. This is a real production trap and the reason AxisPay uses maxUnavailable everywhere.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Build the objects that make Friday survivable.
TIMING: 110 minutes
SPEAKER NOTES
L4.6 Task 1 then Task 3 is the whole lab: the same drain, with and without budgets, measured. Typically ~60 failed payments versus zero.\n\nSay it out loud when they finish: the objects you just wrote are what stop tomorrow's capstone upgrade taking the platform down. Thursday protects Friday.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Run the hardest incident so far.
TIMING: 35 min triage + 10 min debrief
SPEAKER NOTES
Inject with `make incident N=4` during the break.\n\nThe trap that matters: a student who deletes a default-deny policy or a legitimate allow-rule 'to see if that fixes it'. It does. Let them. Then in the debrief ask them to run the DMZ-to-PostgreSQL check and explain the result to a QSA.\n\nThat exact temptation returns in tomorrow's capstone, under more pressure, and taking it costs the Secure competency.
ASK THE ROOM: DEBRIEF — deleting a NetworkPolicy fixed it. When would that have been the WRONG fix?
EXPECTED ANSWER: Here the policy was newly added and wrong, so deleting it is correct. Deleting a default-deny, or a legitimate allow-rule, to restore service would remove the segmentation that keeps the DMZ out of the CDE — trading a thirty-minute outage for a PCI finding. The fastest fix and the correct fix are frequently different, and knowing which is which is the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Formative check across Day 4.
TIMING: 15 min
SPEAKER NOTES
Questions 4, 5 and 6 are load-bearing. If a third of the room misses any of them, recap before Friday — the capstone has a NetworkPolicy incident.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Consolidate and hand over to Day 5.
TIMING: 3 min
SPEAKER NOTES
Re-run the step 1 / step 6 command one final time in front of the room. Opening the day with CONNECTED and closing it with BLOCKED is the cleanest possible demonstration that the day did something.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Create demand for Day 5.
TIMING: 4 min
SPEAKER NOTES
Row 6 is the callback that lands. Every single incident this week — INC-1 through INC-4 — was reported by a merchant or an alert someone wished existed. Tomorrow they build the alerts.\n\nAnd the correlation ID they implemented on Monday without knowing why finally pays off in Loki.
TRANSITION: Assessment now — ten items, fifteen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Shape 0"/>
          <p:cNvSpPr/>
          <p:nvPr/>
        </p:nvSpPr>
        <p:spPr>
          <a:xfrm rot="1080000">
            <a:off x="7711135" y="-1463040"/>
            <a:ext cx="5852160" cy="5852160"/>
          </a:xfrm>
          <a:prstGeom prst="roundRect">
            <a:avLst>
              <a:gd name="adj" fmla="val 15625"/>
            </a:avLst>
          </a:prstGeom>
          <a:solidFill>
            <a:srgbClr val="12314F"/>
          </a:solidFill>
          <a:ln w="12700">
            <a:solidFill>
              <a:srgbClr val="12314F"/>
            </a:solidFill>
            <a:prstDash val="solid"/>
          </a:ln>
        </p:spPr>
      </p:sp>
      <p:sp>
        <p:nvSpPr>
          <p:cNvPr id="3" name="Shape 1"/>
          <p:cNvSpPr/>
          <p:nvPr/>
        </p:nvSpPr>
        <p:spPr>
          <a:xfrm>
            <a:off x="9357055" y="4114800"/>
            <a:ext cx="2011680" cy="2011680"/>
          </a:xfrm>
          <a:prstGeom prst="ellipse">
            <a:avLst/>
          </a:prstGeom>
          <a:solidFill>
            <a:srgbClr val="1C7293">
              <a:alpha val="45000"/>
            </a:srgbClr>
          </a:solidFill>
          <a:ln w="12700">
            <a:solidFill>
              <a:srgbClr val="1C7293">
                <a:alpha val="60000"/>
              </a:srgbClr>
            </a:solidFill>
            <a:prstDash val="solid"/>
          </a:ln>
        </p:spPr>
      </p:sp>
      <p:sp>
        <p:nvSpPr>
          <p:cNvPr id="4" name="Text 2"/>
          <p:cNvSpPr/>
          <p:nvPr/>
        </p:nvSpPr>
        <p:spPr>
          <a:xfrm>
            <a:off x="566928" y="1234440"/>
            <a:ext cx="7680960" cy="365760"/>
          </a:xfrm>
          <a:prstGeom prst="rect">
            <a:avLst/>
          </a:prstGeom>
          <a:noFill/>
          <a:ln/>
        </p:spPr>
        <p:txBody>
          <a:bodyPr wrap="square" lIns="0" tIns="0" rIns="0" bIns="0" rtlCol="0" anchor="ctr"/>
          <a:lstStyle/>
          <a:p>
            <a:pPr indent="0" marL="0">
              <a:buNone/>
            </a:pPr>
            <a:r>
              <a:rPr lang="en-US" sz="1400" b="1" spc="200" kern="0" dirty="0">
                <a:solidFill>
                  <a:srgbClr val="F2A03D"/>
                </a:solidFill>
                <a:latin typeface="Calibri" pitchFamily="34" charset="0"/>
                <a:ea typeface="Calibri" pitchFamily="34" charset="-122"/>
                <a:cs typeface="Calibri" pitchFamily="34" charset="-120"/>
              </a:rPr>
              <a:t>KUBERNETES COMPREHENSIVE · AXP-K8S-5D</a:t>
            </a:r>
            <a:endParaRPr lang="en-US" sz="1400" dirty="0"/>
          </a:p>
        </p:txBody>
      </p:sp>
      <p:sp>
        <p:nvSpPr>
          <p:cNvPr id="5" name="Text 3"/>
          <p:cNvSpPr/>
          <p:nvPr/>
        </p:nvSpPr>
        <p:spPr>
          <a:xfrm>
            <a:off x="566928" y="1737360"/>
            <a:ext cx="7680960" cy="1737360"/>
          </a:xfrm>
          <a:prstGeom prst="rect">
            <a:avLst/>
          </a:prstGeom>
          <a:noFill/>
          <a:ln/>
        </p:spPr>
        <p:txBody>
          <a:bodyPr wrap="square" lIns="0" tIns="0" rIns="0" bIns="0" rtlCol="0" anchor="ctr"/>
          <a:lstStyle/>
          <a:p>
            <a:pPr indent="0" marL="0">
              <a:lnSpc>
                <a:spcPts val="5000"/>
              </a:lnSpc>
              <a:buNone/>
            </a:pPr>
            <a:r>
              <a:rPr lang="en-US" sz="5000" b="1" dirty="0">
                <a:solidFill>
                  <a:srgbClr val="FFFFFF"/>
                </a:solidFill>
                <a:latin typeface="Cambria" pitchFamily="34" charset="0"/>
                <a:ea typeface="Cambria" pitchFamily="34" charset="-122"/>
                <a:cs typeface="Cambria" pitchFamily="34" charset="-120"/>
              </a:rPr>
              <a:t>Day 4</a:t>
            </a:r>
            <a:endParaRPr lang="en-US" sz="5000" dirty="0"/>
          </a:p>
          <a:p>
            <a:pPr indent="0" marL="0">
              <a:lnSpc>
                <a:spcPts val="5000"/>
              </a:lnSpc>
              <a:buNone/>
            </a:pPr>
            <a:r>
              <a:rPr lang="en-US" sz="5000" b="1" dirty="0">
                <a:solidFill>
                  <a:srgbClr val="FFFFFF"/>
                </a:solidFill>
                <a:latin typeface="Cambria" pitchFamily="34" charset="0"/>
                <a:ea typeface="Cambria" pitchFamily="34" charset="-122"/>
                <a:cs typeface="Cambria" pitchFamily="34" charset="-120"/>
              </a:rPr>
              <a:t>Networking, Exposure &amp; Placement</a:t>
            </a:r>
            <a:endParaRPr lang="en-US" sz="5000" dirty="0"/>
          </a:p>
        </p:txBody>
      </p:sp>
      <p:sp>
        <p:nvSpPr>
          <p:cNvPr id="6" name="Text 4"/>
          <p:cNvSpPr/>
          <p:nvPr/>
        </p:nvSpPr>
        <p:spPr>
          <a:xfrm>
            <a:off x="566928" y="3520440"/>
            <a:ext cx="7315200" cy="868680"/>
          </a:xfrm>
          <a:prstGeom prst="rect">
            <a:avLst/>
          </a:prstGeom>
          <a:noFill/>
          <a:ln/>
        </p:spPr>
        <p:txBody>
          <a:bodyPr wrap="square" lIns="0" tIns="0" rIns="0" bIns="0" rtlCol="0" anchor="ctr"/>
          <a:lstStyle/>
          <a:p>
            <a:pPr indent="0" marL="0">
              <a:buNone/>
            </a:pPr>
            <a:r>
              <a:rPr lang="en-US" sz="1700" dirty="0">
                <a:solidFill>
                  <a:srgbClr val="D8E6F2"/>
                </a:solidFill>
                <a:latin typeface="Calibri" pitchFamily="34" charset="0"/>
                <a:ea typeface="Calibri" pitchFamily="34" charset="-122"/>
                <a:cs typeface="Calibri" pitchFamily="34" charset="-120"/>
              </a:rPr>
              <a:t>Let the world in — and keep it out of the vault. By 17:00 merchants can reach AxisPay over TLS, and the DMZ can no longer touch cardholder data.</a:t>
            </a:r>
            <a:endParaRPr lang="en-US" sz="1700" dirty="0"/>
          </a:p>
        </p:txBody>
      </p:sp>
      <p:sp>
        <p:nvSpPr>
          <p:cNvPr id="7" name="Shape 5"/>
          <p:cNvSpPr/>
          <p:nvPr/>
        </p:nvSpPr>
        <p:spPr>
          <a:xfrm>
            <a:off x="566928" y="4709160"/>
            <a:ext cx="2148840" cy="749808"/>
          </a:xfrm>
          <a:prstGeom prst="roundRect">
            <a:avLst>
              <a:gd name="adj" fmla="val 12195"/>
            </a:avLst>
          </a:prstGeom>
          <a:solidFill>
            <a:srgbClr val="12314F"/>
          </a:solidFill>
          <a:ln w="12700">
            <a:solidFill>
              <a:srgbClr val="1B4066"/>
            </a:solidFill>
            <a:prstDash val="solid"/>
          </a:ln>
        </p:spPr>
      </p:sp>
      <p:sp>
        <p:nvSpPr>
          <p:cNvPr id="8" name="Text 6"/>
          <p:cNvSpPr/>
          <p:nvPr/>
        </p:nvSpPr>
        <p:spPr>
          <a:xfrm>
            <a:off x="566928" y="4773168"/>
            <a:ext cx="2148840" cy="274320"/>
          </a:xfrm>
          <a:prstGeom prst="rect">
            <a:avLst/>
          </a:prstGeom>
          <a:noFill/>
          <a:ln/>
        </p:spPr>
        <p:txBody>
          <a:bodyPr wrap="square" lIns="0" tIns="0" rIns="0" bIns="0" rtlCol="0" anchor="ctr"/>
          <a:lstStyle/>
          <a:p>
            <a:pPr algn="ctr" indent="0" marL="0">
              <a:buNone/>
            </a:pPr>
            <a:r>
              <a:rPr lang="en-US" sz="900" b="1" spc="100" kern="0" dirty="0">
                <a:solidFill>
                  <a:srgbClr val="F2A03D"/>
                </a:solidFill>
                <a:latin typeface="Calibri" pitchFamily="34" charset="0"/>
                <a:ea typeface="Calibri" pitchFamily="34" charset="-122"/>
                <a:cs typeface="Calibri" pitchFamily="34" charset="-120"/>
              </a:rPr>
              <a:t>DURATION</a:t>
            </a:r>
            <a:endParaRPr lang="en-US" sz="900" dirty="0"/>
          </a:p>
        </p:txBody>
      </p:sp>
      <p:sp>
        <p:nvSpPr>
          <p:cNvPr id="9" name="Text 7"/>
          <p:cNvSpPr/>
          <p:nvPr/>
        </p:nvSpPr>
        <p:spPr>
          <a:xfrm>
            <a:off x="566928" y="5029200"/>
            <a:ext cx="214884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 hours</a:t>
            </a:r>
            <a:endParaRPr lang="en-US" sz="1300" dirty="0"/>
          </a:p>
        </p:txBody>
      </p:sp>
      <p:sp>
        <p:nvSpPr>
          <p:cNvPr id="10" name="Shape 8"/>
          <p:cNvSpPr/>
          <p:nvPr/>
        </p:nvSpPr>
        <p:spPr>
          <a:xfrm>
            <a:off x="2898648" y="4709160"/>
            <a:ext cx="2148840" cy="749808"/>
          </a:xfrm>
          <a:prstGeom prst="roundRect">
            <a:avLst>
              <a:gd name="adj" fmla="val 12195"/>
            </a:avLst>
          </a:prstGeom>
          <a:solidFill>
            <a:srgbClr val="12314F"/>
          </a:solidFill>
          <a:ln w="12700">
            <a:solidFill>
              <a:srgbClr val="1B4066"/>
            </a:solidFill>
            <a:prstDash val="solid"/>
          </a:ln>
        </p:spPr>
      </p:sp>
      <p:sp>
        <p:nvSpPr>
          <p:cNvPr id="11" name="Text 9"/>
          <p:cNvSpPr/>
          <p:nvPr/>
        </p:nvSpPr>
        <p:spPr>
          <a:xfrm>
            <a:off x="2898648" y="4773168"/>
            <a:ext cx="2148840" cy="274320"/>
          </a:xfrm>
          <a:prstGeom prst="rect">
            <a:avLst/>
          </a:prstGeom>
          <a:noFill/>
          <a:ln/>
        </p:spPr>
        <p:txBody>
          <a:bodyPr wrap="square" lIns="0" tIns="0" rIns="0" bIns="0" rtlCol="0" anchor="ctr"/>
          <a:lstStyle/>
          <a:p>
            <a:pPr algn="ctr" indent="0" marL="0">
              <a:buNone/>
            </a:pPr>
            <a:r>
              <a:rPr lang="en-US" sz="900" b="1" spc="100" kern="0" dirty="0">
                <a:solidFill>
                  <a:srgbClr val="F2A03D"/>
                </a:solidFill>
                <a:latin typeface="Calibri" pitchFamily="34" charset="0"/>
                <a:ea typeface="Calibri" pitchFamily="34" charset="-122"/>
                <a:cs typeface="Calibri" pitchFamily="34" charset="-120"/>
              </a:rPr>
              <a:t>THEORY</a:t>
            </a:r>
            <a:endParaRPr lang="en-US" sz="900" dirty="0"/>
          </a:p>
        </p:txBody>
      </p:sp>
      <p:sp>
        <p:nvSpPr>
          <p:cNvPr id="12" name="Text 10"/>
          <p:cNvSpPr/>
          <p:nvPr/>
        </p:nvSpPr>
        <p:spPr>
          <a:xfrm>
            <a:off x="2898648" y="5029200"/>
            <a:ext cx="214884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250 min</a:t>
            </a:r>
            <a:endParaRPr lang="en-US" sz="1300" dirty="0"/>
          </a:p>
        </p:txBody>
      </p:sp>
      <p:sp>
        <p:nvSpPr>
          <p:cNvPr id="13" name="Shape 11"/>
          <p:cNvSpPr/>
          <p:nvPr/>
        </p:nvSpPr>
        <p:spPr>
          <a:xfrm>
            <a:off x="5230368" y="4709160"/>
            <a:ext cx="2148840" cy="749808"/>
          </a:xfrm>
          <a:prstGeom prst="roundRect">
            <a:avLst>
              <a:gd name="adj" fmla="val 12195"/>
            </a:avLst>
          </a:prstGeom>
          <a:solidFill>
            <a:srgbClr val="12314F"/>
          </a:solidFill>
          <a:ln w="12700">
            <a:solidFill>
              <a:srgbClr val="1B4066"/>
            </a:solidFill>
            <a:prstDash val="solid"/>
          </a:ln>
        </p:spPr>
      </p:sp>
      <p:sp>
        <p:nvSpPr>
          <p:cNvPr id="14" name="Text 12"/>
          <p:cNvSpPr/>
          <p:nvPr/>
        </p:nvSpPr>
        <p:spPr>
          <a:xfrm>
            <a:off x="5230368" y="4773168"/>
            <a:ext cx="2148840" cy="274320"/>
          </a:xfrm>
          <a:prstGeom prst="rect">
            <a:avLst/>
          </a:prstGeom>
          <a:noFill/>
          <a:ln/>
        </p:spPr>
        <p:txBody>
          <a:bodyPr wrap="square" lIns="0" tIns="0" rIns="0" bIns="0" rtlCol="0" anchor="ctr"/>
          <a:lstStyle/>
          <a:p>
            <a:pPr algn="ctr" indent="0" marL="0">
              <a:buNone/>
            </a:pPr>
            <a:r>
              <a:rPr lang="en-US" sz="900" b="1" spc="100" kern="0" dirty="0">
                <a:solidFill>
                  <a:srgbClr val="F2A03D"/>
                </a:solidFill>
                <a:latin typeface="Calibri" pitchFamily="34" charset="0"/>
                <a:ea typeface="Calibri" pitchFamily="34" charset="-122"/>
                <a:cs typeface="Calibri" pitchFamily="34" charset="-120"/>
              </a:rPr>
              <a:t>HANDS-ON</a:t>
            </a:r>
            <a:endParaRPr lang="en-US" sz="900" dirty="0"/>
          </a:p>
        </p:txBody>
      </p:sp>
      <p:sp>
        <p:nvSpPr>
          <p:cNvPr id="15" name="Text 13"/>
          <p:cNvSpPr/>
          <p:nvPr/>
        </p:nvSpPr>
        <p:spPr>
          <a:xfrm>
            <a:off x="5230368" y="5029200"/>
            <a:ext cx="214884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330 min</a:t>
            </a:r>
            <a:endParaRPr lang="en-US" sz="1300" dirty="0"/>
          </a:p>
        </p:txBody>
      </p:sp>
      <p:sp>
        <p:nvSpPr>
          <p:cNvPr id="16" name="Shape 14"/>
          <p:cNvSpPr/>
          <p:nvPr/>
        </p:nvSpPr>
        <p:spPr>
          <a:xfrm>
            <a:off x="7562088" y="4709160"/>
            <a:ext cx="2148840" cy="749808"/>
          </a:xfrm>
          <a:prstGeom prst="roundRect">
            <a:avLst>
              <a:gd name="adj" fmla="val 12195"/>
            </a:avLst>
          </a:prstGeom>
          <a:solidFill>
            <a:srgbClr val="12314F"/>
          </a:solidFill>
          <a:ln w="12700">
            <a:solidFill>
              <a:srgbClr val="1B4066"/>
            </a:solidFill>
            <a:prstDash val="solid"/>
          </a:ln>
        </p:spPr>
      </p:sp>
      <p:sp>
        <p:nvSpPr>
          <p:cNvPr id="17" name="Text 15"/>
          <p:cNvSpPr/>
          <p:nvPr/>
        </p:nvSpPr>
        <p:spPr>
          <a:xfrm>
            <a:off x="7562088" y="4773168"/>
            <a:ext cx="2148840" cy="274320"/>
          </a:xfrm>
          <a:prstGeom prst="rect">
            <a:avLst/>
          </a:prstGeom>
          <a:noFill/>
          <a:ln/>
        </p:spPr>
        <p:txBody>
          <a:bodyPr wrap="square" lIns="0" tIns="0" rIns="0" bIns="0" rtlCol="0" anchor="ctr"/>
          <a:lstStyle/>
          <a:p>
            <a:pPr algn="ctr" indent="0" marL="0">
              <a:buNone/>
            </a:pPr>
            <a:r>
              <a:rPr lang="en-US" sz="900" b="1" spc="100" kern="0" dirty="0">
                <a:solidFill>
                  <a:srgbClr val="F2A03D"/>
                </a:solidFill>
                <a:latin typeface="Calibri" pitchFamily="34" charset="0"/>
                <a:ea typeface="Calibri" pitchFamily="34" charset="-122"/>
                <a:cs typeface="Calibri" pitchFamily="34" charset="-120"/>
              </a:rPr>
              <a:t>LABS</a:t>
            </a:r>
            <a:endParaRPr lang="en-US" sz="900" dirty="0"/>
          </a:p>
        </p:txBody>
      </p:sp>
      <p:sp>
        <p:nvSpPr>
          <p:cNvPr id="18" name="Text 16"/>
          <p:cNvSpPr/>
          <p:nvPr/>
        </p:nvSpPr>
        <p:spPr>
          <a:xfrm>
            <a:off x="7562088" y="5029200"/>
            <a:ext cx="214884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 + 1 incident</a:t>
            </a:r>
            <a:endParaRPr lang="en-US" sz="1300" dirty="0"/>
          </a:p>
        </p:txBody>
      </p:sp>
      <p:sp>
        <p:nvSpPr>
          <p:cNvPr id="19" name="Text 17"/>
          <p:cNvSpPr/>
          <p:nvPr/>
        </p:nvSpPr>
        <p:spPr>
          <a:xfrm>
            <a:off x="566928" y="5943600"/>
            <a:ext cx="8229600" cy="274320"/>
          </a:xfrm>
          <a:prstGeom prst="rect">
            <a:avLst/>
          </a:prstGeom>
          <a:noFill/>
          <a:ln/>
        </p:spPr>
        <p:txBody>
          <a:bodyPr wrap="square" lIns="0" tIns="0" rIns="0" bIns="0" rtlCol="0" anchor="ctr"/>
          <a:lstStyle/>
          <a:p>
            <a:pPr indent="0" marL="0">
              <a:buNone/>
            </a:pPr>
            <a:r>
              <a:rPr lang="en-US" sz="1000" dirty="0">
                <a:solidFill>
                  <a:srgbClr val="63758B"/>
                </a:solidFill>
                <a:latin typeface="Calibri" pitchFamily="34" charset="0"/>
                <a:ea typeface="Calibri" pitchFamily="34" charset="-122"/>
                <a:cs typeface="Calibri" pitchFamily="34" charset="-120"/>
              </a:rPr>
              <a:t>Yesterday you gave the platform a memory. Today anyone in the cluster can read it.</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751076" cy="292608"/>
          </a:xfrm>
          <a:prstGeom prst="roundRect">
            <a:avLst>
              <a:gd name="adj" fmla="val 50000"/>
            </a:avLst>
          </a:prstGeom>
          <a:solidFill>
            <a:srgbClr val="C97B1E"/>
          </a:solidFill>
          <a:ln w="12700">
            <a:solidFill>
              <a:srgbClr val="C97B1E"/>
            </a:solidFill>
            <a:prstDash val="solid"/>
          </a:ln>
        </p:spPr>
      </p:sp>
      <p:sp>
        <p:nvSpPr>
          <p:cNvPr id="3" name="Text 1"/>
          <p:cNvSpPr/>
          <p:nvPr/>
        </p:nvSpPr>
        <p:spPr>
          <a:xfrm>
            <a:off x="566928" y="384048"/>
            <a:ext cx="1751076"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MORNING RECAP</a:t>
            </a:r>
            <a:endParaRPr lang="en-US" sz="1100" dirty="0"/>
          </a:p>
        </p:txBody>
      </p:sp>
      <p:sp>
        <p:nvSpPr>
          <p:cNvPr id="4" name="Shape 2"/>
          <p:cNvSpPr/>
          <p:nvPr/>
        </p:nvSpPr>
        <p:spPr>
          <a:xfrm>
            <a:off x="566928" y="1143000"/>
            <a:ext cx="11057839" cy="2286000"/>
          </a:xfrm>
          <a:prstGeom prst="roundRect">
            <a:avLst>
              <a:gd name="adj" fmla="val 4800"/>
            </a:avLst>
          </a:prstGeom>
          <a:solidFill>
            <a:srgbClr val="12314F"/>
          </a:solidFill>
          <a:ln w="12700">
            <a:solidFill>
              <a:srgbClr val="F2A03D"/>
            </a:solidFill>
            <a:prstDash val="solid"/>
          </a:ln>
        </p:spPr>
      </p:sp>
      <p:sp>
        <p:nvSpPr>
          <p:cNvPr id="5" name="Text 3"/>
          <p:cNvSpPr/>
          <p:nvPr/>
        </p:nvSpPr>
        <p:spPr>
          <a:xfrm>
            <a:off x="841248" y="1143000"/>
            <a:ext cx="914400" cy="2286000"/>
          </a:xfrm>
          <a:prstGeom prst="rect">
            <a:avLst/>
          </a:prstGeom>
          <a:noFill/>
          <a:ln/>
        </p:spPr>
        <p:txBody>
          <a:bodyPr wrap="square" lIns="0" tIns="0" rIns="0" bIns="0" rtlCol="0" anchor="ctr"/>
          <a:lstStyle/>
          <a:p>
            <a:pPr algn="ctr" indent="0" marL="0">
              <a:buNone/>
            </a:pPr>
            <a:r>
              <a:rPr lang="en-US" sz="7400" b="1" dirty="0">
                <a:solidFill>
                  <a:srgbClr val="F2A03D"/>
                </a:solidFill>
                <a:latin typeface="Cambria" pitchFamily="34" charset="0"/>
                <a:ea typeface="Cambria" pitchFamily="34" charset="-122"/>
                <a:cs typeface="Cambria" pitchFamily="34" charset="-120"/>
              </a:rPr>
              <a:t>?</a:t>
            </a:r>
            <a:endParaRPr lang="en-US" sz="7400" dirty="0"/>
          </a:p>
        </p:txBody>
      </p:sp>
      <p:sp>
        <p:nvSpPr>
          <p:cNvPr id="6" name="Text 4"/>
          <p:cNvSpPr/>
          <p:nvPr/>
        </p:nvSpPr>
        <p:spPr>
          <a:xfrm>
            <a:off x="1892808" y="1143000"/>
            <a:ext cx="9320479" cy="2286000"/>
          </a:xfrm>
          <a:prstGeom prst="rect">
            <a:avLst/>
          </a:prstGeom>
          <a:noFill/>
          <a:ln/>
        </p:spPr>
        <p:txBody>
          <a:bodyPr wrap="square" lIns="0" tIns="0" rIns="0" bIns="0" rtlCol="0" anchor="ctr"/>
          <a:lstStyle/>
          <a:p>
            <a:pPr indent="0" marL="0">
              <a:lnSpc>
                <a:spcPts val="3200"/>
              </a:lnSpc>
              <a:buNone/>
            </a:pPr>
            <a:r>
              <a:rPr lang="en-US" sz="2500" b="1" dirty="0">
                <a:solidFill>
                  <a:srgbClr val="FFFFFF"/>
                </a:solidFill>
                <a:latin typeface="Cambria" pitchFamily="34" charset="0"/>
                <a:ea typeface="Cambria" pitchFamily="34" charset="-122"/>
                <a:cs typeface="Cambria" pitchFamily="34" charset="-120"/>
              </a:rPr>
              <a:t>Five from yesterday. Answer out loud.</a:t>
            </a:r>
            <a:endParaRPr lang="en-US" sz="2500" dirty="0"/>
          </a:p>
        </p:txBody>
      </p:sp>
      <p:sp>
        <p:nvSpPr>
          <p:cNvPr id="7" name="Text 5"/>
          <p:cNvSpPr/>
          <p:nvPr/>
        </p:nvSpPr>
        <p:spPr>
          <a:xfrm>
            <a:off x="566928" y="3630168"/>
            <a:ext cx="6400800" cy="274320"/>
          </a:xfrm>
          <a:prstGeom prst="rect">
            <a:avLst/>
          </a:prstGeom>
          <a:noFill/>
          <a:ln/>
        </p:spPr>
        <p:txBody>
          <a:bodyPr wrap="square" lIns="0" tIns="0" rIns="0" bIns="0" rtlCol="0" anchor="ctr"/>
          <a:lstStyle/>
          <a:p>
            <a:pPr indent="0" marL="0">
              <a:buNone/>
            </a:pPr>
            <a:r>
              <a:rPr lang="en-US" sz="1100" b="1" spc="100" kern="0" dirty="0">
                <a:solidFill>
                  <a:srgbClr val="F2A03D"/>
                </a:solidFill>
                <a:latin typeface="Calibri" pitchFamily="34" charset="0"/>
                <a:ea typeface="Calibri" pitchFamily="34" charset="-122"/>
                <a:cs typeface="Calibri" pitchFamily="34" charset="-120"/>
              </a:rPr>
              <a:t>Answers</a:t>
            </a:r>
            <a:endParaRPr lang="en-US" sz="1100" dirty="0"/>
          </a:p>
        </p:txBody>
      </p:sp>
      <p:sp>
        <p:nvSpPr>
          <p:cNvPr id="8" name="Text 6"/>
          <p:cNvSpPr/>
          <p:nvPr/>
        </p:nvSpPr>
        <p:spPr>
          <a:xfrm>
            <a:off x="640080" y="3922776"/>
            <a:ext cx="10966399" cy="2450592"/>
          </a:xfrm>
          <a:prstGeom prst="rect">
            <a:avLst/>
          </a:prstGeom>
          <a:noFill/>
          <a:ln/>
        </p:spPr>
        <p:txBody>
          <a:bodyPr wrap="square" lIns="0" tIns="0" rIns="0" bIns="0" rtlCol="0" anchor="t"/>
          <a:lstStyle/>
          <a:p>
            <a:pPr marL="342900" indent="-342900">
              <a:spcAft>
                <a:spcPts val="700"/>
              </a:spcAft>
              <a:buSzPct val="100000"/>
              <a:buChar char="•"/>
            </a:pPr>
            <a:r>
              <a:rPr lang="en-US" sz="1350" dirty="0">
                <a:solidFill>
                  <a:srgbClr val="D8E6F2"/>
                </a:solidFill>
                <a:latin typeface="Calibri" pitchFamily="34" charset="0"/>
                <a:ea typeface="Calibri" pitchFamily="34" charset="-122"/>
                <a:cs typeface="Calibri" pitchFamily="34" charset="-120"/>
              </a:rPr>
              <a:t>Change a ConfigMap — do running pods see it?  →  env: no. volume: yes, ~60s.</a:t>
            </a:r>
            <a:endParaRPr lang="en-US" sz="1350" dirty="0"/>
          </a:p>
          <a:p>
            <a:pPr marL="342900" indent="-342900">
              <a:spcAft>
                <a:spcPts val="700"/>
              </a:spcAft>
              <a:buSzPct val="100000"/>
              <a:buChar char="•"/>
            </a:pPr>
            <a:r>
              <a:rPr lang="en-US" sz="1350" dirty="0">
                <a:solidFill>
                  <a:srgbClr val="D8E6F2"/>
                </a:solidFill>
                <a:latin typeface="Calibri" pitchFamily="34" charset="0"/>
                <a:ea typeface="Calibri" pitchFamily="34" charset="-122"/>
                <a:cs typeface="Calibri" pitchFamily="34" charset="-120"/>
              </a:rPr>
              <a:t>Is a Secret encrypted?  →  No. base64. RBAC + etcd encryption at rest protect it.</a:t>
            </a:r>
            <a:endParaRPr lang="en-US" sz="1350" dirty="0"/>
          </a:p>
          <a:p>
            <a:pPr marL="342900" indent="-342900">
              <a:spcAft>
                <a:spcPts val="700"/>
              </a:spcAft>
              <a:buSzPct val="100000"/>
              <a:buChar char="•"/>
            </a:pPr>
            <a:r>
              <a:rPr lang="en-US" sz="1350" dirty="0">
                <a:solidFill>
                  <a:srgbClr val="D8E6F2"/>
                </a:solidFill>
                <a:latin typeface="Calibri" pitchFamily="34" charset="0"/>
                <a:ea typeface="Calibri" pitchFamily="34" charset="-122"/>
                <a:cs typeface="Calibri" pitchFamily="34" charset="-120"/>
              </a:rPr>
              <a:t>ReadWriteOnce — once what?  →  one NODE, not one pod</a:t>
            </a:r>
            <a:endParaRPr lang="en-US" sz="1350" dirty="0"/>
          </a:p>
          <a:p>
            <a:pPr marL="342900" indent="-342900">
              <a:spcAft>
                <a:spcPts val="700"/>
              </a:spcAft>
              <a:buSzPct val="100000"/>
              <a:buChar char="•"/>
            </a:pPr>
            <a:r>
              <a:rPr lang="en-US" sz="1350" dirty="0">
                <a:solidFill>
                  <a:srgbClr val="D8E6F2"/>
                </a:solidFill>
                <a:latin typeface="Calibri" pitchFamily="34" charset="0"/>
                <a:ea typeface="Calibri" pitchFamily="34" charset="-122"/>
                <a:cs typeface="Calibri" pitchFamily="34" charset="-120"/>
              </a:rPr>
              <a:t>Three things a StatefulSet gives?  →  stable name, stable storage, ordering</a:t>
            </a:r>
            <a:endParaRPr lang="en-US" sz="1350" dirty="0"/>
          </a:p>
          <a:p>
            <a:pPr marL="342900" indent="-342900">
              <a:spcAft>
                <a:spcPts val="700"/>
              </a:spcAft>
              <a:buSzPct val="100000"/>
              <a:buChar char="•"/>
            </a:pPr>
            <a:r>
              <a:rPr lang="en-US" sz="1350" dirty="0">
                <a:solidFill>
                  <a:srgbClr val="D8E6F2"/>
                </a:solidFill>
                <a:latin typeface="Calibri" pitchFamily="34" charset="0"/>
                <a:ea typeface="Calibri" pitchFamily="34" charset="-122"/>
                <a:cs typeface="Calibri" pitchFamily="34" charset="-120"/>
              </a:rPr>
              <a:t>What does fsGroup do?  →  chowns the volume so a non-root process can write</a:t>
            </a:r>
            <a:endParaRPr lang="en-US" sz="1350" dirty="0"/>
          </a:p>
        </p:txBody>
      </p:sp>
      <p:sp>
        <p:nvSpPr>
          <p:cNvPr id="9" name="Text 7"/>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4</a:t>
            </a:r>
            <a:endParaRPr lang="en-US" sz="900" dirty="0"/>
          </a:p>
        </p:txBody>
      </p:sp>
      <p:sp>
        <p:nvSpPr>
          <p:cNvPr id="10" name="Text 8"/>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1005840"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100584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TODAY</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What is missing, and what it costs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66928" y="1874520"/>
          <a:ext cx="11057839" cy="914400"/>
        </p:xfrm>
        <a:graphic>
          <a:graphicData uri="http://schemas.openxmlformats.org/drawingml/2006/table">
            <a:tbl>
              <a:tblPr/>
              <a:tblGrid>
                <a:gridCol w="3657600"/>
                <a:gridCol w="5303520"/>
                <a:gridCol w="2103120"/>
              </a:tblGrid>
              <a:tr h="43891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Missing right now</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costs you</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Fixed in</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No route in from outside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No merchant can integrate. port-forward is not a product.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L4.3</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No TLS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Card data over plaintext HTTP</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L4.3</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Flat pod network</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The DMZ can read the payments database. A PCI finding.</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L4.4</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No placement control</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All three payment replicas can land on one node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L4.5</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No disruption budget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A node drain takes every replica at once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L4.6</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DNS still unopened</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You have relied on it for three days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L4.2</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bl>
          </a:graphicData>
        </a:graphic>
      </p:graphicFrame>
      <p:sp>
        <p:nvSpPr>
          <p:cNvPr id="6" name="Text 3"/>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4</a:t>
            </a:r>
            <a:endParaRPr lang="en-US" sz="900" dirty="0"/>
          </a:p>
        </p:txBody>
      </p:sp>
      <p:sp>
        <p:nvSpPr>
          <p:cNvPr id="7" name="Text 4"/>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8351215" y="-1097280"/>
            <a:ext cx="5120640" cy="5120640"/>
          </a:xfrm>
          <a:prstGeom prst="ellipse">
            <a:avLst/>
          </a:prstGeom>
          <a:solidFill>
            <a:srgbClr val="12314F"/>
          </a:solidFill>
          <a:ln w="12700">
            <a:solidFill>
              <a:srgbClr val="12314F"/>
            </a:solidFill>
            <a:prstDash val="solid"/>
          </a:ln>
        </p:spPr>
      </p:sp>
      <p:sp>
        <p:nvSpPr>
          <p:cNvPr id="3" name="Text 1"/>
          <p:cNvSpPr/>
          <p:nvPr/>
        </p:nvSpPr>
        <p:spPr>
          <a:xfrm>
            <a:off x="566928" y="1600200"/>
            <a:ext cx="5669280" cy="1463040"/>
          </a:xfrm>
          <a:prstGeom prst="rect">
            <a:avLst/>
          </a:prstGeom>
          <a:noFill/>
          <a:ln/>
        </p:spPr>
        <p:txBody>
          <a:bodyPr wrap="square" lIns="0" tIns="0" rIns="0" bIns="0" rtlCol="0" anchor="ctr"/>
          <a:lstStyle/>
          <a:p>
            <a:pPr indent="0" marL="0">
              <a:buNone/>
            </a:pPr>
            <a:r>
              <a:rPr lang="en-US" sz="4000" b="1" dirty="0">
                <a:solidFill>
                  <a:srgbClr val="F2A03D"/>
                </a:solidFill>
                <a:latin typeface="Cambria" pitchFamily="34" charset="0"/>
                <a:ea typeface="Cambria" pitchFamily="34" charset="-122"/>
                <a:cs typeface="Cambria" pitchFamily="34" charset="-120"/>
              </a:rPr>
              <a:t>M4.1 – M4.2</a:t>
            </a:r>
            <a:endParaRPr lang="en-US" sz="4000" dirty="0"/>
          </a:p>
        </p:txBody>
      </p:sp>
      <p:sp>
        <p:nvSpPr>
          <p:cNvPr id="4" name="Text 2"/>
          <p:cNvSpPr/>
          <p:nvPr/>
        </p:nvSpPr>
        <p:spPr>
          <a:xfrm>
            <a:off x="566928" y="2971800"/>
            <a:ext cx="786384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The cluster network and Service types</a:t>
            </a:r>
            <a:endParaRPr lang="en-US" sz="3800" dirty="0"/>
          </a:p>
        </p:txBody>
      </p:sp>
      <p:sp>
        <p:nvSpPr>
          <p:cNvPr id="5" name="Text 3"/>
          <p:cNvSpPr/>
          <p:nvPr/>
        </p:nvSpPr>
        <p:spPr>
          <a:xfrm>
            <a:off x="566928" y="3886200"/>
            <a:ext cx="7498080" cy="822960"/>
          </a:xfrm>
          <a:prstGeom prst="rect">
            <a:avLst/>
          </a:prstGeom>
          <a:noFill/>
          <a:ln/>
        </p:spPr>
        <p:txBody>
          <a:bodyPr wrap="square" lIns="0" tIns="0" rIns="0" bIns="0" rtlCol="0" anchor="ctr"/>
          <a:lstStyle/>
          <a:p>
            <a:pPr indent="0" marL="0">
              <a:buNone/>
            </a:pPr>
            <a:r>
              <a:rPr lang="en-US" sz="1500" dirty="0">
                <a:solidFill>
                  <a:srgbClr val="D8E6F2"/>
                </a:solidFill>
                <a:latin typeface="Calibri" pitchFamily="34" charset="0"/>
                <a:ea typeface="Calibri" pitchFamily="34" charset="-122"/>
                <a:cs typeface="Calibri" pitchFamily="34" charset="-120"/>
              </a:rPr>
              <a:t>Four rules, five Service types, and no proxy in the request path</a:t>
            </a:r>
            <a:endParaRPr lang="en-US" sz="1500" dirty="0"/>
          </a:p>
        </p:txBody>
      </p:sp>
      <p:sp>
        <p:nvSpPr>
          <p:cNvPr id="6" name="Text 4"/>
          <p:cNvSpPr/>
          <p:nvPr/>
        </p:nvSpPr>
        <p:spPr>
          <a:xfrm>
            <a:off x="566928" y="4709160"/>
            <a:ext cx="7498080" cy="274320"/>
          </a:xfrm>
          <a:prstGeom prst="rect">
            <a:avLst/>
          </a:prstGeom>
          <a:noFill/>
          <a:ln/>
        </p:spPr>
        <p:txBody>
          <a:bodyPr wrap="square" lIns="0" tIns="0" rIns="0" bIns="0" rtlCol="0" anchor="ctr"/>
          <a:lstStyle/>
          <a:p>
            <a:pPr indent="0" marL="0">
              <a:buNone/>
            </a:pPr>
            <a:r>
              <a:rPr lang="en-US" sz="1100" b="1" dirty="0">
                <a:solidFill>
                  <a:srgbClr val="F2A03D"/>
                </a:solidFill>
                <a:latin typeface="Calibri" pitchFamily="34" charset="0"/>
                <a:ea typeface="Calibri" pitchFamily="34" charset="-122"/>
                <a:cs typeface="Calibri" pitchFamily="34" charset="-120"/>
              </a:rPr>
              <a:t>By the end of this module you will be able to:</a:t>
            </a:r>
            <a:endParaRPr lang="en-US" sz="1100" dirty="0"/>
          </a:p>
        </p:txBody>
      </p:sp>
      <p:sp>
        <p:nvSpPr>
          <p:cNvPr id="7" name="Text 5"/>
          <p:cNvSpPr/>
          <p:nvPr/>
        </p:nvSpPr>
        <p:spPr>
          <a:xfrm>
            <a:off x="658368" y="4983480"/>
            <a:ext cx="7498080" cy="10972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State the four Kubernetes networking rules</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Choose between ClusterIP, NodePort, LoadBalancer, ExternalName and headless</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Explain how EndpointSlices are populated</a:t>
            </a:r>
            <a:endParaRPr lang="en-US" sz="1200" dirty="0"/>
          </a:p>
        </p:txBody>
      </p:sp>
      <p:sp>
        <p:nvSpPr>
          <p:cNvPr id="8" name="Text 6"/>
          <p:cNvSpPr/>
          <p:nvPr/>
        </p:nvSpPr>
        <p:spPr>
          <a:xfrm>
            <a:off x="9814255" y="5989320"/>
            <a:ext cx="1828800" cy="320040"/>
          </a:xfrm>
          <a:prstGeom prst="rect">
            <a:avLst/>
          </a:prstGeom>
          <a:noFill/>
          <a:ln/>
        </p:spPr>
        <p:txBody>
          <a:bodyPr wrap="square" lIns="0" tIns="0" rIns="0" bIns="0" rtlCol="0" anchor="ctr"/>
          <a:lstStyle/>
          <a:p>
            <a:pPr algn="r" indent="0" marL="0">
              <a:buNone/>
            </a:pPr>
            <a:r>
              <a:rPr lang="en-US" sz="1100" dirty="0">
                <a:solidFill>
                  <a:srgbClr val="63758B"/>
                </a:solidFill>
                <a:latin typeface="Calibri" pitchFamily="34" charset="0"/>
                <a:ea typeface="Calibri" pitchFamily="34" charset="-122"/>
                <a:cs typeface="Calibri" pitchFamily="34" charset="-120"/>
              </a:rPr>
              <a:t>75 min</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2171700"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217170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M4.1 · NETWORKING</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The four rules Kubernetes demands of any network plugin</a:t>
            </a:r>
            <a:endParaRPr lang="en-US" sz="3200" dirty="0"/>
          </a:p>
        </p:txBody>
      </p:sp>
      <p:sp>
        <p:nvSpPr>
          <p:cNvPr id="5" name="Shape 3"/>
          <p:cNvSpPr/>
          <p:nvPr/>
        </p:nvSpPr>
        <p:spPr>
          <a:xfrm>
            <a:off x="566928" y="1737360"/>
            <a:ext cx="11057839" cy="566928"/>
          </a:xfrm>
          <a:prstGeom prst="roundRect">
            <a:avLst>
              <a:gd name="adj" fmla="val 12903"/>
            </a:avLst>
          </a:prstGeom>
          <a:solidFill>
            <a:srgbClr val="EAF1F8"/>
          </a:solidFill>
          <a:ln w="12700">
            <a:solidFill>
              <a:srgbClr val="1C7293"/>
            </a:solidFill>
            <a:prstDash val="solid"/>
          </a:ln>
        </p:spPr>
      </p:sp>
      <p:sp>
        <p:nvSpPr>
          <p:cNvPr id="6" name="Text 4"/>
          <p:cNvSpPr/>
          <p:nvPr/>
        </p:nvSpPr>
        <p:spPr>
          <a:xfrm>
            <a:off x="768096" y="1737360"/>
            <a:ext cx="10655503" cy="566928"/>
          </a:xfrm>
          <a:prstGeom prst="rect">
            <a:avLst/>
          </a:prstGeom>
          <a:noFill/>
          <a:ln/>
        </p:spPr>
        <p:txBody>
          <a:bodyPr wrap="square" lIns="0" tIns="0" rIns="0" bIns="0" rtlCol="0" anchor="ctr"/>
          <a:lstStyle/>
          <a:p>
            <a:pPr indent="0" marL="0">
              <a:buNone/>
            </a:pPr>
            <a:r>
              <a:rPr lang="en-US" sz="1500" b="1" dirty="0">
                <a:solidFill>
                  <a:srgbClr val="0B1F3A"/>
                </a:solidFill>
                <a:latin typeface="Cambria" pitchFamily="34" charset="0"/>
                <a:ea typeface="Cambria" pitchFamily="34" charset="-122"/>
                <a:cs typeface="Cambria" pitchFamily="34" charset="-120"/>
              </a:rPr>
              <a:t>Kubernetes does not implement networking. So what does it actually require?</a:t>
            </a:r>
            <a:endParaRPr lang="en-US" sz="1500" dirty="0"/>
          </a:p>
        </p:txBody>
      </p:sp>
      <p:sp>
        <p:nvSpPr>
          <p:cNvPr id="7" name="Shape 5"/>
          <p:cNvSpPr/>
          <p:nvPr/>
        </p:nvSpPr>
        <p:spPr>
          <a:xfrm>
            <a:off x="566928" y="2712339"/>
            <a:ext cx="402336" cy="402336"/>
          </a:xfrm>
          <a:prstGeom prst="ellipse">
            <a:avLst/>
          </a:prstGeom>
          <a:solidFill>
            <a:srgbClr val="1C7293"/>
          </a:solidFill>
          <a:ln w="12700">
            <a:solidFill>
              <a:srgbClr val="1C7293"/>
            </a:solidFill>
            <a:prstDash val="solid"/>
          </a:ln>
        </p:spPr>
      </p:sp>
      <p:sp>
        <p:nvSpPr>
          <p:cNvPr id="8" name="Text 6"/>
          <p:cNvSpPr/>
          <p:nvPr/>
        </p:nvSpPr>
        <p:spPr>
          <a:xfrm>
            <a:off x="566928" y="2712339"/>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9" name="Text 7"/>
          <p:cNvSpPr/>
          <p:nvPr/>
        </p:nvSpPr>
        <p:spPr>
          <a:xfrm>
            <a:off x="1133856" y="2487168"/>
            <a:ext cx="3200400" cy="852678"/>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Every pod gets its own IP</a:t>
            </a:r>
            <a:endParaRPr lang="en-US" sz="1400" dirty="0"/>
          </a:p>
        </p:txBody>
      </p:sp>
      <p:sp>
        <p:nvSpPr>
          <p:cNvPr id="10" name="Text 8"/>
          <p:cNvSpPr/>
          <p:nvPr/>
        </p:nvSpPr>
        <p:spPr>
          <a:xfrm>
            <a:off x="4407408" y="2487168"/>
            <a:ext cx="7217359" cy="852678"/>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Not a port on a shared host IP. A pod is addressable in its own right, which is why two pods can both listen on 8080 without conflict.</a:t>
            </a:r>
            <a:endParaRPr lang="en-US" sz="1250" dirty="0"/>
          </a:p>
        </p:txBody>
      </p:sp>
      <p:sp>
        <p:nvSpPr>
          <p:cNvPr id="11" name="Shape 9"/>
          <p:cNvSpPr/>
          <p:nvPr/>
        </p:nvSpPr>
        <p:spPr>
          <a:xfrm>
            <a:off x="566928" y="3565017"/>
            <a:ext cx="402336" cy="402336"/>
          </a:xfrm>
          <a:prstGeom prst="ellipse">
            <a:avLst/>
          </a:prstGeom>
          <a:solidFill>
            <a:srgbClr val="1C7293"/>
          </a:solidFill>
          <a:ln w="12700">
            <a:solidFill>
              <a:srgbClr val="1C7293"/>
            </a:solidFill>
            <a:prstDash val="solid"/>
          </a:ln>
        </p:spPr>
      </p:sp>
      <p:sp>
        <p:nvSpPr>
          <p:cNvPr id="12" name="Text 10"/>
          <p:cNvSpPr/>
          <p:nvPr/>
        </p:nvSpPr>
        <p:spPr>
          <a:xfrm>
            <a:off x="566928" y="3565017"/>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3" name="Text 11"/>
          <p:cNvSpPr/>
          <p:nvPr/>
        </p:nvSpPr>
        <p:spPr>
          <a:xfrm>
            <a:off x="1133856" y="3339846"/>
            <a:ext cx="3200400" cy="852678"/>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Pods reach all pods without NAT</a:t>
            </a:r>
            <a:endParaRPr lang="en-US" sz="1400" dirty="0"/>
          </a:p>
        </p:txBody>
      </p:sp>
      <p:sp>
        <p:nvSpPr>
          <p:cNvPr id="14" name="Text 12"/>
          <p:cNvSpPr/>
          <p:nvPr/>
        </p:nvSpPr>
        <p:spPr>
          <a:xfrm>
            <a:off x="4407408" y="3339846"/>
            <a:ext cx="7217359" cy="852678"/>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Across nodes, without port mapping and without address translation. The destination sees the source's real IP.</a:t>
            </a:r>
            <a:endParaRPr lang="en-US" sz="1250" dirty="0"/>
          </a:p>
        </p:txBody>
      </p:sp>
      <p:sp>
        <p:nvSpPr>
          <p:cNvPr id="15" name="Shape 13"/>
          <p:cNvSpPr/>
          <p:nvPr/>
        </p:nvSpPr>
        <p:spPr>
          <a:xfrm>
            <a:off x="566928" y="4417695"/>
            <a:ext cx="402336" cy="402336"/>
          </a:xfrm>
          <a:prstGeom prst="ellipse">
            <a:avLst/>
          </a:prstGeom>
          <a:solidFill>
            <a:srgbClr val="1C7293"/>
          </a:solidFill>
          <a:ln w="12700">
            <a:solidFill>
              <a:srgbClr val="1C7293"/>
            </a:solidFill>
            <a:prstDash val="solid"/>
          </a:ln>
        </p:spPr>
      </p:sp>
      <p:sp>
        <p:nvSpPr>
          <p:cNvPr id="16" name="Text 14"/>
          <p:cNvSpPr/>
          <p:nvPr/>
        </p:nvSpPr>
        <p:spPr>
          <a:xfrm>
            <a:off x="566928" y="4417695"/>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7" name="Text 15"/>
          <p:cNvSpPr/>
          <p:nvPr/>
        </p:nvSpPr>
        <p:spPr>
          <a:xfrm>
            <a:off x="1133856" y="4192524"/>
            <a:ext cx="3200400" cy="852678"/>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Nodes reach all pods without NAT</a:t>
            </a:r>
            <a:endParaRPr lang="en-US" sz="1400" dirty="0"/>
          </a:p>
        </p:txBody>
      </p:sp>
      <p:sp>
        <p:nvSpPr>
          <p:cNvPr id="18" name="Text 16"/>
          <p:cNvSpPr/>
          <p:nvPr/>
        </p:nvSpPr>
        <p:spPr>
          <a:xfrm>
            <a:off x="4407408" y="4192524"/>
            <a:ext cx="7217359" cy="852678"/>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This is what lets the kubelet run your probes and lets a DaemonSet agent talk to local workloads.</a:t>
            </a:r>
            <a:endParaRPr lang="en-US" sz="1250" dirty="0"/>
          </a:p>
        </p:txBody>
      </p:sp>
      <p:sp>
        <p:nvSpPr>
          <p:cNvPr id="19" name="Shape 17"/>
          <p:cNvSpPr/>
          <p:nvPr/>
        </p:nvSpPr>
        <p:spPr>
          <a:xfrm>
            <a:off x="566928" y="5270373"/>
            <a:ext cx="402336" cy="402336"/>
          </a:xfrm>
          <a:prstGeom prst="ellipse">
            <a:avLst/>
          </a:prstGeom>
          <a:solidFill>
            <a:srgbClr val="2E9E63"/>
          </a:solidFill>
          <a:ln w="12700">
            <a:solidFill>
              <a:srgbClr val="2E9E63"/>
            </a:solidFill>
            <a:prstDash val="solid"/>
          </a:ln>
        </p:spPr>
      </p:sp>
      <p:sp>
        <p:nvSpPr>
          <p:cNvPr id="20" name="Text 18"/>
          <p:cNvSpPr/>
          <p:nvPr/>
        </p:nvSpPr>
        <p:spPr>
          <a:xfrm>
            <a:off x="566928" y="5270373"/>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1" name="Text 19"/>
          <p:cNvSpPr/>
          <p:nvPr/>
        </p:nvSpPr>
        <p:spPr>
          <a:xfrm>
            <a:off x="1133856" y="5045202"/>
            <a:ext cx="3200400" cy="852678"/>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The IP a pod sees itself as is the IP others see</a:t>
            </a:r>
            <a:endParaRPr lang="en-US" sz="1400" dirty="0"/>
          </a:p>
        </p:txBody>
      </p:sp>
      <p:sp>
        <p:nvSpPr>
          <p:cNvPr id="22" name="Text 20"/>
          <p:cNvSpPr/>
          <p:nvPr/>
        </p:nvSpPr>
        <p:spPr>
          <a:xfrm>
            <a:off x="4407408" y="5045202"/>
            <a:ext cx="7217359" cy="852678"/>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No split-horizon. A pod can put its own address in a message and it will be usable by the recipient — which sounds obvious and is not true of Docker's default bridge.</a:t>
            </a:r>
            <a:endParaRPr lang="en-US" sz="1250" dirty="0"/>
          </a:p>
        </p:txBody>
      </p:sp>
      <p:sp>
        <p:nvSpPr>
          <p:cNvPr id="23" name="Text 21"/>
          <p:cNvSpPr/>
          <p:nvPr/>
        </p:nvSpPr>
        <p:spPr>
          <a:xfrm>
            <a:off x="566928" y="5687568"/>
            <a:ext cx="11057839" cy="548640"/>
          </a:xfrm>
          <a:prstGeom prst="rect">
            <a:avLst/>
          </a:prstGeom>
          <a:noFill/>
          <a:ln/>
        </p:spPr>
        <p:txBody>
          <a:bodyPr wrap="square" lIns="0" tIns="0" rIns="0" bIns="0" rtlCol="0" anchor="ctr"/>
          <a:lstStyle/>
          <a:p>
            <a:pPr algn="ctr" indent="0" marL="0">
              <a:buNone/>
            </a:pPr>
            <a:r>
              <a:rPr lang="en-US" sz="1400" b="1" dirty="0">
                <a:solidFill>
                  <a:srgbClr val="1C7293"/>
                </a:solidFill>
                <a:latin typeface="Calibri" pitchFamily="34" charset="0"/>
                <a:ea typeface="Calibri" pitchFamily="34" charset="-122"/>
                <a:cs typeface="Calibri" pitchFamily="34" charset="-120"/>
              </a:rPr>
              <a:t>Kubernetes defines the contract; Calico, Cilium or Flannel implement it. That is why the CNI choice matters so much on Thursday.</a:t>
            </a:r>
            <a:endParaRPr lang="en-US" sz="1400" dirty="0"/>
          </a:p>
        </p:txBody>
      </p:sp>
      <p:sp>
        <p:nvSpPr>
          <p:cNvPr id="24" name="Text 22"/>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4</a:t>
            </a:r>
            <a:endParaRPr lang="en-US" sz="900" dirty="0"/>
          </a:p>
        </p:txBody>
      </p:sp>
      <p:sp>
        <p:nvSpPr>
          <p:cNvPr id="25" name="Text 23"/>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1961388"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196138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M4.2 · SERVICES</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Five Service types — choose by what you need</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66928" y="1874520"/>
          <a:ext cx="11057839" cy="914400"/>
        </p:xfrm>
        <a:graphic>
          <a:graphicData uri="http://schemas.openxmlformats.org/drawingml/2006/table">
            <a:tbl>
              <a:tblPr/>
              <a:tblGrid>
                <a:gridCol w="2286000"/>
                <a:gridCol w="4572000"/>
                <a:gridCol w="4206240"/>
              </a:tblGrid>
              <a:tr h="60350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Type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does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Use it when</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r>
              <a:tr h="603504">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ClusterIP</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Virtual IP, reachable only inside the cluster</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Service-to-service. The default, and 90% of cases.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603504">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NodePort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Opens the SAME port on EVERY node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Development. In production it is an attack surface.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603504">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LoadBalancer</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Asks the cloud for a load balancer</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Cloud production. Not available on Minikube.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603504">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ExternalName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A CNAME. No proxy, no endpoints.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Giving an external dependency a stable in-cluster name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603504">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Headless (clusterIP: None)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DNS returns POD IPs, not a virtual IP</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StatefulSets; gRPC client-side load balancing</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bl>
          </a:graphicData>
        </a:graphic>
      </p:graphicFrame>
      <p:sp>
        <p:nvSpPr>
          <p:cNvPr id="6" name="Text 3"/>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4</a:t>
            </a:r>
            <a:endParaRPr lang="en-US" sz="900" dirty="0"/>
          </a:p>
        </p:txBody>
      </p:sp>
      <p:sp>
        <p:nvSpPr>
          <p:cNvPr id="7" name="Text 4"/>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435608" cy="292608"/>
          </a:xfrm>
          <a:prstGeom prst="roundRect">
            <a:avLst>
              <a:gd name="adj" fmla="val 50000"/>
            </a:avLst>
          </a:prstGeom>
          <a:solidFill>
            <a:srgbClr val="2E9E63"/>
          </a:solidFill>
          <a:ln w="12700">
            <a:solidFill>
              <a:srgbClr val="2E9E63"/>
            </a:solidFill>
            <a:prstDash val="solid"/>
          </a:ln>
        </p:spPr>
      </p:sp>
      <p:sp>
        <p:nvSpPr>
          <p:cNvPr id="3" name="Text 1"/>
          <p:cNvSpPr/>
          <p:nvPr/>
        </p:nvSpPr>
        <p:spPr>
          <a:xfrm>
            <a:off x="566928" y="384048"/>
            <a:ext cx="1435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GUIDED LAB</a:t>
            </a:r>
            <a:endParaRPr lang="en-US" sz="1100" dirty="0"/>
          </a:p>
        </p:txBody>
      </p:sp>
      <p:sp>
        <p:nvSpPr>
          <p:cNvPr id="4" name="Text 2"/>
          <p:cNvSpPr/>
          <p:nvPr/>
        </p:nvSpPr>
        <p:spPr>
          <a:xfrm>
            <a:off x="566928" y="914400"/>
            <a:ext cx="2743200" cy="777240"/>
          </a:xfrm>
          <a:prstGeom prst="rect">
            <a:avLst/>
          </a:prstGeom>
          <a:noFill/>
          <a:ln/>
        </p:spPr>
        <p:txBody>
          <a:bodyPr wrap="square" lIns="0" tIns="0" rIns="0" bIns="0" rtlCol="0" anchor="ctr"/>
          <a:lstStyle/>
          <a:p>
            <a:pPr indent="0" marL="0">
              <a:buNone/>
            </a:pPr>
            <a:r>
              <a:rPr lang="en-US" sz="4000" b="1" dirty="0">
                <a:solidFill>
                  <a:srgbClr val="2E9E63"/>
                </a:solidFill>
                <a:latin typeface="Cambria" pitchFamily="34" charset="0"/>
                <a:ea typeface="Cambria" pitchFamily="34" charset="-122"/>
                <a:cs typeface="Cambria" pitchFamily="34" charset="-120"/>
              </a:rPr>
              <a:t>L4.1 + L4.2</a:t>
            </a:r>
            <a:endParaRPr lang="en-US" sz="4000" dirty="0"/>
          </a:p>
        </p:txBody>
      </p:sp>
      <p:sp>
        <p:nvSpPr>
          <p:cNvPr id="5" name="Text 3"/>
          <p:cNvSpPr/>
          <p:nvPr/>
        </p:nvSpPr>
        <p:spPr>
          <a:xfrm>
            <a:off x="566928" y="1691640"/>
            <a:ext cx="11057839"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Service taxonomy and DNS forensics</a:t>
            </a:r>
            <a:endParaRPr lang="en-US" sz="3000" dirty="0"/>
          </a:p>
        </p:txBody>
      </p:sp>
      <p:sp>
        <p:nvSpPr>
          <p:cNvPr id="6" name="Shape 4"/>
          <p:cNvSpPr/>
          <p:nvPr/>
        </p:nvSpPr>
        <p:spPr>
          <a:xfrm>
            <a:off x="566928" y="2560320"/>
            <a:ext cx="5577840" cy="2834640"/>
          </a:xfrm>
          <a:prstGeom prst="roundRect">
            <a:avLst>
              <a:gd name="adj" fmla="val 3226"/>
            </a:avLst>
          </a:prstGeom>
          <a:solidFill>
            <a:srgbClr val="12314F"/>
          </a:solidFill>
          <a:ln w="12700">
            <a:solidFill>
              <a:srgbClr val="1B4066"/>
            </a:solidFill>
            <a:prstDash val="solid"/>
          </a:ln>
        </p:spPr>
      </p:sp>
      <p:sp>
        <p:nvSpPr>
          <p:cNvPr id="7" name="Text 5"/>
          <p:cNvSpPr/>
          <p:nvPr/>
        </p:nvSpPr>
        <p:spPr>
          <a:xfrm>
            <a:off x="841248" y="2724912"/>
            <a:ext cx="5029200" cy="274320"/>
          </a:xfrm>
          <a:prstGeom prst="rect">
            <a:avLst/>
          </a:prstGeom>
          <a:noFill/>
          <a:ln/>
        </p:spPr>
        <p:txBody>
          <a:bodyPr wrap="square" lIns="0" tIns="0" rIns="0" bIns="0" rtlCol="0" anchor="ctr"/>
          <a:lstStyle/>
          <a:p>
            <a:pPr indent="0" marL="0">
              <a:buNone/>
            </a:pPr>
            <a:r>
              <a:rPr lang="en-US" sz="1000" b="1" spc="100" kern="0" dirty="0">
                <a:solidFill>
                  <a:srgbClr val="F2A03D"/>
                </a:solidFill>
                <a:latin typeface="Calibri" pitchFamily="34" charset="0"/>
                <a:ea typeface="Calibri" pitchFamily="34" charset="-122"/>
                <a:cs typeface="Calibri" pitchFamily="34" charset="-120"/>
              </a:rPr>
              <a:t>YOU WILL</a:t>
            </a:r>
            <a:endParaRPr lang="en-US" sz="1000" dirty="0"/>
          </a:p>
        </p:txBody>
      </p:sp>
      <p:sp>
        <p:nvSpPr>
          <p:cNvPr id="8" name="Text 6"/>
          <p:cNvSpPr/>
          <p:nvPr/>
        </p:nvSpPr>
        <p:spPr>
          <a:xfrm>
            <a:off x="886968" y="3017520"/>
            <a:ext cx="5029200" cy="219456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Prove the four networking rules from your own cluster</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Find the iptables rules kube-proxy wrote</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Use all five Service types</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Measure what ndots:5 costs in DNS round-trips</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Break CoreDNS and learn the SHAPE of a DNS failure</a:t>
            </a:r>
            <a:endParaRPr lang="en-US" sz="1300" dirty="0"/>
          </a:p>
        </p:txBody>
      </p:sp>
      <p:sp>
        <p:nvSpPr>
          <p:cNvPr id="9" name="Shape 7"/>
          <p:cNvSpPr/>
          <p:nvPr/>
        </p:nvSpPr>
        <p:spPr>
          <a:xfrm>
            <a:off x="6464808" y="2560320"/>
            <a:ext cx="5120640" cy="2834640"/>
          </a:xfrm>
          <a:prstGeom prst="roundRect">
            <a:avLst>
              <a:gd name="adj" fmla="val 3226"/>
            </a:avLst>
          </a:prstGeom>
          <a:solidFill>
            <a:srgbClr val="12314F"/>
          </a:solidFill>
          <a:ln w="12700">
            <a:solidFill>
              <a:srgbClr val="1B4066"/>
            </a:solidFill>
            <a:prstDash val="solid"/>
          </a:ln>
        </p:spPr>
      </p:sp>
      <p:sp>
        <p:nvSpPr>
          <p:cNvPr id="10" name="Text 8"/>
          <p:cNvSpPr/>
          <p:nvPr/>
        </p:nvSpPr>
        <p:spPr>
          <a:xfrm>
            <a:off x="6739128" y="2724912"/>
            <a:ext cx="4572000" cy="274320"/>
          </a:xfrm>
          <a:prstGeom prst="rect">
            <a:avLst/>
          </a:prstGeom>
          <a:noFill/>
          <a:ln/>
        </p:spPr>
        <p:txBody>
          <a:bodyPr wrap="square" lIns="0" tIns="0" rIns="0" bIns="0" rtlCol="0" anchor="ctr"/>
          <a:lstStyle/>
          <a:p>
            <a:pPr indent="0" marL="0">
              <a:buNone/>
            </a:pPr>
            <a:r>
              <a:rPr lang="en-US" sz="1000" b="1" spc="100" kern="0" dirty="0">
                <a:solidFill>
                  <a:srgbClr val="2E9E63"/>
                </a:solidFill>
                <a:latin typeface="Calibri" pitchFamily="34" charset="0"/>
                <a:ea typeface="Calibri" pitchFamily="34" charset="-122"/>
                <a:cs typeface="Calibri" pitchFamily="34" charset="-120"/>
              </a:rPr>
              <a:t>DONE WHEN</a:t>
            </a:r>
            <a:endParaRPr lang="en-US" sz="1000" dirty="0"/>
          </a:p>
        </p:txBody>
      </p:sp>
      <p:sp>
        <p:nvSpPr>
          <p:cNvPr id="11" name="Text 9"/>
          <p:cNvSpPr/>
          <p:nvPr/>
        </p:nvSpPr>
        <p:spPr>
          <a:xfrm>
            <a:off x="6784848" y="3017520"/>
            <a:ext cx="4572000" cy="146304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All five Service types exercised</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You can recognise a DNS failure by its symptom</a:t>
            </a:r>
            <a:endParaRPr lang="en-US" sz="1300" dirty="0"/>
          </a:p>
        </p:txBody>
      </p:sp>
      <p:sp>
        <p:nvSpPr>
          <p:cNvPr id="12" name="Shape 10"/>
          <p:cNvSpPr/>
          <p:nvPr/>
        </p:nvSpPr>
        <p:spPr>
          <a:xfrm>
            <a:off x="6739128" y="4617720"/>
            <a:ext cx="4572000" cy="566928"/>
          </a:xfrm>
          <a:prstGeom prst="roundRect">
            <a:avLst>
              <a:gd name="adj" fmla="val 12903"/>
            </a:avLst>
          </a:prstGeom>
          <a:solidFill>
            <a:srgbClr val="0E2740"/>
          </a:solidFill>
          <a:ln w="12700">
            <a:solidFill>
              <a:srgbClr val="1C7293"/>
            </a:solidFill>
            <a:prstDash val="solid"/>
          </a:ln>
        </p:spPr>
      </p:sp>
      <p:sp>
        <p:nvSpPr>
          <p:cNvPr id="13" name="Text 11"/>
          <p:cNvSpPr/>
          <p:nvPr/>
        </p:nvSpPr>
        <p:spPr>
          <a:xfrm>
            <a:off x="6876288" y="4617720"/>
            <a:ext cx="4297680" cy="566928"/>
          </a:xfrm>
          <a:prstGeom prst="rect">
            <a:avLst/>
          </a:prstGeom>
          <a:noFill/>
          <a:ln/>
        </p:spPr>
        <p:txBody>
          <a:bodyPr wrap="square" lIns="0" tIns="0" rIns="0" bIns="0" rtlCol="0" anchor="ctr"/>
          <a:lstStyle/>
          <a:p>
            <a:pPr indent="0" marL="0">
              <a:buNone/>
            </a:pPr>
            <a:r>
              <a:rPr lang="en-US" sz="1150" dirty="0">
                <a:solidFill>
                  <a:srgbClr val="F2A03D"/>
                </a:solidFill>
                <a:latin typeface="Courier New" pitchFamily="34" charset="0"/>
                <a:ea typeface="Courier New" pitchFamily="34" charset="-122"/>
                <a:cs typeface="Courier New" pitchFamily="34" charset="-120"/>
              </a:rPr>
              <a:t>make validate-lab LAB=L4.1 &amp;&amp; make validate-lab LAB=L4.2</a:t>
            </a:r>
            <a:endParaRPr lang="en-US" sz="1150" dirty="0"/>
          </a:p>
        </p:txBody>
      </p:sp>
      <p:sp>
        <p:nvSpPr>
          <p:cNvPr id="14" name="Text 12"/>
          <p:cNvSpPr/>
          <p:nvPr/>
        </p:nvSpPr>
        <p:spPr>
          <a:xfrm>
            <a:off x="566928" y="5577840"/>
            <a:ext cx="11057839" cy="365760"/>
          </a:xfrm>
          <a:prstGeom prst="rect">
            <a:avLst/>
          </a:prstGeom>
          <a:noFill/>
          <a:ln/>
        </p:spPr>
        <p:txBody>
          <a:bodyPr wrap="square" lIns="0" tIns="0" rIns="0" bIns="0" rtlCol="0" anchor="ctr"/>
          <a:lstStyle/>
          <a:p>
            <a:pPr indent="0" marL="0">
              <a:buNone/>
            </a:pPr>
            <a:r>
              <a:rPr lang="en-US" sz="1200" dirty="0">
                <a:solidFill>
                  <a:srgbClr val="63758B"/>
                </a:solidFill>
                <a:latin typeface="Calibri" pitchFamily="34" charset="0"/>
                <a:ea typeface="Calibri" pitchFamily="34" charset="-122"/>
                <a:cs typeface="Calibri" pitchFamily="34" charset="-120"/>
              </a:rPr>
              <a:t>65 minutes   ·   labs/day4/L4.1-service-types/, L4.2-dns.md</a:t>
            </a:r>
            <a:endParaRPr lang="en-US" sz="1200" dirty="0"/>
          </a:p>
        </p:txBody>
      </p:sp>
      <p:sp>
        <p:nvSpPr>
          <p:cNvPr id="15" name="Text 13"/>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4</a:t>
            </a:r>
            <a:endParaRPr lang="en-US" sz="900" dirty="0"/>
          </a:p>
        </p:txBody>
      </p:sp>
      <p:sp>
        <p:nvSpPr>
          <p:cNvPr id="16" name="Text 14"/>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8351215" y="-1097280"/>
            <a:ext cx="5120640" cy="5120640"/>
          </a:xfrm>
          <a:prstGeom prst="ellipse">
            <a:avLst/>
          </a:prstGeom>
          <a:solidFill>
            <a:srgbClr val="12314F"/>
          </a:solidFill>
          <a:ln w="12700">
            <a:solidFill>
              <a:srgbClr val="12314F"/>
            </a:solidFill>
            <a:prstDash val="solid"/>
          </a:ln>
        </p:spPr>
      </p:sp>
      <p:sp>
        <p:nvSpPr>
          <p:cNvPr id="3" name="Text 1"/>
          <p:cNvSpPr/>
          <p:nvPr/>
        </p:nvSpPr>
        <p:spPr>
          <a:xfrm>
            <a:off x="566928" y="1600200"/>
            <a:ext cx="5669280" cy="1463040"/>
          </a:xfrm>
          <a:prstGeom prst="rect">
            <a:avLst/>
          </a:prstGeom>
          <a:noFill/>
          <a:ln/>
        </p:spPr>
        <p:txBody>
          <a:bodyPr wrap="square" lIns="0" tIns="0" rIns="0" bIns="0" rtlCol="0" anchor="ctr"/>
          <a:lstStyle/>
          <a:p>
            <a:pPr indent="0" marL="0">
              <a:buNone/>
            </a:pPr>
            <a:r>
              <a:rPr lang="en-US" sz="7600" b="1" dirty="0">
                <a:solidFill>
                  <a:srgbClr val="F2A03D"/>
                </a:solidFill>
                <a:latin typeface="Cambria" pitchFamily="34" charset="0"/>
                <a:ea typeface="Cambria" pitchFamily="34" charset="-122"/>
                <a:cs typeface="Cambria" pitchFamily="34" charset="-120"/>
              </a:rPr>
              <a:t>M4.4</a:t>
            </a:r>
            <a:endParaRPr lang="en-US" sz="7600" dirty="0"/>
          </a:p>
        </p:txBody>
      </p:sp>
      <p:sp>
        <p:nvSpPr>
          <p:cNvPr id="4" name="Text 2"/>
          <p:cNvSpPr/>
          <p:nvPr/>
        </p:nvSpPr>
        <p:spPr>
          <a:xfrm>
            <a:off x="566928" y="2971800"/>
            <a:ext cx="786384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Ingress and TLS</a:t>
            </a:r>
            <a:endParaRPr lang="en-US" sz="3800" dirty="0"/>
          </a:p>
        </p:txBody>
      </p:sp>
      <p:sp>
        <p:nvSpPr>
          <p:cNvPr id="5" name="Text 3"/>
          <p:cNvSpPr/>
          <p:nvPr/>
        </p:nvSpPr>
        <p:spPr>
          <a:xfrm>
            <a:off x="566928" y="3886200"/>
            <a:ext cx="7498080" cy="822960"/>
          </a:xfrm>
          <a:prstGeom prst="rect">
            <a:avLst/>
          </a:prstGeom>
          <a:noFill/>
          <a:ln/>
        </p:spPr>
        <p:txBody>
          <a:bodyPr wrap="square" lIns="0" tIns="0" rIns="0" bIns="0" rtlCol="0" anchor="ctr"/>
          <a:lstStyle/>
          <a:p>
            <a:pPr indent="0" marL="0">
              <a:buNone/>
            </a:pPr>
            <a:r>
              <a:rPr lang="en-US" sz="1500" dirty="0">
                <a:solidFill>
                  <a:srgbClr val="D8E6F2"/>
                </a:solidFill>
                <a:latin typeface="Calibri" pitchFamily="34" charset="0"/>
                <a:ea typeface="Calibri" pitchFamily="34" charset="-122"/>
                <a:cs typeface="Calibri" pitchFamily="34" charset="-120"/>
              </a:rPr>
              <a:t>The first request that does not need kubectl</a:t>
            </a:r>
            <a:endParaRPr lang="en-US" sz="1500" dirty="0"/>
          </a:p>
        </p:txBody>
      </p:sp>
      <p:sp>
        <p:nvSpPr>
          <p:cNvPr id="6" name="Text 4"/>
          <p:cNvSpPr/>
          <p:nvPr/>
        </p:nvSpPr>
        <p:spPr>
          <a:xfrm>
            <a:off x="566928" y="4709160"/>
            <a:ext cx="7498080" cy="274320"/>
          </a:xfrm>
          <a:prstGeom prst="rect">
            <a:avLst/>
          </a:prstGeom>
          <a:noFill/>
          <a:ln/>
        </p:spPr>
        <p:txBody>
          <a:bodyPr wrap="square" lIns="0" tIns="0" rIns="0" bIns="0" rtlCol="0" anchor="ctr"/>
          <a:lstStyle/>
          <a:p>
            <a:pPr indent="0" marL="0">
              <a:buNone/>
            </a:pPr>
            <a:r>
              <a:rPr lang="en-US" sz="1100" b="1" dirty="0">
                <a:solidFill>
                  <a:srgbClr val="F2A03D"/>
                </a:solidFill>
                <a:latin typeface="Calibri" pitchFamily="34" charset="0"/>
                <a:ea typeface="Calibri" pitchFamily="34" charset="-122"/>
                <a:cs typeface="Calibri" pitchFamily="34" charset="-120"/>
              </a:rPr>
              <a:t>By the end of this module you will be able to:</a:t>
            </a:r>
            <a:endParaRPr lang="en-US" sz="1100" dirty="0"/>
          </a:p>
        </p:txBody>
      </p:sp>
      <p:sp>
        <p:nvSpPr>
          <p:cNvPr id="7" name="Text 5"/>
          <p:cNvSpPr/>
          <p:nvPr/>
        </p:nvSpPr>
        <p:spPr>
          <a:xfrm>
            <a:off x="658368" y="4983480"/>
            <a:ext cx="7498080" cy="10972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Distinguish the Ingress resource from the Ingress controller</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Route by host and path; explain pathType</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Terminate TLS and inspect the certificate</a:t>
            </a:r>
            <a:endParaRPr lang="en-US" sz="1200" dirty="0"/>
          </a:p>
        </p:txBody>
      </p:sp>
      <p:sp>
        <p:nvSpPr>
          <p:cNvPr id="8" name="Text 6"/>
          <p:cNvSpPr/>
          <p:nvPr/>
        </p:nvSpPr>
        <p:spPr>
          <a:xfrm>
            <a:off x="9814255" y="5989320"/>
            <a:ext cx="1828800" cy="320040"/>
          </a:xfrm>
          <a:prstGeom prst="rect">
            <a:avLst/>
          </a:prstGeom>
          <a:noFill/>
          <a:ln/>
        </p:spPr>
        <p:txBody>
          <a:bodyPr wrap="square" lIns="0" tIns="0" rIns="0" bIns="0" rtlCol="0" anchor="ctr"/>
          <a:lstStyle/>
          <a:p>
            <a:pPr algn="r" indent="0" marL="0">
              <a:buNone/>
            </a:pPr>
            <a:r>
              <a:rPr lang="en-US" sz="1100" dirty="0">
                <a:solidFill>
                  <a:srgbClr val="63758B"/>
                </a:solidFill>
                <a:latin typeface="Calibri" pitchFamily="34" charset="0"/>
                <a:ea typeface="Calibri" pitchFamily="34" charset="-122"/>
                <a:cs typeface="Calibri" pitchFamily="34" charset="-120"/>
              </a:rPr>
              <a:t>70 min</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1856232"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1856232"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M4.4 · INGRESS</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Two objects, and confusing them is the usual failure</a:t>
            </a:r>
            <a:endParaRPr lang="en-US" sz="3200" dirty="0"/>
          </a:p>
        </p:txBody>
      </p:sp>
      <p:sp>
        <p:nvSpPr>
          <p:cNvPr id="5" name="Shape 3"/>
          <p:cNvSpPr/>
          <p:nvPr/>
        </p:nvSpPr>
        <p:spPr>
          <a:xfrm>
            <a:off x="566928" y="1737360"/>
            <a:ext cx="11057839" cy="566928"/>
          </a:xfrm>
          <a:prstGeom prst="roundRect">
            <a:avLst>
              <a:gd name="adj" fmla="val 12903"/>
            </a:avLst>
          </a:prstGeom>
          <a:solidFill>
            <a:srgbClr val="EAF1F8"/>
          </a:solidFill>
          <a:ln w="12700">
            <a:solidFill>
              <a:srgbClr val="1C7293"/>
            </a:solidFill>
            <a:prstDash val="solid"/>
          </a:ln>
        </p:spPr>
      </p:sp>
      <p:sp>
        <p:nvSpPr>
          <p:cNvPr id="6" name="Text 4"/>
          <p:cNvSpPr/>
          <p:nvPr/>
        </p:nvSpPr>
        <p:spPr>
          <a:xfrm>
            <a:off x="768096" y="1737360"/>
            <a:ext cx="10655503" cy="566928"/>
          </a:xfrm>
          <a:prstGeom prst="rect">
            <a:avLst/>
          </a:prstGeom>
          <a:noFill/>
          <a:ln/>
        </p:spPr>
        <p:txBody>
          <a:bodyPr wrap="square" lIns="0" tIns="0" rIns="0" bIns="0" rtlCol="0" anchor="ctr"/>
          <a:lstStyle/>
          <a:p>
            <a:pPr indent="0" marL="0">
              <a:buNone/>
            </a:pPr>
            <a:r>
              <a:rPr lang="en-US" sz="1500" b="1" dirty="0">
                <a:solidFill>
                  <a:srgbClr val="0B1F3A"/>
                </a:solidFill>
                <a:latin typeface="Cambria" pitchFamily="34" charset="0"/>
                <a:ea typeface="Cambria" pitchFamily="34" charset="-122"/>
                <a:cs typeface="Cambria" pitchFamily="34" charset="-120"/>
              </a:rPr>
              <a:t>You apply an Ingress. Nothing happens. Why?</a:t>
            </a:r>
            <a:endParaRPr lang="en-US" sz="1500" dirty="0"/>
          </a:p>
        </p:txBody>
      </p:sp>
      <p:sp>
        <p:nvSpPr>
          <p:cNvPr id="7" name="Shape 5"/>
          <p:cNvSpPr/>
          <p:nvPr/>
        </p:nvSpPr>
        <p:spPr>
          <a:xfrm>
            <a:off x="566928" y="2712339"/>
            <a:ext cx="402336" cy="402336"/>
          </a:xfrm>
          <a:prstGeom prst="ellipse">
            <a:avLst/>
          </a:prstGeom>
          <a:solidFill>
            <a:srgbClr val="1C7293"/>
          </a:solidFill>
          <a:ln w="12700">
            <a:solidFill>
              <a:srgbClr val="1C7293"/>
            </a:solidFill>
            <a:prstDash val="solid"/>
          </a:ln>
        </p:spPr>
      </p:sp>
      <p:sp>
        <p:nvSpPr>
          <p:cNvPr id="8" name="Text 6"/>
          <p:cNvSpPr/>
          <p:nvPr/>
        </p:nvSpPr>
        <p:spPr>
          <a:xfrm>
            <a:off x="566928" y="2712339"/>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9" name="Text 7"/>
          <p:cNvSpPr/>
          <p:nvPr/>
        </p:nvSpPr>
        <p:spPr>
          <a:xfrm>
            <a:off x="1133856" y="2487168"/>
            <a:ext cx="3200400" cy="852678"/>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The Ingress RESOURCE</a:t>
            </a:r>
            <a:endParaRPr lang="en-US" sz="1400" dirty="0"/>
          </a:p>
        </p:txBody>
      </p:sp>
      <p:sp>
        <p:nvSpPr>
          <p:cNvPr id="10" name="Text 8"/>
          <p:cNvSpPr/>
          <p:nvPr/>
        </p:nvSpPr>
        <p:spPr>
          <a:xfrm>
            <a:off x="4407408" y="2487168"/>
            <a:ext cx="7217359" cy="852678"/>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A document describing rules: hosts, paths, backends, TLS. Creating it changes nothing on its own — it is data, not behaviour.</a:t>
            </a:r>
            <a:endParaRPr lang="en-US" sz="1250" dirty="0"/>
          </a:p>
        </p:txBody>
      </p:sp>
      <p:sp>
        <p:nvSpPr>
          <p:cNvPr id="11" name="Shape 9"/>
          <p:cNvSpPr/>
          <p:nvPr/>
        </p:nvSpPr>
        <p:spPr>
          <a:xfrm>
            <a:off x="566928" y="3565017"/>
            <a:ext cx="402336" cy="402336"/>
          </a:xfrm>
          <a:prstGeom prst="ellipse">
            <a:avLst/>
          </a:prstGeom>
          <a:solidFill>
            <a:srgbClr val="2E9E63"/>
          </a:solidFill>
          <a:ln w="12700">
            <a:solidFill>
              <a:srgbClr val="2E9E63"/>
            </a:solidFill>
            <a:prstDash val="solid"/>
          </a:ln>
        </p:spPr>
      </p:sp>
      <p:sp>
        <p:nvSpPr>
          <p:cNvPr id="12" name="Text 10"/>
          <p:cNvSpPr/>
          <p:nvPr/>
        </p:nvSpPr>
        <p:spPr>
          <a:xfrm>
            <a:off x="566928" y="3565017"/>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3" name="Text 11"/>
          <p:cNvSpPr/>
          <p:nvPr/>
        </p:nvSpPr>
        <p:spPr>
          <a:xfrm>
            <a:off x="1133856" y="3339846"/>
            <a:ext cx="3200400" cy="852678"/>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The Ingress CONTROLLER</a:t>
            </a:r>
            <a:endParaRPr lang="en-US" sz="1400" dirty="0"/>
          </a:p>
        </p:txBody>
      </p:sp>
      <p:sp>
        <p:nvSpPr>
          <p:cNvPr id="14" name="Text 12"/>
          <p:cNvSpPr/>
          <p:nvPr/>
        </p:nvSpPr>
        <p:spPr>
          <a:xfrm>
            <a:off x="4407408" y="3339846"/>
            <a:ext cx="7217359" cy="852678"/>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A program (ingress-nginx, Traefik, HAProxy) that WATCHES Ingress resources and configures itself to proxy accordingly. This is the thing that actually moves packets.</a:t>
            </a:r>
            <a:endParaRPr lang="en-US" sz="1250" dirty="0"/>
          </a:p>
        </p:txBody>
      </p:sp>
      <p:sp>
        <p:nvSpPr>
          <p:cNvPr id="15" name="Shape 13"/>
          <p:cNvSpPr/>
          <p:nvPr/>
        </p:nvSpPr>
        <p:spPr>
          <a:xfrm>
            <a:off x="566928" y="4417695"/>
            <a:ext cx="402336" cy="402336"/>
          </a:xfrm>
          <a:prstGeom prst="ellipse">
            <a:avLst/>
          </a:prstGeom>
          <a:solidFill>
            <a:srgbClr val="D64545"/>
          </a:solidFill>
          <a:ln w="12700">
            <a:solidFill>
              <a:srgbClr val="D64545"/>
            </a:solidFill>
            <a:prstDash val="solid"/>
          </a:ln>
        </p:spPr>
      </p:sp>
      <p:sp>
        <p:nvSpPr>
          <p:cNvPr id="16" name="Text 14"/>
          <p:cNvSpPr/>
          <p:nvPr/>
        </p:nvSpPr>
        <p:spPr>
          <a:xfrm>
            <a:off x="566928" y="4417695"/>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7" name="Text 15"/>
          <p:cNvSpPr/>
          <p:nvPr/>
        </p:nvSpPr>
        <p:spPr>
          <a:xfrm>
            <a:off x="1133856" y="4192524"/>
            <a:ext cx="3200400" cy="852678"/>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No controller = nothing happens</a:t>
            </a:r>
            <a:endParaRPr lang="en-US" sz="1400" dirty="0"/>
          </a:p>
        </p:txBody>
      </p:sp>
      <p:sp>
        <p:nvSpPr>
          <p:cNvPr id="18" name="Text 16"/>
          <p:cNvSpPr/>
          <p:nvPr/>
        </p:nvSpPr>
        <p:spPr>
          <a:xfrm>
            <a:off x="4407408" y="4192524"/>
            <a:ext cx="7217359" cy="852678"/>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kubectl get ingress shows your object happily, with an EMPTY ADDRESS. No error, no event. The rules are written and nobody is reading them.</a:t>
            </a:r>
            <a:endParaRPr lang="en-US" sz="1250" dirty="0"/>
          </a:p>
        </p:txBody>
      </p:sp>
      <p:sp>
        <p:nvSpPr>
          <p:cNvPr id="19" name="Shape 17"/>
          <p:cNvSpPr/>
          <p:nvPr/>
        </p:nvSpPr>
        <p:spPr>
          <a:xfrm>
            <a:off x="566928" y="5270373"/>
            <a:ext cx="402336" cy="402336"/>
          </a:xfrm>
          <a:prstGeom prst="ellipse">
            <a:avLst/>
          </a:prstGeom>
          <a:solidFill>
            <a:srgbClr val="C97B1E"/>
          </a:solidFill>
          <a:ln w="12700">
            <a:solidFill>
              <a:srgbClr val="C97B1E"/>
            </a:solidFill>
            <a:prstDash val="solid"/>
          </a:ln>
        </p:spPr>
      </p:sp>
      <p:sp>
        <p:nvSpPr>
          <p:cNvPr id="20" name="Text 18"/>
          <p:cNvSpPr/>
          <p:nvPr/>
        </p:nvSpPr>
        <p:spPr>
          <a:xfrm>
            <a:off x="566928" y="5270373"/>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1" name="Text 19"/>
          <p:cNvSpPr/>
          <p:nvPr/>
        </p:nvSpPr>
        <p:spPr>
          <a:xfrm>
            <a:off x="1133856" y="5045202"/>
            <a:ext cx="3200400" cy="852678"/>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ingressClassName decides who reads it</a:t>
            </a:r>
            <a:endParaRPr lang="en-US" sz="1400" dirty="0"/>
          </a:p>
        </p:txBody>
      </p:sp>
      <p:sp>
        <p:nvSpPr>
          <p:cNvPr id="22" name="Text 20"/>
          <p:cNvSpPr/>
          <p:nvPr/>
        </p:nvSpPr>
        <p:spPr>
          <a:xfrm>
            <a:off x="4407408" y="5045202"/>
            <a:ext cx="7217359" cy="852678"/>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On a cluster with several controllers, omitting it means nobody claims your Ingress — or worse, two controllers both do.</a:t>
            </a:r>
            <a:endParaRPr lang="en-US" sz="1250" dirty="0"/>
          </a:p>
        </p:txBody>
      </p:sp>
      <p:sp>
        <p:nvSpPr>
          <p:cNvPr id="23" name="Text 21"/>
          <p:cNvSpPr/>
          <p:nvPr/>
        </p:nvSpPr>
        <p:spPr>
          <a:xfrm>
            <a:off x="566928" y="5687568"/>
            <a:ext cx="11057839" cy="548640"/>
          </a:xfrm>
          <a:prstGeom prst="rect">
            <a:avLst/>
          </a:prstGeom>
          <a:noFill/>
          <a:ln/>
        </p:spPr>
        <p:txBody>
          <a:bodyPr wrap="square" lIns="0" tIns="0" rIns="0" bIns="0" rtlCol="0" anchor="ctr"/>
          <a:lstStyle/>
          <a:p>
            <a:pPr algn="ctr" indent="0" marL="0">
              <a:buNone/>
            </a:pPr>
            <a:r>
              <a:rPr lang="en-US" sz="1400" b="1" dirty="0">
                <a:solidFill>
                  <a:srgbClr val="1C7293"/>
                </a:solidFill>
                <a:latin typeface="Calibri" pitchFamily="34" charset="0"/>
                <a:ea typeface="Calibri" pitchFamily="34" charset="-122"/>
                <a:cs typeface="Calibri" pitchFamily="34" charset="-120"/>
              </a:rPr>
              <a:t>An empty ADDRESS column is the tell. Check it before you debug anything else.</a:t>
            </a:r>
            <a:endParaRPr lang="en-US" sz="1400" dirty="0"/>
          </a:p>
        </p:txBody>
      </p:sp>
      <p:sp>
        <p:nvSpPr>
          <p:cNvPr id="24" name="Text 22"/>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4</a:t>
            </a:r>
            <a:endParaRPr lang="en-US" sz="900" dirty="0"/>
          </a:p>
        </p:txBody>
      </p:sp>
      <p:sp>
        <p:nvSpPr>
          <p:cNvPr id="25" name="Text 23"/>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435608" cy="292608"/>
          </a:xfrm>
          <a:prstGeom prst="roundRect">
            <a:avLst>
              <a:gd name="adj" fmla="val 50000"/>
            </a:avLst>
          </a:prstGeom>
          <a:solidFill>
            <a:srgbClr val="2E9E63"/>
          </a:solidFill>
          <a:ln w="12700">
            <a:solidFill>
              <a:srgbClr val="2E9E63"/>
            </a:solidFill>
            <a:prstDash val="solid"/>
          </a:ln>
        </p:spPr>
      </p:sp>
      <p:sp>
        <p:nvSpPr>
          <p:cNvPr id="3" name="Text 1"/>
          <p:cNvSpPr/>
          <p:nvPr/>
        </p:nvSpPr>
        <p:spPr>
          <a:xfrm>
            <a:off x="566928" y="384048"/>
            <a:ext cx="1435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GUIDED LAB</a:t>
            </a:r>
            <a:endParaRPr lang="en-US" sz="1100" dirty="0"/>
          </a:p>
        </p:txBody>
      </p:sp>
      <p:sp>
        <p:nvSpPr>
          <p:cNvPr id="4" name="Text 2"/>
          <p:cNvSpPr/>
          <p:nvPr/>
        </p:nvSpPr>
        <p:spPr>
          <a:xfrm>
            <a:off x="566928" y="914400"/>
            <a:ext cx="2743200" cy="777240"/>
          </a:xfrm>
          <a:prstGeom prst="rect">
            <a:avLst/>
          </a:prstGeom>
          <a:noFill/>
          <a:ln/>
        </p:spPr>
        <p:txBody>
          <a:bodyPr wrap="square" lIns="0" tIns="0" rIns="0" bIns="0" rtlCol="0" anchor="ctr"/>
          <a:lstStyle/>
          <a:p>
            <a:pPr indent="0" marL="0">
              <a:buNone/>
            </a:pPr>
            <a:r>
              <a:rPr lang="en-US" sz="4000" b="1" dirty="0">
                <a:solidFill>
                  <a:srgbClr val="2E9E63"/>
                </a:solidFill>
                <a:latin typeface="Cambria" pitchFamily="34" charset="0"/>
                <a:ea typeface="Cambria" pitchFamily="34" charset="-122"/>
                <a:cs typeface="Cambria" pitchFamily="34" charset="-120"/>
              </a:rPr>
              <a:t>L4.3</a:t>
            </a:r>
            <a:endParaRPr lang="en-US" sz="4000" dirty="0"/>
          </a:p>
        </p:txBody>
      </p:sp>
      <p:sp>
        <p:nvSpPr>
          <p:cNvPr id="5" name="Text 3"/>
          <p:cNvSpPr/>
          <p:nvPr/>
        </p:nvSpPr>
        <p:spPr>
          <a:xfrm>
            <a:off x="566928" y="1691640"/>
            <a:ext cx="11057839"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Ingress and TLS at the edge</a:t>
            </a:r>
            <a:endParaRPr lang="en-US" sz="3000" dirty="0"/>
          </a:p>
        </p:txBody>
      </p:sp>
      <p:sp>
        <p:nvSpPr>
          <p:cNvPr id="6" name="Shape 4"/>
          <p:cNvSpPr/>
          <p:nvPr/>
        </p:nvSpPr>
        <p:spPr>
          <a:xfrm>
            <a:off x="566928" y="2560320"/>
            <a:ext cx="5577840" cy="2834640"/>
          </a:xfrm>
          <a:prstGeom prst="roundRect">
            <a:avLst>
              <a:gd name="adj" fmla="val 3226"/>
            </a:avLst>
          </a:prstGeom>
          <a:solidFill>
            <a:srgbClr val="12314F"/>
          </a:solidFill>
          <a:ln w="12700">
            <a:solidFill>
              <a:srgbClr val="1B4066"/>
            </a:solidFill>
            <a:prstDash val="solid"/>
          </a:ln>
        </p:spPr>
      </p:sp>
      <p:sp>
        <p:nvSpPr>
          <p:cNvPr id="7" name="Text 5"/>
          <p:cNvSpPr/>
          <p:nvPr/>
        </p:nvSpPr>
        <p:spPr>
          <a:xfrm>
            <a:off x="841248" y="2724912"/>
            <a:ext cx="5029200" cy="274320"/>
          </a:xfrm>
          <a:prstGeom prst="rect">
            <a:avLst/>
          </a:prstGeom>
          <a:noFill/>
          <a:ln/>
        </p:spPr>
        <p:txBody>
          <a:bodyPr wrap="square" lIns="0" tIns="0" rIns="0" bIns="0" rtlCol="0" anchor="ctr"/>
          <a:lstStyle/>
          <a:p>
            <a:pPr indent="0" marL="0">
              <a:buNone/>
            </a:pPr>
            <a:r>
              <a:rPr lang="en-US" sz="1000" b="1" spc="100" kern="0" dirty="0">
                <a:solidFill>
                  <a:srgbClr val="F2A03D"/>
                </a:solidFill>
                <a:latin typeface="Calibri" pitchFamily="34" charset="0"/>
                <a:ea typeface="Calibri" pitchFamily="34" charset="-122"/>
                <a:cs typeface="Calibri" pitchFamily="34" charset="-120"/>
              </a:rPr>
              <a:t>YOU WILL</a:t>
            </a:r>
            <a:endParaRPr lang="en-US" sz="1000" dirty="0"/>
          </a:p>
        </p:txBody>
      </p:sp>
      <p:sp>
        <p:nvSpPr>
          <p:cNvPr id="8" name="Text 6"/>
          <p:cNvSpPr/>
          <p:nvPr/>
        </p:nvSpPr>
        <p:spPr>
          <a:xfrm>
            <a:off x="886968" y="3017520"/>
            <a:ext cx="5029200" cy="219456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Generate certificates and inspect them with openssl</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Route two hostnames with path-based rules</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Take a real payment from OUTSIDE the cluster over HTTPS</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Change pathType to Exact and watch everything 404</a:t>
            </a:r>
            <a:endParaRPr lang="en-US" sz="1300" dirty="0"/>
          </a:p>
        </p:txBody>
      </p:sp>
      <p:sp>
        <p:nvSpPr>
          <p:cNvPr id="9" name="Shape 7"/>
          <p:cNvSpPr/>
          <p:nvPr/>
        </p:nvSpPr>
        <p:spPr>
          <a:xfrm>
            <a:off x="6464808" y="2560320"/>
            <a:ext cx="5120640" cy="2834640"/>
          </a:xfrm>
          <a:prstGeom prst="roundRect">
            <a:avLst>
              <a:gd name="adj" fmla="val 3226"/>
            </a:avLst>
          </a:prstGeom>
          <a:solidFill>
            <a:srgbClr val="12314F"/>
          </a:solidFill>
          <a:ln w="12700">
            <a:solidFill>
              <a:srgbClr val="1B4066"/>
            </a:solidFill>
            <a:prstDash val="solid"/>
          </a:ln>
        </p:spPr>
      </p:sp>
      <p:sp>
        <p:nvSpPr>
          <p:cNvPr id="10" name="Text 8"/>
          <p:cNvSpPr/>
          <p:nvPr/>
        </p:nvSpPr>
        <p:spPr>
          <a:xfrm>
            <a:off x="6739128" y="2724912"/>
            <a:ext cx="4572000" cy="274320"/>
          </a:xfrm>
          <a:prstGeom prst="rect">
            <a:avLst/>
          </a:prstGeom>
          <a:noFill/>
          <a:ln/>
        </p:spPr>
        <p:txBody>
          <a:bodyPr wrap="square" lIns="0" tIns="0" rIns="0" bIns="0" rtlCol="0" anchor="ctr"/>
          <a:lstStyle/>
          <a:p>
            <a:pPr indent="0" marL="0">
              <a:buNone/>
            </a:pPr>
            <a:r>
              <a:rPr lang="en-US" sz="1000" b="1" spc="100" kern="0" dirty="0">
                <a:solidFill>
                  <a:srgbClr val="2E9E63"/>
                </a:solidFill>
                <a:latin typeface="Calibri" pitchFamily="34" charset="0"/>
                <a:ea typeface="Calibri" pitchFamily="34" charset="-122"/>
                <a:cs typeface="Calibri" pitchFamily="34" charset="-120"/>
              </a:rPr>
              <a:t>DONE WHEN</a:t>
            </a:r>
            <a:endParaRPr lang="en-US" sz="1000" dirty="0"/>
          </a:p>
        </p:txBody>
      </p:sp>
      <p:sp>
        <p:nvSpPr>
          <p:cNvPr id="11" name="Text 9"/>
          <p:cNvSpPr/>
          <p:nvPr/>
        </p:nvSpPr>
        <p:spPr>
          <a:xfrm>
            <a:off x="6784848" y="3017520"/>
            <a:ext cx="4572000" cy="146304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curl -k https://api.axispay.local returns a payment</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HTTP redirects to HTTPS</a:t>
            </a:r>
            <a:endParaRPr lang="en-US" sz="1300" dirty="0"/>
          </a:p>
        </p:txBody>
      </p:sp>
      <p:sp>
        <p:nvSpPr>
          <p:cNvPr id="12" name="Shape 10"/>
          <p:cNvSpPr/>
          <p:nvPr/>
        </p:nvSpPr>
        <p:spPr>
          <a:xfrm>
            <a:off x="6739128" y="4617720"/>
            <a:ext cx="4572000" cy="566928"/>
          </a:xfrm>
          <a:prstGeom prst="roundRect">
            <a:avLst>
              <a:gd name="adj" fmla="val 12903"/>
            </a:avLst>
          </a:prstGeom>
          <a:solidFill>
            <a:srgbClr val="0E2740"/>
          </a:solidFill>
          <a:ln w="12700">
            <a:solidFill>
              <a:srgbClr val="1C7293"/>
            </a:solidFill>
            <a:prstDash val="solid"/>
          </a:ln>
        </p:spPr>
      </p:sp>
      <p:sp>
        <p:nvSpPr>
          <p:cNvPr id="13" name="Text 11"/>
          <p:cNvSpPr/>
          <p:nvPr/>
        </p:nvSpPr>
        <p:spPr>
          <a:xfrm>
            <a:off x="6876288" y="4617720"/>
            <a:ext cx="4297680" cy="566928"/>
          </a:xfrm>
          <a:prstGeom prst="rect">
            <a:avLst/>
          </a:prstGeom>
          <a:noFill/>
          <a:ln/>
        </p:spPr>
        <p:txBody>
          <a:bodyPr wrap="square" lIns="0" tIns="0" rIns="0" bIns="0" rtlCol="0" anchor="ctr"/>
          <a:lstStyle/>
          <a:p>
            <a:pPr indent="0" marL="0">
              <a:buNone/>
            </a:pPr>
            <a:r>
              <a:rPr lang="en-US" sz="1150" dirty="0">
                <a:solidFill>
                  <a:srgbClr val="F2A03D"/>
                </a:solidFill>
                <a:latin typeface="Courier New" pitchFamily="34" charset="0"/>
                <a:ea typeface="Courier New" pitchFamily="34" charset="-122"/>
                <a:cs typeface="Courier New" pitchFamily="34" charset="-120"/>
              </a:rPr>
              <a:t>make validate-lab LAB=L4.3</a:t>
            </a:r>
            <a:endParaRPr lang="en-US" sz="1150" dirty="0"/>
          </a:p>
        </p:txBody>
      </p:sp>
      <p:sp>
        <p:nvSpPr>
          <p:cNvPr id="14" name="Text 12"/>
          <p:cNvSpPr/>
          <p:nvPr/>
        </p:nvSpPr>
        <p:spPr>
          <a:xfrm>
            <a:off x="566928" y="5577840"/>
            <a:ext cx="11057839" cy="365760"/>
          </a:xfrm>
          <a:prstGeom prst="rect">
            <a:avLst/>
          </a:prstGeom>
          <a:noFill/>
          <a:ln/>
        </p:spPr>
        <p:txBody>
          <a:bodyPr wrap="square" lIns="0" tIns="0" rIns="0" bIns="0" rtlCol="0" anchor="ctr"/>
          <a:lstStyle/>
          <a:p>
            <a:pPr indent="0" marL="0">
              <a:buNone/>
            </a:pPr>
            <a:r>
              <a:rPr lang="en-US" sz="1200" dirty="0">
                <a:solidFill>
                  <a:srgbClr val="63758B"/>
                </a:solidFill>
                <a:latin typeface="Calibri" pitchFamily="34" charset="0"/>
                <a:ea typeface="Calibri" pitchFamily="34" charset="-122"/>
                <a:cs typeface="Calibri" pitchFamily="34" charset="-120"/>
              </a:rPr>
              <a:t>55 minutes   ·   labs/day4/L4.3-ingress-tls/</a:t>
            </a:r>
            <a:endParaRPr lang="en-US" sz="1200" dirty="0"/>
          </a:p>
        </p:txBody>
      </p:sp>
      <p:sp>
        <p:nvSpPr>
          <p:cNvPr id="15" name="Text 13"/>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4</a:t>
            </a:r>
            <a:endParaRPr lang="en-US" sz="900" dirty="0"/>
          </a:p>
        </p:txBody>
      </p:sp>
      <p:sp>
        <p:nvSpPr>
          <p:cNvPr id="16" name="Text 14"/>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8351215" y="-1097280"/>
            <a:ext cx="5120640" cy="5120640"/>
          </a:xfrm>
          <a:prstGeom prst="ellipse">
            <a:avLst/>
          </a:prstGeom>
          <a:solidFill>
            <a:srgbClr val="12314F"/>
          </a:solidFill>
          <a:ln w="12700">
            <a:solidFill>
              <a:srgbClr val="12314F"/>
            </a:solidFill>
            <a:prstDash val="solid"/>
          </a:ln>
        </p:spPr>
      </p:sp>
      <p:sp>
        <p:nvSpPr>
          <p:cNvPr id="3" name="Text 1"/>
          <p:cNvSpPr/>
          <p:nvPr/>
        </p:nvSpPr>
        <p:spPr>
          <a:xfrm>
            <a:off x="566928" y="1600200"/>
            <a:ext cx="5669280" cy="1463040"/>
          </a:xfrm>
          <a:prstGeom prst="rect">
            <a:avLst/>
          </a:prstGeom>
          <a:noFill/>
          <a:ln/>
        </p:spPr>
        <p:txBody>
          <a:bodyPr wrap="square" lIns="0" tIns="0" rIns="0" bIns="0" rtlCol="0" anchor="ctr"/>
          <a:lstStyle/>
          <a:p>
            <a:pPr indent="0" marL="0">
              <a:buNone/>
            </a:pPr>
            <a:r>
              <a:rPr lang="en-US" sz="7600" b="1" dirty="0">
                <a:solidFill>
                  <a:srgbClr val="F2A03D"/>
                </a:solidFill>
                <a:latin typeface="Cambria" pitchFamily="34" charset="0"/>
                <a:ea typeface="Cambria" pitchFamily="34" charset="-122"/>
                <a:cs typeface="Cambria" pitchFamily="34" charset="-120"/>
              </a:rPr>
              <a:t>M4.5</a:t>
            </a:r>
            <a:endParaRPr lang="en-US" sz="7600" dirty="0"/>
          </a:p>
        </p:txBody>
      </p:sp>
      <p:sp>
        <p:nvSpPr>
          <p:cNvPr id="4" name="Text 2"/>
          <p:cNvSpPr/>
          <p:nvPr/>
        </p:nvSpPr>
        <p:spPr>
          <a:xfrm>
            <a:off x="566928" y="2971800"/>
            <a:ext cx="786384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NetworkPolicy</a:t>
            </a:r>
            <a:endParaRPr lang="en-US" sz="3800" dirty="0"/>
          </a:p>
        </p:txBody>
      </p:sp>
      <p:sp>
        <p:nvSpPr>
          <p:cNvPr id="5" name="Text 3"/>
          <p:cNvSpPr/>
          <p:nvPr/>
        </p:nvSpPr>
        <p:spPr>
          <a:xfrm>
            <a:off x="566928" y="3886200"/>
            <a:ext cx="7498080" cy="822960"/>
          </a:xfrm>
          <a:prstGeom prst="rect">
            <a:avLst/>
          </a:prstGeom>
          <a:noFill/>
          <a:ln/>
        </p:spPr>
        <p:txBody>
          <a:bodyPr wrap="square" lIns="0" tIns="0" rIns="0" bIns="0" rtlCol="0" anchor="ctr"/>
          <a:lstStyle/>
          <a:p>
            <a:pPr indent="0" marL="0">
              <a:buNone/>
            </a:pPr>
            <a:r>
              <a:rPr lang="en-US" sz="1500" dirty="0">
                <a:solidFill>
                  <a:srgbClr val="D8E6F2"/>
                </a:solidFill>
                <a:latin typeface="Calibri" pitchFamily="34" charset="0"/>
                <a:ea typeface="Calibri" pitchFamily="34" charset="-122"/>
                <a:cs typeface="Calibri" pitchFamily="34" charset="-120"/>
              </a:rPr>
              <a:t>The control that keeps the DMZ out of the cardholder data environment</a:t>
            </a:r>
            <a:endParaRPr lang="en-US" sz="1500" dirty="0"/>
          </a:p>
        </p:txBody>
      </p:sp>
      <p:sp>
        <p:nvSpPr>
          <p:cNvPr id="6" name="Text 4"/>
          <p:cNvSpPr/>
          <p:nvPr/>
        </p:nvSpPr>
        <p:spPr>
          <a:xfrm>
            <a:off x="566928" y="4709160"/>
            <a:ext cx="7498080" cy="274320"/>
          </a:xfrm>
          <a:prstGeom prst="rect">
            <a:avLst/>
          </a:prstGeom>
          <a:noFill/>
          <a:ln/>
        </p:spPr>
        <p:txBody>
          <a:bodyPr wrap="square" lIns="0" tIns="0" rIns="0" bIns="0" rtlCol="0" anchor="ctr"/>
          <a:lstStyle/>
          <a:p>
            <a:pPr indent="0" marL="0">
              <a:buNone/>
            </a:pPr>
            <a:r>
              <a:rPr lang="en-US" sz="1100" b="1" dirty="0">
                <a:solidFill>
                  <a:srgbClr val="F2A03D"/>
                </a:solidFill>
                <a:latin typeface="Calibri" pitchFamily="34" charset="0"/>
                <a:ea typeface="Calibri" pitchFamily="34" charset="-122"/>
                <a:cs typeface="Calibri" pitchFamily="34" charset="-120"/>
              </a:rPr>
              <a:t>By the end of this module you will be able to:</a:t>
            </a:r>
            <a:endParaRPr lang="en-US" sz="1100" dirty="0"/>
          </a:p>
        </p:txBody>
      </p:sp>
      <p:sp>
        <p:nvSpPr>
          <p:cNvPr id="7" name="Text 5"/>
          <p:cNvSpPr/>
          <p:nvPr/>
        </p:nvSpPr>
        <p:spPr>
          <a:xfrm>
            <a:off x="658368" y="4983480"/>
            <a:ext cx="7498080" cy="10972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Explain that policy is additive and default-allow until a selector matches</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Apply default-deny, then allow-list precisely</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Verify enforcement empirically rather than by reading YAML</a:t>
            </a:r>
            <a:endParaRPr lang="en-US" sz="1200" dirty="0"/>
          </a:p>
        </p:txBody>
      </p:sp>
      <p:sp>
        <p:nvSpPr>
          <p:cNvPr id="8" name="Text 6"/>
          <p:cNvSpPr/>
          <p:nvPr/>
        </p:nvSpPr>
        <p:spPr>
          <a:xfrm>
            <a:off x="9814255" y="5989320"/>
            <a:ext cx="1828800" cy="320040"/>
          </a:xfrm>
          <a:prstGeom prst="rect">
            <a:avLst/>
          </a:prstGeom>
          <a:noFill/>
          <a:ln/>
        </p:spPr>
        <p:txBody>
          <a:bodyPr wrap="square" lIns="0" tIns="0" rIns="0" bIns="0" rtlCol="0" anchor="ctr"/>
          <a:lstStyle/>
          <a:p>
            <a:pPr algn="r" indent="0" marL="0">
              <a:buNone/>
            </a:pPr>
            <a:r>
              <a:rPr lang="en-US" sz="1100" dirty="0">
                <a:solidFill>
                  <a:srgbClr val="63758B"/>
                </a:solidFill>
                <a:latin typeface="Calibri" pitchFamily="34" charset="0"/>
                <a:ea typeface="Calibri" pitchFamily="34" charset="-122"/>
                <a:cs typeface="Calibri" pitchFamily="34" charset="-120"/>
              </a:rPr>
              <a:t>80 min</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2487168"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248716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M4.5 · NETWORKPOLICY</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Three properties that decide everything</a:t>
            </a:r>
            <a:endParaRPr lang="en-US" sz="3200" dirty="0"/>
          </a:p>
        </p:txBody>
      </p:sp>
      <p:sp>
        <p:nvSpPr>
          <p:cNvPr id="5" name="Shape 3"/>
          <p:cNvSpPr/>
          <p:nvPr/>
        </p:nvSpPr>
        <p:spPr>
          <a:xfrm>
            <a:off x="566928" y="1737360"/>
            <a:ext cx="11057839" cy="566928"/>
          </a:xfrm>
          <a:prstGeom prst="roundRect">
            <a:avLst>
              <a:gd name="adj" fmla="val 12903"/>
            </a:avLst>
          </a:prstGeom>
          <a:solidFill>
            <a:srgbClr val="EAF1F8"/>
          </a:solidFill>
          <a:ln w="12700">
            <a:solidFill>
              <a:srgbClr val="1C7293"/>
            </a:solidFill>
            <a:prstDash val="solid"/>
          </a:ln>
        </p:spPr>
      </p:sp>
      <p:sp>
        <p:nvSpPr>
          <p:cNvPr id="6" name="Text 4"/>
          <p:cNvSpPr/>
          <p:nvPr/>
        </p:nvSpPr>
        <p:spPr>
          <a:xfrm>
            <a:off x="768096" y="1737360"/>
            <a:ext cx="10655503" cy="566928"/>
          </a:xfrm>
          <a:prstGeom prst="rect">
            <a:avLst/>
          </a:prstGeom>
          <a:noFill/>
          <a:ln/>
        </p:spPr>
        <p:txBody>
          <a:bodyPr wrap="square" lIns="0" tIns="0" rIns="0" bIns="0" rtlCol="0" anchor="ctr"/>
          <a:lstStyle/>
          <a:p>
            <a:pPr indent="0" marL="0">
              <a:buNone/>
            </a:pPr>
            <a:r>
              <a:rPr lang="en-US" sz="1500" b="1" dirty="0">
                <a:solidFill>
                  <a:srgbClr val="0B1F3A"/>
                </a:solidFill>
                <a:latin typeface="Cambria" pitchFamily="34" charset="0"/>
                <a:ea typeface="Cambria" pitchFamily="34" charset="-122"/>
                <a:cs typeface="Cambria" pitchFamily="34" charset="-120"/>
              </a:rPr>
              <a:t>Why does adding one policy break things you never mentioned in it?</a:t>
            </a:r>
            <a:endParaRPr lang="en-US" sz="1500" dirty="0"/>
          </a:p>
        </p:txBody>
      </p:sp>
      <p:sp>
        <p:nvSpPr>
          <p:cNvPr id="7" name="Shape 5"/>
          <p:cNvSpPr/>
          <p:nvPr/>
        </p:nvSpPr>
        <p:spPr>
          <a:xfrm>
            <a:off x="566928" y="2712339"/>
            <a:ext cx="402336" cy="402336"/>
          </a:xfrm>
          <a:prstGeom prst="ellipse">
            <a:avLst/>
          </a:prstGeom>
          <a:solidFill>
            <a:srgbClr val="C97B1E"/>
          </a:solidFill>
          <a:ln w="12700">
            <a:solidFill>
              <a:srgbClr val="C97B1E"/>
            </a:solidFill>
            <a:prstDash val="solid"/>
          </a:ln>
        </p:spPr>
      </p:sp>
      <p:sp>
        <p:nvSpPr>
          <p:cNvPr id="8" name="Text 6"/>
          <p:cNvSpPr/>
          <p:nvPr/>
        </p:nvSpPr>
        <p:spPr>
          <a:xfrm>
            <a:off x="566928" y="2712339"/>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9" name="Text 7"/>
          <p:cNvSpPr/>
          <p:nvPr/>
        </p:nvSpPr>
        <p:spPr>
          <a:xfrm>
            <a:off x="1133856" y="2487168"/>
            <a:ext cx="3200400" cy="852678"/>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DEFAULT-ALLOW until selected</a:t>
            </a:r>
            <a:endParaRPr lang="en-US" sz="1400" dirty="0"/>
          </a:p>
        </p:txBody>
      </p:sp>
      <p:sp>
        <p:nvSpPr>
          <p:cNvPr id="10" name="Text 8"/>
          <p:cNvSpPr/>
          <p:nvPr/>
        </p:nvSpPr>
        <p:spPr>
          <a:xfrm>
            <a:off x="4407408" y="2487168"/>
            <a:ext cx="7217359" cy="852678"/>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A pod with no policy selecting it is completely unrestricted. The moment ANY policy selects it, only what a policy explicitly permits is allowed. One narrow policy therefore turns an open pod into a nearly closed one.</a:t>
            </a:r>
            <a:endParaRPr lang="en-US" sz="1250" dirty="0"/>
          </a:p>
        </p:txBody>
      </p:sp>
      <p:sp>
        <p:nvSpPr>
          <p:cNvPr id="11" name="Shape 9"/>
          <p:cNvSpPr/>
          <p:nvPr/>
        </p:nvSpPr>
        <p:spPr>
          <a:xfrm>
            <a:off x="566928" y="3565017"/>
            <a:ext cx="402336" cy="402336"/>
          </a:xfrm>
          <a:prstGeom prst="ellipse">
            <a:avLst/>
          </a:prstGeom>
          <a:solidFill>
            <a:srgbClr val="1C7293"/>
          </a:solidFill>
          <a:ln w="12700">
            <a:solidFill>
              <a:srgbClr val="1C7293"/>
            </a:solidFill>
            <a:prstDash val="solid"/>
          </a:ln>
        </p:spPr>
      </p:sp>
      <p:sp>
        <p:nvSpPr>
          <p:cNvPr id="12" name="Text 10"/>
          <p:cNvSpPr/>
          <p:nvPr/>
        </p:nvSpPr>
        <p:spPr>
          <a:xfrm>
            <a:off x="566928" y="3565017"/>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3" name="Text 11"/>
          <p:cNvSpPr/>
          <p:nvPr/>
        </p:nvSpPr>
        <p:spPr>
          <a:xfrm>
            <a:off x="1133856" y="3339846"/>
            <a:ext cx="3200400" cy="852678"/>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ADDITIVE — there is no deny rule</a:t>
            </a:r>
            <a:endParaRPr lang="en-US" sz="1400" dirty="0"/>
          </a:p>
        </p:txBody>
      </p:sp>
      <p:sp>
        <p:nvSpPr>
          <p:cNvPr id="14" name="Text 12"/>
          <p:cNvSpPr/>
          <p:nvPr/>
        </p:nvSpPr>
        <p:spPr>
          <a:xfrm>
            <a:off x="4407408" y="3339846"/>
            <a:ext cx="7217359" cy="852678"/>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Policies only ever ADD permission. You cannot write 'deny X'. You deny by selecting a pod and then not permitting the traffic. Default-deny is simply podSelector {} with no rules at all.</a:t>
            </a:r>
            <a:endParaRPr lang="en-US" sz="1250" dirty="0"/>
          </a:p>
        </p:txBody>
      </p:sp>
      <p:sp>
        <p:nvSpPr>
          <p:cNvPr id="15" name="Shape 13"/>
          <p:cNvSpPr/>
          <p:nvPr/>
        </p:nvSpPr>
        <p:spPr>
          <a:xfrm>
            <a:off x="566928" y="4417695"/>
            <a:ext cx="402336" cy="402336"/>
          </a:xfrm>
          <a:prstGeom prst="ellipse">
            <a:avLst/>
          </a:prstGeom>
          <a:solidFill>
            <a:srgbClr val="2E9E63"/>
          </a:solidFill>
          <a:ln w="12700">
            <a:solidFill>
              <a:srgbClr val="2E9E63"/>
            </a:solidFill>
            <a:prstDash val="solid"/>
          </a:ln>
        </p:spPr>
      </p:sp>
      <p:sp>
        <p:nvSpPr>
          <p:cNvPr id="16" name="Text 14"/>
          <p:cNvSpPr/>
          <p:nvPr/>
        </p:nvSpPr>
        <p:spPr>
          <a:xfrm>
            <a:off x="566928" y="4417695"/>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7" name="Text 15"/>
          <p:cNvSpPr/>
          <p:nvPr/>
        </p:nvSpPr>
        <p:spPr>
          <a:xfrm>
            <a:off x="1133856" y="4192524"/>
            <a:ext cx="3200400" cy="852678"/>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BOTH DIRECTIONS, independently</a:t>
            </a:r>
            <a:endParaRPr lang="en-US" sz="1400" dirty="0"/>
          </a:p>
        </p:txBody>
      </p:sp>
      <p:sp>
        <p:nvSpPr>
          <p:cNvPr id="18" name="Text 16"/>
          <p:cNvSpPr/>
          <p:nvPr/>
        </p:nvSpPr>
        <p:spPr>
          <a:xfrm>
            <a:off x="4407408" y="4192524"/>
            <a:ext cx="7217359" cy="852678"/>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Egress at the source AND ingress at the destination must both allow a flow. Fixing one and not the other leaves it blocked — and each side is a different object, often in a different namespace.</a:t>
            </a:r>
            <a:endParaRPr lang="en-US" sz="1250" dirty="0"/>
          </a:p>
        </p:txBody>
      </p:sp>
      <p:sp>
        <p:nvSpPr>
          <p:cNvPr id="19" name="Shape 17"/>
          <p:cNvSpPr/>
          <p:nvPr/>
        </p:nvSpPr>
        <p:spPr>
          <a:xfrm>
            <a:off x="566928" y="5270373"/>
            <a:ext cx="402336" cy="402336"/>
          </a:xfrm>
          <a:prstGeom prst="ellipse">
            <a:avLst/>
          </a:prstGeom>
          <a:solidFill>
            <a:srgbClr val="D64545"/>
          </a:solidFill>
          <a:ln w="12700">
            <a:solidFill>
              <a:srgbClr val="D64545"/>
            </a:solidFill>
            <a:prstDash val="solid"/>
          </a:ln>
        </p:spPr>
      </p:sp>
      <p:sp>
        <p:nvSpPr>
          <p:cNvPr id="20" name="Text 18"/>
          <p:cNvSpPr/>
          <p:nvPr/>
        </p:nvSpPr>
        <p:spPr>
          <a:xfrm>
            <a:off x="566928" y="5270373"/>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1" name="Text 19"/>
          <p:cNvSpPr/>
          <p:nvPr/>
        </p:nvSpPr>
        <p:spPr>
          <a:xfrm>
            <a:off x="1133856" y="5045202"/>
            <a:ext cx="3200400" cy="852678"/>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Enforcement is the CNI's job</a:t>
            </a:r>
            <a:endParaRPr lang="en-US" sz="1400" dirty="0"/>
          </a:p>
        </p:txBody>
      </p:sp>
      <p:sp>
        <p:nvSpPr>
          <p:cNvPr id="22" name="Text 20"/>
          <p:cNvSpPr/>
          <p:nvPr/>
        </p:nvSpPr>
        <p:spPr>
          <a:xfrm>
            <a:off x="4407408" y="5045202"/>
            <a:ext cx="7217359" cy="852678"/>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Kubernetes stores the object whatever your plugin does. A CNI without policy support accepts every policy and enforces none — silently.</a:t>
            </a:r>
            <a:endParaRPr lang="en-US" sz="1250" dirty="0"/>
          </a:p>
        </p:txBody>
      </p:sp>
      <p:sp>
        <p:nvSpPr>
          <p:cNvPr id="23" name="Text 21"/>
          <p:cNvSpPr/>
          <p:nvPr/>
        </p:nvSpPr>
        <p:spPr>
          <a:xfrm>
            <a:off x="566928" y="5687568"/>
            <a:ext cx="11057839" cy="548640"/>
          </a:xfrm>
          <a:prstGeom prst="rect">
            <a:avLst/>
          </a:prstGeom>
          <a:noFill/>
          <a:ln/>
        </p:spPr>
        <p:txBody>
          <a:bodyPr wrap="square" lIns="0" tIns="0" rIns="0" bIns="0" rtlCol="0" anchor="ctr"/>
          <a:lstStyle/>
          <a:p>
            <a:pPr algn="ctr" indent="0" marL="0">
              <a:buNone/>
            </a:pPr>
            <a:r>
              <a:rPr lang="en-US" sz="1400" b="1" dirty="0">
                <a:solidFill>
                  <a:srgbClr val="1C7293"/>
                </a:solidFill>
                <a:latin typeface="Calibri" pitchFamily="34" charset="0"/>
                <a:ea typeface="Calibri" pitchFamily="34" charset="-122"/>
                <a:cs typeface="Calibri" pitchFamily="34" charset="-120"/>
              </a:rPr>
              <a:t>Deny first, then allow back exactly what you can justify. Building the allow-list first is how you end up with a policy set that looks strict and enforces nothing.</a:t>
            </a:r>
            <a:endParaRPr lang="en-US" sz="1400" dirty="0"/>
          </a:p>
        </p:txBody>
      </p:sp>
      <p:sp>
        <p:nvSpPr>
          <p:cNvPr id="24" name="Text 22"/>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4</a:t>
            </a:r>
            <a:endParaRPr lang="en-US" sz="900" dirty="0"/>
          </a:p>
        </p:txBody>
      </p:sp>
      <p:sp>
        <p:nvSpPr>
          <p:cNvPr id="25" name="Text 23"/>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2592324"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259232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M4.5 · WORKED EXAMPLE</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control, demonstrated</a:t>
            </a:r>
            <a:endParaRPr lang="en-US" sz="3200" dirty="0"/>
          </a:p>
        </p:txBody>
      </p:sp>
      <p:sp>
        <p:nvSpPr>
          <p:cNvPr id="5" name="Text 3"/>
          <p:cNvSpPr/>
          <p:nvPr/>
        </p:nvSpPr>
        <p:spPr>
          <a:xfrm>
            <a:off x="566928" y="1737360"/>
            <a:ext cx="11057839" cy="384048"/>
          </a:xfrm>
          <a:prstGeom prst="rect">
            <a:avLst/>
          </a:prstGeom>
          <a:noFill/>
          <a:ln/>
        </p:spPr>
        <p:txBody>
          <a:bodyPr wrap="square" lIns="0" tIns="0" rIns="0" bIns="0" rtlCol="0" anchor="ctr"/>
          <a:lstStyle/>
          <a:p>
            <a:pPr indent="0" marL="0">
              <a:buNone/>
            </a:pPr>
            <a:r>
              <a:rPr lang="en-US" sz="1400" i="1" dirty="0">
                <a:solidFill>
                  <a:srgbClr val="F2A03D"/>
                </a:solidFill>
                <a:latin typeface="Calibri" pitchFamily="34" charset="0"/>
                <a:ea typeface="Calibri" pitchFamily="34" charset="-122"/>
                <a:cs typeface="Calibri" pitchFamily="34" charset="-120"/>
              </a:rPr>
              <a:t>Same command, before and after. This is what you show a QSA.</a:t>
            </a:r>
            <a:endParaRPr lang="en-US" sz="1400" dirty="0"/>
          </a:p>
        </p:txBody>
      </p:sp>
      <p:sp>
        <p:nvSpPr>
          <p:cNvPr id="6" name="Shape 4"/>
          <p:cNvSpPr/>
          <p:nvPr/>
        </p:nvSpPr>
        <p:spPr>
          <a:xfrm>
            <a:off x="566928" y="2249424"/>
            <a:ext cx="11057839" cy="3307080"/>
          </a:xfrm>
          <a:prstGeom prst="roundRect">
            <a:avLst>
              <a:gd name="adj" fmla="val 2212"/>
            </a:avLst>
          </a:prstGeom>
          <a:solidFill>
            <a:srgbClr val="0E2740"/>
          </a:solidFill>
          <a:ln w="12700">
            <a:solidFill>
              <a:srgbClr val="1B4066"/>
            </a:solidFill>
            <a:prstDash val="solid"/>
          </a:ln>
        </p:spPr>
      </p:sp>
      <p:sp>
        <p:nvSpPr>
          <p:cNvPr id="7" name="Shape 5"/>
          <p:cNvSpPr/>
          <p:nvPr/>
        </p:nvSpPr>
        <p:spPr>
          <a:xfrm>
            <a:off x="768096" y="2404872"/>
            <a:ext cx="118872" cy="118872"/>
          </a:xfrm>
          <a:prstGeom prst="ellipse">
            <a:avLst/>
          </a:prstGeom>
          <a:solidFill>
            <a:srgbClr val="D64545"/>
          </a:solidFill>
          <a:ln w="12700">
            <a:solidFill>
              <a:srgbClr val="D64545"/>
            </a:solidFill>
            <a:prstDash val="solid"/>
          </a:ln>
        </p:spPr>
      </p:sp>
      <p:sp>
        <p:nvSpPr>
          <p:cNvPr id="8" name="Shape 6"/>
          <p:cNvSpPr/>
          <p:nvPr/>
        </p:nvSpPr>
        <p:spPr>
          <a:xfrm>
            <a:off x="987552" y="2404872"/>
            <a:ext cx="118872" cy="118872"/>
          </a:xfrm>
          <a:prstGeom prst="ellipse">
            <a:avLst/>
          </a:prstGeom>
          <a:solidFill>
            <a:srgbClr val="F2A03D"/>
          </a:solidFill>
          <a:ln w="12700">
            <a:solidFill>
              <a:srgbClr val="F2A03D"/>
            </a:solidFill>
            <a:prstDash val="solid"/>
          </a:ln>
        </p:spPr>
      </p:sp>
      <p:sp>
        <p:nvSpPr>
          <p:cNvPr id="9" name="Shape 7"/>
          <p:cNvSpPr/>
          <p:nvPr/>
        </p:nvSpPr>
        <p:spPr>
          <a:xfrm>
            <a:off x="1207008" y="2404872"/>
            <a:ext cx="118872" cy="118872"/>
          </a:xfrm>
          <a:prstGeom prst="ellipse">
            <a:avLst/>
          </a:prstGeom>
          <a:solidFill>
            <a:srgbClr val="2E9E63"/>
          </a:solidFill>
          <a:ln w="12700">
            <a:solidFill>
              <a:srgbClr val="2E9E63"/>
            </a:solidFill>
            <a:prstDash val="solid"/>
          </a:ln>
        </p:spPr>
      </p:sp>
      <p:sp>
        <p:nvSpPr>
          <p:cNvPr id="10" name="Text 8"/>
          <p:cNvSpPr/>
          <p:nvPr/>
        </p:nvSpPr>
        <p:spPr>
          <a:xfrm>
            <a:off x="804672" y="2706624"/>
            <a:ext cx="10600639" cy="2667000"/>
          </a:xfrm>
          <a:prstGeom prst="rect">
            <a:avLst/>
          </a:prstGeom>
          <a:noFill/>
          <a:ln/>
        </p:spPr>
        <p:txBody>
          <a:bodyPr wrap="square" lIns="0" tIns="0" rIns="0" bIns="0" rtlCol="0" anchor="t"/>
          <a:lstStyle/>
          <a:p>
            <a:pPr indent="0" marL="0">
              <a:lnSpc>
                <a:spcPts val="1500"/>
              </a:lnSpc>
              <a:buNone/>
            </a:pPr>
            <a:r>
              <a:rPr lang="en-US" sz="1000" b="1" dirty="0">
                <a:solidFill>
                  <a:srgbClr val="F2A03D"/>
                </a:solidFill>
                <a:latin typeface="Courier New" pitchFamily="34" charset="0"/>
                <a:ea typeface="Courier New" pitchFamily="34" charset="-122"/>
                <a:cs typeface="Courier New" pitchFamily="34" charset="-120"/>
              </a:rPr>
              <a:t>$ kubectl exec -n axispay-edge deploy/edge-gateway -- python3 -c \</a:t>
            </a:r>
            <a:endParaRPr lang="en-US" sz="1000" dirty="0"/>
          </a:p>
          <a:p>
            <a:pPr indent="0" marL="0">
              <a:lnSpc>
                <a:spcPts val="1500"/>
              </a:lnSpc>
              <a:buNone/>
            </a:pPr>
            <a:r>
              <a:rPr lang="en-US" sz="1000" b="1" dirty="0">
                <a:solidFill>
                  <a:srgbClr val="F2A03D"/>
                </a:solidFill>
                <a:latin typeface="Courier New" pitchFamily="34" charset="0"/>
                <a:ea typeface="Courier New" pitchFamily="34" charset="-122"/>
                <a:cs typeface="Courier New" pitchFamily="34" charset="-120"/>
              </a:rPr>
              <a:t>    "import socket; socket.create_connection(</a:t>
            </a:r>
            <a:endParaRPr lang="en-US" sz="1000" dirty="0"/>
          </a:p>
          <a:p>
            <a:pPr indent="0" marL="0">
              <a:lnSpc>
                <a:spcPts val="1500"/>
              </a:lnSpc>
              <a:buNone/>
            </a:pPr>
            <a:r>
              <a:rPr lang="en-US" sz="1000" b="1" dirty="0">
                <a:solidFill>
                  <a:srgbClr val="F2A03D"/>
                </a:solidFill>
                <a:latin typeface="Courier New" pitchFamily="34" charset="0"/>
                <a:ea typeface="Courier New" pitchFamily="34" charset="-122"/>
                <a:cs typeface="Courier New" pitchFamily="34" charset="-120"/>
              </a:rPr>
              <a:t>     ('postgres-0.postgres.axispay-data...',5432),timeout=5)"</a:t>
            </a:r>
            <a:endParaRPr lang="en-US" sz="1000" dirty="0"/>
          </a:p>
          <a:p>
            <a:pPr indent="0" marL="0">
              <a:lnSpc>
                <a:spcPts val="1500"/>
              </a:lnSpc>
              <a:buNone/>
            </a:pPr>
            <a:r>
              <a:rPr lang="en-US" sz="1000" dirty="0">
                <a:solidFill>
                  <a:srgbClr val="D8E6F2"/>
                </a:solidFill>
                <a:latin typeface="Courier New" pitchFamily="34" charset="0"/>
                <a:ea typeface="Courier New" pitchFamily="34" charset="-122"/>
                <a:cs typeface="Courier New" pitchFamily="34" charset="-120"/>
              </a:rPr>
              <a:t> </a:t>
            </a:r>
            <a:endParaRPr lang="en-US" sz="1000" dirty="0"/>
          </a:p>
          <a:p>
            <a:pPr indent="0" marL="0">
              <a:lnSpc>
                <a:spcPts val="1500"/>
              </a:lnSpc>
              <a:buNone/>
            </a:pPr>
            <a:r>
              <a:rPr lang="en-US" sz="1000" dirty="0">
                <a:solidFill>
                  <a:srgbClr val="63758B"/>
                </a:solidFill>
                <a:latin typeface="Courier New" pitchFamily="34" charset="0"/>
                <a:ea typeface="Courier New" pitchFamily="34" charset="-122"/>
                <a:cs typeface="Courier New" pitchFamily="34" charset="-120"/>
              </a:rPr>
              <a:t># BEFORE — L4.4 step 1</a:t>
            </a:r>
            <a:endParaRPr lang="en-US" sz="1000" dirty="0"/>
          </a:p>
          <a:p>
            <a:pPr indent="0" marL="0">
              <a:lnSpc>
                <a:spcPts val="1500"/>
              </a:lnSpc>
              <a:buNone/>
            </a:pPr>
            <a:r>
              <a:rPr lang="en-US" sz="1000" dirty="0">
                <a:solidFill>
                  <a:srgbClr val="D64545"/>
                </a:solidFill>
                <a:latin typeface="Courier New" pitchFamily="34" charset="0"/>
                <a:ea typeface="Courier New" pitchFamily="34" charset="-122"/>
                <a:cs typeface="Courier New" pitchFamily="34" charset="-120"/>
              </a:rPr>
              <a:t>CONNECTED to PostgreSQL from the DMZ  &lt;- this is the finding</a:t>
            </a:r>
            <a:endParaRPr lang="en-US" sz="1000" dirty="0"/>
          </a:p>
          <a:p>
            <a:pPr indent="0" marL="0">
              <a:lnSpc>
                <a:spcPts val="1500"/>
              </a:lnSpc>
              <a:buNone/>
            </a:pPr>
            <a:r>
              <a:rPr lang="en-US" sz="1000" dirty="0">
                <a:solidFill>
                  <a:srgbClr val="D8E6F2"/>
                </a:solidFill>
                <a:latin typeface="Courier New" pitchFamily="34" charset="0"/>
                <a:ea typeface="Courier New" pitchFamily="34" charset="-122"/>
                <a:cs typeface="Courier New" pitchFamily="34" charset="-120"/>
              </a:rPr>
              <a:t> </a:t>
            </a:r>
            <a:endParaRPr lang="en-US" sz="1000" dirty="0"/>
          </a:p>
          <a:p>
            <a:pPr indent="0" marL="0">
              <a:lnSpc>
                <a:spcPts val="1500"/>
              </a:lnSpc>
              <a:buNone/>
            </a:pPr>
            <a:r>
              <a:rPr lang="en-US" sz="1000" dirty="0">
                <a:solidFill>
                  <a:srgbClr val="63758B"/>
                </a:solidFill>
                <a:latin typeface="Courier New" pitchFamily="34" charset="0"/>
                <a:ea typeface="Courier New" pitchFamily="34" charset="-122"/>
                <a:cs typeface="Courier New" pitchFamily="34" charset="-120"/>
              </a:rPr>
              <a:t># AFTER — L4.4 step 6, same command</a:t>
            </a:r>
            <a:endParaRPr lang="en-US" sz="1000" dirty="0"/>
          </a:p>
          <a:p>
            <a:pPr indent="0" marL="0">
              <a:lnSpc>
                <a:spcPts val="1500"/>
              </a:lnSpc>
              <a:buNone/>
            </a:pPr>
            <a:r>
              <a:rPr lang="en-US" sz="1000" dirty="0">
                <a:solidFill>
                  <a:srgbClr val="2E9E63"/>
                </a:solidFill>
                <a:latin typeface="Courier New" pitchFamily="34" charset="0"/>
                <a:ea typeface="Courier New" pitchFamily="34" charset="-122"/>
                <a:cs typeface="Courier New" pitchFamily="34" charset="-120"/>
              </a:rPr>
              <a:t>BLOCKED — the DMZ can no longer reach the vault: TimeoutError</a:t>
            </a:r>
            <a:endParaRPr lang="en-US" sz="1000" dirty="0"/>
          </a:p>
          <a:p>
            <a:pPr indent="0" marL="0">
              <a:lnSpc>
                <a:spcPts val="1500"/>
              </a:lnSpc>
              <a:buNone/>
            </a:pPr>
            <a:r>
              <a:rPr lang="en-US" sz="1000" dirty="0">
                <a:solidFill>
                  <a:srgbClr val="D8E6F2"/>
                </a:solidFill>
                <a:latin typeface="Courier New" pitchFamily="34" charset="0"/>
                <a:ea typeface="Courier New" pitchFamily="34" charset="-122"/>
                <a:cs typeface="Courier New" pitchFamily="34" charset="-120"/>
              </a:rPr>
              <a:t> </a:t>
            </a:r>
            <a:endParaRPr lang="en-US" sz="1000" dirty="0"/>
          </a:p>
          <a:p>
            <a:pPr indent="0" marL="0">
              <a:lnSpc>
                <a:spcPts val="1500"/>
              </a:lnSpc>
              <a:buNone/>
            </a:pPr>
            <a:r>
              <a:rPr lang="en-US" sz="1000" b="1" dirty="0">
                <a:solidFill>
                  <a:srgbClr val="F2A03D"/>
                </a:solidFill>
                <a:latin typeface="Courier New" pitchFamily="34" charset="0"/>
                <a:ea typeface="Courier New" pitchFamily="34" charset="-122"/>
                <a:cs typeface="Courier New" pitchFamily="34" charset="-120"/>
              </a:rPr>
              <a:t>$ python3 scripts/validate/simulate-netpol.py</a:t>
            </a:r>
            <a:endParaRPr lang="en-US" sz="1000" dirty="0"/>
          </a:p>
          <a:p>
            <a:pPr indent="0" marL="0">
              <a:lnSpc>
                <a:spcPts val="1500"/>
              </a:lnSpc>
              <a:buNone/>
            </a:pPr>
            <a:r>
              <a:rPr lang="en-US" sz="1000" dirty="0">
                <a:solidFill>
                  <a:srgbClr val="2E9E63"/>
                </a:solidFill>
                <a:latin typeface="Courier New" pitchFamily="34" charset="0"/>
                <a:ea typeface="Courier New" pitchFamily="34" charset="-122"/>
                <a:cs typeface="Courier New" pitchFamily="34" charset="-120"/>
              </a:rPr>
              <a:t>All 39 policy assertions hold.</a:t>
            </a:r>
            <a:endParaRPr lang="en-US" sz="1000" dirty="0"/>
          </a:p>
          <a:p>
            <a:pPr indent="0" marL="0">
              <a:lnSpc>
                <a:spcPts val="1500"/>
              </a:lnSpc>
              <a:buNone/>
            </a:pPr>
            <a:r>
              <a:rPr lang="en-US" sz="1000" dirty="0">
                <a:solidFill>
                  <a:srgbClr val="63758B"/>
                </a:solidFill>
                <a:latin typeface="Courier New" pitchFamily="34" charset="0"/>
                <a:ea typeface="Courier New" pitchFamily="34" charset="-122"/>
                <a:cs typeface="Courier New" pitchFamily="34" charset="-120"/>
              </a:rPr>
              <a:t>  19 calls the platform makes: ALLOWED</a:t>
            </a:r>
            <a:endParaRPr lang="en-US" sz="1000" dirty="0"/>
          </a:p>
          <a:p>
            <a:pPr indent="0" marL="0">
              <a:lnSpc>
                <a:spcPts val="1500"/>
              </a:lnSpc>
              <a:buNone/>
            </a:pPr>
            <a:r>
              <a:rPr lang="en-US" sz="1000" dirty="0">
                <a:solidFill>
                  <a:srgbClr val="63758B"/>
                </a:solidFill>
                <a:latin typeface="Courier New" pitchFamily="34" charset="0"/>
                <a:ea typeface="Courier New" pitchFamily="34" charset="-122"/>
                <a:cs typeface="Courier New" pitchFamily="34" charset="-120"/>
              </a:rPr>
              <a:t>   8 controls that matter:      BLOCKED</a:t>
            </a:r>
            <a:endParaRPr lang="en-US" sz="1000" dirty="0"/>
          </a:p>
        </p:txBody>
      </p:sp>
      <p:sp>
        <p:nvSpPr>
          <p:cNvPr id="11" name="Text 9"/>
          <p:cNvSpPr/>
          <p:nvPr/>
        </p:nvSpPr>
        <p:spPr>
          <a:xfrm>
            <a:off x="566928" y="5721096"/>
            <a:ext cx="11057839" cy="457200"/>
          </a:xfrm>
          <a:prstGeom prst="rect">
            <a:avLst/>
          </a:prstGeom>
          <a:noFill/>
          <a:ln/>
        </p:spPr>
        <p:txBody>
          <a:bodyPr wrap="square" lIns="0" tIns="0" rIns="0" bIns="0" rtlCol="0" anchor="ctr"/>
          <a:lstStyle/>
          <a:p>
            <a:pPr indent="0" marL="0">
              <a:buNone/>
            </a:pPr>
            <a:r>
              <a:rPr lang="en-US" sz="1300" i="1" dirty="0">
                <a:solidFill>
                  <a:srgbClr val="D8E6F2"/>
                </a:solidFill>
                <a:latin typeface="Calibri" pitchFamily="34" charset="0"/>
                <a:ea typeface="Calibri" pitchFamily="34" charset="-122"/>
                <a:cs typeface="Calibri" pitchFamily="34" charset="-120"/>
              </a:rPr>
              <a:t>A TIMEOUT, not a refusal. Dropped packets look like a slow network, which is why an over-broad policy is so hard to diagnose — that is INC-4c.</a:t>
            </a:r>
            <a:endParaRPr lang="en-US" sz="1300" dirty="0"/>
          </a:p>
        </p:txBody>
      </p:sp>
      <p:sp>
        <p:nvSpPr>
          <p:cNvPr id="12" name="Text 10"/>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4</a:t>
            </a:r>
            <a:endParaRPr lang="en-US" sz="900" dirty="0"/>
          </a:p>
        </p:txBody>
      </p:sp>
      <p:sp>
        <p:nvSpPr>
          <p:cNvPr id="13" name="Text 11"/>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120140" cy="292608"/>
          </a:xfrm>
          <a:prstGeom prst="roundRect">
            <a:avLst>
              <a:gd name="adj" fmla="val 50000"/>
            </a:avLst>
          </a:prstGeom>
          <a:solidFill>
            <a:srgbClr val="D64545"/>
          </a:solidFill>
          <a:ln w="12700">
            <a:solidFill>
              <a:srgbClr val="D64545"/>
            </a:solidFill>
            <a:prstDash val="solid"/>
          </a:ln>
        </p:spPr>
      </p:sp>
      <p:sp>
        <p:nvSpPr>
          <p:cNvPr id="3" name="Text 1"/>
          <p:cNvSpPr/>
          <p:nvPr/>
        </p:nvSpPr>
        <p:spPr>
          <a:xfrm>
            <a:off x="566928" y="384048"/>
            <a:ext cx="112014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WARNING</a:t>
            </a:r>
            <a:endParaRPr lang="en-US" sz="1100" dirty="0"/>
          </a:p>
        </p:txBody>
      </p:sp>
      <p:sp>
        <p:nvSpPr>
          <p:cNvPr id="4" name="Shape 2"/>
          <p:cNvSpPr/>
          <p:nvPr/>
        </p:nvSpPr>
        <p:spPr>
          <a:xfrm>
            <a:off x="566928" y="1554480"/>
            <a:ext cx="11057839" cy="3017520"/>
          </a:xfrm>
          <a:prstGeom prst="roundRect">
            <a:avLst>
              <a:gd name="adj" fmla="val 3636"/>
            </a:avLst>
          </a:prstGeom>
          <a:solidFill>
            <a:srgbClr val="12314F"/>
          </a:solidFill>
          <a:ln w="12700">
            <a:solidFill>
              <a:srgbClr val="D64545"/>
            </a:solidFill>
            <a:prstDash val="solid"/>
          </a:ln>
        </p:spPr>
      </p:sp>
      <p:sp>
        <p:nvSpPr>
          <p:cNvPr id="5" name="Text 3"/>
          <p:cNvSpPr/>
          <p:nvPr/>
        </p:nvSpPr>
        <p:spPr>
          <a:xfrm>
            <a:off x="1115568" y="1920240"/>
            <a:ext cx="9960559" cy="1463040"/>
          </a:xfrm>
          <a:prstGeom prst="rect">
            <a:avLst/>
          </a:prstGeom>
          <a:noFill/>
          <a:ln/>
        </p:spPr>
        <p:txBody>
          <a:bodyPr wrap="square" lIns="0" tIns="0" rIns="0" bIns="0" rtlCol="0" anchor="ctr"/>
          <a:lstStyle/>
          <a:p>
            <a:pPr indent="0" marL="0">
              <a:lnSpc>
                <a:spcPts val="3800"/>
              </a:lnSpc>
              <a:buNone/>
            </a:pPr>
            <a:r>
              <a:rPr lang="en-US" sz="3000" b="1" dirty="0">
                <a:solidFill>
                  <a:srgbClr val="FFFFFF"/>
                </a:solidFill>
                <a:latin typeface="Cambria" pitchFamily="34" charset="0"/>
                <a:ea typeface="Cambria" pitchFamily="34" charset="-122"/>
                <a:cs typeface="Cambria" pitchFamily="34" charset="-120"/>
              </a:rPr>
              <a:t>Apply default-deny and the entire platform stops working.</a:t>
            </a:r>
            <a:endParaRPr lang="en-US" sz="3000" dirty="0"/>
          </a:p>
          <a:p>
            <a:pPr indent="0" marL="0">
              <a:lnSpc>
                <a:spcPts val="3800"/>
              </a:lnSpc>
              <a:buNone/>
            </a:pPr>
            <a:r>
              <a:rPr lang="en-US" sz="3000" b="1" dirty="0">
                <a:solidFill>
                  <a:srgbClr val="FFFFFF"/>
                </a:solidFill>
                <a:latin typeface="Cambria" pitchFamily="34" charset="0"/>
                <a:ea typeface="Cambria" pitchFamily="34" charset="-122"/>
                <a:cs typeface="Cambria" pitchFamily="34" charset="-120"/>
              </a:rPr>
              <a:t>That is correct.</a:t>
            </a:r>
            <a:endParaRPr lang="en-US" sz="3000" dirty="0"/>
          </a:p>
        </p:txBody>
      </p:sp>
      <p:sp>
        <p:nvSpPr>
          <p:cNvPr id="6" name="Text 4"/>
          <p:cNvSpPr/>
          <p:nvPr/>
        </p:nvSpPr>
        <p:spPr>
          <a:xfrm>
            <a:off x="1115568" y="3429000"/>
            <a:ext cx="9960559" cy="914400"/>
          </a:xfrm>
          <a:prstGeom prst="rect">
            <a:avLst/>
          </a:prstGeom>
          <a:noFill/>
          <a:ln/>
        </p:spPr>
        <p:txBody>
          <a:bodyPr wrap="square" lIns="0" tIns="0" rIns="0" bIns="0" rtlCol="0" anchor="ctr"/>
          <a:lstStyle/>
          <a:p>
            <a:pPr indent="0" marL="0">
              <a:lnSpc>
                <a:spcPts val="2100"/>
              </a:lnSpc>
              <a:buNone/>
            </a:pPr>
            <a:r>
              <a:rPr lang="en-US" sz="1500" dirty="0">
                <a:solidFill>
                  <a:srgbClr val="D8E6F2"/>
                </a:solidFill>
                <a:latin typeface="Calibri" pitchFamily="34" charset="0"/>
                <a:ea typeface="Calibri" pitchFamily="34" charset="-122"/>
                <a:cs typeface="Calibri" pitchFamily="34" charset="-120"/>
              </a:rPr>
              <a:t>In L4.4 step 2 everything breaks — including calls you explicitly allowed. Before you apply the next file, work out WHY.</a:t>
            </a:r>
            <a:endParaRPr lang="en-US" sz="1500" dirty="0"/>
          </a:p>
        </p:txBody>
      </p:sp>
      <p:sp>
        <p:nvSpPr>
          <p:cNvPr id="7" name="Text 5"/>
          <p:cNvSpPr/>
          <p:nvPr/>
        </p:nvSpPr>
        <p:spPr>
          <a:xfrm>
            <a:off x="658368" y="4800600"/>
            <a:ext cx="11057839" cy="1188720"/>
          </a:xfrm>
          <a:prstGeom prst="rect">
            <a:avLst/>
          </a:prstGeom>
          <a:noFill/>
          <a:ln/>
        </p:spPr>
        <p:txBody>
          <a:bodyPr wrap="square" lIns="0" tIns="0" rIns="0" bIns="0" rtlCol="0" anchor="ctr"/>
          <a:lstStyle/>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Every service call begins with a DNS lookup to CoreDNS in kube-system.</a:t>
            </a:r>
            <a:endParaRPr lang="en-US" sz="1350" dirty="0"/>
          </a:p>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That lookup is EGRESS TRAFFIC, and default-deny blocked it.</a:t>
            </a:r>
            <a:endParaRPr lang="en-US" sz="1350" dirty="0"/>
          </a:p>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The symptom is a NAME RESOLUTION failure, not a connection refusal — so it looks like a DNS outage, not a policy problem.</a:t>
            </a:r>
            <a:endParaRPr lang="en-US" sz="1350" dirty="0"/>
          </a:p>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You saw this exact shape in L4.2 step 6. That was not an accident.</a:t>
            </a:r>
            <a:endParaRPr lang="en-US" sz="1350" dirty="0"/>
          </a:p>
        </p:txBody>
      </p:sp>
      <p:sp>
        <p:nvSpPr>
          <p:cNvPr id="8" name="Text 6"/>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4</a:t>
            </a:r>
            <a:endParaRPr lang="en-US" sz="900" dirty="0"/>
          </a:p>
        </p:txBody>
      </p:sp>
      <p:sp>
        <p:nvSpPr>
          <p:cNvPr id="9" name="Text 7"/>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435608" cy="292608"/>
          </a:xfrm>
          <a:prstGeom prst="roundRect">
            <a:avLst>
              <a:gd name="adj" fmla="val 50000"/>
            </a:avLst>
          </a:prstGeom>
          <a:solidFill>
            <a:srgbClr val="2E9E63"/>
          </a:solidFill>
          <a:ln w="12700">
            <a:solidFill>
              <a:srgbClr val="2E9E63"/>
            </a:solidFill>
            <a:prstDash val="solid"/>
          </a:ln>
        </p:spPr>
      </p:sp>
      <p:sp>
        <p:nvSpPr>
          <p:cNvPr id="3" name="Text 1"/>
          <p:cNvSpPr/>
          <p:nvPr/>
        </p:nvSpPr>
        <p:spPr>
          <a:xfrm>
            <a:off x="566928" y="384048"/>
            <a:ext cx="1435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GUIDED LAB</a:t>
            </a:r>
            <a:endParaRPr lang="en-US" sz="1100" dirty="0"/>
          </a:p>
        </p:txBody>
      </p:sp>
      <p:sp>
        <p:nvSpPr>
          <p:cNvPr id="4" name="Text 2"/>
          <p:cNvSpPr/>
          <p:nvPr/>
        </p:nvSpPr>
        <p:spPr>
          <a:xfrm>
            <a:off x="566928" y="914400"/>
            <a:ext cx="2743200" cy="777240"/>
          </a:xfrm>
          <a:prstGeom prst="rect">
            <a:avLst/>
          </a:prstGeom>
          <a:noFill/>
          <a:ln/>
        </p:spPr>
        <p:txBody>
          <a:bodyPr wrap="square" lIns="0" tIns="0" rIns="0" bIns="0" rtlCol="0" anchor="ctr"/>
          <a:lstStyle/>
          <a:p>
            <a:pPr indent="0" marL="0">
              <a:buNone/>
            </a:pPr>
            <a:r>
              <a:rPr lang="en-US" sz="4000" b="1" dirty="0">
                <a:solidFill>
                  <a:srgbClr val="2E9E63"/>
                </a:solidFill>
                <a:latin typeface="Cambria" pitchFamily="34" charset="0"/>
                <a:ea typeface="Cambria" pitchFamily="34" charset="-122"/>
                <a:cs typeface="Cambria" pitchFamily="34" charset="-120"/>
              </a:rPr>
              <a:t>L4.4</a:t>
            </a:r>
            <a:endParaRPr lang="en-US" sz="4000" dirty="0"/>
          </a:p>
        </p:txBody>
      </p:sp>
      <p:sp>
        <p:nvSpPr>
          <p:cNvPr id="5" name="Text 3"/>
          <p:cNvSpPr/>
          <p:nvPr/>
        </p:nvSpPr>
        <p:spPr>
          <a:xfrm>
            <a:off x="566928" y="1691640"/>
            <a:ext cx="11057839"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Zero-trust segmentation</a:t>
            </a:r>
            <a:endParaRPr lang="en-US" sz="3000" dirty="0"/>
          </a:p>
        </p:txBody>
      </p:sp>
      <p:sp>
        <p:nvSpPr>
          <p:cNvPr id="6" name="Shape 4"/>
          <p:cNvSpPr/>
          <p:nvPr/>
        </p:nvSpPr>
        <p:spPr>
          <a:xfrm>
            <a:off x="566928" y="2560320"/>
            <a:ext cx="5577840" cy="2834640"/>
          </a:xfrm>
          <a:prstGeom prst="roundRect">
            <a:avLst>
              <a:gd name="adj" fmla="val 3226"/>
            </a:avLst>
          </a:prstGeom>
          <a:solidFill>
            <a:srgbClr val="12314F"/>
          </a:solidFill>
          <a:ln w="12700">
            <a:solidFill>
              <a:srgbClr val="1B4066"/>
            </a:solidFill>
            <a:prstDash val="solid"/>
          </a:ln>
        </p:spPr>
      </p:sp>
      <p:sp>
        <p:nvSpPr>
          <p:cNvPr id="7" name="Text 5"/>
          <p:cNvSpPr/>
          <p:nvPr/>
        </p:nvSpPr>
        <p:spPr>
          <a:xfrm>
            <a:off x="841248" y="2724912"/>
            <a:ext cx="5029200" cy="274320"/>
          </a:xfrm>
          <a:prstGeom prst="rect">
            <a:avLst/>
          </a:prstGeom>
          <a:noFill/>
          <a:ln/>
        </p:spPr>
        <p:txBody>
          <a:bodyPr wrap="square" lIns="0" tIns="0" rIns="0" bIns="0" rtlCol="0" anchor="ctr"/>
          <a:lstStyle/>
          <a:p>
            <a:pPr indent="0" marL="0">
              <a:buNone/>
            </a:pPr>
            <a:r>
              <a:rPr lang="en-US" sz="1000" b="1" spc="100" kern="0" dirty="0">
                <a:solidFill>
                  <a:srgbClr val="F2A03D"/>
                </a:solidFill>
                <a:latin typeface="Calibri" pitchFamily="34" charset="0"/>
                <a:ea typeface="Calibri" pitchFamily="34" charset="-122"/>
                <a:cs typeface="Calibri" pitchFamily="34" charset="-120"/>
              </a:rPr>
              <a:t>YOU WILL</a:t>
            </a:r>
            <a:endParaRPr lang="en-US" sz="1000" dirty="0"/>
          </a:p>
        </p:txBody>
      </p:sp>
      <p:sp>
        <p:nvSpPr>
          <p:cNvPr id="8" name="Text 6"/>
          <p:cNvSpPr/>
          <p:nvPr/>
        </p:nvSpPr>
        <p:spPr>
          <a:xfrm>
            <a:off x="886968" y="3017520"/>
            <a:ext cx="5029200" cy="219456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PROVE the finding: connect to PostgreSQL from the DMZ</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Apply default-deny and watch the platform stop</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Derive the DNS egress rule from a broken cluster</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Allow-list every real call path</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Run the SAME command from step 1 and get the opposite result</a:t>
            </a:r>
            <a:endParaRPr lang="en-US" sz="1300" dirty="0"/>
          </a:p>
        </p:txBody>
      </p:sp>
      <p:sp>
        <p:nvSpPr>
          <p:cNvPr id="9" name="Shape 7"/>
          <p:cNvSpPr/>
          <p:nvPr/>
        </p:nvSpPr>
        <p:spPr>
          <a:xfrm>
            <a:off x="6464808" y="2560320"/>
            <a:ext cx="5120640" cy="2834640"/>
          </a:xfrm>
          <a:prstGeom prst="roundRect">
            <a:avLst>
              <a:gd name="adj" fmla="val 3226"/>
            </a:avLst>
          </a:prstGeom>
          <a:solidFill>
            <a:srgbClr val="12314F"/>
          </a:solidFill>
          <a:ln w="12700">
            <a:solidFill>
              <a:srgbClr val="1B4066"/>
            </a:solidFill>
            <a:prstDash val="solid"/>
          </a:ln>
        </p:spPr>
      </p:sp>
      <p:sp>
        <p:nvSpPr>
          <p:cNvPr id="10" name="Text 8"/>
          <p:cNvSpPr/>
          <p:nvPr/>
        </p:nvSpPr>
        <p:spPr>
          <a:xfrm>
            <a:off x="6739128" y="2724912"/>
            <a:ext cx="4572000" cy="274320"/>
          </a:xfrm>
          <a:prstGeom prst="rect">
            <a:avLst/>
          </a:prstGeom>
          <a:noFill/>
          <a:ln/>
        </p:spPr>
        <p:txBody>
          <a:bodyPr wrap="square" lIns="0" tIns="0" rIns="0" bIns="0" rtlCol="0" anchor="ctr"/>
          <a:lstStyle/>
          <a:p>
            <a:pPr indent="0" marL="0">
              <a:buNone/>
            </a:pPr>
            <a:r>
              <a:rPr lang="en-US" sz="1000" b="1" spc="100" kern="0" dirty="0">
                <a:solidFill>
                  <a:srgbClr val="2E9E63"/>
                </a:solidFill>
                <a:latin typeface="Calibri" pitchFamily="34" charset="0"/>
                <a:ea typeface="Calibri" pitchFamily="34" charset="-122"/>
                <a:cs typeface="Calibri" pitchFamily="34" charset="-120"/>
              </a:rPr>
              <a:t>DONE WHEN</a:t>
            </a:r>
            <a:endParaRPr lang="en-US" sz="1000" dirty="0"/>
          </a:p>
        </p:txBody>
      </p:sp>
      <p:sp>
        <p:nvSpPr>
          <p:cNvPr id="11" name="Text 9"/>
          <p:cNvSpPr/>
          <p:nvPr/>
        </p:nvSpPr>
        <p:spPr>
          <a:xfrm>
            <a:off x="6784848" y="3017520"/>
            <a:ext cx="4572000" cy="146304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22 policies applied</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edge-gateway CANNOT reach PostgreSQL</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simulate-netpol.py: 39/39</a:t>
            </a:r>
            <a:endParaRPr lang="en-US" sz="1300" dirty="0"/>
          </a:p>
        </p:txBody>
      </p:sp>
      <p:sp>
        <p:nvSpPr>
          <p:cNvPr id="12" name="Shape 10"/>
          <p:cNvSpPr/>
          <p:nvPr/>
        </p:nvSpPr>
        <p:spPr>
          <a:xfrm>
            <a:off x="6739128" y="4617720"/>
            <a:ext cx="4572000" cy="566928"/>
          </a:xfrm>
          <a:prstGeom prst="roundRect">
            <a:avLst>
              <a:gd name="adj" fmla="val 12903"/>
            </a:avLst>
          </a:prstGeom>
          <a:solidFill>
            <a:srgbClr val="0E2740"/>
          </a:solidFill>
          <a:ln w="12700">
            <a:solidFill>
              <a:srgbClr val="1C7293"/>
            </a:solidFill>
            <a:prstDash val="solid"/>
          </a:ln>
        </p:spPr>
      </p:sp>
      <p:sp>
        <p:nvSpPr>
          <p:cNvPr id="13" name="Text 11"/>
          <p:cNvSpPr/>
          <p:nvPr/>
        </p:nvSpPr>
        <p:spPr>
          <a:xfrm>
            <a:off x="6876288" y="4617720"/>
            <a:ext cx="4297680" cy="566928"/>
          </a:xfrm>
          <a:prstGeom prst="rect">
            <a:avLst/>
          </a:prstGeom>
          <a:noFill/>
          <a:ln/>
        </p:spPr>
        <p:txBody>
          <a:bodyPr wrap="square" lIns="0" tIns="0" rIns="0" bIns="0" rtlCol="0" anchor="ctr"/>
          <a:lstStyle/>
          <a:p>
            <a:pPr indent="0" marL="0">
              <a:buNone/>
            </a:pPr>
            <a:r>
              <a:rPr lang="en-US" sz="1150" dirty="0">
                <a:solidFill>
                  <a:srgbClr val="F2A03D"/>
                </a:solidFill>
                <a:latin typeface="Courier New" pitchFamily="34" charset="0"/>
                <a:ea typeface="Courier New" pitchFamily="34" charset="-122"/>
                <a:cs typeface="Courier New" pitchFamily="34" charset="-120"/>
              </a:rPr>
              <a:t>make validate-lab LAB=L4.4</a:t>
            </a:r>
            <a:endParaRPr lang="en-US" sz="1150" dirty="0"/>
          </a:p>
        </p:txBody>
      </p:sp>
      <p:sp>
        <p:nvSpPr>
          <p:cNvPr id="14" name="Text 12"/>
          <p:cNvSpPr/>
          <p:nvPr/>
        </p:nvSpPr>
        <p:spPr>
          <a:xfrm>
            <a:off x="566928" y="5577840"/>
            <a:ext cx="11057839" cy="365760"/>
          </a:xfrm>
          <a:prstGeom prst="rect">
            <a:avLst/>
          </a:prstGeom>
          <a:noFill/>
          <a:ln/>
        </p:spPr>
        <p:txBody>
          <a:bodyPr wrap="square" lIns="0" tIns="0" rIns="0" bIns="0" rtlCol="0" anchor="ctr"/>
          <a:lstStyle/>
          <a:p>
            <a:pPr indent="0" marL="0">
              <a:buNone/>
            </a:pPr>
            <a:r>
              <a:rPr lang="en-US" sz="1200" dirty="0">
                <a:solidFill>
                  <a:srgbClr val="63758B"/>
                </a:solidFill>
                <a:latin typeface="Calibri" pitchFamily="34" charset="0"/>
                <a:ea typeface="Calibri" pitchFamily="34" charset="-122"/>
                <a:cs typeface="Calibri" pitchFamily="34" charset="-120"/>
              </a:rPr>
              <a:t>50 minutes   ·   labs/day4/L4.4-networkpolicy/</a:t>
            </a:r>
            <a:endParaRPr lang="en-US" sz="1200" dirty="0"/>
          </a:p>
        </p:txBody>
      </p:sp>
      <p:sp>
        <p:nvSpPr>
          <p:cNvPr id="15" name="Text 13"/>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4</a:t>
            </a:r>
            <a:endParaRPr lang="en-US" sz="900" dirty="0"/>
          </a:p>
        </p:txBody>
      </p:sp>
      <p:sp>
        <p:nvSpPr>
          <p:cNvPr id="16" name="Text 14"/>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8351215" y="-1097280"/>
            <a:ext cx="5120640" cy="5120640"/>
          </a:xfrm>
          <a:prstGeom prst="ellipse">
            <a:avLst/>
          </a:prstGeom>
          <a:solidFill>
            <a:srgbClr val="12314F"/>
          </a:solidFill>
          <a:ln w="12700">
            <a:solidFill>
              <a:srgbClr val="12314F"/>
            </a:solidFill>
            <a:prstDash val="solid"/>
          </a:ln>
        </p:spPr>
      </p:sp>
      <p:sp>
        <p:nvSpPr>
          <p:cNvPr id="3" name="Text 1"/>
          <p:cNvSpPr/>
          <p:nvPr/>
        </p:nvSpPr>
        <p:spPr>
          <a:xfrm>
            <a:off x="566928" y="1600200"/>
            <a:ext cx="5669280" cy="1463040"/>
          </a:xfrm>
          <a:prstGeom prst="rect">
            <a:avLst/>
          </a:prstGeom>
          <a:noFill/>
          <a:ln/>
        </p:spPr>
        <p:txBody>
          <a:bodyPr wrap="square" lIns="0" tIns="0" rIns="0" bIns="0" rtlCol="0" anchor="ctr"/>
          <a:lstStyle/>
          <a:p>
            <a:pPr indent="0" marL="0">
              <a:buNone/>
            </a:pPr>
            <a:r>
              <a:rPr lang="en-US" sz="4000" b="1" dirty="0">
                <a:solidFill>
                  <a:srgbClr val="F2A03D"/>
                </a:solidFill>
                <a:latin typeface="Cambria" pitchFamily="34" charset="0"/>
                <a:ea typeface="Cambria" pitchFamily="34" charset="-122"/>
                <a:cs typeface="Cambria" pitchFamily="34" charset="-120"/>
              </a:rPr>
              <a:t>M4.6 – M4.7</a:t>
            </a:r>
            <a:endParaRPr lang="en-US" sz="4000" dirty="0"/>
          </a:p>
        </p:txBody>
      </p:sp>
      <p:sp>
        <p:nvSpPr>
          <p:cNvPr id="4" name="Text 2"/>
          <p:cNvSpPr/>
          <p:nvPr/>
        </p:nvSpPr>
        <p:spPr>
          <a:xfrm>
            <a:off x="566928" y="2971800"/>
            <a:ext cx="786384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Placement and disruption</a:t>
            </a:r>
            <a:endParaRPr lang="en-US" sz="3800" dirty="0"/>
          </a:p>
        </p:txBody>
      </p:sp>
      <p:sp>
        <p:nvSpPr>
          <p:cNvPr id="5" name="Text 3"/>
          <p:cNvSpPr/>
          <p:nvPr/>
        </p:nvSpPr>
        <p:spPr>
          <a:xfrm>
            <a:off x="566928" y="3886200"/>
            <a:ext cx="7498080" cy="822960"/>
          </a:xfrm>
          <a:prstGeom prst="rect">
            <a:avLst/>
          </a:prstGeom>
          <a:noFill/>
          <a:ln/>
        </p:spPr>
        <p:txBody>
          <a:bodyPr wrap="square" lIns="0" tIns="0" rIns="0" bIns="0" rtlCol="0" anchor="ctr"/>
          <a:lstStyle/>
          <a:p>
            <a:pPr indent="0" marL="0">
              <a:buNone/>
            </a:pPr>
            <a:r>
              <a:rPr lang="en-US" sz="1500" dirty="0">
                <a:solidFill>
                  <a:srgbClr val="D8E6F2"/>
                </a:solidFill>
                <a:latin typeface="Calibri" pitchFamily="34" charset="0"/>
                <a:ea typeface="Calibri" pitchFamily="34" charset="-122"/>
                <a:cs typeface="Calibri" pitchFamily="34" charset="-120"/>
              </a:rPr>
              <a:t>Affinity, spread, taints, drains and the budgets that make Friday survivable</a:t>
            </a:r>
            <a:endParaRPr lang="en-US" sz="1500" dirty="0"/>
          </a:p>
        </p:txBody>
      </p:sp>
      <p:sp>
        <p:nvSpPr>
          <p:cNvPr id="6" name="Text 4"/>
          <p:cNvSpPr/>
          <p:nvPr/>
        </p:nvSpPr>
        <p:spPr>
          <a:xfrm>
            <a:off x="566928" y="4709160"/>
            <a:ext cx="7498080" cy="274320"/>
          </a:xfrm>
          <a:prstGeom prst="rect">
            <a:avLst/>
          </a:prstGeom>
          <a:noFill/>
          <a:ln/>
        </p:spPr>
        <p:txBody>
          <a:bodyPr wrap="square" lIns="0" tIns="0" rIns="0" bIns="0" rtlCol="0" anchor="ctr"/>
          <a:lstStyle/>
          <a:p>
            <a:pPr indent="0" marL="0">
              <a:buNone/>
            </a:pPr>
            <a:r>
              <a:rPr lang="en-US" sz="1100" b="1" dirty="0">
                <a:solidFill>
                  <a:srgbClr val="F2A03D"/>
                </a:solidFill>
                <a:latin typeface="Calibri" pitchFamily="34" charset="0"/>
                <a:ea typeface="Calibri" pitchFamily="34" charset="-122"/>
                <a:cs typeface="Calibri" pitchFamily="34" charset="-120"/>
              </a:rPr>
              <a:t>By the end of this module you will be able to:</a:t>
            </a:r>
            <a:endParaRPr lang="en-US" sz="1100" dirty="0"/>
          </a:p>
        </p:txBody>
      </p:sp>
      <p:sp>
        <p:nvSpPr>
          <p:cNvPr id="7" name="Text 5"/>
          <p:cNvSpPr/>
          <p:nvPr/>
        </p:nvSpPr>
        <p:spPr>
          <a:xfrm>
            <a:off x="658368" y="4983480"/>
            <a:ext cx="7498080" cy="10972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Distinguish required from preferred and predict each consequence</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Spread payment replicas across nodes deliberately</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Write a PodDisruptionBudget and prove it under live traffic</a:t>
            </a:r>
            <a:endParaRPr lang="en-US" sz="1200" dirty="0"/>
          </a:p>
        </p:txBody>
      </p:sp>
      <p:sp>
        <p:nvSpPr>
          <p:cNvPr id="8" name="Text 6"/>
          <p:cNvSpPr/>
          <p:nvPr/>
        </p:nvSpPr>
        <p:spPr>
          <a:xfrm>
            <a:off x="9814255" y="5989320"/>
            <a:ext cx="1828800" cy="320040"/>
          </a:xfrm>
          <a:prstGeom prst="rect">
            <a:avLst/>
          </a:prstGeom>
          <a:noFill/>
          <a:ln/>
        </p:spPr>
        <p:txBody>
          <a:bodyPr wrap="square" lIns="0" tIns="0" rIns="0" bIns="0" rtlCol="0" anchor="ctr"/>
          <a:lstStyle/>
          <a:p>
            <a:pPr algn="r" indent="0" marL="0">
              <a:buNone/>
            </a:pPr>
            <a:r>
              <a:rPr lang="en-US" sz="1100" dirty="0">
                <a:solidFill>
                  <a:srgbClr val="63758B"/>
                </a:solidFill>
                <a:latin typeface="Calibri" pitchFamily="34" charset="0"/>
                <a:ea typeface="Calibri" pitchFamily="34" charset="-122"/>
                <a:cs typeface="Calibri" pitchFamily="34" charset="-120"/>
              </a:rPr>
              <a:t>110 min</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2066544"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206654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M4.6 · PLACEMENT</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required vs preferred — and the HPA it silently caps</a:t>
            </a:r>
            <a:endParaRPr lang="en-US" sz="3200" dirty="0"/>
          </a:p>
        </p:txBody>
      </p:sp>
      <p:sp>
        <p:nvSpPr>
          <p:cNvPr id="5" name="Shape 3"/>
          <p:cNvSpPr/>
          <p:nvPr/>
        </p:nvSpPr>
        <p:spPr>
          <a:xfrm>
            <a:off x="566928" y="1737360"/>
            <a:ext cx="11057839" cy="566928"/>
          </a:xfrm>
          <a:prstGeom prst="roundRect">
            <a:avLst>
              <a:gd name="adj" fmla="val 12903"/>
            </a:avLst>
          </a:prstGeom>
          <a:solidFill>
            <a:srgbClr val="EAF1F8"/>
          </a:solidFill>
          <a:ln w="12700">
            <a:solidFill>
              <a:srgbClr val="1C7293"/>
            </a:solidFill>
            <a:prstDash val="solid"/>
          </a:ln>
        </p:spPr>
      </p:sp>
      <p:sp>
        <p:nvSpPr>
          <p:cNvPr id="6" name="Text 4"/>
          <p:cNvSpPr/>
          <p:nvPr/>
        </p:nvSpPr>
        <p:spPr>
          <a:xfrm>
            <a:off x="768096" y="1737360"/>
            <a:ext cx="10655503" cy="566928"/>
          </a:xfrm>
          <a:prstGeom prst="rect">
            <a:avLst/>
          </a:prstGeom>
          <a:noFill/>
          <a:ln/>
        </p:spPr>
        <p:txBody>
          <a:bodyPr wrap="square" lIns="0" tIns="0" rIns="0" bIns="0" rtlCol="0" anchor="ctr"/>
          <a:lstStyle/>
          <a:p>
            <a:pPr indent="0" marL="0">
              <a:buNone/>
            </a:pPr>
            <a:r>
              <a:rPr lang="en-US" sz="1500" b="1" dirty="0">
                <a:solidFill>
                  <a:srgbClr val="0B1F3A"/>
                </a:solidFill>
                <a:latin typeface="Cambria" pitchFamily="34" charset="0"/>
                <a:ea typeface="Cambria" pitchFamily="34" charset="-122"/>
                <a:cs typeface="Cambria" pitchFamily="34" charset="-120"/>
              </a:rPr>
              <a:t>Both spread your pods. Why does AxisPay use one for payment-service and the other for fraud-service?</a:t>
            </a:r>
            <a:endParaRPr lang="en-US" sz="1500" dirty="0"/>
          </a:p>
        </p:txBody>
      </p:sp>
      <p:sp>
        <p:nvSpPr>
          <p:cNvPr id="7" name="Shape 5"/>
          <p:cNvSpPr/>
          <p:nvPr/>
        </p:nvSpPr>
        <p:spPr>
          <a:xfrm>
            <a:off x="566928" y="2712339"/>
            <a:ext cx="402336" cy="402336"/>
          </a:xfrm>
          <a:prstGeom prst="ellipse">
            <a:avLst/>
          </a:prstGeom>
          <a:solidFill>
            <a:srgbClr val="D64545"/>
          </a:solidFill>
          <a:ln w="12700">
            <a:solidFill>
              <a:srgbClr val="D64545"/>
            </a:solidFill>
            <a:prstDash val="solid"/>
          </a:ln>
        </p:spPr>
      </p:sp>
      <p:sp>
        <p:nvSpPr>
          <p:cNvPr id="8" name="Text 6"/>
          <p:cNvSpPr/>
          <p:nvPr/>
        </p:nvSpPr>
        <p:spPr>
          <a:xfrm>
            <a:off x="566928" y="2712339"/>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9" name="Text 7"/>
          <p:cNvSpPr/>
          <p:nvPr/>
        </p:nvSpPr>
        <p:spPr>
          <a:xfrm>
            <a:off x="1133856" y="2487168"/>
            <a:ext cx="3200400" cy="852678"/>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required...IgnoredDuringExecution</a:t>
            </a:r>
            <a:endParaRPr lang="en-US" sz="1400" dirty="0"/>
          </a:p>
        </p:txBody>
      </p:sp>
      <p:sp>
        <p:nvSpPr>
          <p:cNvPr id="10" name="Text 8"/>
          <p:cNvSpPr/>
          <p:nvPr/>
        </p:nvSpPr>
        <p:spPr>
          <a:xfrm>
            <a:off x="4407408" y="2487168"/>
            <a:ext cx="7217359" cy="852678"/>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A HARD filter. If no node satisfies it, the pod stays Pending FOREVER. There is no degraded mode and no warning beyond the scheduler event.</a:t>
            </a:r>
            <a:endParaRPr lang="en-US" sz="1250" dirty="0"/>
          </a:p>
        </p:txBody>
      </p:sp>
      <p:sp>
        <p:nvSpPr>
          <p:cNvPr id="11" name="Shape 9"/>
          <p:cNvSpPr/>
          <p:nvPr/>
        </p:nvSpPr>
        <p:spPr>
          <a:xfrm>
            <a:off x="566928" y="3565017"/>
            <a:ext cx="402336" cy="402336"/>
          </a:xfrm>
          <a:prstGeom prst="ellipse">
            <a:avLst/>
          </a:prstGeom>
          <a:solidFill>
            <a:srgbClr val="2E9E63"/>
          </a:solidFill>
          <a:ln w="12700">
            <a:solidFill>
              <a:srgbClr val="2E9E63"/>
            </a:solidFill>
            <a:prstDash val="solid"/>
          </a:ln>
        </p:spPr>
      </p:sp>
      <p:sp>
        <p:nvSpPr>
          <p:cNvPr id="12" name="Text 10"/>
          <p:cNvSpPr/>
          <p:nvPr/>
        </p:nvSpPr>
        <p:spPr>
          <a:xfrm>
            <a:off x="566928" y="3565017"/>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3" name="Text 11"/>
          <p:cNvSpPr/>
          <p:nvPr/>
        </p:nvSpPr>
        <p:spPr>
          <a:xfrm>
            <a:off x="1133856" y="3339846"/>
            <a:ext cx="3200400" cy="852678"/>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payment-service uses required</a:t>
            </a:r>
            <a:endParaRPr lang="en-US" sz="1400" dirty="0"/>
          </a:p>
        </p:txBody>
      </p:sp>
      <p:sp>
        <p:nvSpPr>
          <p:cNvPr id="14" name="Text 12"/>
          <p:cNvSpPr/>
          <p:nvPr/>
        </p:nvSpPr>
        <p:spPr>
          <a:xfrm>
            <a:off x="4407408" y="3339846"/>
            <a:ext cx="7217359" cy="852678"/>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One replica per node, absolutely. The payment path must survive a node loss, and three replicas on one node is worse than two on two — it looks like redundancy and is not.</a:t>
            </a:r>
            <a:endParaRPr lang="en-US" sz="1250" dirty="0"/>
          </a:p>
        </p:txBody>
      </p:sp>
      <p:sp>
        <p:nvSpPr>
          <p:cNvPr id="15" name="Shape 13"/>
          <p:cNvSpPr/>
          <p:nvPr/>
        </p:nvSpPr>
        <p:spPr>
          <a:xfrm>
            <a:off x="566928" y="4417695"/>
            <a:ext cx="402336" cy="402336"/>
          </a:xfrm>
          <a:prstGeom prst="ellipse">
            <a:avLst/>
          </a:prstGeom>
          <a:solidFill>
            <a:srgbClr val="C97B1E"/>
          </a:solidFill>
          <a:ln w="12700">
            <a:solidFill>
              <a:srgbClr val="C97B1E"/>
            </a:solidFill>
            <a:prstDash val="solid"/>
          </a:ln>
        </p:spPr>
      </p:sp>
      <p:sp>
        <p:nvSpPr>
          <p:cNvPr id="16" name="Text 14"/>
          <p:cNvSpPr/>
          <p:nvPr/>
        </p:nvSpPr>
        <p:spPr>
          <a:xfrm>
            <a:off x="566928" y="4417695"/>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7" name="Text 15"/>
          <p:cNvSpPr/>
          <p:nvPr/>
        </p:nvSpPr>
        <p:spPr>
          <a:xfrm>
            <a:off x="1133856" y="4192524"/>
            <a:ext cx="3200400" cy="852678"/>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The hard limit</a:t>
            </a:r>
            <a:endParaRPr lang="en-US" sz="1400" dirty="0"/>
          </a:p>
        </p:txBody>
      </p:sp>
      <p:sp>
        <p:nvSpPr>
          <p:cNvPr id="18" name="Text 16"/>
          <p:cNvSpPr/>
          <p:nvPr/>
        </p:nvSpPr>
        <p:spPr>
          <a:xfrm>
            <a:off x="4407408" y="4192524"/>
            <a:ext cx="7217359" cy="852678"/>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With required anti-affinity on hostname you can NEVER have more replicas than nodes. Scale to 4 on a 3-node cluster and the fourth is Pending permanently.</a:t>
            </a:r>
            <a:endParaRPr lang="en-US" sz="1250" dirty="0"/>
          </a:p>
        </p:txBody>
      </p:sp>
      <p:sp>
        <p:nvSpPr>
          <p:cNvPr id="19" name="Shape 17"/>
          <p:cNvSpPr/>
          <p:nvPr/>
        </p:nvSpPr>
        <p:spPr>
          <a:xfrm>
            <a:off x="566928" y="5270373"/>
            <a:ext cx="402336" cy="402336"/>
          </a:xfrm>
          <a:prstGeom prst="ellipse">
            <a:avLst/>
          </a:prstGeom>
          <a:solidFill>
            <a:srgbClr val="1C7293"/>
          </a:solidFill>
          <a:ln w="12700">
            <a:solidFill>
              <a:srgbClr val="1C7293"/>
            </a:solidFill>
            <a:prstDash val="solid"/>
          </a:ln>
        </p:spPr>
      </p:sp>
      <p:sp>
        <p:nvSpPr>
          <p:cNvPr id="20" name="Text 18"/>
          <p:cNvSpPr/>
          <p:nvPr/>
        </p:nvSpPr>
        <p:spPr>
          <a:xfrm>
            <a:off x="566928" y="5270373"/>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1" name="Text 19"/>
          <p:cNvSpPr/>
          <p:nvPr/>
        </p:nvSpPr>
        <p:spPr>
          <a:xfrm>
            <a:off x="1133856" y="5045202"/>
            <a:ext cx="3200400" cy="852678"/>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fraud-service uses preferred</a:t>
            </a:r>
            <a:endParaRPr lang="en-US" sz="1400" dirty="0"/>
          </a:p>
        </p:txBody>
      </p:sp>
      <p:sp>
        <p:nvSpPr>
          <p:cNvPr id="22" name="Text 20"/>
          <p:cNvSpPr/>
          <p:nvPr/>
        </p:nvSpPr>
        <p:spPr>
          <a:xfrm>
            <a:off x="4407408" y="5045202"/>
            <a:ext cx="7217359" cy="852678"/>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Its HPA scales to 6. A hard rule would silently cap autoscaling at the node count — and the symptom, pods Pending during a traffic spike, looks nothing like the cause.</a:t>
            </a:r>
            <a:endParaRPr lang="en-US" sz="1250" dirty="0"/>
          </a:p>
        </p:txBody>
      </p:sp>
      <p:sp>
        <p:nvSpPr>
          <p:cNvPr id="23" name="Text 21"/>
          <p:cNvSpPr/>
          <p:nvPr/>
        </p:nvSpPr>
        <p:spPr>
          <a:xfrm>
            <a:off x="566928" y="5687568"/>
            <a:ext cx="11057839" cy="548640"/>
          </a:xfrm>
          <a:prstGeom prst="rect">
            <a:avLst/>
          </a:prstGeom>
          <a:noFill/>
          <a:ln/>
        </p:spPr>
        <p:txBody>
          <a:bodyPr wrap="square" lIns="0" tIns="0" rIns="0" bIns="0" rtlCol="0" anchor="ctr"/>
          <a:lstStyle/>
          <a:p>
            <a:pPr algn="ctr" indent="0" marL="0">
              <a:buNone/>
            </a:pPr>
            <a:r>
              <a:rPr lang="en-US" sz="1400" b="1" dirty="0">
                <a:solidFill>
                  <a:srgbClr val="1C7293"/>
                </a:solidFill>
                <a:latin typeface="Calibri" pitchFamily="34" charset="0"/>
                <a:ea typeface="Calibri" pitchFamily="34" charset="-122"/>
                <a:cs typeface="Calibri" pitchFamily="34" charset="-120"/>
              </a:rPr>
              <a:t>Same intent, different failure mode. For an autoscaled service, preferred is the only safe choice.</a:t>
            </a:r>
            <a:endParaRPr lang="en-US" sz="1400" dirty="0"/>
          </a:p>
        </p:txBody>
      </p:sp>
      <p:sp>
        <p:nvSpPr>
          <p:cNvPr id="24" name="Text 22"/>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4</a:t>
            </a:r>
            <a:endParaRPr lang="en-US" sz="900" dirty="0"/>
          </a:p>
        </p:txBody>
      </p:sp>
      <p:sp>
        <p:nvSpPr>
          <p:cNvPr id="25" name="Text 23"/>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2171700"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217170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M4.7 · DISRUPTION</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PodDisruptionBudget — what it does and does not do</a:t>
            </a:r>
            <a:endParaRPr lang="en-US" sz="3200" dirty="0"/>
          </a:p>
        </p:txBody>
      </p:sp>
      <p:sp>
        <p:nvSpPr>
          <p:cNvPr id="5" name="Text 3"/>
          <p:cNvSpPr/>
          <p:nvPr/>
        </p:nvSpPr>
        <p:spPr>
          <a:xfrm>
            <a:off x="566928" y="1737360"/>
            <a:ext cx="11057839" cy="384048"/>
          </a:xfrm>
          <a:prstGeom prst="rect">
            <a:avLst/>
          </a:prstGeom>
          <a:noFill/>
          <a:ln/>
        </p:spPr>
        <p:txBody>
          <a:bodyPr wrap="square" lIns="0" tIns="0" rIns="0" bIns="0" rtlCol="0" anchor="ctr"/>
          <a:lstStyle/>
          <a:p>
            <a:pPr indent="0" marL="0">
              <a:buNone/>
            </a:pPr>
            <a:r>
              <a:rPr lang="en-US" sz="1400" i="1" dirty="0">
                <a:solidFill>
                  <a:srgbClr val="1C7293"/>
                </a:solidFill>
                <a:latin typeface="Calibri" pitchFamily="34" charset="0"/>
                <a:ea typeface="Calibri" pitchFamily="34" charset="-122"/>
                <a:cs typeface="Calibri" pitchFamily="34" charset="-120"/>
              </a:rPr>
              <a:t>It gates VOLUNTARY disruption only. Nothing protects against a node crashing.</a:t>
            </a:r>
            <a:endParaRPr lang="en-US" sz="14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66928" y="2240280"/>
          <a:ext cx="11057839" cy="914400"/>
        </p:xfrm>
        <a:graphic>
          <a:graphicData uri="http://schemas.openxmlformats.org/drawingml/2006/table">
            <a:tbl>
              <a:tblPr/>
              <a:tblGrid>
                <a:gridCol w="3840480"/>
                <a:gridCol w="2011680"/>
                <a:gridCol w="5212080"/>
              </a:tblGrid>
              <a:tr h="51206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Event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PDB applies?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Why</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r>
              <a:tr h="512064">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kubectl drain</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Voluntary. The eviction API respects the budget and waits.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512064">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Cluster / node-pool upgrade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Voluntary. This is the capstone on Friday.</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512064">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Node crashes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Involuntary. The pods are already gone.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512064">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OOM kill</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Involuntary. The kernel does not consult Kubernetes.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512064">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Liveness probe failure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The kubelet restarts in place; it is not an eviction.</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512064">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kubectl delete pod</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A direct delete bypasses the eviction API entirely.</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bl>
          </a:graphicData>
        </a:graphic>
      </p:graphicFrame>
      <p:sp>
        <p:nvSpPr>
          <p:cNvPr id="7" name="Text 4"/>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4</a:t>
            </a:r>
            <a:endParaRPr lang="en-US" sz="900" dirty="0"/>
          </a:p>
        </p:txBody>
      </p:sp>
      <p:sp>
        <p:nvSpPr>
          <p:cNvPr id="8" name="Text 5"/>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961388" cy="292608"/>
          </a:xfrm>
          <a:prstGeom prst="roundRect">
            <a:avLst>
              <a:gd name="adj" fmla="val 50000"/>
            </a:avLst>
          </a:prstGeom>
          <a:solidFill>
            <a:srgbClr val="2E9E63"/>
          </a:solidFill>
          <a:ln w="12700">
            <a:solidFill>
              <a:srgbClr val="2E9E63"/>
            </a:solidFill>
            <a:prstDash val="solid"/>
          </a:ln>
        </p:spPr>
      </p:sp>
      <p:sp>
        <p:nvSpPr>
          <p:cNvPr id="3" name="Text 1"/>
          <p:cNvSpPr/>
          <p:nvPr/>
        </p:nvSpPr>
        <p:spPr>
          <a:xfrm>
            <a:off x="566928" y="384048"/>
            <a:ext cx="196138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INDEPENDENT LAB</a:t>
            </a:r>
            <a:endParaRPr lang="en-US" sz="1100" dirty="0"/>
          </a:p>
        </p:txBody>
      </p:sp>
      <p:sp>
        <p:nvSpPr>
          <p:cNvPr id="4" name="Text 2"/>
          <p:cNvSpPr/>
          <p:nvPr/>
        </p:nvSpPr>
        <p:spPr>
          <a:xfrm>
            <a:off x="566928" y="914400"/>
            <a:ext cx="2743200" cy="777240"/>
          </a:xfrm>
          <a:prstGeom prst="rect">
            <a:avLst/>
          </a:prstGeom>
          <a:noFill/>
          <a:ln/>
        </p:spPr>
        <p:txBody>
          <a:bodyPr wrap="square" lIns="0" tIns="0" rIns="0" bIns="0" rtlCol="0" anchor="ctr"/>
          <a:lstStyle/>
          <a:p>
            <a:pPr indent="0" marL="0">
              <a:buNone/>
            </a:pPr>
            <a:r>
              <a:rPr lang="en-US" sz="4000" b="1" dirty="0">
                <a:solidFill>
                  <a:srgbClr val="2E9E63"/>
                </a:solidFill>
                <a:latin typeface="Cambria" pitchFamily="34" charset="0"/>
                <a:ea typeface="Cambria" pitchFamily="34" charset="-122"/>
                <a:cs typeface="Cambria" pitchFamily="34" charset="-120"/>
              </a:rPr>
              <a:t>L4.5 + L4.6</a:t>
            </a:r>
            <a:endParaRPr lang="en-US" sz="4000" dirty="0"/>
          </a:p>
        </p:txBody>
      </p:sp>
      <p:sp>
        <p:nvSpPr>
          <p:cNvPr id="5" name="Text 3"/>
          <p:cNvSpPr/>
          <p:nvPr/>
        </p:nvSpPr>
        <p:spPr>
          <a:xfrm>
            <a:off x="566928" y="1691640"/>
            <a:ext cx="11057839"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Placement, drains and disruption budgets</a:t>
            </a:r>
            <a:endParaRPr lang="en-US" sz="3000" dirty="0"/>
          </a:p>
        </p:txBody>
      </p:sp>
      <p:sp>
        <p:nvSpPr>
          <p:cNvPr id="6" name="Shape 4"/>
          <p:cNvSpPr/>
          <p:nvPr/>
        </p:nvSpPr>
        <p:spPr>
          <a:xfrm>
            <a:off x="566928" y="2560320"/>
            <a:ext cx="5577840" cy="2834640"/>
          </a:xfrm>
          <a:prstGeom prst="roundRect">
            <a:avLst>
              <a:gd name="adj" fmla="val 3226"/>
            </a:avLst>
          </a:prstGeom>
          <a:solidFill>
            <a:srgbClr val="12314F"/>
          </a:solidFill>
          <a:ln w="12700">
            <a:solidFill>
              <a:srgbClr val="1B4066"/>
            </a:solidFill>
            <a:prstDash val="solid"/>
          </a:ln>
        </p:spPr>
      </p:sp>
      <p:sp>
        <p:nvSpPr>
          <p:cNvPr id="7" name="Text 5"/>
          <p:cNvSpPr/>
          <p:nvPr/>
        </p:nvSpPr>
        <p:spPr>
          <a:xfrm>
            <a:off x="841248" y="2724912"/>
            <a:ext cx="5029200" cy="274320"/>
          </a:xfrm>
          <a:prstGeom prst="rect">
            <a:avLst/>
          </a:prstGeom>
          <a:noFill/>
          <a:ln/>
        </p:spPr>
        <p:txBody>
          <a:bodyPr wrap="square" lIns="0" tIns="0" rIns="0" bIns="0" rtlCol="0" anchor="ctr"/>
          <a:lstStyle/>
          <a:p>
            <a:pPr indent="0" marL="0">
              <a:buNone/>
            </a:pPr>
            <a:r>
              <a:rPr lang="en-US" sz="1000" b="1" spc="100" kern="0" dirty="0">
                <a:solidFill>
                  <a:srgbClr val="F2A03D"/>
                </a:solidFill>
                <a:latin typeface="Calibri" pitchFamily="34" charset="0"/>
                <a:ea typeface="Calibri" pitchFamily="34" charset="-122"/>
                <a:cs typeface="Calibri" pitchFamily="34" charset="-120"/>
              </a:rPr>
              <a:t>YOU WILL</a:t>
            </a:r>
            <a:endParaRPr lang="en-US" sz="1000" dirty="0"/>
          </a:p>
        </p:txBody>
      </p:sp>
      <p:sp>
        <p:nvSpPr>
          <p:cNvPr id="8" name="Text 6"/>
          <p:cNvSpPr/>
          <p:nvPr/>
        </p:nvSpPr>
        <p:spPr>
          <a:xfrm>
            <a:off x="886968" y="3017520"/>
            <a:ext cx="5029200" cy="219456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Spread payment replicas one per node — by instruction, not luck</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Find the hard limit of required anti-affinity</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Drain a node under 40 rps WITHOUT a PDB and measure the failures</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Apply the budgets and drain again — measure zero</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Read the postgres PDB and explain why it documents having no budget</a:t>
            </a:r>
            <a:endParaRPr lang="en-US" sz="1300" dirty="0"/>
          </a:p>
        </p:txBody>
      </p:sp>
      <p:sp>
        <p:nvSpPr>
          <p:cNvPr id="9" name="Shape 7"/>
          <p:cNvSpPr/>
          <p:nvPr/>
        </p:nvSpPr>
        <p:spPr>
          <a:xfrm>
            <a:off x="6464808" y="2560320"/>
            <a:ext cx="5120640" cy="2834640"/>
          </a:xfrm>
          <a:prstGeom prst="roundRect">
            <a:avLst>
              <a:gd name="adj" fmla="val 3226"/>
            </a:avLst>
          </a:prstGeom>
          <a:solidFill>
            <a:srgbClr val="12314F"/>
          </a:solidFill>
          <a:ln w="12700">
            <a:solidFill>
              <a:srgbClr val="1B4066"/>
            </a:solidFill>
            <a:prstDash val="solid"/>
          </a:ln>
        </p:spPr>
      </p:sp>
      <p:sp>
        <p:nvSpPr>
          <p:cNvPr id="10" name="Text 8"/>
          <p:cNvSpPr/>
          <p:nvPr/>
        </p:nvSpPr>
        <p:spPr>
          <a:xfrm>
            <a:off x="6739128" y="2724912"/>
            <a:ext cx="4572000" cy="274320"/>
          </a:xfrm>
          <a:prstGeom prst="rect">
            <a:avLst/>
          </a:prstGeom>
          <a:noFill/>
          <a:ln/>
        </p:spPr>
        <p:txBody>
          <a:bodyPr wrap="square" lIns="0" tIns="0" rIns="0" bIns="0" rtlCol="0" anchor="ctr"/>
          <a:lstStyle/>
          <a:p>
            <a:pPr indent="0" marL="0">
              <a:buNone/>
            </a:pPr>
            <a:r>
              <a:rPr lang="en-US" sz="1000" b="1" spc="100" kern="0" dirty="0">
                <a:solidFill>
                  <a:srgbClr val="2E9E63"/>
                </a:solidFill>
                <a:latin typeface="Calibri" pitchFamily="34" charset="0"/>
                <a:ea typeface="Calibri" pitchFamily="34" charset="-122"/>
                <a:cs typeface="Calibri" pitchFamily="34" charset="-120"/>
              </a:rPr>
              <a:t>DONE WHEN</a:t>
            </a:r>
            <a:endParaRPr lang="en-US" sz="1000" dirty="0"/>
          </a:p>
        </p:txBody>
      </p:sp>
      <p:sp>
        <p:nvSpPr>
          <p:cNvPr id="11" name="Text 9"/>
          <p:cNvSpPr/>
          <p:nvPr/>
        </p:nvSpPr>
        <p:spPr>
          <a:xfrm>
            <a:off x="6784848" y="3017520"/>
            <a:ext cx="4572000" cy="146304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Replicas on distinct nodes</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6 PDBs applied</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A drain under load with ZERO failed payments</a:t>
            </a:r>
            <a:endParaRPr lang="en-US" sz="1300" dirty="0"/>
          </a:p>
        </p:txBody>
      </p:sp>
      <p:sp>
        <p:nvSpPr>
          <p:cNvPr id="12" name="Shape 10"/>
          <p:cNvSpPr/>
          <p:nvPr/>
        </p:nvSpPr>
        <p:spPr>
          <a:xfrm>
            <a:off x="6739128" y="4617720"/>
            <a:ext cx="4572000" cy="566928"/>
          </a:xfrm>
          <a:prstGeom prst="roundRect">
            <a:avLst>
              <a:gd name="adj" fmla="val 12903"/>
            </a:avLst>
          </a:prstGeom>
          <a:solidFill>
            <a:srgbClr val="0E2740"/>
          </a:solidFill>
          <a:ln w="12700">
            <a:solidFill>
              <a:srgbClr val="1C7293"/>
            </a:solidFill>
            <a:prstDash val="solid"/>
          </a:ln>
        </p:spPr>
      </p:sp>
      <p:sp>
        <p:nvSpPr>
          <p:cNvPr id="13" name="Text 11"/>
          <p:cNvSpPr/>
          <p:nvPr/>
        </p:nvSpPr>
        <p:spPr>
          <a:xfrm>
            <a:off x="6876288" y="4617720"/>
            <a:ext cx="4297680" cy="566928"/>
          </a:xfrm>
          <a:prstGeom prst="rect">
            <a:avLst/>
          </a:prstGeom>
          <a:noFill/>
          <a:ln/>
        </p:spPr>
        <p:txBody>
          <a:bodyPr wrap="square" lIns="0" tIns="0" rIns="0" bIns="0" rtlCol="0" anchor="ctr"/>
          <a:lstStyle/>
          <a:p>
            <a:pPr indent="0" marL="0">
              <a:buNone/>
            </a:pPr>
            <a:r>
              <a:rPr lang="en-US" sz="1150" dirty="0">
                <a:solidFill>
                  <a:srgbClr val="F2A03D"/>
                </a:solidFill>
                <a:latin typeface="Courier New" pitchFamily="34" charset="0"/>
                <a:ea typeface="Courier New" pitchFamily="34" charset="-122"/>
                <a:cs typeface="Courier New" pitchFamily="34" charset="-120"/>
              </a:rPr>
              <a:t>make validate-lab LAB=L4.5 &amp;&amp; make validate-lab LAB=L4.6</a:t>
            </a:r>
            <a:endParaRPr lang="en-US" sz="1150" dirty="0"/>
          </a:p>
        </p:txBody>
      </p:sp>
      <p:sp>
        <p:nvSpPr>
          <p:cNvPr id="14" name="Text 12"/>
          <p:cNvSpPr/>
          <p:nvPr/>
        </p:nvSpPr>
        <p:spPr>
          <a:xfrm>
            <a:off x="566928" y="5577840"/>
            <a:ext cx="11057839" cy="365760"/>
          </a:xfrm>
          <a:prstGeom prst="rect">
            <a:avLst/>
          </a:prstGeom>
          <a:noFill/>
          <a:ln/>
        </p:spPr>
        <p:txBody>
          <a:bodyPr wrap="square" lIns="0" tIns="0" rIns="0" bIns="0" rtlCol="0" anchor="ctr"/>
          <a:lstStyle/>
          <a:p>
            <a:pPr indent="0" marL="0">
              <a:buNone/>
            </a:pPr>
            <a:r>
              <a:rPr lang="en-US" sz="1200" dirty="0">
                <a:solidFill>
                  <a:srgbClr val="63758B"/>
                </a:solidFill>
                <a:latin typeface="Calibri" pitchFamily="34" charset="0"/>
                <a:ea typeface="Calibri" pitchFamily="34" charset="-122"/>
                <a:cs typeface="Calibri" pitchFamily="34" charset="-120"/>
              </a:rPr>
              <a:t>110 minutes   ·   labs/day4/L4.5-placement/, L4.6-pdb-drain.md</a:t>
            </a:r>
            <a:endParaRPr lang="en-US" sz="1200" dirty="0"/>
          </a:p>
        </p:txBody>
      </p:sp>
      <p:sp>
        <p:nvSpPr>
          <p:cNvPr id="15" name="Text 13"/>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4</a:t>
            </a:r>
            <a:endParaRPr lang="en-US" sz="900" dirty="0"/>
          </a:p>
        </p:txBody>
      </p:sp>
      <p:sp>
        <p:nvSpPr>
          <p:cNvPr id="16" name="Text 14"/>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225296" cy="292608"/>
          </a:xfrm>
          <a:prstGeom prst="roundRect">
            <a:avLst>
              <a:gd name="adj" fmla="val 50000"/>
            </a:avLst>
          </a:prstGeom>
          <a:solidFill>
            <a:srgbClr val="D64545"/>
          </a:solidFill>
          <a:ln w="12700">
            <a:solidFill>
              <a:srgbClr val="D64545"/>
            </a:solidFill>
            <a:prstDash val="solid"/>
          </a:ln>
        </p:spPr>
      </p:sp>
      <p:sp>
        <p:nvSpPr>
          <p:cNvPr id="3" name="Text 1"/>
          <p:cNvSpPr/>
          <p:nvPr/>
        </p:nvSpPr>
        <p:spPr>
          <a:xfrm>
            <a:off x="566928" y="384048"/>
            <a:ext cx="1225296"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INCIDENT</a:t>
            </a:r>
            <a:endParaRPr lang="en-US" sz="1100" dirty="0"/>
          </a:p>
        </p:txBody>
      </p:sp>
      <p:sp>
        <p:nvSpPr>
          <p:cNvPr id="4" name="Shape 2"/>
          <p:cNvSpPr/>
          <p:nvPr/>
        </p:nvSpPr>
        <p:spPr>
          <a:xfrm>
            <a:off x="566928" y="1554480"/>
            <a:ext cx="11057839" cy="3017520"/>
          </a:xfrm>
          <a:prstGeom prst="roundRect">
            <a:avLst>
              <a:gd name="adj" fmla="val 3636"/>
            </a:avLst>
          </a:prstGeom>
          <a:solidFill>
            <a:srgbClr val="12314F"/>
          </a:solidFill>
          <a:ln w="12700">
            <a:solidFill>
              <a:srgbClr val="D64545"/>
            </a:solidFill>
            <a:prstDash val="solid"/>
          </a:ln>
        </p:spPr>
      </p:sp>
      <p:sp>
        <p:nvSpPr>
          <p:cNvPr id="5" name="Text 3"/>
          <p:cNvSpPr/>
          <p:nvPr/>
        </p:nvSpPr>
        <p:spPr>
          <a:xfrm>
            <a:off x="1115568" y="1920240"/>
            <a:ext cx="9960559" cy="1463040"/>
          </a:xfrm>
          <a:prstGeom prst="rect">
            <a:avLst/>
          </a:prstGeom>
          <a:noFill/>
          <a:ln/>
        </p:spPr>
        <p:txBody>
          <a:bodyPr wrap="square" lIns="0" tIns="0" rIns="0" bIns="0" rtlCol="0" anchor="ctr"/>
          <a:lstStyle/>
          <a:p>
            <a:pPr indent="0" marL="0">
              <a:lnSpc>
                <a:spcPts val="3800"/>
              </a:lnSpc>
              <a:buNone/>
            </a:pPr>
            <a:r>
              <a:rPr lang="en-US" sz="3000" b="1" dirty="0">
                <a:solidFill>
                  <a:srgbClr val="FFFFFF"/>
                </a:solidFill>
                <a:latin typeface="Cambria" pitchFamily="34" charset="0"/>
                <a:ea typeface="Cambria" pitchFamily="34" charset="-122"/>
                <a:cs typeface="Cambria" pitchFamily="34" charset="-120"/>
              </a:rPr>
              <a:t>SEV-1 · THREE alerts in two minutes.</a:t>
            </a:r>
            <a:endParaRPr lang="en-US" sz="3000" dirty="0"/>
          </a:p>
          <a:p>
            <a:pPr indent="0" marL="0">
              <a:lnSpc>
                <a:spcPts val="3800"/>
              </a:lnSpc>
              <a:buNone/>
            </a:pPr>
            <a:r>
              <a:rPr lang="en-US" sz="3000" b="1" dirty="0">
                <a:solidFill>
                  <a:srgbClr val="FFFFFF"/>
                </a:solidFill>
                <a:latin typeface="Cambria" pitchFamily="34" charset="0"/>
                <a:ea typeface="Cambria" pitchFamily="34" charset="-122"/>
                <a:cs typeface="Cambria" pitchFamily="34" charset="-120"/>
              </a:rPr>
              <a:t>And one of them logs nothing at all.</a:t>
            </a:r>
            <a:endParaRPr lang="en-US" sz="3000" dirty="0"/>
          </a:p>
        </p:txBody>
      </p:sp>
      <p:sp>
        <p:nvSpPr>
          <p:cNvPr id="6" name="Text 4"/>
          <p:cNvSpPr/>
          <p:nvPr/>
        </p:nvSpPr>
        <p:spPr>
          <a:xfrm>
            <a:off x="1115568" y="3429000"/>
            <a:ext cx="9960559" cy="914400"/>
          </a:xfrm>
          <a:prstGeom prst="rect">
            <a:avLst/>
          </a:prstGeom>
          <a:noFill/>
          <a:ln/>
        </p:spPr>
        <p:txBody>
          <a:bodyPr wrap="square" lIns="0" tIns="0" rIns="0" bIns="0" rtlCol="0" anchor="ctr"/>
          <a:lstStyle/>
          <a:p>
            <a:pPr indent="0" marL="0">
              <a:lnSpc>
                <a:spcPts val="2100"/>
              </a:lnSpc>
              <a:buNone/>
            </a:pPr>
            <a:r>
              <a:rPr lang="en-US" sz="1500" dirty="0">
                <a:solidFill>
                  <a:srgbClr val="D8E6F2"/>
                </a:solidFill>
                <a:latin typeface="Calibri" pitchFamily="34" charset="0"/>
                <a:ea typeface="Calibri" pitchFamily="34" charset="-122"/>
                <a:cs typeface="Calibri" pitchFamily="34" charset="-120"/>
              </a:rPr>
              <a:t>404 on the merchant API. Intermittent name resolution. Approval rate 96% → 61% with no errors anywhere. Three changes merged this afternoon, three teams, none of them believes theirs is the problem.</a:t>
            </a:r>
            <a:endParaRPr lang="en-US" sz="1500" dirty="0"/>
          </a:p>
        </p:txBody>
      </p:sp>
      <p:sp>
        <p:nvSpPr>
          <p:cNvPr id="7" name="Text 5"/>
          <p:cNvSpPr/>
          <p:nvPr/>
        </p:nvSpPr>
        <p:spPr>
          <a:xfrm>
            <a:off x="658368" y="4800600"/>
            <a:ext cx="11057839" cy="1188720"/>
          </a:xfrm>
          <a:prstGeom prst="rect">
            <a:avLst/>
          </a:prstGeom>
          <a:noFill/>
          <a:ln/>
        </p:spPr>
        <p:txBody>
          <a:bodyPr wrap="square" lIns="0" tIns="0" rIns="0" bIns="0" rtlCol="0" anchor="ctr"/>
          <a:lstStyle/>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Three faults. Fixing the loud ones does not fix the quiet one.</a:t>
            </a:r>
            <a:endParaRPr lang="en-US" sz="1350" dirty="0"/>
          </a:p>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Alert 3 is the discriminator: down but not to zero, and NOTHING is logged.</a:t>
            </a:r>
            <a:endParaRPr lang="en-US" sz="1350" dirty="0"/>
          </a:p>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Before you type: which do you work FIRST, and why?</a:t>
            </a:r>
            <a:endParaRPr lang="en-US" sz="1350" dirty="0"/>
          </a:p>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Scored on method, prioritisation — and NOT MAKING IT WORSE.</a:t>
            </a:r>
            <a:endParaRPr lang="en-US" sz="1350" dirty="0"/>
          </a:p>
        </p:txBody>
      </p:sp>
      <p:sp>
        <p:nvSpPr>
          <p:cNvPr id="8" name="Text 6"/>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4</a:t>
            </a:r>
            <a:endParaRPr lang="en-US" sz="900" dirty="0"/>
          </a:p>
        </p:txBody>
      </p:sp>
      <p:sp>
        <p:nvSpPr>
          <p:cNvPr id="9" name="Text 7"/>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961388" cy="292608"/>
          </a:xfrm>
          <a:prstGeom prst="roundRect">
            <a:avLst>
              <a:gd name="adj" fmla="val 50000"/>
            </a:avLst>
          </a:prstGeom>
          <a:solidFill>
            <a:srgbClr val="C97B1E"/>
          </a:solidFill>
          <a:ln w="12700">
            <a:solidFill>
              <a:srgbClr val="C97B1E"/>
            </a:solidFill>
            <a:prstDash val="solid"/>
          </a:ln>
        </p:spPr>
      </p:sp>
      <p:sp>
        <p:nvSpPr>
          <p:cNvPr id="3" name="Text 1"/>
          <p:cNvSpPr/>
          <p:nvPr/>
        </p:nvSpPr>
        <p:spPr>
          <a:xfrm>
            <a:off x="566928" y="384048"/>
            <a:ext cx="196138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KNOWLEDGE CHECK</a:t>
            </a:r>
            <a:endParaRPr lang="en-US" sz="1100" dirty="0"/>
          </a:p>
        </p:txBody>
      </p:sp>
      <p:sp>
        <p:nvSpPr>
          <p:cNvPr id="4" name="Shape 2"/>
          <p:cNvSpPr/>
          <p:nvPr/>
        </p:nvSpPr>
        <p:spPr>
          <a:xfrm>
            <a:off x="566928" y="1143000"/>
            <a:ext cx="11057839" cy="1371600"/>
          </a:xfrm>
          <a:prstGeom prst="roundRect">
            <a:avLst>
              <a:gd name="adj" fmla="val 8000"/>
            </a:avLst>
          </a:prstGeom>
          <a:solidFill>
            <a:srgbClr val="12314F"/>
          </a:solidFill>
          <a:ln w="12700">
            <a:solidFill>
              <a:srgbClr val="F2A03D"/>
            </a:solidFill>
            <a:prstDash val="solid"/>
          </a:ln>
        </p:spPr>
      </p:sp>
      <p:sp>
        <p:nvSpPr>
          <p:cNvPr id="5" name="Text 3"/>
          <p:cNvSpPr/>
          <p:nvPr/>
        </p:nvSpPr>
        <p:spPr>
          <a:xfrm>
            <a:off x="841248" y="1143000"/>
            <a:ext cx="914400" cy="1371600"/>
          </a:xfrm>
          <a:prstGeom prst="rect">
            <a:avLst/>
          </a:prstGeom>
          <a:noFill/>
          <a:ln/>
        </p:spPr>
        <p:txBody>
          <a:bodyPr wrap="square" lIns="0" tIns="0" rIns="0" bIns="0" rtlCol="0" anchor="ctr"/>
          <a:lstStyle/>
          <a:p>
            <a:pPr algn="ctr" indent="0" marL="0">
              <a:buNone/>
            </a:pPr>
            <a:r>
              <a:rPr lang="en-US" sz="4600" b="1" dirty="0">
                <a:solidFill>
                  <a:srgbClr val="F2A03D"/>
                </a:solidFill>
                <a:latin typeface="Cambria" pitchFamily="34" charset="0"/>
                <a:ea typeface="Cambria" pitchFamily="34" charset="-122"/>
                <a:cs typeface="Cambria" pitchFamily="34" charset="-120"/>
              </a:rPr>
              <a:t>?</a:t>
            </a:r>
            <a:endParaRPr lang="en-US" sz="4600" dirty="0"/>
          </a:p>
        </p:txBody>
      </p:sp>
      <p:sp>
        <p:nvSpPr>
          <p:cNvPr id="6" name="Text 4"/>
          <p:cNvSpPr/>
          <p:nvPr/>
        </p:nvSpPr>
        <p:spPr>
          <a:xfrm>
            <a:off x="1892808" y="1143000"/>
            <a:ext cx="9320479" cy="1371600"/>
          </a:xfrm>
          <a:prstGeom prst="rect">
            <a:avLst/>
          </a:prstGeom>
          <a:noFill/>
          <a:ln/>
        </p:spPr>
        <p:txBody>
          <a:bodyPr wrap="square" lIns="0" tIns="0" rIns="0" bIns="0" rtlCol="0" anchor="ctr"/>
          <a:lstStyle/>
          <a:p>
            <a:pPr indent="0" marL="0">
              <a:lnSpc>
                <a:spcPts val="2600"/>
              </a:lnSpc>
              <a:buNone/>
            </a:pPr>
            <a:r>
              <a:rPr lang="en-US" sz="2000" b="1" dirty="0">
                <a:solidFill>
                  <a:srgbClr val="FFFFFF"/>
                </a:solidFill>
                <a:latin typeface="Cambria" pitchFamily="34" charset="0"/>
                <a:ea typeface="Cambria" pitchFamily="34" charset="-122"/>
                <a:cs typeface="Cambria" pitchFamily="34" charset="-120"/>
              </a:rPr>
              <a:t>Eight questions. Answer out loud. Not scored.</a:t>
            </a:r>
            <a:endParaRPr lang="en-US" sz="2000" dirty="0"/>
          </a:p>
        </p:txBody>
      </p:sp>
      <p:sp>
        <p:nvSpPr>
          <p:cNvPr id="7" name="Text 5"/>
          <p:cNvSpPr/>
          <p:nvPr/>
        </p:nvSpPr>
        <p:spPr>
          <a:xfrm>
            <a:off x="566928" y="2715768"/>
            <a:ext cx="6400800" cy="274320"/>
          </a:xfrm>
          <a:prstGeom prst="rect">
            <a:avLst/>
          </a:prstGeom>
          <a:noFill/>
          <a:ln/>
        </p:spPr>
        <p:txBody>
          <a:bodyPr wrap="square" lIns="0" tIns="0" rIns="0" bIns="0" rtlCol="0" anchor="ctr"/>
          <a:lstStyle/>
          <a:p>
            <a:pPr indent="0" marL="0">
              <a:buNone/>
            </a:pPr>
            <a:r>
              <a:rPr lang="en-US" sz="1100" b="1" spc="100" kern="0" dirty="0">
                <a:solidFill>
                  <a:srgbClr val="F2A03D"/>
                </a:solidFill>
                <a:latin typeface="Calibri" pitchFamily="34" charset="0"/>
                <a:ea typeface="Calibri" pitchFamily="34" charset="-122"/>
                <a:cs typeface="Calibri" pitchFamily="34" charset="-120"/>
              </a:rPr>
              <a:t>Answers</a:t>
            </a:r>
            <a:endParaRPr lang="en-US" sz="1100" dirty="0"/>
          </a:p>
        </p:txBody>
      </p:sp>
      <p:sp>
        <p:nvSpPr>
          <p:cNvPr id="8" name="Text 6"/>
          <p:cNvSpPr/>
          <p:nvPr/>
        </p:nvSpPr>
        <p:spPr>
          <a:xfrm>
            <a:off x="640080" y="3008376"/>
            <a:ext cx="10966399" cy="3364992"/>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D8E6F2"/>
                </a:solidFill>
                <a:latin typeface="Calibri" pitchFamily="34" charset="0"/>
                <a:ea typeface="Calibri" pitchFamily="34" charset="-122"/>
                <a:cs typeface="Calibri" pitchFamily="34" charset="-120"/>
              </a:rPr>
              <a:t>1. Is there a proxy process in a ClusterIP request path?  →  No. Kernel rules written by kube-proxy.</a:t>
            </a:r>
            <a:endParaRPr lang="en-US" sz="1200" dirty="0"/>
          </a:p>
          <a:p>
            <a:pPr marL="342900" indent="-342900">
              <a:spcAft>
                <a:spcPts val="500"/>
              </a:spcAft>
              <a:buSzPct val="100000"/>
              <a:buChar char="•"/>
            </a:pPr>
            <a:r>
              <a:rPr lang="en-US" sz="1200" dirty="0">
                <a:solidFill>
                  <a:srgbClr val="D8E6F2"/>
                </a:solidFill>
                <a:latin typeface="Calibri" pitchFamily="34" charset="0"/>
                <a:ea typeface="Calibri" pitchFamily="34" charset="-122"/>
                <a:cs typeface="Calibri" pitchFamily="34" charset="-120"/>
              </a:rPr>
              <a:t>2. Ingress resource vs controller?  →  rules vs the program that reads them. Empty ADDRESS = no controller.</a:t>
            </a:r>
            <a:endParaRPr lang="en-US" sz="1200" dirty="0"/>
          </a:p>
          <a:p>
            <a:pPr marL="342900" indent="-342900">
              <a:spcAft>
                <a:spcPts val="500"/>
              </a:spcAft>
              <a:buSzPct val="100000"/>
              <a:buChar char="•"/>
            </a:pPr>
            <a:r>
              <a:rPr lang="en-US" sz="1200" dirty="0">
                <a:solidFill>
                  <a:srgbClr val="D8E6F2"/>
                </a:solidFill>
                <a:latin typeface="Calibri" pitchFamily="34" charset="0"/>
                <a:ea typeface="Calibri" pitchFamily="34" charset="-122"/>
                <a:cs typeface="Calibri" pitchFamily="34" charset="-120"/>
              </a:rPr>
              <a:t>3. pathType Prefix vs Exact?  →  Exact matches ONLY the literal path. That is INC-4a.</a:t>
            </a:r>
            <a:endParaRPr lang="en-US" sz="1200" dirty="0"/>
          </a:p>
          <a:p>
            <a:pPr marL="342900" indent="-342900">
              <a:spcAft>
                <a:spcPts val="500"/>
              </a:spcAft>
              <a:buSzPct val="100000"/>
              <a:buChar char="•"/>
            </a:pPr>
            <a:r>
              <a:rPr lang="en-US" sz="1200" dirty="0">
                <a:solidFill>
                  <a:srgbClr val="D8E6F2"/>
                </a:solidFill>
                <a:latin typeface="Calibri" pitchFamily="34" charset="0"/>
                <a:ea typeface="Calibri" pitchFamily="34" charset="-122"/>
                <a:cs typeface="Calibri" pitchFamily="34" charset="-120"/>
              </a:rPr>
              <a:t>4. Is NetworkPolicy default-allow or default-deny?  →  default-ALLOW until a policy selects the pod</a:t>
            </a:r>
            <a:endParaRPr lang="en-US" sz="1200" dirty="0"/>
          </a:p>
          <a:p>
            <a:pPr marL="342900" indent="-342900">
              <a:spcAft>
                <a:spcPts val="500"/>
              </a:spcAft>
              <a:buSzPct val="100000"/>
              <a:buChar char="•"/>
            </a:pPr>
            <a:r>
              <a:rPr lang="en-US" sz="1200" dirty="0">
                <a:solidFill>
                  <a:srgbClr val="D8E6F2"/>
                </a:solidFill>
                <a:latin typeface="Calibri" pitchFamily="34" charset="0"/>
                <a:ea typeface="Calibri" pitchFamily="34" charset="-122"/>
                <a:cs typeface="Calibri" pitchFamily="34" charset="-120"/>
              </a:rPr>
              <a:t>5. How do you write a 'deny' rule?  →  You cannot. Select the pod and permit nothing.</a:t>
            </a:r>
            <a:endParaRPr lang="en-US" sz="1200" dirty="0"/>
          </a:p>
          <a:p>
            <a:pPr marL="342900" indent="-342900">
              <a:spcAft>
                <a:spcPts val="500"/>
              </a:spcAft>
              <a:buSzPct val="100000"/>
              <a:buChar char="•"/>
            </a:pPr>
            <a:r>
              <a:rPr lang="en-US" sz="1200" dirty="0">
                <a:solidFill>
                  <a:srgbClr val="D8E6F2"/>
                </a:solidFill>
                <a:latin typeface="Calibri" pitchFamily="34" charset="0"/>
                <a:ea typeface="Calibri" pitchFamily="34" charset="-122"/>
                <a:cs typeface="Calibri" pitchFamily="34" charset="-120"/>
              </a:rPr>
              <a:t>6. What breaks first after default-deny?  →  DNS. Every call starts with a lookup — that is egress.</a:t>
            </a:r>
            <a:endParaRPr lang="en-US" sz="1200" dirty="0"/>
          </a:p>
          <a:p>
            <a:pPr marL="342900" indent="-342900">
              <a:spcAft>
                <a:spcPts val="500"/>
              </a:spcAft>
              <a:buSzPct val="100000"/>
              <a:buChar char="•"/>
            </a:pPr>
            <a:r>
              <a:rPr lang="en-US" sz="1200" dirty="0">
                <a:solidFill>
                  <a:srgbClr val="D8E6F2"/>
                </a:solidFill>
                <a:latin typeface="Calibri" pitchFamily="34" charset="0"/>
                <a:ea typeface="Calibri" pitchFamily="34" charset="-122"/>
                <a:cs typeface="Calibri" pitchFamily="34" charset="-120"/>
              </a:rPr>
              <a:t>7. required vs preferred anti-affinity?  →  required can never exceed the node count; it caps an HPA</a:t>
            </a:r>
            <a:endParaRPr lang="en-US" sz="1200" dirty="0"/>
          </a:p>
          <a:p>
            <a:pPr marL="342900" indent="-342900">
              <a:spcAft>
                <a:spcPts val="500"/>
              </a:spcAft>
              <a:buSzPct val="100000"/>
              <a:buChar char="•"/>
            </a:pPr>
            <a:r>
              <a:rPr lang="en-US" sz="1200" dirty="0">
                <a:solidFill>
                  <a:srgbClr val="D8E6F2"/>
                </a:solidFill>
                <a:latin typeface="Calibri" pitchFamily="34" charset="0"/>
                <a:ea typeface="Calibri" pitchFamily="34" charset="-122"/>
                <a:cs typeface="Calibri" pitchFamily="34" charset="-120"/>
              </a:rPr>
              <a:t>8. Does a PDB protect against a node crash?  →  No. Voluntary disruption only.</a:t>
            </a:r>
            <a:endParaRPr lang="en-US" sz="1200" dirty="0"/>
          </a:p>
        </p:txBody>
      </p:sp>
      <p:sp>
        <p:nvSpPr>
          <p:cNvPr id="9" name="Text 7"/>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4</a:t>
            </a:r>
            <a:endParaRPr lang="en-US" sz="900" dirty="0"/>
          </a:p>
        </p:txBody>
      </p:sp>
      <p:sp>
        <p:nvSpPr>
          <p:cNvPr id="10" name="Text 8"/>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645920"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16459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END OF DAY 4</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What you built today</a:t>
            </a:r>
            <a:endParaRPr lang="en-US" sz="3200" dirty="0"/>
          </a:p>
        </p:txBody>
      </p:sp>
      <p:sp>
        <p:nvSpPr>
          <p:cNvPr id="5" name="Text 3"/>
          <p:cNvSpPr/>
          <p:nvPr/>
        </p:nvSpPr>
        <p:spPr>
          <a:xfrm>
            <a:off x="566928" y="2103120"/>
            <a:ext cx="2524430" cy="1234440"/>
          </a:xfrm>
          <a:prstGeom prst="rect">
            <a:avLst/>
          </a:prstGeom>
          <a:noFill/>
          <a:ln/>
        </p:spPr>
        <p:txBody>
          <a:bodyPr wrap="square" lIns="0" tIns="0" rIns="0" bIns="0" rtlCol="0" anchor="ctr"/>
          <a:lstStyle/>
          <a:p>
            <a:pPr algn="ctr" indent="0" marL="0">
              <a:buNone/>
            </a:pPr>
            <a:r>
              <a:rPr lang="en-US" sz="5800" b="1" dirty="0">
                <a:solidFill>
                  <a:srgbClr val="2E9E63"/>
                </a:solidFill>
                <a:latin typeface="Cambria" pitchFamily="34" charset="0"/>
                <a:ea typeface="Cambria" pitchFamily="34" charset="-122"/>
                <a:cs typeface="Cambria" pitchFamily="34" charset="-120"/>
              </a:rPr>
              <a:t>22</a:t>
            </a:r>
            <a:endParaRPr lang="en-US" sz="5800" dirty="0"/>
          </a:p>
        </p:txBody>
      </p:sp>
      <p:sp>
        <p:nvSpPr>
          <p:cNvPr id="6" name="Text 4"/>
          <p:cNvSpPr/>
          <p:nvPr/>
        </p:nvSpPr>
        <p:spPr>
          <a:xfrm>
            <a:off x="566928" y="3364992"/>
            <a:ext cx="2524430" cy="868680"/>
          </a:xfrm>
          <a:prstGeom prst="rect">
            <a:avLst/>
          </a:prstGeom>
          <a:noFill/>
          <a:ln/>
        </p:spPr>
        <p:txBody>
          <a:bodyPr wrap="square" lIns="0" tIns="0" rIns="0" bIns="0" rtlCol="0" anchor="ctr"/>
          <a:lstStyle/>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NetworkPolicies enforcing</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zero trust across</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four namespaces</a:t>
            </a:r>
            <a:endParaRPr lang="en-US" sz="1300" dirty="0"/>
          </a:p>
        </p:txBody>
      </p:sp>
      <p:sp>
        <p:nvSpPr>
          <p:cNvPr id="7" name="Text 5"/>
          <p:cNvSpPr/>
          <p:nvPr/>
        </p:nvSpPr>
        <p:spPr>
          <a:xfrm>
            <a:off x="3411398" y="2103120"/>
            <a:ext cx="2524430" cy="1234440"/>
          </a:xfrm>
          <a:prstGeom prst="rect">
            <a:avLst/>
          </a:prstGeom>
          <a:noFill/>
          <a:ln/>
        </p:spPr>
        <p:txBody>
          <a:bodyPr wrap="square" lIns="0" tIns="0" rIns="0" bIns="0" rtlCol="0" anchor="ctr"/>
          <a:lstStyle/>
          <a:p>
            <a:pPr algn="ctr" indent="0" marL="0">
              <a:buNone/>
            </a:pPr>
            <a:r>
              <a:rPr lang="en-US" sz="5800" b="1" dirty="0">
                <a:solidFill>
                  <a:srgbClr val="2E9E63"/>
                </a:solidFill>
                <a:latin typeface="Cambria" pitchFamily="34" charset="0"/>
                <a:ea typeface="Cambria" pitchFamily="34" charset="-122"/>
                <a:cs typeface="Cambria" pitchFamily="34" charset="-120"/>
              </a:rPr>
              <a:t>0</a:t>
            </a:r>
            <a:endParaRPr lang="en-US" sz="5800" dirty="0"/>
          </a:p>
        </p:txBody>
      </p:sp>
      <p:sp>
        <p:nvSpPr>
          <p:cNvPr id="8" name="Text 6"/>
          <p:cNvSpPr/>
          <p:nvPr/>
        </p:nvSpPr>
        <p:spPr>
          <a:xfrm>
            <a:off x="3411398" y="3364992"/>
            <a:ext cx="2524430" cy="868680"/>
          </a:xfrm>
          <a:prstGeom prst="rect">
            <a:avLst/>
          </a:prstGeom>
          <a:noFill/>
          <a:ln/>
        </p:spPr>
        <p:txBody>
          <a:bodyPr wrap="square" lIns="0" tIns="0" rIns="0" bIns="0" rtlCol="0" anchor="ctr"/>
          <a:lstStyle/>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failed payments while</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draining a node under</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40 requests per second</a:t>
            </a:r>
            <a:endParaRPr lang="en-US" sz="1300" dirty="0"/>
          </a:p>
        </p:txBody>
      </p:sp>
      <p:sp>
        <p:nvSpPr>
          <p:cNvPr id="9" name="Text 7"/>
          <p:cNvSpPr/>
          <p:nvPr/>
        </p:nvSpPr>
        <p:spPr>
          <a:xfrm>
            <a:off x="6255868" y="2103120"/>
            <a:ext cx="2524430" cy="1234440"/>
          </a:xfrm>
          <a:prstGeom prst="rect">
            <a:avLst/>
          </a:prstGeom>
          <a:noFill/>
          <a:ln/>
        </p:spPr>
        <p:txBody>
          <a:bodyPr wrap="square" lIns="0" tIns="0" rIns="0" bIns="0" rtlCol="0" anchor="ctr"/>
          <a:lstStyle/>
          <a:p>
            <a:pPr algn="ctr" indent="0" marL="0">
              <a:buNone/>
            </a:pPr>
            <a:r>
              <a:rPr lang="en-US" sz="5800" b="1" dirty="0">
                <a:solidFill>
                  <a:srgbClr val="F2A03D"/>
                </a:solidFill>
                <a:latin typeface="Cambria" pitchFamily="34" charset="0"/>
                <a:ea typeface="Cambria" pitchFamily="34" charset="-122"/>
                <a:cs typeface="Cambria" pitchFamily="34" charset="-120"/>
              </a:rPr>
              <a:t>2</a:t>
            </a:r>
            <a:endParaRPr lang="en-US" sz="5800" dirty="0"/>
          </a:p>
        </p:txBody>
      </p:sp>
      <p:sp>
        <p:nvSpPr>
          <p:cNvPr id="10" name="Text 8"/>
          <p:cNvSpPr/>
          <p:nvPr/>
        </p:nvSpPr>
        <p:spPr>
          <a:xfrm>
            <a:off x="6255868" y="3364992"/>
            <a:ext cx="2524430" cy="868680"/>
          </a:xfrm>
          <a:prstGeom prst="rect">
            <a:avLst/>
          </a:prstGeom>
          <a:noFill/>
          <a:ln/>
        </p:spPr>
        <p:txBody>
          <a:bodyPr wrap="square" lIns="0" tIns="0" rIns="0" bIns="0" rtlCol="0" anchor="ctr"/>
          <a:lstStyle/>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hostnames reachable over TLS.</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A merchant could integrate</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today.</a:t>
            </a:r>
            <a:endParaRPr lang="en-US" sz="1300" dirty="0"/>
          </a:p>
        </p:txBody>
      </p:sp>
      <p:sp>
        <p:nvSpPr>
          <p:cNvPr id="11" name="Text 9"/>
          <p:cNvSpPr/>
          <p:nvPr/>
        </p:nvSpPr>
        <p:spPr>
          <a:xfrm>
            <a:off x="9100337" y="2103120"/>
            <a:ext cx="2524430" cy="1234440"/>
          </a:xfrm>
          <a:prstGeom prst="rect">
            <a:avLst/>
          </a:prstGeom>
          <a:noFill/>
          <a:ln/>
        </p:spPr>
        <p:txBody>
          <a:bodyPr wrap="square" lIns="0" tIns="0" rIns="0" bIns="0" rtlCol="0" anchor="ctr"/>
          <a:lstStyle/>
          <a:p>
            <a:pPr algn="ctr" indent="0" marL="0">
              <a:buNone/>
            </a:pPr>
            <a:r>
              <a:rPr lang="en-US" sz="5800" b="1" dirty="0">
                <a:solidFill>
                  <a:srgbClr val="1C7293"/>
                </a:solidFill>
                <a:latin typeface="Cambria" pitchFamily="34" charset="0"/>
                <a:ea typeface="Cambria" pitchFamily="34" charset="-122"/>
                <a:cs typeface="Cambria" pitchFamily="34" charset="-120"/>
              </a:rPr>
              <a:t>39</a:t>
            </a:r>
            <a:endParaRPr lang="en-US" sz="5800" dirty="0"/>
          </a:p>
        </p:txBody>
      </p:sp>
      <p:sp>
        <p:nvSpPr>
          <p:cNvPr id="12" name="Text 10"/>
          <p:cNvSpPr/>
          <p:nvPr/>
        </p:nvSpPr>
        <p:spPr>
          <a:xfrm>
            <a:off x="9100337" y="3364992"/>
            <a:ext cx="2524430" cy="868680"/>
          </a:xfrm>
          <a:prstGeom prst="rect">
            <a:avLst/>
          </a:prstGeom>
          <a:noFill/>
          <a:ln/>
        </p:spPr>
        <p:txBody>
          <a:bodyPr wrap="square" lIns="0" tIns="0" rIns="0" bIns="0" rtlCol="0" anchor="ctr"/>
          <a:lstStyle/>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policy assertions verified —</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19 calls allowed,</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8 controls enforced</a:t>
            </a:r>
            <a:endParaRPr lang="en-US" sz="1300" dirty="0"/>
          </a:p>
        </p:txBody>
      </p:sp>
      <p:sp>
        <p:nvSpPr>
          <p:cNvPr id="13" name="Text 11"/>
          <p:cNvSpPr/>
          <p:nvPr/>
        </p:nvSpPr>
        <p:spPr>
          <a:xfrm>
            <a:off x="566928" y="5486400"/>
            <a:ext cx="11057839" cy="548640"/>
          </a:xfrm>
          <a:prstGeom prst="rect">
            <a:avLst/>
          </a:prstGeom>
          <a:noFill/>
          <a:ln/>
        </p:spPr>
        <p:txBody>
          <a:bodyPr wrap="square" lIns="0" tIns="0" rIns="0" bIns="0" rtlCol="0" anchor="ctr"/>
          <a:lstStyle/>
          <a:p>
            <a:pPr algn="ctr" indent="0" marL="0">
              <a:buNone/>
            </a:pPr>
            <a:r>
              <a:rPr lang="en-US" sz="1400" i="1" dirty="0">
                <a:solidFill>
                  <a:srgbClr val="FFFFFF"/>
                </a:solidFill>
                <a:latin typeface="Calibri" pitchFamily="34" charset="0"/>
                <a:ea typeface="Calibri" pitchFamily="34" charset="-122"/>
                <a:cs typeface="Calibri" pitchFamily="34" charset="-120"/>
              </a:rPr>
              <a:t>The DMZ can no longer read the payments database. That is the finding closed, demonstrated with the same command that opened it.</a:t>
            </a:r>
            <a:endParaRPr lang="en-US" sz="1400" dirty="0"/>
          </a:p>
        </p:txBody>
      </p:sp>
      <p:sp>
        <p:nvSpPr>
          <p:cNvPr id="14" name="Text 12"/>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4</a:t>
            </a:r>
            <a:endParaRPr lang="en-US" sz="900" dirty="0"/>
          </a:p>
        </p:txBody>
      </p:sp>
      <p:sp>
        <p:nvSpPr>
          <p:cNvPr id="15" name="Text 13"/>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1225296"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1225296"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TOMORROW</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Day 5 — hand it to the on-call team</a:t>
            </a:r>
            <a:endParaRPr lang="en-US" sz="3200" dirty="0"/>
          </a:p>
        </p:txBody>
      </p:sp>
      <p:sp>
        <p:nvSpPr>
          <p:cNvPr id="5" name="Text 3"/>
          <p:cNvSpPr/>
          <p:nvPr/>
        </p:nvSpPr>
        <p:spPr>
          <a:xfrm>
            <a:off x="566928" y="1737360"/>
            <a:ext cx="11057839" cy="384048"/>
          </a:xfrm>
          <a:prstGeom prst="rect">
            <a:avLst/>
          </a:prstGeom>
          <a:noFill/>
          <a:ln/>
        </p:spPr>
        <p:txBody>
          <a:bodyPr wrap="square" lIns="0" tIns="0" rIns="0" bIns="0" rtlCol="0" anchor="ctr"/>
          <a:lstStyle/>
          <a:p>
            <a:pPr indent="0" marL="0">
              <a:buNone/>
            </a:pPr>
            <a:r>
              <a:rPr lang="en-US" sz="1400" i="1" dirty="0">
                <a:solidFill>
                  <a:srgbClr val="1C7293"/>
                </a:solidFill>
                <a:latin typeface="Calibri" pitchFamily="34" charset="0"/>
                <a:ea typeface="Calibri" pitchFamily="34" charset="-122"/>
                <a:cs typeface="Calibri" pitchFamily="34" charset="-120"/>
              </a:rPr>
              <a:t>The platform is exposed, segmented and placed. Nobody can see what it is doing.</a:t>
            </a:r>
            <a:endParaRPr lang="en-US" sz="14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66928" y="2240280"/>
          <a:ext cx="11057839" cy="914400"/>
        </p:xfrm>
        <a:graphic>
          <a:graphicData uri="http://schemas.openxmlformats.org/drawingml/2006/table">
            <a:tbl>
              <a:tblPr/>
              <a:tblGrid>
                <a:gridCol w="3840480"/>
                <a:gridCol w="5120640"/>
                <a:gridCol w="2103120"/>
              </a:tblGrid>
              <a:tr h="43891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is missing</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costs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Fixed in</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No RBAC</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Every ServiceAccount can do anything. Nothing is least privilege.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L5.2</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Pod Security not enforced</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A workload that forgets securityContext is still admitted</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L5.1</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Deploying means 40 kubectl applies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No packaging, no versioning, no one-command rollback</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L5.3</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No metrics, no dashboards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You cannot operate what you cannot see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L5.5</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No log aggregation</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Tracing one payment means kubectl logs across 15 services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L5.6</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No alerts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A merchant tells you before your monitoring does — every time this week</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L5.6</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bl>
          </a:graphicData>
        </a:graphic>
      </p:graphicFrame>
      <p:sp>
        <p:nvSpPr>
          <p:cNvPr id="7" name="Text 4"/>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4</a:t>
            </a:r>
            <a:endParaRPr lang="en-US" sz="900" dirty="0"/>
          </a:p>
        </p:txBody>
      </p:sp>
      <p:sp>
        <p:nvSpPr>
          <p:cNvPr id="8" name="Text 5"/>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Axis Financial Services (fictional)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AxisPay Kubernetes Comprehensive — Day 4</dc:title>
  <dc:subject>Networking, Exposure and Placement</dc:subject>
  <dc:creator>AxisPay Curriculum Team</dc:creator>
  <cp:lastModifiedBy>AxisPay Curriculum Team</cp:lastModifiedBy>
  <cp:revision>1</cp:revision>
  <dcterms:created xsi:type="dcterms:W3CDTF">2026-08-10T23:31:06Z</dcterms:created>
  <dcterms:modified xsi:type="dcterms:W3CDTF">2026-08-10T23:31:06Z</dcterms:modified>
</cp:coreProperties>
</file>