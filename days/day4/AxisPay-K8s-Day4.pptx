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Open on the finding, demonstrated rather than described.
TIMING: 2 min
SPEAKER NOTES
Do not describe the problem — show it. Exec into edge-gateway and connect straight to PostgreSQL. It works.\n\nThen say what that means: in a PCI assessment, the DMZ is now inside the cardholder data environment. Every control that applies to the CDE applies to the gateway, to everyone who can deploy it, and to its logs. The audit gets bigger, longer and more expensive.\n\nThat thirty-second demo is the whole day.
&gt;&gt; LIVE DEMO: kubectl exec -n axispay-edge deploy/edge-gateway -- python3 -c "import socket; socket.create_connection(('postgres-0.postgres.axispay-data.svc.cluster.local',5432),timeout=5); print('CONNECTED')"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Retrieval practice on Day 3.
TIMING: 20 min
SPEAKER NOTES
Then everyone runs `make validate-day3` before anything else. Today's labs assume a healthy data tier and several of them will fail confusingly without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Derive the agenda from felt gaps.
TIMING: 5 min
SPEAKER NOTES
Row 3 is the one you just demonstrated. Everything else today is in service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Open up what students have used for three days without examining.
TIMING: 75 min
SPEAKER NOTES
Keep this brisk — most of it is confirmation of things they have already relied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Explain the CNI contract before students depend on one specific behaviour of it.
TIMING: 7 min
SPEAKER NOTES
Rule 4 is the one worth dwelling on. Under Docker's default bridge a container sees itself as 172.17.0.x while the outside world reaches it on a mapped host port — so it cannot truthfully tell anyone its own address. Kubernetes forbids that, and it is why service discovery is straightforward here and painful there.\n\nThen the punchline: none of this is implemented by Kubernetes. It is a contract, and the plugin fulfils it. Which is exactly why a plugin can fulfil the connectivity rules and NOT implement NetworkPolicy — and everything still appears to work.
ASK THE ROOM: Your NetworkPolicies apply cleanly and traffic still flows. What is wrong?
EXPECTED ANSWER: The CNI does not enforce policy. Kubernetes accepts and stores the object regardless — enforcement is the plugin's job. This is why the course insists on --cni=calico, and why L1.1 made you check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Complete the Service taxonomy started on Day 1.
TIMING: 8 min
SPEAKER NOTES
The headless row deserves the time. kube-proxy load-balances CONNECTIONS, not requests — so a single long-lived HTTP/2 connection pins to one pod forever. gRPC multiplexes everything over one connection, so a normal Service gives you no balancing at all. A headless Service hands the client every address and lets it decide.\n\nThat is not an edge case; it is the single most common gRPC-on-Kubernetes surprise.
ASK THE ROOM: Why is NodePort discouraged in production?
EXPECTED ANSWER: It opens a port on EVERY node in the cluster, including nodes running nothing related. That is a large attack surface for one service, and it bypasses the Ingress where your TLS, rate limiting and routing rules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the three main exposure patterns visible without YAML.
TIMING: 4 min
SPEAKER NOTES
Read left to right: internal VIP only, then the same port opened on every node, then an external load balancer fronting the Service. Stress that the Service abstraction stays the same while only the entry path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Open up the network and DNS before they are needed under pressure.
TIMING: 65 minutes
SPEAKER NOTES
L4.2 step 6 — deliberately scaling CoreDNS to zero — is the important one. Students must SEE that a DNS failure looks like a name-resolution error rather than a connection refusal.\n\nIn two hours they will block DNS by accident with a default-deny policy, and in four hours INC-4b will break CoreDNS on purpose. Recognising the shape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the platform reachable.
TIMING: 70 min
SPEAKER NOTES
Frame it as the milestone it is: four days of work, and this is the first request a merchant could actually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Prevent the most common Ingress dead-end.
TIMING: 7 min
SPEAKER NOTES
On Minikube the controller comes from an addon, so students may never have installed one deliberately and will not think to check.\n\nAlso flag pathType. Prefix matches /api and everything below it; Exact matches ONLY the literal path. Changing one word turns a working API into a 404 on every endpoint but one — and that is INC-4a this afternoon.
ASK THE ROOM: Your Ingress exists, ADDRESS is populated, and you get a 503. Where is the fault?
EXPECTED ANSWER: Not the Ingress. 503 means the controller found the backend Service and it has no ready endpoints — so the problem is the Service selector or the pods' readiness. A 404 would be the routing rules; a 502 would be the wrong backend port. Those three codes point at three different layers, and knowing which saves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Separate the routing resource from the process that handles traffic.
TIMING: 4 min
SPEAKER NOTES
Point at the pending ADDRESS first. An Ingress without a controller is just stored configuration. Then follow the traffic arrow to show which component listens on 80/443, terminates TLS and forwards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Expose the platform properly.
TIMING: 55 minutes
SPEAKER NOTES
Step 6 is the milestone — the first request in four days that did not need kubectl. Let them enjoy it.\n\nStep 8 (pathType Exact) is deliberate practice for INC-4a. Make sure everyone runs it and sees the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Deliver the security core of the week.
TIMING: 80 min
SPEAKER NOTES
This is the most important module of Day 4 and one of the most important of the course. It is also the one where the whole platform breaks in the middle,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Give the mental model before the lab breaks the platform.
TIMING: 9 min
SPEAKER NOTES
Property 1 explains the confusion students are about to have: they add ONE narrow policy to fraud-service and payment-service stops working, even though payment-service is not mentioned anywhere in it. That is INC-4c.\n\nProperty 3 is why L4.4 has them fix DNS and then STILL find connections failing. Two separate problems; fixing one does not fix the other.
ASK THE ROOM: You want to stop reporting-service reaching the ledger. Which policy do you write?
EXPECTED ANSWER: You do not write a deny. You ensure some policy selects ledger-service and that none of them permit ingress from reporting-service. Absence of permission IS the denial. People look for a deny rule for a long time before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Show default-allow-until-selected with a before/after contrast.
TIMING: 4 min
SPEAKER NOTES
Use the left half to remind them that namespaces are not firewalls. Then show that the first selecting policy changes the target pod into an allow-list model, which is why one narrow rule can appear to break unrelated callers.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Show the control as evidence rather than assertion.
TIMING: 7 min
SPEAKER NOTES
Point at the failure mode. BLOCKED means the packet was DROPPED — no connection-refused, no log line, no Kubernetes event. From the application's side it is indistinguishable from a slow network.\n\nThat is why the repository ships simulate-netpol.py: it evaluates every policy the way Kubernetes does and checks it against a list of calls that must work and controls that must hold. Run it in CI. A policy that silently stops enforcing is otherwise invisible until an auditor finds it.
&gt;&gt; LIVE DEMO: Run both halves live if the platform is up. The before/after with an identical command is far more convincing than any diagram.
CALLOUT: 22 policies across four namespaces. The one that matters most is the one that ISN'T there — nothing grants axispay-edge access to axispay-data. That omission is the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Prepare students to derive the DNS rule rather than copy it.
TIMING: 5 min
SPEAKER NOTES
Do NOT give them the answer on this slide. The lab has them run a DNS lookup from inside a pod and discover it themselves.\n\nStudents who learned DNS properly yesterday morning derive this in two minutes. Students who skimmed it lose twenty. That is the whole reason L4.2 comes before L4.4 — the dependency map calls it out explicitly.
WARNING: Allow BOTH UDP and TCP on port 53. DNS falls back to TCP for large responses; allowing only UDP produces INTERMITTENT failures that are far harder to diagnose than a total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Build the segmentation and verify it empirically.
TIMING: 50 minutes
SPEAKER NOTES
The lab is deliberately structured as prove-the-problem, break-everything, derive-the-fix, prove-the-fix. Step 1 and step 6 run the IDENTICAL command with opposite results.\n\nIf a student's cluster lacks Calico, they will apply all 22 policies and step 6 will still say CONNECTED. Deal with that immediately — it is the worst possible outcome and it is silent.
WARNING: Check `kubectl get ds -n kube-system calico-node` for every student BEFORE this lab. Without it the policies enforce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Deliver the objects Friday's capstone depends on.
TIMING: 110 min
SPEAKER NOTES
Frame the whole block as preparation for tomorrow. Everything written here is what makes the capstone's node drain a non-event.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Explain a choice students will otherwise make by coin-flip.
TIMING: 8 min
SPEAKER NOTES
In L4.5 step 4 they scale payment-service to 4 on a 3-node cluster and watch the fourth pod sit Pending with 'didn't match pod anti-affinity rules'. Doing it once means they never debug it blind.\n\nThe combination that bites in production: required anti-affinity plus an HPA. Autoscaling appears to work until the replica count reaches the node count, then silently stops — during exactly the spike it exists to absorb.
ASK THE ROOM: Your HPA is set to max 10, you have 4 nodes, and it never scales past 4. Where do you look?
EXPECTED ANSWER: kubectl describe on a Pending pod. If it says 'didn't match pod anti-affinity rules', a required rule is the cap. Change it to preferred, or add topology spread with ScheduleAnyway. The HPA is working perfectly; the scheduler is refusing.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Separate the three placement tools so students stop using the names interchangeably.
TIMING: 7 min
SPEAKER NOTES
Teach these as a ladder, not as synonyms. nodeSelector is the blunt instrument: exact labels only. nodeAffinity is the grown-up version: operators plus hard-versus-soft behavior. podAffinity and podAntiAffinity are a different category entirely because they reason about other pods, not the node's labels.\n\nThe production mistake is reaching for pod anti-affinity when the real requirement is about node hardware, or reaching for required node affinity when a soft preference was safer.
ASK THE ROOM: Your pod needs `disktype: ssd` — do you reach for nodeSelector or nodeAffinity?
EXPECTED ANSWER: Either works for that simple case. Use nodeSelector when exact-match AND logic is enough and you do not need preferences. Reach for nodeAffinity when you need operators like NotIn or Exists, or a soft preference instead of a hard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Separate node facts from workload-relative placement.
TIMING: 4 min
SPEAKER NOTES
On the left, the scheduler is reading labels on candidate nodes. On the right, it is reading labels on pods that already exist and then inferring which nodes are acceptable. Those are different questions with different failure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Teach taints and tolerations as a distinct mechanism, not a mysterious YAML line copied from examples.
TIMING: 7 min
SPEAKER NOTES
Students often think a toleration is a placement preference. Kill that idea explicitly: a toleration only removes a 'no' from the node; it does not create a 'yes'. You still need normal scheduling logic to make the node attractive.\n\nTie it back to the control-plane node because they already saw it in practice on Day 2. The reason regular apps avoid the control-plane is not magic and not a hidden role — it is a taint. The reason the node-agent could run there is not privilege — it is a toleration.
ASK THE ROOM: A node is tainted with `NoExecute` for maintenance. What happens to pods already running there that have no matching toleration?
EXPECTED ANSWER: They are evicted. `NoExecute` affects both future scheduling and pods already on the node. If a pod does tolerate it with `tolerationSeconds`, it can stay only for that grace period before eviction.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the direction of control explicit.
TIMING: 4 min
SPEAKER NOTES
Show the blocked pod first. Then show that the tolerated pod is merely eligible, not attracted. Finish on NoExecute: it is the only effect that also pushes existing pods off the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Set the boundary of what a PDB can promise.
TIMING: 7 min
SPEAKER NOTES
The last row surprises people: `kubectl delete pod` is NOT gated by a PDB. Only the eviction API is, and `drain` uses it. A careless delete bypasses your budget entirely.\n\nAlso flag the minAvailable trap: with an HPA, an absolute minAvailable can equal the current replica count at minReplicas, making ALLOWED DISRUPTIONS zero and the node undrainable. A node that cannot be drained cannot be patched. Prefer maxUnavailable.
ASK THE ROOM: Your PDB says minAvailable: 3 and the HPA has scaled down to 3. What happens when you drain?
EXPECTED ANSWER: Nothing — forever. Zero disruptions are allowed, so the drain hangs and the node can never be maintained. This is a real production trap and the reason AxisPay uses maxUnavailable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Visualise allowed disruptions as a moving budget.
TIMING: 4 min
SPEAKER NOTES
Walk the sequence slowly: with three ready replicas and `minAvailable: 2`, the first eviction is fine, the second is blocked until a replacement becomes Ready elsewhere. That is what turns a drain into a rolling movement instead of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Build the objects that make Friday survivable.
TIMING: 110 minutes
SPEAKER NOTES
L4.6 Task 1 then Task 3 is the whole lab: the same drain, with and without budgets, measured. Typically ~60 failed payments versus zero.\n\nSay it out loud when they finish: the objects you just wrote are what stop tomorrow's capstone upgrade taking the platform down. Thursday protects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Run the hardest incident so far.
TIMING: 35 min triage + 10 min debrief
SPEAKER NOTES
Inject with `make incident N=4` during the break.\n\nThe trap that matters: a student who deletes a default-deny policy or a legitimate allow-rule 'to see if that fixes it'. It does. Let them. Then in the debrief ask them to run the DMZ-to-PostgreSQL check and explain the result to a QSA.\n\nThat exact temptation returns in tomorrow's capstone, under more pressure, and taking it costs the Secure competency.
ASK THE ROOM: DEBRIEF — deleting a NetworkPolicy fixed it. When would that have been the WRONG fix?
EXPECTED ANSWER: Here the policy was newly added and wrong, so deleting it is correct. Deleting a default-deny, or a legitimate allow-rule, to restore service would remove the segmentation that keeps the DMZ out of the CDE — trading a thirty-minute outage for a PCI finding. The fastest fix and the correct fix are frequently different, and knowing which is which is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Formative check across Day 4.
TIMING: 15 min
SPEAKER NOTES
Questions 4, 5 and 6 are load-bearing. If a third of the room misses any of them, recap before Friday — the capstone has a NetworkPolicy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Consolidate and hand over to Day 5.
TIMING: 3 min
SPEAKER NOTES
Re-run the step 1 / step 6 command one final time in front of the room. Opening the day with CONNECTED and closing it with BLOCKED is the cleanest possible demonstration that the day did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Create demand for Day 5.
TIMING: 4 min
SPEAKER NOTES
Row 6 is the callback that lands. Every single incident this week — INC-1 through INC-4 — was reported by a merchant or an alert someone wished existed. Tomorrow they build the alerts.\n\nAnd the correlation ID they implemented on Monday without knowing why finally pays off in Loki.
TRANSITION: Assessment now — ten items,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rot="1080000">
            <a:off x="7711135" y="-1463040"/>
            <a:ext cx="5852160" cy="5852160"/>
          </a:xfrm>
          <a:prstGeom prst="roundRect">
            <a:avLst>
              <a:gd name="adj" fmla="val 15625"/>
            </a:avLst>
          </a:prstGeom>
          <a:solidFill>
            <a:srgbClr val="12314F"/>
          </a:solidFill>
          <a:ln w="12700">
            <a:solidFill>
              <a:srgbClr val="12314F"/>
            </a:solidFill>
            <a:prstDash val="solid"/>
          </a:ln>
        </p:spPr>
      </p:sp>
      <p:sp>
        <p:nvSpPr>
          <p:cNvPr id="3" name="Shape 1"/>
          <p:cNvSpPr/>
          <p:nvPr/>
        </p:nvSpPr>
        <p:spPr>
          <a:xfrm>
            <a:off x="9357055" y="4114800"/>
            <a:ext cx="2011680" cy="2011680"/>
          </a:xfrm>
          <a:prstGeom prst="ellipse">
            <a:avLst/>
          </a:prstGeom>
          <a:solidFill>
            <a:srgbClr val="1C7293">
              <a:alpha val="45000"/>
            </a:srgbClr>
          </a:solidFill>
          <a:ln w="12700">
            <a:solidFill>
              <a:srgbClr val="1C7293">
                <a:alpha val="60000"/>
              </a:srgbClr>
            </a:solidFill>
            <a:prstDash val="solid"/>
          </a:ln>
        </p:spPr>
      </p:sp>
      <p:sp>
        <p:nvSpPr>
          <p:cNvPr id="4" name="Text 2"/>
          <p:cNvSpPr/>
          <p:nvPr/>
        </p:nvSpPr>
        <p:spPr>
          <a:xfrm>
            <a:off x="566928" y="1234440"/>
            <a:ext cx="7680960" cy="365760"/>
          </a:xfrm>
          <a:prstGeom prst="rect">
            <a:avLst/>
          </a:prstGeom>
          <a:noFill/>
          <a:ln/>
        </p:spPr>
        <p:txBody>
          <a:bodyPr wrap="square" lIns="0" tIns="0" rIns="0" bIns="0" rtlCol="0" anchor="ctr"/>
          <a:lstStyle/>
          <a:p>
            <a:pPr indent="0" marL="0">
              <a:buNone/>
            </a:pPr>
            <a:r>
              <a:rPr lang="en-US" sz="1400" b="1" spc="200" kern="0" dirty="0">
                <a:solidFill>
                  <a:srgbClr val="F2A03D"/>
                </a:solidFill>
                <a:latin typeface="Calibri" pitchFamily="34" charset="0"/>
                <a:ea typeface="Calibri" pitchFamily="34" charset="-122"/>
                <a:cs typeface="Calibri" pitchFamily="34" charset="-120"/>
              </a:rPr>
              <a:t>KUBERNETES COMPREHENSIVE · AXP-K8S-5D</a:t>
            </a:r>
            <a:endParaRPr lang="en-US" sz="1400" dirty="0"/>
          </a:p>
        </p:txBody>
      </p:sp>
      <p:sp>
        <p:nvSpPr>
          <p:cNvPr id="5" name="Text 3"/>
          <p:cNvSpPr/>
          <p:nvPr/>
        </p:nvSpPr>
        <p:spPr>
          <a:xfrm>
            <a:off x="566928" y="1737360"/>
            <a:ext cx="7680960" cy="1737360"/>
          </a:xfrm>
          <a:prstGeom prst="rect">
            <a:avLst/>
          </a:prstGeom>
          <a:noFill/>
          <a:ln/>
        </p:spPr>
        <p:txBody>
          <a:bodyPr wrap="square" lIns="0" tIns="0" rIns="0" bIns="0" rtlCol="0" anchor="ctr"/>
          <a:lstStyle/>
          <a:p>
            <a:pPr indent="0" marL="0">
              <a:lnSpc>
                <a:spcPts val="5000"/>
              </a:lnSpc>
              <a:buNone/>
            </a:pPr>
            <a:r>
              <a:rPr lang="en-US" sz="5000" b="1" dirty="0">
                <a:solidFill>
                  <a:srgbClr val="FFFFFF"/>
                </a:solidFill>
                <a:latin typeface="Cambria" pitchFamily="34" charset="0"/>
                <a:ea typeface="Cambria" pitchFamily="34" charset="-122"/>
                <a:cs typeface="Cambria" pitchFamily="34" charset="-120"/>
              </a:rPr>
              <a:t>Day 4</a:t>
            </a:r>
            <a:endParaRPr lang="en-US" sz="5000" dirty="0"/>
          </a:p>
          <a:p>
            <a:pPr indent="0" marL="0">
              <a:lnSpc>
                <a:spcPts val="5000"/>
              </a:lnSpc>
              <a:buNone/>
            </a:pPr>
            <a:r>
              <a:rPr lang="en-US" sz="5000" b="1" dirty="0">
                <a:solidFill>
                  <a:srgbClr val="FFFFFF"/>
                </a:solidFill>
                <a:latin typeface="Cambria" pitchFamily="34" charset="0"/>
                <a:ea typeface="Cambria" pitchFamily="34" charset="-122"/>
                <a:cs typeface="Cambria" pitchFamily="34" charset="-120"/>
              </a:rPr>
              <a:t>Networking, Exposure &amp; Placement</a:t>
            </a:r>
            <a:endParaRPr lang="en-US" sz="5000" dirty="0"/>
          </a:p>
        </p:txBody>
      </p:sp>
      <p:sp>
        <p:nvSpPr>
          <p:cNvPr id="6" name="Text 4"/>
          <p:cNvSpPr/>
          <p:nvPr/>
        </p:nvSpPr>
        <p:spPr>
          <a:xfrm>
            <a:off x="566928" y="3520440"/>
            <a:ext cx="7315200" cy="868680"/>
          </a:xfrm>
          <a:prstGeom prst="rect">
            <a:avLst/>
          </a:prstGeom>
          <a:noFill/>
          <a:ln/>
        </p:spPr>
        <p:txBody>
          <a:bodyPr wrap="square" lIns="0" tIns="0" rIns="0" bIns="0" rtlCol="0" anchor="ctr"/>
          <a:lstStyle/>
          <a:p>
            <a:pPr indent="0" marL="0">
              <a:buNone/>
            </a:pPr>
            <a:r>
              <a:rPr lang="en-US" sz="1700" dirty="0">
                <a:solidFill>
                  <a:srgbClr val="D8E6F2"/>
                </a:solidFill>
                <a:latin typeface="Calibri" pitchFamily="34" charset="0"/>
                <a:ea typeface="Calibri" pitchFamily="34" charset="-122"/>
                <a:cs typeface="Calibri" pitchFamily="34" charset="-120"/>
              </a:rPr>
              <a:t>Let the world in — and keep it out of the vault. By 17:00 merchants can reach AxisPay over TLS, and the DMZ can no longer touch cardholder data.</a:t>
            </a:r>
            <a:endParaRPr lang="en-US" sz="1700" dirty="0"/>
          </a:p>
        </p:txBody>
      </p:sp>
      <p:sp>
        <p:nvSpPr>
          <p:cNvPr id="7" name="Shape 5"/>
          <p:cNvSpPr/>
          <p:nvPr/>
        </p:nvSpPr>
        <p:spPr>
          <a:xfrm>
            <a:off x="566928" y="4709160"/>
            <a:ext cx="2148840" cy="749808"/>
          </a:xfrm>
          <a:prstGeom prst="roundRect">
            <a:avLst>
              <a:gd name="adj" fmla="val 12195"/>
            </a:avLst>
          </a:prstGeom>
          <a:solidFill>
            <a:srgbClr val="12314F"/>
          </a:solidFill>
          <a:ln w="12700">
            <a:solidFill>
              <a:srgbClr val="1B4066"/>
            </a:solidFill>
            <a:prstDash val="solid"/>
          </a:ln>
        </p:spPr>
      </p:sp>
      <p:sp>
        <p:nvSpPr>
          <p:cNvPr id="8" name="Text 6"/>
          <p:cNvSpPr/>
          <p:nvPr/>
        </p:nvSpPr>
        <p:spPr>
          <a:xfrm>
            <a:off x="56692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DURATION</a:t>
            </a:r>
            <a:endParaRPr lang="en-US" sz="900" dirty="0"/>
          </a:p>
        </p:txBody>
      </p:sp>
      <p:sp>
        <p:nvSpPr>
          <p:cNvPr id="9" name="Text 7"/>
          <p:cNvSpPr/>
          <p:nvPr/>
        </p:nvSpPr>
        <p:spPr>
          <a:xfrm>
            <a:off x="56692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 hours</a:t>
            </a:r>
            <a:endParaRPr lang="en-US" sz="1300" dirty="0"/>
          </a:p>
        </p:txBody>
      </p:sp>
      <p:sp>
        <p:nvSpPr>
          <p:cNvPr id="10" name="Shape 8"/>
          <p:cNvSpPr/>
          <p:nvPr/>
        </p:nvSpPr>
        <p:spPr>
          <a:xfrm>
            <a:off x="2898648" y="4709160"/>
            <a:ext cx="2148840" cy="749808"/>
          </a:xfrm>
          <a:prstGeom prst="roundRect">
            <a:avLst>
              <a:gd name="adj" fmla="val 12195"/>
            </a:avLst>
          </a:prstGeom>
          <a:solidFill>
            <a:srgbClr val="12314F"/>
          </a:solidFill>
          <a:ln w="12700">
            <a:solidFill>
              <a:srgbClr val="1B4066"/>
            </a:solidFill>
            <a:prstDash val="solid"/>
          </a:ln>
        </p:spPr>
      </p:sp>
      <p:sp>
        <p:nvSpPr>
          <p:cNvPr id="11" name="Text 9"/>
          <p:cNvSpPr/>
          <p:nvPr/>
        </p:nvSpPr>
        <p:spPr>
          <a:xfrm>
            <a:off x="289864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THEORY</a:t>
            </a:r>
            <a:endParaRPr lang="en-US" sz="900" dirty="0"/>
          </a:p>
        </p:txBody>
      </p:sp>
      <p:sp>
        <p:nvSpPr>
          <p:cNvPr id="12" name="Text 10"/>
          <p:cNvSpPr/>
          <p:nvPr/>
        </p:nvSpPr>
        <p:spPr>
          <a:xfrm>
            <a:off x="289864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250 min</a:t>
            </a:r>
            <a:endParaRPr lang="en-US" sz="1300" dirty="0"/>
          </a:p>
        </p:txBody>
      </p:sp>
      <p:sp>
        <p:nvSpPr>
          <p:cNvPr id="13" name="Shape 11"/>
          <p:cNvSpPr/>
          <p:nvPr/>
        </p:nvSpPr>
        <p:spPr>
          <a:xfrm>
            <a:off x="5230368" y="4709160"/>
            <a:ext cx="2148840" cy="749808"/>
          </a:xfrm>
          <a:prstGeom prst="roundRect">
            <a:avLst>
              <a:gd name="adj" fmla="val 12195"/>
            </a:avLst>
          </a:prstGeom>
          <a:solidFill>
            <a:srgbClr val="12314F"/>
          </a:solidFill>
          <a:ln w="12700">
            <a:solidFill>
              <a:srgbClr val="1B4066"/>
            </a:solidFill>
            <a:prstDash val="solid"/>
          </a:ln>
        </p:spPr>
      </p:sp>
      <p:sp>
        <p:nvSpPr>
          <p:cNvPr id="14" name="Text 12"/>
          <p:cNvSpPr/>
          <p:nvPr/>
        </p:nvSpPr>
        <p:spPr>
          <a:xfrm>
            <a:off x="523036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HANDS-ON</a:t>
            </a:r>
            <a:endParaRPr lang="en-US" sz="900" dirty="0"/>
          </a:p>
        </p:txBody>
      </p:sp>
      <p:sp>
        <p:nvSpPr>
          <p:cNvPr id="15" name="Text 13"/>
          <p:cNvSpPr/>
          <p:nvPr/>
        </p:nvSpPr>
        <p:spPr>
          <a:xfrm>
            <a:off x="523036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330 min</a:t>
            </a:r>
            <a:endParaRPr lang="en-US" sz="1300" dirty="0"/>
          </a:p>
        </p:txBody>
      </p:sp>
      <p:sp>
        <p:nvSpPr>
          <p:cNvPr id="16" name="Shape 14"/>
          <p:cNvSpPr/>
          <p:nvPr/>
        </p:nvSpPr>
        <p:spPr>
          <a:xfrm>
            <a:off x="7562088" y="4709160"/>
            <a:ext cx="2148840" cy="749808"/>
          </a:xfrm>
          <a:prstGeom prst="roundRect">
            <a:avLst>
              <a:gd name="adj" fmla="val 12195"/>
            </a:avLst>
          </a:prstGeom>
          <a:solidFill>
            <a:srgbClr val="12314F"/>
          </a:solidFill>
          <a:ln w="12700">
            <a:solidFill>
              <a:srgbClr val="1B4066"/>
            </a:solidFill>
            <a:prstDash val="solid"/>
          </a:ln>
        </p:spPr>
      </p:sp>
      <p:sp>
        <p:nvSpPr>
          <p:cNvPr id="17" name="Text 15"/>
          <p:cNvSpPr/>
          <p:nvPr/>
        </p:nvSpPr>
        <p:spPr>
          <a:xfrm>
            <a:off x="756208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LABS</a:t>
            </a:r>
            <a:endParaRPr lang="en-US" sz="900" dirty="0"/>
          </a:p>
        </p:txBody>
      </p:sp>
      <p:sp>
        <p:nvSpPr>
          <p:cNvPr id="18" name="Text 16"/>
          <p:cNvSpPr/>
          <p:nvPr/>
        </p:nvSpPr>
        <p:spPr>
          <a:xfrm>
            <a:off x="756208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 + 1 incident</a:t>
            </a:r>
            <a:endParaRPr lang="en-US" sz="1300" dirty="0"/>
          </a:p>
        </p:txBody>
      </p:sp>
      <p:sp>
        <p:nvSpPr>
          <p:cNvPr id="19" name="Text 17"/>
          <p:cNvSpPr/>
          <p:nvPr/>
        </p:nvSpPr>
        <p:spPr>
          <a:xfrm>
            <a:off x="566928" y="5943600"/>
            <a:ext cx="8229600" cy="274320"/>
          </a:xfrm>
          <a:prstGeom prst="rect">
            <a:avLst/>
          </a:prstGeom>
          <a:noFill/>
          <a:ln/>
        </p:spPr>
        <p:txBody>
          <a:bodyPr wrap="square" lIns="0" tIns="0" rIns="0" bIns="0" rtlCol="0" anchor="ctr"/>
          <a:lstStyle/>
          <a:p>
            <a:pPr indent="0" marL="0">
              <a:buNone/>
            </a:pPr>
            <a:r>
              <a:rPr lang="en-US" sz="1000" dirty="0">
                <a:solidFill>
                  <a:srgbClr val="63758B"/>
                </a:solidFill>
                <a:latin typeface="Calibri" pitchFamily="34" charset="0"/>
                <a:ea typeface="Calibri" pitchFamily="34" charset="-122"/>
                <a:cs typeface="Calibri" pitchFamily="34" charset="-120"/>
              </a:rPr>
              <a:t>Yesterday you gave the platform a memory. Today anyone in the cluster can read it.</a:t>
            </a:r>
            <a:endParaRPr lang="en-US" sz="1000" dirty="0"/>
          </a:p>
        </p:txBody>
      </p:sp>
      <p:pic>
        <p:nvPicPr>
          <p:cNvPr id="20"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1" name="NobleProg Wordmark"/>
          <p:cNvSpPr txBox="1"/>
          <p:nvPr/>
        </p:nvSpPr>
        <p:spPr>
          <a:xfrm>
            <a:off x="479376" y="332656"/>
            <a:ext cx="2733441" cy="830997"/>
          </a:xfrm>
          <a:prstGeom prst="rect">
            <a:avLst/>
          </a:prstGeom>
          <a:noFill/>
        </p:spPr>
        <p:txBody>
          <a:bodyPr wrap="none">
            <a:spAutoFit/>
          </a:bodyPr>
          <a:lstStyle/>
          <a:p>
            <a:r>
              <a:rPr sz="4800" b="1" i="1">
                <a:solidFill>
                  <a:srgbClr val="006EBE"/>
                </a:solidFill>
                <a:latin typeface="Arial Narrow"/>
              </a:rPr>
              <a:t>NobleProg</a:t>
            </a:r>
          </a:p>
        </p:txBody>
      </p:sp>
      <p:pic>
        <p:nvPicPr>
          <p:cNvPr id="22" name="NobleProg Logo" descr="nobleprog_logo.png"/>
          <p:cNvPicPr>
            <a:picLocks noChangeAspect="1"/>
          </p:cNvPicPr>
          <p:nvPr/>
        </p:nvPicPr>
        <p:blipFill>
          <a:blip r:embed="rId4"/>
          <a:stretch>
            <a:fillRect/>
          </a:stretch>
        </p:blipFill>
        <p:spPr>
          <a:xfrm>
            <a:off x="9201482" y="-3240"/>
            <a:ext cx="2946216" cy="1112760"/>
          </a:xfrm>
          <a:prstGeom prst="rect">
            <a:avLst/>
          </a:prstGeom>
        </p:spPr>
      </p:pic>
      <p:sp>
        <p:nvSpPr>
          <p:cNvPr id="23"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751076"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175107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MORNING RECAP</a:t>
            </a:r>
            <a:endParaRPr lang="en-US" sz="1100" dirty="0"/>
          </a:p>
        </p:txBody>
      </p:sp>
      <p:sp>
        <p:nvSpPr>
          <p:cNvPr id="4" name="Shape 2"/>
          <p:cNvSpPr/>
          <p:nvPr/>
        </p:nvSpPr>
        <p:spPr>
          <a:xfrm>
            <a:off x="566928" y="1143000"/>
            <a:ext cx="11057839" cy="2286000"/>
          </a:xfrm>
          <a:prstGeom prst="roundRect">
            <a:avLst>
              <a:gd name="adj" fmla="val 4800"/>
            </a:avLst>
          </a:prstGeom>
          <a:solidFill>
            <a:srgbClr val="12314F"/>
          </a:solidFill>
          <a:ln w="12700">
            <a:solidFill>
              <a:srgbClr val="F2A03D"/>
            </a:solidFill>
            <a:prstDash val="solid"/>
          </a:ln>
        </p:spPr>
      </p:sp>
      <p:sp>
        <p:nvSpPr>
          <p:cNvPr id="5" name="Text 3"/>
          <p:cNvSpPr/>
          <p:nvPr/>
        </p:nvSpPr>
        <p:spPr>
          <a:xfrm>
            <a:off x="841248" y="1143000"/>
            <a:ext cx="914400" cy="2286000"/>
          </a:xfrm>
          <a:prstGeom prst="rect">
            <a:avLst/>
          </a:prstGeom>
          <a:noFill/>
          <a:ln/>
        </p:spPr>
        <p:txBody>
          <a:bodyPr wrap="square" lIns="0" tIns="0" rIns="0" bIns="0" rtlCol="0" anchor="ctr"/>
          <a:lstStyle/>
          <a:p>
            <a:pPr algn="ctr" indent="0" marL="0">
              <a:buNone/>
            </a:pPr>
            <a:r>
              <a:rPr lang="en-US" sz="7400" b="1" dirty="0">
                <a:solidFill>
                  <a:srgbClr val="F2A03D"/>
                </a:solidFill>
                <a:latin typeface="Cambria" pitchFamily="34" charset="0"/>
                <a:ea typeface="Cambria" pitchFamily="34" charset="-122"/>
                <a:cs typeface="Cambria" pitchFamily="34" charset="-120"/>
              </a:rPr>
              <a:t>?</a:t>
            </a:r>
            <a:endParaRPr lang="en-US" sz="7400" dirty="0"/>
          </a:p>
        </p:txBody>
      </p:sp>
      <p:sp>
        <p:nvSpPr>
          <p:cNvPr id="6" name="Text 4"/>
          <p:cNvSpPr/>
          <p:nvPr/>
        </p:nvSpPr>
        <p:spPr>
          <a:xfrm>
            <a:off x="1892808" y="1143000"/>
            <a:ext cx="9320479" cy="2286000"/>
          </a:xfrm>
          <a:prstGeom prst="rect">
            <a:avLst/>
          </a:prstGeom>
          <a:noFill/>
          <a:ln/>
        </p:spPr>
        <p:txBody>
          <a:bodyPr wrap="square" lIns="0" tIns="0" rIns="0" bIns="0" rtlCol="0" anchor="ctr"/>
          <a:lstStyle/>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Five from yesterday. Answer out loud.</a:t>
            </a:r>
            <a:endParaRPr lang="en-US" sz="2500" dirty="0"/>
          </a:p>
        </p:txBody>
      </p:sp>
      <p:sp>
        <p:nvSpPr>
          <p:cNvPr id="7" name="Text 5"/>
          <p:cNvSpPr/>
          <p:nvPr/>
        </p:nvSpPr>
        <p:spPr>
          <a:xfrm>
            <a:off x="566928" y="3630168"/>
            <a:ext cx="6400800" cy="274320"/>
          </a:xfrm>
          <a:prstGeom prst="rect">
            <a:avLst/>
          </a:prstGeom>
          <a:noFill/>
          <a:ln/>
        </p:spPr>
        <p:txBody>
          <a:bodyPr wrap="square" lIns="0" tIns="0" rIns="0" bIns="0" rtlCol="0" anchor="ctr"/>
          <a:lstStyle/>
          <a:p>
            <a:pPr indent="0" marL="0">
              <a:buNone/>
            </a:pPr>
            <a:r>
              <a:rPr lang="en-US" sz="1100" b="1" spc="100" kern="0" dirty="0">
                <a:solidFill>
                  <a:srgbClr val="F2A03D"/>
                </a:solidFill>
                <a:latin typeface="Calibri" pitchFamily="34" charset="0"/>
                <a:ea typeface="Calibri" pitchFamily="34" charset="-122"/>
                <a:cs typeface="Calibri" pitchFamily="34" charset="-120"/>
              </a:rPr>
              <a:t>Answers</a:t>
            </a:r>
            <a:endParaRPr lang="en-US" sz="1100" dirty="0"/>
          </a:p>
        </p:txBody>
      </p:sp>
      <p:sp>
        <p:nvSpPr>
          <p:cNvPr id="8" name="Text 6"/>
          <p:cNvSpPr/>
          <p:nvPr/>
        </p:nvSpPr>
        <p:spPr>
          <a:xfrm>
            <a:off x="640080" y="3922776"/>
            <a:ext cx="10966399" cy="245059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Change a ConfigMap — do running pods see it?  →  env: no. volume: yes, ~60s.</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Is a Secret encrypted?  →  No. base64. RBAC + etcd encryption at rest protect it.</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ReadWriteOnce — once what?  →  one NODE, not one pod</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Three things a StatefulSet gives?  →  stable name, stable storage, ordering</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What does fsGroup do?  →  chowns the volume so a non-root process can write</a:t>
            </a:r>
            <a:endParaRPr lang="en-US" sz="1350" dirty="0"/>
          </a:p>
        </p:txBody>
      </p:sp>
      <p:sp>
        <p:nvSpPr>
          <p:cNvPr id="9" name="Text 7"/>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0" name="Text 8"/>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a:t>
            </a:r>
            <a:endParaRPr lang="en-US" sz="900" dirty="0"/>
          </a:p>
        </p:txBody>
      </p:sp>
      <p:pic>
        <p:nvPicPr>
          <p:cNvPr id="11"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2"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3"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00584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0058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What is missing, and what it costs</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A cluster is not production-ready just because pods run. Day 4 adds the platform controls that keep names stable, expose workloads safely, segment traffic, guide scheduling and preserve availability during routine maintenance.</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657600"/>
                <a:gridCol w="5303520"/>
                <a:gridCol w="2103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Missing right now</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costs you</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Fixed in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route in from outside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 user or partner system can reach the app. port-forward is a debugging tunnel, not a product edge.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L4.3</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TLS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Credentials and payloads cross the network in clear text.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L4.3</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Flat pod network</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The DMZ can read the payments database. A PCI finding.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L4.4</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placement control</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All three payment replicas can land on one node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L4.5</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disruption budget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node drain takes every replica at once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L4.6</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DNS still unopened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You have relied on names like payment-service for three days without seeing the resolver behind them.</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L4.2</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3</a:t>
            </a:r>
            <a:endParaRPr lang="en-US" sz="900" dirty="0"/>
          </a:p>
        </p:txBody>
      </p:sp>
      <p:pic>
        <p:nvPicPr>
          <p:cNvPr id="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4000" b="1" dirty="0">
                <a:solidFill>
                  <a:srgbClr val="F2A03D"/>
                </a:solidFill>
                <a:latin typeface="Cambria" pitchFamily="34" charset="0"/>
                <a:ea typeface="Cambria" pitchFamily="34" charset="-122"/>
                <a:cs typeface="Cambria" pitchFamily="34" charset="-120"/>
              </a:rPr>
              <a:t>M4.1 – M4.2</a:t>
            </a:r>
            <a:endParaRPr lang="en-US" sz="40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cluster network and Service types</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Four rules, five Service types, and no proxy in the request path</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State the four Kubernetes networking rules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Choose between ClusterIP, NodePort, LoadBalancer, ExternalName and headless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Explain how EndpointSlices are populated</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75 min</a:t>
            </a:r>
            <a:endParaRPr lang="en-US" sz="1100" dirty="0"/>
          </a:p>
        </p:txBody>
      </p:sp>
      <p:pic>
        <p:nvPicPr>
          <p:cNvPr id="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17170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1717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M4.1 · NETWORKING</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The four rules Kubernetes demands of any network plugin</a:t>
            </a:r>
            <a:endParaRPr lang="en-US" sz="3200" dirty="0"/>
          </a:p>
        </p:txBody>
      </p:sp>
      <p:sp>
        <p:nvSpPr>
          <p:cNvPr id="5" name="Text 3"/>
          <p:cNvSpPr/>
          <p:nvPr/>
        </p:nvSpPr>
        <p:spPr>
          <a:xfrm>
            <a:off x="566928" y="1737360"/>
            <a:ext cx="11057839" cy="457200"/>
          </a:xfrm>
          <a:prstGeom prst="rect">
            <a:avLst/>
          </a:prstGeom>
          <a:noFill/>
          <a:ln/>
        </p:spPr>
        <p:txBody>
          <a:bodyPr wrap="square" lIns="0" tIns="0" rIns="0" bIns="0" rtlCol="0" anchor="ctr"/>
          <a:lstStyle/>
          <a:p>
            <a:pPr indent="0" marL="0">
              <a:lnSpc>
                <a:spcPts val="1700"/>
              </a:lnSpc>
              <a:buNone/>
            </a:pPr>
            <a:r>
              <a:rPr lang="en-US" sz="1350" i="1" dirty="0">
                <a:solidFill>
                  <a:srgbClr val="1C7293"/>
                </a:solidFill>
                <a:latin typeface="Calibri" pitchFamily="34" charset="0"/>
                <a:ea typeface="Calibri" pitchFamily="34" charset="-122"/>
                <a:cs typeface="Calibri" pitchFamily="34" charset="-120"/>
              </a:rPr>
              <a:t>Kubernetes assumes a flat, routable pod network in which every pod is a first-class IP endpoint and cluster components can reach pods directly without host-port translation. The API defines that contract; the CNI plugin turns it into real routes and packet handling.</a:t>
            </a:r>
            <a:endParaRPr lang="en-US" sz="1350" dirty="0"/>
          </a:p>
        </p:txBody>
      </p:sp>
      <p:sp>
        <p:nvSpPr>
          <p:cNvPr id="6" name="Shape 4"/>
          <p:cNvSpPr/>
          <p:nvPr/>
        </p:nvSpPr>
        <p:spPr>
          <a:xfrm>
            <a:off x="566928" y="2249424"/>
            <a:ext cx="11057839" cy="566928"/>
          </a:xfrm>
          <a:prstGeom prst="roundRect">
            <a:avLst>
              <a:gd name="adj" fmla="val 12903"/>
            </a:avLst>
          </a:prstGeom>
          <a:solidFill>
            <a:srgbClr val="EAF1F8"/>
          </a:solidFill>
          <a:ln w="12700">
            <a:solidFill>
              <a:srgbClr val="1C7293"/>
            </a:solidFill>
            <a:prstDash val="solid"/>
          </a:ln>
        </p:spPr>
      </p:sp>
      <p:sp>
        <p:nvSpPr>
          <p:cNvPr id="7" name="Text 5"/>
          <p:cNvSpPr/>
          <p:nvPr/>
        </p:nvSpPr>
        <p:spPr>
          <a:xfrm>
            <a:off x="768096" y="2249424"/>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Kubernetes does not implement networking. So what does it actually require?</a:t>
            </a:r>
            <a:endParaRPr lang="en-US" sz="1500" dirty="0"/>
          </a:p>
        </p:txBody>
      </p:sp>
      <p:sp>
        <p:nvSpPr>
          <p:cNvPr id="8" name="Shape 6"/>
          <p:cNvSpPr/>
          <p:nvPr/>
        </p:nvSpPr>
        <p:spPr>
          <a:xfrm>
            <a:off x="566928" y="3160395"/>
            <a:ext cx="402336" cy="402336"/>
          </a:xfrm>
          <a:prstGeom prst="ellipse">
            <a:avLst/>
          </a:prstGeom>
          <a:solidFill>
            <a:srgbClr val="1C7293"/>
          </a:solidFill>
          <a:ln w="12700">
            <a:solidFill>
              <a:srgbClr val="1C7293"/>
            </a:solidFill>
            <a:prstDash val="solid"/>
          </a:ln>
        </p:spPr>
      </p:sp>
      <p:sp>
        <p:nvSpPr>
          <p:cNvPr id="9" name="Text 7"/>
          <p:cNvSpPr/>
          <p:nvPr/>
        </p:nvSpPr>
        <p:spPr>
          <a:xfrm>
            <a:off x="566928" y="31603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p:nvPr/>
        </p:nvSpPr>
        <p:spPr>
          <a:xfrm>
            <a:off x="1133856" y="2999232"/>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Every pod gets an IP</a:t>
            </a:r>
            <a:endParaRPr lang="en-US" sz="1400" dirty="0"/>
          </a:p>
        </p:txBody>
      </p:sp>
      <p:sp>
        <p:nvSpPr>
          <p:cNvPr id="11" name="Text 9"/>
          <p:cNvSpPr/>
          <p:nvPr/>
        </p:nvSpPr>
        <p:spPr>
          <a:xfrm>
            <a:off x="4407408" y="2999232"/>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`web-app` pod and an `api` pod each get their own address, so both can listen on 8080 without colliding on one host port.</a:t>
            </a:r>
            <a:endParaRPr lang="en-US" sz="1250" dirty="0"/>
          </a:p>
        </p:txBody>
      </p:sp>
      <p:sp>
        <p:nvSpPr>
          <p:cNvPr id="12" name="Shape 10"/>
          <p:cNvSpPr/>
          <p:nvPr/>
        </p:nvSpPr>
        <p:spPr>
          <a:xfrm>
            <a:off x="566928" y="3885057"/>
            <a:ext cx="402336" cy="402336"/>
          </a:xfrm>
          <a:prstGeom prst="ellipse">
            <a:avLst/>
          </a:prstGeom>
          <a:solidFill>
            <a:srgbClr val="1C7293"/>
          </a:solidFill>
          <a:ln w="12700">
            <a:solidFill>
              <a:srgbClr val="1C7293"/>
            </a:solidFill>
            <a:prstDash val="solid"/>
          </a:ln>
        </p:spPr>
      </p:sp>
      <p:sp>
        <p:nvSpPr>
          <p:cNvPr id="13" name="Text 11"/>
          <p:cNvSpPr/>
          <p:nvPr/>
        </p:nvSpPr>
        <p:spPr>
          <a:xfrm>
            <a:off x="566928" y="388505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1133856" y="3723894"/>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Pod-to-pod is direct</a:t>
            </a:r>
            <a:endParaRPr lang="en-US" sz="1400" dirty="0"/>
          </a:p>
        </p:txBody>
      </p:sp>
      <p:sp>
        <p:nvSpPr>
          <p:cNvPr id="15" name="Text 13"/>
          <p:cNvSpPr/>
          <p:nvPr/>
        </p:nvSpPr>
        <p:spPr>
          <a:xfrm>
            <a:off x="4407408" y="3723894"/>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When `web-app` calls `api`, it routes to the pod IP itself. Cross-node traffic should not need port maps or hide the caller's real IP.</a:t>
            </a:r>
            <a:endParaRPr lang="en-US" sz="1250" dirty="0"/>
          </a:p>
        </p:txBody>
      </p:sp>
      <p:sp>
        <p:nvSpPr>
          <p:cNvPr id="16" name="Shape 14"/>
          <p:cNvSpPr/>
          <p:nvPr/>
        </p:nvSpPr>
        <p:spPr>
          <a:xfrm>
            <a:off x="566928" y="4609719"/>
            <a:ext cx="402336" cy="402336"/>
          </a:xfrm>
          <a:prstGeom prst="ellipse">
            <a:avLst/>
          </a:prstGeom>
          <a:solidFill>
            <a:srgbClr val="2E9E63"/>
          </a:solidFill>
          <a:ln w="12700">
            <a:solidFill>
              <a:srgbClr val="2E9E63"/>
            </a:solidFill>
            <a:prstDash val="solid"/>
          </a:ln>
        </p:spPr>
      </p:sp>
      <p:sp>
        <p:nvSpPr>
          <p:cNvPr id="17" name="Text 15"/>
          <p:cNvSpPr/>
          <p:nvPr/>
        </p:nvSpPr>
        <p:spPr>
          <a:xfrm>
            <a:off x="566928" y="460971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1133856" y="4448556"/>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Nodes can reach AxisPay pods</a:t>
            </a:r>
            <a:endParaRPr lang="en-US" sz="1400" dirty="0"/>
          </a:p>
        </p:txBody>
      </p:sp>
      <p:sp>
        <p:nvSpPr>
          <p:cNvPr id="19" name="Text 17"/>
          <p:cNvSpPr/>
          <p:nvPr/>
        </p:nvSpPr>
        <p:spPr>
          <a:xfrm>
            <a:off x="4407408" y="4448556"/>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That is how kubelet probes hit AxisPay pods directly, and how node agents can inspect or scrape `payment-service` without inventing extra host ports.</a:t>
            </a:r>
            <a:endParaRPr lang="en-US" sz="1250" dirty="0"/>
          </a:p>
        </p:txBody>
      </p:sp>
      <p:sp>
        <p:nvSpPr>
          <p:cNvPr id="20" name="Shape 18"/>
          <p:cNvSpPr/>
          <p:nvPr/>
        </p:nvSpPr>
        <p:spPr>
          <a:xfrm>
            <a:off x="566928" y="5334381"/>
            <a:ext cx="402336" cy="402336"/>
          </a:xfrm>
          <a:prstGeom prst="ellipse">
            <a:avLst/>
          </a:prstGeom>
          <a:solidFill>
            <a:srgbClr val="2E9E63"/>
          </a:solidFill>
          <a:ln w="12700">
            <a:solidFill>
              <a:srgbClr val="2E9E63"/>
            </a:solidFill>
            <a:prstDash val="solid"/>
          </a:ln>
        </p:spPr>
      </p:sp>
      <p:sp>
        <p:nvSpPr>
          <p:cNvPr id="21" name="Text 19"/>
          <p:cNvSpPr/>
          <p:nvPr/>
        </p:nvSpPr>
        <p:spPr>
          <a:xfrm>
            <a:off x="566928" y="5334381"/>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133856" y="5173218"/>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Pods see their real address</a:t>
            </a:r>
            <a:endParaRPr lang="en-US" sz="1400" dirty="0"/>
          </a:p>
        </p:txBody>
      </p:sp>
      <p:sp>
        <p:nvSpPr>
          <p:cNvPr id="23" name="Text 21"/>
          <p:cNvSpPr/>
          <p:nvPr/>
        </p:nvSpPr>
        <p:spPr>
          <a:xfrm>
            <a:off x="4407408" y="5173218"/>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If `fraud-service` reports its own pod IP in telemetry or a debug trace, `edge-gateway` and every other consumer must be able to use that exact address unchanged.</a:t>
            </a:r>
            <a:endParaRPr lang="en-US" sz="1250" dirty="0"/>
          </a:p>
        </p:txBody>
      </p:sp>
      <p:sp>
        <p:nvSpPr>
          <p:cNvPr id="24" name="Text 22"/>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Kubernetes defines the contract; Calico, Cilium or Flannel implement it. That is why the CNI choice matters so much on Thursday.</a:t>
            </a:r>
            <a:endParaRPr lang="en-US" sz="1400" dirty="0"/>
          </a:p>
        </p:txBody>
      </p:sp>
      <p:sp>
        <p:nvSpPr>
          <p:cNvPr id="25" name="Text 2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26" name="Text 2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5</a:t>
            </a:r>
            <a:endParaRPr lang="en-US" sz="900" dirty="0"/>
          </a:p>
        </p:txBody>
      </p:sp>
      <p:pic>
        <p:nvPicPr>
          <p:cNvPr id="2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M4.2 · SERVICES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Five Service types — choose by what you need</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A Kubernetes Service gives clients a stable virtual endpoint — DNS name plus, usually, a ClusterIP — while controllers keep its backend set aligned with label-selected ready pods. Clients talk to the Service; kube-proxy or the CNI steers each new connection to one backend.</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2286000"/>
                <a:gridCol w="4572000"/>
                <a:gridCol w="4206240"/>
              </a:tblGrid>
              <a:tr h="60350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Use it when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60350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ClusterIP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Stable virtual IP, reachable only inside the cluster</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Inside a cluster — for example, `web-app` calling `checkout-api` by DNS.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NodePort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Opens the SAME port on EVERY node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Quick demos or lab access to a `web-app`; in production it widens attack surface.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60350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LoadBalancer</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Asks the cloud or metal LB for an external VIP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Publishing AxisPay's `edge-gateway` on a cloud-managed public address.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ExternalName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DNS CNAME only. No proxy, no endpoints.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Giving an external fraud or banking endpoint a stable in-cluster name for AxisPay callers.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60350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Headless (clusterIP: None)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DNS returns pod IPs/SRV records, not one VIP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Returning individual `postgres` pod addresses when AxisPay needs StatefulSet identity or client-side balancing.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6</a:t>
            </a:r>
            <a:endParaRPr lang="en-US" sz="900" dirty="0"/>
          </a:p>
        </p:txBody>
      </p:sp>
      <p:pic>
        <p:nvPicPr>
          <p:cNvPr id="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M4.2 · SERVICES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ClusterIP, NodePort and LoadBalancer differ on the wire</a:t>
            </a:r>
            <a:endParaRPr lang="en-US" sz="3200" dirty="0"/>
          </a:p>
        </p:txBody>
      </p:sp>
      <p:sp>
        <p:nvSpPr>
          <p:cNvPr id="5" name="Shape 3"/>
          <p:cNvSpPr/>
          <p:nvPr/>
        </p:nvSpPr>
        <p:spPr>
          <a:xfrm>
            <a:off x="566928" y="1828800"/>
            <a:ext cx="3611880" cy="3337560"/>
          </a:xfrm>
          <a:prstGeom prst="roundRect">
            <a:avLst>
              <a:gd name="adj" fmla="val 2740"/>
            </a:avLst>
          </a:prstGeom>
          <a:solidFill>
            <a:srgbClr val="12314F"/>
          </a:solidFill>
          <a:ln w="12700">
            <a:solidFill>
              <a:srgbClr val="1C7293"/>
            </a:solidFill>
            <a:prstDash val="solid"/>
          </a:ln>
        </p:spPr>
      </p:sp>
      <p:sp>
        <p:nvSpPr>
          <p:cNvPr id="6" name="Text 4"/>
          <p:cNvSpPr/>
          <p:nvPr/>
        </p:nvSpPr>
        <p:spPr>
          <a:xfrm>
            <a:off x="676656" y="1920240"/>
            <a:ext cx="3392424" cy="274320"/>
          </a:xfrm>
          <a:prstGeom prst="rect">
            <a:avLst/>
          </a:prstGeom>
          <a:noFill/>
          <a:ln/>
        </p:spPr>
        <p:txBody>
          <a:bodyPr wrap="square" lIns="0" tIns="0" rIns="0" bIns="0" rtlCol="0" anchor="ctr"/>
          <a:lstStyle/>
          <a:p>
            <a:pPr algn="ctr" indent="0" marL="0">
              <a:buNone/>
            </a:pPr>
            <a:r>
              <a:rPr lang="en-US" sz="1050" b="1" spc="100" kern="0" dirty="0">
                <a:solidFill>
                  <a:srgbClr val="1C7293"/>
                </a:solidFill>
                <a:latin typeface="Calibri" pitchFamily="34" charset="0"/>
                <a:ea typeface="Calibri" pitchFamily="34" charset="-122"/>
                <a:cs typeface="Calibri" pitchFamily="34" charset="-120"/>
              </a:rPr>
              <a:t>CLUSTERIP</a:t>
            </a:r>
            <a:endParaRPr lang="en-US" sz="1050" dirty="0"/>
          </a:p>
        </p:txBody>
      </p:sp>
      <p:sp>
        <p:nvSpPr>
          <p:cNvPr id="7" name="Shape 5"/>
          <p:cNvSpPr/>
          <p:nvPr/>
        </p:nvSpPr>
        <p:spPr>
          <a:xfrm>
            <a:off x="868680" y="2880360"/>
            <a:ext cx="960120" cy="713232"/>
          </a:xfrm>
          <a:prstGeom prst="roundRect">
            <a:avLst>
              <a:gd name="adj" fmla="val 10256"/>
            </a:avLst>
          </a:prstGeom>
          <a:solidFill>
            <a:srgbClr val="1B4066"/>
          </a:solidFill>
          <a:ln w="12700">
            <a:solidFill>
              <a:srgbClr val="1B4066"/>
            </a:solidFill>
            <a:prstDash val="solid"/>
          </a:ln>
        </p:spPr>
      </p:sp>
      <p:sp>
        <p:nvSpPr>
          <p:cNvPr id="8" name="Text 6"/>
          <p:cNvSpPr/>
          <p:nvPr/>
        </p:nvSpPr>
        <p:spPr>
          <a:xfrm>
            <a:off x="941832" y="2990088"/>
            <a:ext cx="813816" cy="32808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web-app</a:t>
            </a:r>
            <a:endParaRPr lang="en-US" sz="1400" dirty="0"/>
          </a:p>
        </p:txBody>
      </p:sp>
      <p:sp>
        <p:nvSpPr>
          <p:cNvPr id="9" name="Text 7"/>
          <p:cNvSpPr/>
          <p:nvPr/>
        </p:nvSpPr>
        <p:spPr>
          <a:xfrm>
            <a:off x="941832" y="3236976"/>
            <a:ext cx="813816" cy="31382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client</a:t>
            </a:r>
            <a:endParaRPr lang="en-US" sz="1050" dirty="0"/>
          </a:p>
        </p:txBody>
      </p:sp>
      <p:sp>
        <p:nvSpPr>
          <p:cNvPr id="10" name="Shape 8"/>
          <p:cNvSpPr/>
          <p:nvPr/>
        </p:nvSpPr>
        <p:spPr>
          <a:xfrm>
            <a:off x="2084832" y="2788920"/>
            <a:ext cx="1188720" cy="868680"/>
          </a:xfrm>
          <a:prstGeom prst="roundRect">
            <a:avLst>
              <a:gd name="adj" fmla="val 8421"/>
            </a:avLst>
          </a:prstGeom>
          <a:solidFill>
            <a:srgbClr val="1C7293"/>
          </a:solidFill>
          <a:ln w="12700">
            <a:solidFill>
              <a:srgbClr val="1C7293"/>
            </a:solidFill>
            <a:prstDash val="solid"/>
          </a:ln>
        </p:spPr>
      </p:sp>
      <p:sp>
        <p:nvSpPr>
          <p:cNvPr id="11" name="Text 9"/>
          <p:cNvSpPr/>
          <p:nvPr/>
        </p:nvSpPr>
        <p:spPr>
          <a:xfrm>
            <a:off x="2157984" y="2898648"/>
            <a:ext cx="1042416" cy="399593"/>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Service</a:t>
            </a:r>
            <a:endParaRPr lang="en-US" sz="1400" dirty="0"/>
          </a:p>
        </p:txBody>
      </p:sp>
      <p:sp>
        <p:nvSpPr>
          <p:cNvPr id="12" name="Text 10"/>
          <p:cNvSpPr/>
          <p:nvPr/>
        </p:nvSpPr>
        <p:spPr>
          <a:xfrm>
            <a:off x="2157984" y="3223260"/>
            <a:ext cx="1042416" cy="382219"/>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10.96.0.25</a:t>
            </a:r>
            <a:endParaRPr lang="en-US" sz="1050" dirty="0"/>
          </a:p>
        </p:txBody>
      </p:sp>
      <p:sp>
        <p:nvSpPr>
          <p:cNvPr id="13" name="Shape 11"/>
          <p:cNvSpPr/>
          <p:nvPr/>
        </p:nvSpPr>
        <p:spPr>
          <a:xfrm>
            <a:off x="3502152" y="2331720"/>
            <a:ext cx="502920" cy="658368"/>
          </a:xfrm>
          <a:prstGeom prst="roundRect">
            <a:avLst>
              <a:gd name="adj" fmla="val 14545"/>
            </a:avLst>
          </a:prstGeom>
          <a:solidFill>
            <a:srgbClr val="2E9E63"/>
          </a:solidFill>
          <a:ln w="12700">
            <a:solidFill>
              <a:srgbClr val="2E9E63"/>
            </a:solidFill>
            <a:prstDash val="solid"/>
          </a:ln>
        </p:spPr>
      </p:sp>
      <p:sp>
        <p:nvSpPr>
          <p:cNvPr id="14" name="Text 12"/>
          <p:cNvSpPr/>
          <p:nvPr/>
        </p:nvSpPr>
        <p:spPr>
          <a:xfrm>
            <a:off x="3575304" y="2441448"/>
            <a:ext cx="356616" cy="30284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15" name="Text 13"/>
          <p:cNvSpPr/>
          <p:nvPr/>
        </p:nvSpPr>
        <p:spPr>
          <a:xfrm>
            <a:off x="3575304" y="2660904"/>
            <a:ext cx="356616" cy="28968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a:t>
            </a:r>
            <a:endParaRPr lang="en-US" sz="1050" dirty="0"/>
          </a:p>
        </p:txBody>
      </p:sp>
      <p:sp>
        <p:nvSpPr>
          <p:cNvPr id="16" name="Shape 14"/>
          <p:cNvSpPr/>
          <p:nvPr/>
        </p:nvSpPr>
        <p:spPr>
          <a:xfrm>
            <a:off x="3502152" y="3154680"/>
            <a:ext cx="502920" cy="658368"/>
          </a:xfrm>
          <a:prstGeom prst="roundRect">
            <a:avLst>
              <a:gd name="adj" fmla="val 14545"/>
            </a:avLst>
          </a:prstGeom>
          <a:solidFill>
            <a:srgbClr val="2E9E63"/>
          </a:solidFill>
          <a:ln w="12700">
            <a:solidFill>
              <a:srgbClr val="2E9E63"/>
            </a:solidFill>
            <a:prstDash val="solid"/>
          </a:ln>
        </p:spPr>
      </p:sp>
      <p:sp>
        <p:nvSpPr>
          <p:cNvPr id="17" name="Text 15"/>
          <p:cNvSpPr/>
          <p:nvPr/>
        </p:nvSpPr>
        <p:spPr>
          <a:xfrm>
            <a:off x="3575304" y="3264408"/>
            <a:ext cx="356616" cy="30284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18" name="Text 16"/>
          <p:cNvSpPr/>
          <p:nvPr/>
        </p:nvSpPr>
        <p:spPr>
          <a:xfrm>
            <a:off x="3575304" y="3483864"/>
            <a:ext cx="356616" cy="28968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b</a:t>
            </a:r>
            <a:endParaRPr lang="en-US" sz="1050" dirty="0"/>
          </a:p>
        </p:txBody>
      </p:sp>
      <p:sp>
        <p:nvSpPr>
          <p:cNvPr id="19" name="Shape 17"/>
          <p:cNvSpPr/>
          <p:nvPr/>
        </p:nvSpPr>
        <p:spPr>
          <a:xfrm>
            <a:off x="1847088" y="3218688"/>
            <a:ext cx="201168" cy="0"/>
          </a:xfrm>
          <a:prstGeom prst="line">
            <a:avLst/>
          </a:prstGeom>
          <a:noFill/>
          <a:ln w="25400">
            <a:solidFill>
              <a:srgbClr val="1C7293"/>
            </a:solidFill>
            <a:prstDash val="solid"/>
            <a:tailEnd type="triangle"/>
          </a:ln>
        </p:spPr>
      </p:sp>
      <p:sp>
        <p:nvSpPr>
          <p:cNvPr id="20" name="Shape 18"/>
          <p:cNvSpPr/>
          <p:nvPr/>
        </p:nvSpPr>
        <p:spPr>
          <a:xfrm>
            <a:off x="3291840" y="3182112"/>
            <a:ext cx="164592" cy="-457200"/>
          </a:xfrm>
          <a:prstGeom prst="line">
            <a:avLst/>
          </a:prstGeom>
          <a:noFill/>
          <a:ln w="25400">
            <a:solidFill>
              <a:srgbClr val="2E9E63"/>
            </a:solidFill>
            <a:prstDash val="solid"/>
            <a:tailEnd type="triangle"/>
          </a:ln>
        </p:spPr>
      </p:sp>
      <p:sp>
        <p:nvSpPr>
          <p:cNvPr id="21" name="Shape 19"/>
          <p:cNvSpPr/>
          <p:nvPr/>
        </p:nvSpPr>
        <p:spPr>
          <a:xfrm>
            <a:off x="3291840" y="3218688"/>
            <a:ext cx="164592" cy="457200"/>
          </a:xfrm>
          <a:prstGeom prst="line">
            <a:avLst/>
          </a:prstGeom>
          <a:noFill/>
          <a:ln w="25400">
            <a:solidFill>
              <a:srgbClr val="2E9E63"/>
            </a:solidFill>
            <a:prstDash val="solid"/>
            <a:tailEnd type="triangle"/>
          </a:ln>
        </p:spPr>
      </p:sp>
      <p:sp>
        <p:nvSpPr>
          <p:cNvPr id="22" name="Text 20"/>
          <p:cNvSpPr/>
          <p:nvPr/>
        </p:nvSpPr>
        <p:spPr>
          <a:xfrm>
            <a:off x="777240" y="4498848"/>
            <a:ext cx="3154680" cy="25603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inside the cluster only</a:t>
            </a:r>
            <a:endParaRPr lang="en-US" sz="1050" dirty="0"/>
          </a:p>
        </p:txBody>
      </p:sp>
      <p:sp>
        <p:nvSpPr>
          <p:cNvPr id="23" name="Shape 21"/>
          <p:cNvSpPr/>
          <p:nvPr/>
        </p:nvSpPr>
        <p:spPr>
          <a:xfrm>
            <a:off x="4297680" y="1828800"/>
            <a:ext cx="3611880" cy="3337560"/>
          </a:xfrm>
          <a:prstGeom prst="roundRect">
            <a:avLst>
              <a:gd name="adj" fmla="val 2740"/>
            </a:avLst>
          </a:prstGeom>
          <a:solidFill>
            <a:srgbClr val="12314F"/>
          </a:solidFill>
          <a:ln w="12700">
            <a:solidFill>
              <a:srgbClr val="F2A03D"/>
            </a:solidFill>
            <a:prstDash val="solid"/>
          </a:ln>
        </p:spPr>
      </p:sp>
      <p:sp>
        <p:nvSpPr>
          <p:cNvPr id="24" name="Text 22"/>
          <p:cNvSpPr/>
          <p:nvPr/>
        </p:nvSpPr>
        <p:spPr>
          <a:xfrm>
            <a:off x="4407408" y="1920240"/>
            <a:ext cx="3392424" cy="274320"/>
          </a:xfrm>
          <a:prstGeom prst="rect">
            <a:avLst/>
          </a:prstGeom>
          <a:noFill/>
          <a:ln/>
        </p:spPr>
        <p:txBody>
          <a:bodyPr wrap="square" lIns="0" tIns="0" rIns="0" bIns="0" rtlCol="0" anchor="ctr"/>
          <a:lstStyle/>
          <a:p>
            <a:pPr algn="ctr" indent="0" marL="0">
              <a:buNone/>
            </a:pPr>
            <a:r>
              <a:rPr lang="en-US" sz="1050" b="1" spc="100" kern="0" dirty="0">
                <a:solidFill>
                  <a:srgbClr val="F2A03D"/>
                </a:solidFill>
                <a:latin typeface="Calibri" pitchFamily="34" charset="0"/>
                <a:ea typeface="Calibri" pitchFamily="34" charset="-122"/>
                <a:cs typeface="Calibri" pitchFamily="34" charset="-120"/>
              </a:rPr>
              <a:t>NODEPORT</a:t>
            </a:r>
            <a:endParaRPr lang="en-US" sz="1050" dirty="0"/>
          </a:p>
        </p:txBody>
      </p:sp>
      <p:sp>
        <p:nvSpPr>
          <p:cNvPr id="25" name="Shape 23"/>
          <p:cNvSpPr/>
          <p:nvPr/>
        </p:nvSpPr>
        <p:spPr>
          <a:xfrm>
            <a:off x="5486400" y="2130552"/>
            <a:ext cx="1143000" cy="658368"/>
          </a:xfrm>
          <a:prstGeom prst="roundRect">
            <a:avLst>
              <a:gd name="adj" fmla="val 11111"/>
            </a:avLst>
          </a:prstGeom>
          <a:solidFill>
            <a:srgbClr val="1B4066"/>
          </a:solidFill>
          <a:ln w="12700">
            <a:solidFill>
              <a:srgbClr val="1B4066"/>
            </a:solidFill>
            <a:prstDash val="solid"/>
          </a:ln>
        </p:spPr>
      </p:sp>
      <p:sp>
        <p:nvSpPr>
          <p:cNvPr id="26" name="Text 24"/>
          <p:cNvSpPr/>
          <p:nvPr/>
        </p:nvSpPr>
        <p:spPr>
          <a:xfrm>
            <a:off x="5559552" y="2240280"/>
            <a:ext cx="996696" cy="30284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browser</a:t>
            </a:r>
            <a:endParaRPr lang="en-US" sz="1400" dirty="0"/>
          </a:p>
        </p:txBody>
      </p:sp>
      <p:sp>
        <p:nvSpPr>
          <p:cNvPr id="27" name="Text 25"/>
          <p:cNvSpPr/>
          <p:nvPr/>
        </p:nvSpPr>
        <p:spPr>
          <a:xfrm>
            <a:off x="5559552" y="2459736"/>
            <a:ext cx="996696" cy="28968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external</a:t>
            </a:r>
            <a:endParaRPr lang="en-US" sz="1050" dirty="0"/>
          </a:p>
        </p:txBody>
      </p:sp>
      <p:sp>
        <p:nvSpPr>
          <p:cNvPr id="28" name="Shape 26"/>
          <p:cNvSpPr/>
          <p:nvPr/>
        </p:nvSpPr>
        <p:spPr>
          <a:xfrm>
            <a:off x="4553712" y="2834640"/>
            <a:ext cx="960120" cy="749808"/>
          </a:xfrm>
          <a:prstGeom prst="roundRect">
            <a:avLst>
              <a:gd name="adj" fmla="val 9756"/>
            </a:avLst>
          </a:prstGeom>
          <a:solidFill>
            <a:srgbClr val="C97B1E"/>
          </a:solidFill>
          <a:ln w="12700">
            <a:solidFill>
              <a:srgbClr val="C97B1E"/>
            </a:solidFill>
            <a:prstDash val="solid"/>
          </a:ln>
        </p:spPr>
      </p:sp>
      <p:sp>
        <p:nvSpPr>
          <p:cNvPr id="29" name="Text 27"/>
          <p:cNvSpPr/>
          <p:nvPr/>
        </p:nvSpPr>
        <p:spPr>
          <a:xfrm>
            <a:off x="4626864" y="2944368"/>
            <a:ext cx="81381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node-a</a:t>
            </a:r>
            <a:endParaRPr lang="en-US" sz="1400" dirty="0"/>
          </a:p>
        </p:txBody>
      </p:sp>
      <p:sp>
        <p:nvSpPr>
          <p:cNvPr id="30" name="Text 28"/>
          <p:cNvSpPr/>
          <p:nvPr/>
        </p:nvSpPr>
        <p:spPr>
          <a:xfrm>
            <a:off x="4626864" y="3209544"/>
            <a:ext cx="81381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:30080</a:t>
            </a:r>
            <a:endParaRPr lang="en-US" sz="1050" dirty="0"/>
          </a:p>
        </p:txBody>
      </p:sp>
      <p:sp>
        <p:nvSpPr>
          <p:cNvPr id="31" name="Shape 29"/>
          <p:cNvSpPr/>
          <p:nvPr/>
        </p:nvSpPr>
        <p:spPr>
          <a:xfrm>
            <a:off x="4553712" y="3703320"/>
            <a:ext cx="960120" cy="749808"/>
          </a:xfrm>
          <a:prstGeom prst="roundRect">
            <a:avLst>
              <a:gd name="adj" fmla="val 9756"/>
            </a:avLst>
          </a:prstGeom>
          <a:solidFill>
            <a:srgbClr val="C97B1E"/>
          </a:solidFill>
          <a:ln w="12700">
            <a:solidFill>
              <a:srgbClr val="C97B1E"/>
            </a:solidFill>
            <a:prstDash val="solid"/>
          </a:ln>
        </p:spPr>
      </p:sp>
      <p:sp>
        <p:nvSpPr>
          <p:cNvPr id="32" name="Text 30"/>
          <p:cNvSpPr/>
          <p:nvPr/>
        </p:nvSpPr>
        <p:spPr>
          <a:xfrm>
            <a:off x="4626864" y="3813048"/>
            <a:ext cx="81381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node-b</a:t>
            </a:r>
            <a:endParaRPr lang="en-US" sz="1400" dirty="0"/>
          </a:p>
        </p:txBody>
      </p:sp>
      <p:sp>
        <p:nvSpPr>
          <p:cNvPr id="33" name="Text 31"/>
          <p:cNvSpPr/>
          <p:nvPr/>
        </p:nvSpPr>
        <p:spPr>
          <a:xfrm>
            <a:off x="4626864" y="4078224"/>
            <a:ext cx="81381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:30080</a:t>
            </a:r>
            <a:endParaRPr lang="en-US" sz="1050" dirty="0"/>
          </a:p>
        </p:txBody>
      </p:sp>
      <p:sp>
        <p:nvSpPr>
          <p:cNvPr id="34" name="Shape 32"/>
          <p:cNvSpPr/>
          <p:nvPr/>
        </p:nvSpPr>
        <p:spPr>
          <a:xfrm>
            <a:off x="5925312" y="3246120"/>
            <a:ext cx="1097280" cy="841248"/>
          </a:xfrm>
          <a:prstGeom prst="roundRect">
            <a:avLst>
              <a:gd name="adj" fmla="val 8696"/>
            </a:avLst>
          </a:prstGeom>
          <a:solidFill>
            <a:srgbClr val="1C7293"/>
          </a:solidFill>
          <a:ln w="12700">
            <a:solidFill>
              <a:srgbClr val="1C7293"/>
            </a:solidFill>
            <a:prstDash val="solid"/>
          </a:ln>
        </p:spPr>
      </p:sp>
      <p:sp>
        <p:nvSpPr>
          <p:cNvPr id="35" name="Text 33"/>
          <p:cNvSpPr/>
          <p:nvPr/>
        </p:nvSpPr>
        <p:spPr>
          <a:xfrm>
            <a:off x="5998464" y="3355848"/>
            <a:ext cx="950976" cy="38697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Service</a:t>
            </a:r>
            <a:endParaRPr lang="en-US" sz="1400" dirty="0"/>
          </a:p>
        </p:txBody>
      </p:sp>
      <p:sp>
        <p:nvSpPr>
          <p:cNvPr id="36" name="Text 34"/>
          <p:cNvSpPr/>
          <p:nvPr/>
        </p:nvSpPr>
        <p:spPr>
          <a:xfrm>
            <a:off x="5998464" y="3666744"/>
            <a:ext cx="950976" cy="370149"/>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nodePort</a:t>
            </a:r>
            <a:endParaRPr lang="en-US" sz="1050" dirty="0"/>
          </a:p>
        </p:txBody>
      </p:sp>
      <p:sp>
        <p:nvSpPr>
          <p:cNvPr id="37" name="Shape 35"/>
          <p:cNvSpPr/>
          <p:nvPr/>
        </p:nvSpPr>
        <p:spPr>
          <a:xfrm>
            <a:off x="7269480" y="2852928"/>
            <a:ext cx="457200" cy="640080"/>
          </a:xfrm>
          <a:prstGeom prst="roundRect">
            <a:avLst>
              <a:gd name="adj" fmla="val 16000"/>
            </a:avLst>
          </a:prstGeom>
          <a:solidFill>
            <a:srgbClr val="2E9E63"/>
          </a:solidFill>
          <a:ln w="12700">
            <a:solidFill>
              <a:srgbClr val="2E9E63"/>
            </a:solidFill>
            <a:prstDash val="solid"/>
          </a:ln>
        </p:spPr>
      </p:sp>
      <p:sp>
        <p:nvSpPr>
          <p:cNvPr id="38" name="Text 36"/>
          <p:cNvSpPr/>
          <p:nvPr/>
        </p:nvSpPr>
        <p:spPr>
          <a:xfrm>
            <a:off x="7342632" y="2962656"/>
            <a:ext cx="310896" cy="29443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39" name="Text 37"/>
          <p:cNvSpPr/>
          <p:nvPr/>
        </p:nvSpPr>
        <p:spPr>
          <a:xfrm>
            <a:off x="7342632" y="3172968"/>
            <a:ext cx="310896" cy="281635"/>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a:t>
            </a:r>
            <a:endParaRPr lang="en-US" sz="1050" dirty="0"/>
          </a:p>
        </p:txBody>
      </p:sp>
      <p:sp>
        <p:nvSpPr>
          <p:cNvPr id="40" name="Shape 38"/>
          <p:cNvSpPr/>
          <p:nvPr/>
        </p:nvSpPr>
        <p:spPr>
          <a:xfrm>
            <a:off x="7269480" y="3675888"/>
            <a:ext cx="457200" cy="640080"/>
          </a:xfrm>
          <a:prstGeom prst="roundRect">
            <a:avLst>
              <a:gd name="adj" fmla="val 16000"/>
            </a:avLst>
          </a:prstGeom>
          <a:solidFill>
            <a:srgbClr val="2E9E63"/>
          </a:solidFill>
          <a:ln w="12700">
            <a:solidFill>
              <a:srgbClr val="2E9E63"/>
            </a:solidFill>
            <a:prstDash val="solid"/>
          </a:ln>
        </p:spPr>
      </p:sp>
      <p:sp>
        <p:nvSpPr>
          <p:cNvPr id="41" name="Text 39"/>
          <p:cNvSpPr/>
          <p:nvPr/>
        </p:nvSpPr>
        <p:spPr>
          <a:xfrm>
            <a:off x="7342632" y="3785616"/>
            <a:ext cx="310896" cy="29443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42" name="Text 40"/>
          <p:cNvSpPr/>
          <p:nvPr/>
        </p:nvSpPr>
        <p:spPr>
          <a:xfrm>
            <a:off x="7342632" y="3995928"/>
            <a:ext cx="310896" cy="281635"/>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b</a:t>
            </a:r>
            <a:endParaRPr lang="en-US" sz="1050" dirty="0"/>
          </a:p>
        </p:txBody>
      </p:sp>
      <p:sp>
        <p:nvSpPr>
          <p:cNvPr id="43" name="Shape 41"/>
          <p:cNvSpPr/>
          <p:nvPr/>
        </p:nvSpPr>
        <p:spPr>
          <a:xfrm>
            <a:off x="6062472" y="2761488"/>
            <a:ext cx="-502920" cy="411480"/>
          </a:xfrm>
          <a:prstGeom prst="line">
            <a:avLst/>
          </a:prstGeom>
          <a:noFill/>
          <a:ln w="25400">
            <a:solidFill>
              <a:srgbClr val="F2A03D"/>
            </a:solidFill>
            <a:prstDash val="solid"/>
            <a:tailEnd type="triangle"/>
          </a:ln>
        </p:spPr>
      </p:sp>
      <p:sp>
        <p:nvSpPr>
          <p:cNvPr id="44" name="Text 42"/>
          <p:cNvSpPr/>
          <p:nvPr/>
        </p:nvSpPr>
        <p:spPr>
          <a:xfrm>
            <a:off x="5605272" y="2583180"/>
            <a:ext cx="2377440" cy="310896"/>
          </a:xfrm>
          <a:prstGeom prst="rect">
            <a:avLst/>
          </a:prstGeom>
          <a:noFill/>
          <a:ln/>
        </p:spPr>
        <p:txBody>
          <a:bodyPr wrap="square" lIns="0" tIns="0" rIns="0" bIns="0" rtlCol="0" anchor="ctr"/>
          <a:lstStyle/>
          <a:p>
            <a:pPr algn="ctr" indent="0" marL="0">
              <a:buNone/>
            </a:pPr>
            <a:r>
              <a:rPr lang="en-US" sz="1000" b="1" dirty="0">
                <a:solidFill>
                  <a:srgbClr val="F2A03D"/>
                </a:solidFill>
                <a:latin typeface="Calibri" pitchFamily="34" charset="0"/>
                <a:ea typeface="Calibri" pitchFamily="34" charset="-122"/>
                <a:cs typeface="Calibri" pitchFamily="34" charset="-120"/>
              </a:rPr>
              <a:t>same port</a:t>
            </a:r>
            <a:endParaRPr lang="en-US" sz="1000" dirty="0"/>
          </a:p>
        </p:txBody>
      </p:sp>
      <p:sp>
        <p:nvSpPr>
          <p:cNvPr id="45" name="Shape 43"/>
          <p:cNvSpPr/>
          <p:nvPr/>
        </p:nvSpPr>
        <p:spPr>
          <a:xfrm>
            <a:off x="6062472" y="2761488"/>
            <a:ext cx="-502920" cy="1234440"/>
          </a:xfrm>
          <a:prstGeom prst="line">
            <a:avLst/>
          </a:prstGeom>
          <a:noFill/>
          <a:ln w="25400">
            <a:solidFill>
              <a:srgbClr val="F2A03D"/>
            </a:solidFill>
            <a:prstDash val="solid"/>
            <a:tailEnd type="triangle"/>
          </a:ln>
        </p:spPr>
      </p:sp>
      <p:sp>
        <p:nvSpPr>
          <p:cNvPr id="46" name="Shape 44"/>
          <p:cNvSpPr/>
          <p:nvPr/>
        </p:nvSpPr>
        <p:spPr>
          <a:xfrm>
            <a:off x="5559552" y="3200400"/>
            <a:ext cx="320040" cy="320040"/>
          </a:xfrm>
          <a:prstGeom prst="line">
            <a:avLst/>
          </a:prstGeom>
          <a:noFill/>
          <a:ln w="25400">
            <a:solidFill>
              <a:srgbClr val="1C7293"/>
            </a:solidFill>
            <a:prstDash val="solid"/>
            <a:tailEnd type="triangle"/>
          </a:ln>
        </p:spPr>
      </p:sp>
      <p:sp>
        <p:nvSpPr>
          <p:cNvPr id="47" name="Shape 45"/>
          <p:cNvSpPr/>
          <p:nvPr/>
        </p:nvSpPr>
        <p:spPr>
          <a:xfrm>
            <a:off x="5559552" y="3931920"/>
            <a:ext cx="320040" cy="-164592"/>
          </a:xfrm>
          <a:prstGeom prst="line">
            <a:avLst/>
          </a:prstGeom>
          <a:noFill/>
          <a:ln w="25400">
            <a:solidFill>
              <a:srgbClr val="1C7293"/>
            </a:solidFill>
            <a:prstDash val="solid"/>
            <a:tailEnd type="triangle"/>
          </a:ln>
        </p:spPr>
      </p:sp>
      <p:sp>
        <p:nvSpPr>
          <p:cNvPr id="48" name="Shape 46"/>
          <p:cNvSpPr/>
          <p:nvPr/>
        </p:nvSpPr>
        <p:spPr>
          <a:xfrm>
            <a:off x="7068312" y="3639312"/>
            <a:ext cx="155448" cy="-411480"/>
          </a:xfrm>
          <a:prstGeom prst="line">
            <a:avLst/>
          </a:prstGeom>
          <a:noFill/>
          <a:ln w="25400">
            <a:solidFill>
              <a:srgbClr val="2E9E63"/>
            </a:solidFill>
            <a:prstDash val="solid"/>
            <a:tailEnd type="triangle"/>
          </a:ln>
        </p:spPr>
      </p:sp>
      <p:sp>
        <p:nvSpPr>
          <p:cNvPr id="49" name="Shape 47"/>
          <p:cNvSpPr/>
          <p:nvPr/>
        </p:nvSpPr>
        <p:spPr>
          <a:xfrm>
            <a:off x="7068312" y="3675888"/>
            <a:ext cx="155448" cy="320040"/>
          </a:xfrm>
          <a:prstGeom prst="line">
            <a:avLst/>
          </a:prstGeom>
          <a:noFill/>
          <a:ln w="25400">
            <a:solidFill>
              <a:srgbClr val="2E9E63"/>
            </a:solidFill>
            <a:prstDash val="solid"/>
            <a:tailEnd type="triangle"/>
          </a:ln>
        </p:spPr>
      </p:sp>
      <p:sp>
        <p:nvSpPr>
          <p:cNvPr id="50" name="Text 48"/>
          <p:cNvSpPr/>
          <p:nvPr/>
        </p:nvSpPr>
        <p:spPr>
          <a:xfrm>
            <a:off x="4526280" y="4498848"/>
            <a:ext cx="3154680" cy="256032"/>
          </a:xfrm>
          <a:prstGeom prst="rect">
            <a:avLst/>
          </a:prstGeom>
          <a:noFill/>
          <a:ln/>
        </p:spPr>
        <p:txBody>
          <a:bodyPr wrap="square" lIns="0" tIns="0" rIns="0" bIns="0" rtlCol="0" anchor="ctr"/>
          <a:lstStyle/>
          <a:p>
            <a:pPr algn="ctr" indent="0" marL="0">
              <a:buNone/>
            </a:pPr>
            <a:r>
              <a:rPr lang="en-US" sz="1000" i="1" dirty="0">
                <a:solidFill>
                  <a:srgbClr val="D8E6F2"/>
                </a:solidFill>
                <a:latin typeface="Calibri" pitchFamily="34" charset="0"/>
                <a:ea typeface="Calibri" pitchFamily="34" charset="-122"/>
                <a:cs typeface="Calibri" pitchFamily="34" charset="-120"/>
              </a:rPr>
              <a:t>every node listens, even if no pod runs there</a:t>
            </a:r>
            <a:endParaRPr lang="en-US" sz="1000" dirty="0"/>
          </a:p>
        </p:txBody>
      </p:sp>
      <p:sp>
        <p:nvSpPr>
          <p:cNvPr id="51" name="Shape 49"/>
          <p:cNvSpPr/>
          <p:nvPr/>
        </p:nvSpPr>
        <p:spPr>
          <a:xfrm>
            <a:off x="8028432" y="1828800"/>
            <a:ext cx="3611880" cy="3337560"/>
          </a:xfrm>
          <a:prstGeom prst="roundRect">
            <a:avLst>
              <a:gd name="adj" fmla="val 2740"/>
            </a:avLst>
          </a:prstGeom>
          <a:solidFill>
            <a:srgbClr val="12314F"/>
          </a:solidFill>
          <a:ln w="12700">
            <a:solidFill>
              <a:srgbClr val="2E9E63"/>
            </a:solidFill>
            <a:prstDash val="solid"/>
          </a:ln>
        </p:spPr>
      </p:sp>
      <p:sp>
        <p:nvSpPr>
          <p:cNvPr id="52" name="Text 50"/>
          <p:cNvSpPr/>
          <p:nvPr/>
        </p:nvSpPr>
        <p:spPr>
          <a:xfrm>
            <a:off x="8138160" y="1920240"/>
            <a:ext cx="3392424" cy="274320"/>
          </a:xfrm>
          <a:prstGeom prst="rect">
            <a:avLst/>
          </a:prstGeom>
          <a:noFill/>
          <a:ln/>
        </p:spPr>
        <p:txBody>
          <a:bodyPr wrap="square" lIns="0" tIns="0" rIns="0" bIns="0" rtlCol="0" anchor="ctr"/>
          <a:lstStyle/>
          <a:p>
            <a:pPr algn="ctr" indent="0" marL="0">
              <a:buNone/>
            </a:pPr>
            <a:r>
              <a:rPr lang="en-US" sz="1050" b="1" spc="100" kern="0" dirty="0">
                <a:solidFill>
                  <a:srgbClr val="2E9E63"/>
                </a:solidFill>
                <a:latin typeface="Calibri" pitchFamily="34" charset="0"/>
                <a:ea typeface="Calibri" pitchFamily="34" charset="-122"/>
                <a:cs typeface="Calibri" pitchFamily="34" charset="-120"/>
              </a:rPr>
              <a:t>LOADBALANCER</a:t>
            </a:r>
            <a:endParaRPr lang="en-US" sz="1050" dirty="0"/>
          </a:p>
        </p:txBody>
      </p:sp>
      <p:sp>
        <p:nvSpPr>
          <p:cNvPr id="53" name="Shape 51"/>
          <p:cNvSpPr/>
          <p:nvPr/>
        </p:nvSpPr>
        <p:spPr>
          <a:xfrm>
            <a:off x="9217152" y="2130552"/>
            <a:ext cx="1143000" cy="658368"/>
          </a:xfrm>
          <a:prstGeom prst="roundRect">
            <a:avLst>
              <a:gd name="adj" fmla="val 11111"/>
            </a:avLst>
          </a:prstGeom>
          <a:solidFill>
            <a:srgbClr val="1B4066"/>
          </a:solidFill>
          <a:ln w="12700">
            <a:solidFill>
              <a:srgbClr val="1B4066"/>
            </a:solidFill>
            <a:prstDash val="solid"/>
          </a:ln>
        </p:spPr>
      </p:sp>
      <p:sp>
        <p:nvSpPr>
          <p:cNvPr id="54" name="Text 52"/>
          <p:cNvSpPr/>
          <p:nvPr/>
        </p:nvSpPr>
        <p:spPr>
          <a:xfrm>
            <a:off x="9290304" y="2240280"/>
            <a:ext cx="996696" cy="30284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browser</a:t>
            </a:r>
            <a:endParaRPr lang="en-US" sz="1400" dirty="0"/>
          </a:p>
        </p:txBody>
      </p:sp>
      <p:sp>
        <p:nvSpPr>
          <p:cNvPr id="55" name="Text 53"/>
          <p:cNvSpPr/>
          <p:nvPr/>
        </p:nvSpPr>
        <p:spPr>
          <a:xfrm>
            <a:off x="9290304" y="2459736"/>
            <a:ext cx="996696" cy="28968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external</a:t>
            </a:r>
            <a:endParaRPr lang="en-US" sz="1050" dirty="0"/>
          </a:p>
        </p:txBody>
      </p:sp>
      <p:sp>
        <p:nvSpPr>
          <p:cNvPr id="56" name="Shape 54"/>
          <p:cNvSpPr/>
          <p:nvPr/>
        </p:nvSpPr>
        <p:spPr>
          <a:xfrm>
            <a:off x="8705088" y="2852928"/>
            <a:ext cx="1828800" cy="749808"/>
          </a:xfrm>
          <a:prstGeom prst="roundRect">
            <a:avLst>
              <a:gd name="adj" fmla="val 9756"/>
            </a:avLst>
          </a:prstGeom>
          <a:solidFill>
            <a:srgbClr val="8E6FBF"/>
          </a:solidFill>
          <a:ln w="12700">
            <a:solidFill>
              <a:srgbClr val="8E6FBF"/>
            </a:solidFill>
            <a:prstDash val="solid"/>
          </a:ln>
        </p:spPr>
      </p:sp>
      <p:sp>
        <p:nvSpPr>
          <p:cNvPr id="57" name="Text 55"/>
          <p:cNvSpPr/>
          <p:nvPr/>
        </p:nvSpPr>
        <p:spPr>
          <a:xfrm>
            <a:off x="8778240" y="2962656"/>
            <a:ext cx="168249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cloud LB</a:t>
            </a:r>
            <a:endParaRPr lang="en-US" sz="1400" dirty="0"/>
          </a:p>
        </p:txBody>
      </p:sp>
      <p:sp>
        <p:nvSpPr>
          <p:cNvPr id="58" name="Text 56"/>
          <p:cNvSpPr/>
          <p:nvPr/>
        </p:nvSpPr>
        <p:spPr>
          <a:xfrm>
            <a:off x="8778240" y="3227832"/>
            <a:ext cx="168249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203.0.113.10</a:t>
            </a:r>
            <a:endParaRPr lang="en-US" sz="1050" dirty="0"/>
          </a:p>
        </p:txBody>
      </p:sp>
      <p:sp>
        <p:nvSpPr>
          <p:cNvPr id="59" name="Shape 57"/>
          <p:cNvSpPr/>
          <p:nvPr/>
        </p:nvSpPr>
        <p:spPr>
          <a:xfrm>
            <a:off x="9098280" y="3767328"/>
            <a:ext cx="1051560" cy="749808"/>
          </a:xfrm>
          <a:prstGeom prst="roundRect">
            <a:avLst>
              <a:gd name="adj" fmla="val 9756"/>
            </a:avLst>
          </a:prstGeom>
          <a:solidFill>
            <a:srgbClr val="1C7293"/>
          </a:solidFill>
          <a:ln w="12700">
            <a:solidFill>
              <a:srgbClr val="1C7293"/>
            </a:solidFill>
            <a:prstDash val="solid"/>
          </a:ln>
        </p:spPr>
      </p:sp>
      <p:sp>
        <p:nvSpPr>
          <p:cNvPr id="60" name="Text 58"/>
          <p:cNvSpPr/>
          <p:nvPr/>
        </p:nvSpPr>
        <p:spPr>
          <a:xfrm>
            <a:off x="9171432" y="3877056"/>
            <a:ext cx="90525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Service</a:t>
            </a:r>
            <a:endParaRPr lang="en-US" sz="1400" dirty="0"/>
          </a:p>
        </p:txBody>
      </p:sp>
      <p:sp>
        <p:nvSpPr>
          <p:cNvPr id="61" name="Text 59"/>
          <p:cNvSpPr/>
          <p:nvPr/>
        </p:nvSpPr>
        <p:spPr>
          <a:xfrm>
            <a:off x="9171432" y="4142232"/>
            <a:ext cx="90525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ClusterIP</a:t>
            </a:r>
            <a:endParaRPr lang="en-US" sz="1050" dirty="0"/>
          </a:p>
        </p:txBody>
      </p:sp>
      <p:sp>
        <p:nvSpPr>
          <p:cNvPr id="62" name="Shape 60"/>
          <p:cNvSpPr/>
          <p:nvPr/>
        </p:nvSpPr>
        <p:spPr>
          <a:xfrm>
            <a:off x="10835640" y="2852928"/>
            <a:ext cx="457200" cy="658368"/>
          </a:xfrm>
          <a:prstGeom prst="roundRect">
            <a:avLst>
              <a:gd name="adj" fmla="val 16000"/>
            </a:avLst>
          </a:prstGeom>
          <a:solidFill>
            <a:srgbClr val="2E9E63"/>
          </a:solidFill>
          <a:ln w="12700">
            <a:solidFill>
              <a:srgbClr val="2E9E63"/>
            </a:solidFill>
            <a:prstDash val="solid"/>
          </a:ln>
        </p:spPr>
      </p:sp>
      <p:sp>
        <p:nvSpPr>
          <p:cNvPr id="63" name="Text 61"/>
          <p:cNvSpPr/>
          <p:nvPr/>
        </p:nvSpPr>
        <p:spPr>
          <a:xfrm>
            <a:off x="10908792" y="2962656"/>
            <a:ext cx="310896" cy="30284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64" name="Text 62"/>
          <p:cNvSpPr/>
          <p:nvPr/>
        </p:nvSpPr>
        <p:spPr>
          <a:xfrm>
            <a:off x="10908792" y="3182112"/>
            <a:ext cx="310896" cy="28968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a:t>
            </a:r>
            <a:endParaRPr lang="en-US" sz="1050" dirty="0"/>
          </a:p>
        </p:txBody>
      </p:sp>
      <p:sp>
        <p:nvSpPr>
          <p:cNvPr id="65" name="Shape 63"/>
          <p:cNvSpPr/>
          <p:nvPr/>
        </p:nvSpPr>
        <p:spPr>
          <a:xfrm>
            <a:off x="10835640" y="3675888"/>
            <a:ext cx="457200" cy="658368"/>
          </a:xfrm>
          <a:prstGeom prst="roundRect">
            <a:avLst>
              <a:gd name="adj" fmla="val 16000"/>
            </a:avLst>
          </a:prstGeom>
          <a:solidFill>
            <a:srgbClr val="2E9E63"/>
          </a:solidFill>
          <a:ln w="12700">
            <a:solidFill>
              <a:srgbClr val="2E9E63"/>
            </a:solidFill>
            <a:prstDash val="solid"/>
          </a:ln>
        </p:spPr>
      </p:sp>
      <p:sp>
        <p:nvSpPr>
          <p:cNvPr id="66" name="Text 64"/>
          <p:cNvSpPr/>
          <p:nvPr/>
        </p:nvSpPr>
        <p:spPr>
          <a:xfrm>
            <a:off x="10908792" y="3785616"/>
            <a:ext cx="310896" cy="30284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67" name="Text 65"/>
          <p:cNvSpPr/>
          <p:nvPr/>
        </p:nvSpPr>
        <p:spPr>
          <a:xfrm>
            <a:off x="10908792" y="4005072"/>
            <a:ext cx="310896" cy="28968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b</a:t>
            </a:r>
            <a:endParaRPr lang="en-US" sz="1050" dirty="0"/>
          </a:p>
        </p:txBody>
      </p:sp>
      <p:sp>
        <p:nvSpPr>
          <p:cNvPr id="68" name="Shape 66"/>
          <p:cNvSpPr/>
          <p:nvPr/>
        </p:nvSpPr>
        <p:spPr>
          <a:xfrm>
            <a:off x="9738360" y="2743200"/>
            <a:ext cx="-18288" cy="73152"/>
          </a:xfrm>
          <a:prstGeom prst="line">
            <a:avLst/>
          </a:prstGeom>
          <a:noFill/>
          <a:ln w="25400">
            <a:solidFill>
              <a:srgbClr val="2E9E63"/>
            </a:solidFill>
            <a:prstDash val="solid"/>
            <a:tailEnd type="triangle"/>
          </a:ln>
        </p:spPr>
      </p:sp>
      <p:sp>
        <p:nvSpPr>
          <p:cNvPr id="69" name="Text 67"/>
          <p:cNvSpPr/>
          <p:nvPr/>
        </p:nvSpPr>
        <p:spPr>
          <a:xfrm>
            <a:off x="9281160" y="2395728"/>
            <a:ext cx="2377440" cy="310896"/>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public IP</a:t>
            </a:r>
            <a:endParaRPr lang="en-US" sz="1000" dirty="0"/>
          </a:p>
        </p:txBody>
      </p:sp>
      <p:sp>
        <p:nvSpPr>
          <p:cNvPr id="70" name="Shape 68"/>
          <p:cNvSpPr/>
          <p:nvPr/>
        </p:nvSpPr>
        <p:spPr>
          <a:xfrm>
            <a:off x="9555480" y="3621024"/>
            <a:ext cx="0" cy="109728"/>
          </a:xfrm>
          <a:prstGeom prst="line">
            <a:avLst/>
          </a:prstGeom>
          <a:noFill/>
          <a:ln w="25400">
            <a:solidFill>
              <a:srgbClr val="1C7293"/>
            </a:solidFill>
            <a:prstDash val="solid"/>
            <a:tailEnd type="triangle"/>
          </a:ln>
        </p:spPr>
      </p:sp>
      <p:sp>
        <p:nvSpPr>
          <p:cNvPr id="71" name="Shape 69"/>
          <p:cNvSpPr/>
          <p:nvPr/>
        </p:nvSpPr>
        <p:spPr>
          <a:xfrm>
            <a:off x="10195560" y="4050792"/>
            <a:ext cx="594360" cy="-658368"/>
          </a:xfrm>
          <a:prstGeom prst="line">
            <a:avLst/>
          </a:prstGeom>
          <a:noFill/>
          <a:ln w="25400">
            <a:solidFill>
              <a:srgbClr val="2E9E63"/>
            </a:solidFill>
            <a:prstDash val="solid"/>
            <a:tailEnd type="triangle"/>
          </a:ln>
        </p:spPr>
      </p:sp>
      <p:sp>
        <p:nvSpPr>
          <p:cNvPr id="72" name="Shape 70"/>
          <p:cNvSpPr/>
          <p:nvPr/>
        </p:nvSpPr>
        <p:spPr>
          <a:xfrm>
            <a:off x="10195560" y="4050792"/>
            <a:ext cx="594360" cy="164592"/>
          </a:xfrm>
          <a:prstGeom prst="line">
            <a:avLst/>
          </a:prstGeom>
          <a:noFill/>
          <a:ln w="25400">
            <a:solidFill>
              <a:srgbClr val="2E9E63"/>
            </a:solidFill>
            <a:prstDash val="solid"/>
            <a:tailEnd type="triangle"/>
          </a:ln>
        </p:spPr>
      </p:sp>
      <p:sp>
        <p:nvSpPr>
          <p:cNvPr id="73" name="Text 71"/>
          <p:cNvSpPr/>
          <p:nvPr/>
        </p:nvSpPr>
        <p:spPr>
          <a:xfrm>
            <a:off x="8275320" y="4498848"/>
            <a:ext cx="3063240" cy="25603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external address provisioned for you</a:t>
            </a:r>
            <a:endParaRPr lang="en-US" sz="1050" dirty="0"/>
          </a:p>
        </p:txBody>
      </p:sp>
      <p:sp>
        <p:nvSpPr>
          <p:cNvPr id="74" name="Text 72"/>
          <p:cNvSpPr/>
          <p:nvPr/>
        </p:nvSpPr>
        <p:spPr>
          <a:xfrm>
            <a:off x="566928" y="5742432"/>
            <a:ext cx="11057839" cy="384048"/>
          </a:xfrm>
          <a:prstGeom prst="rect">
            <a:avLst/>
          </a:prstGeom>
          <a:noFill/>
          <a:ln/>
        </p:spPr>
        <p:txBody>
          <a:bodyPr wrap="square" lIns="0" tIns="0" rIns="0" bIns="0" rtlCol="0" anchor="ctr"/>
          <a:lstStyle/>
          <a:p>
            <a:pPr algn="ctr" indent="0" marL="0">
              <a:buNone/>
            </a:pPr>
            <a:r>
              <a:rPr lang="en-US" sz="1500" b="1" dirty="0">
                <a:solidFill>
                  <a:srgbClr val="F2A03D"/>
                </a:solidFill>
                <a:latin typeface="Calibri" pitchFamily="34" charset="0"/>
                <a:ea typeface="Calibri" pitchFamily="34" charset="-122"/>
                <a:cs typeface="Calibri" pitchFamily="34" charset="-120"/>
              </a:rPr>
              <a:t>A Service abstraction stays the same; only the way clients REACH it changes.</a:t>
            </a:r>
            <a:endParaRPr lang="en-US" sz="1500" dirty="0"/>
          </a:p>
        </p:txBody>
      </p:sp>
      <p:sp>
        <p:nvSpPr>
          <p:cNvPr id="75" name="Text 7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76" name="Text 7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7</a:t>
            </a:r>
            <a:endParaRPr lang="en-US" sz="900" dirty="0"/>
          </a:p>
        </p:txBody>
      </p:sp>
      <p:pic>
        <p:nvPicPr>
          <p:cNvPr id="7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7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7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L4.1 + L4.2</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Service taxonomy and DNS forensics</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Prove the four networking rules from your own cluster</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Find the iptables rules kube-proxy wrote</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Use all five Service types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Measure what ndots:5 costs in DNS round-trips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Break CoreDNS and learn the SHAPE of a DNS failure</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All five Service types exercised</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You can recognise a DNS failure by its symptom</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LAB=L4.1 &amp;&amp; make validate-lab LAB=L4.2</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65 minutes   ·   labs/day4/L4.1-service-types/, L4.2-dns.md</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8</a:t>
            </a:r>
            <a:endParaRPr lang="en-US" sz="900" dirty="0"/>
          </a:p>
        </p:txBody>
      </p:sp>
      <p:pic>
        <p:nvPicPr>
          <p:cNvPr id="1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7600" b="1" dirty="0">
                <a:solidFill>
                  <a:srgbClr val="F2A03D"/>
                </a:solidFill>
                <a:latin typeface="Cambria" pitchFamily="34" charset="0"/>
                <a:ea typeface="Cambria" pitchFamily="34" charset="-122"/>
                <a:cs typeface="Cambria" pitchFamily="34" charset="-120"/>
              </a:rPr>
              <a:t>M4.4</a:t>
            </a:r>
            <a:endParaRPr lang="en-US" sz="76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Ingress and TLS</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The first request that does not need kubectl</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Distinguish the Ingress resource from the Ingress controller</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Route by host and path; explain pathType</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Terminate TLS and inspect the certificate</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70 min</a:t>
            </a:r>
            <a:endParaRPr lang="en-US" sz="1100" dirty="0"/>
          </a:p>
        </p:txBody>
      </p:sp>
      <p:pic>
        <p:nvPicPr>
          <p:cNvPr id="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856232"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85623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M4.4 · INGRESS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Two objects, and confusing them is the usual failure</a:t>
            </a:r>
            <a:endParaRPr lang="en-US" sz="3200" dirty="0"/>
          </a:p>
        </p:txBody>
      </p:sp>
      <p:sp>
        <p:nvSpPr>
          <p:cNvPr id="5" name="Text 3"/>
          <p:cNvSpPr/>
          <p:nvPr/>
        </p:nvSpPr>
        <p:spPr>
          <a:xfrm>
            <a:off x="566928" y="1737360"/>
            <a:ext cx="11057839" cy="457200"/>
          </a:xfrm>
          <a:prstGeom prst="rect">
            <a:avLst/>
          </a:prstGeom>
          <a:noFill/>
          <a:ln/>
        </p:spPr>
        <p:txBody>
          <a:bodyPr wrap="square" lIns="0" tIns="0" rIns="0" bIns="0" rtlCol="0" anchor="ctr"/>
          <a:lstStyle/>
          <a:p>
            <a:pPr indent="0" marL="0">
              <a:lnSpc>
                <a:spcPts val="1700"/>
              </a:lnSpc>
              <a:buNone/>
            </a:pPr>
            <a:r>
              <a:rPr lang="en-US" sz="1350" i="1" dirty="0">
                <a:solidFill>
                  <a:srgbClr val="1C7293"/>
                </a:solidFill>
                <a:latin typeface="Calibri" pitchFamily="34" charset="0"/>
                <a:ea typeface="Calibri" pitchFamily="34" charset="-122"/>
                <a:cs typeface="Calibri" pitchFamily="34" charset="-120"/>
              </a:rPr>
              <a:t>An Ingress is a declarative HTTP(S) routing resource that stores host, path and TLS rules, but it never accepts traffic by itself. A separate controller watches those rules, programs a real reverse proxy and publishes the edge address clients actually connect to.</a:t>
            </a:r>
            <a:endParaRPr lang="en-US" sz="1350" dirty="0"/>
          </a:p>
        </p:txBody>
      </p:sp>
      <p:sp>
        <p:nvSpPr>
          <p:cNvPr id="6" name="Shape 4"/>
          <p:cNvSpPr/>
          <p:nvPr/>
        </p:nvSpPr>
        <p:spPr>
          <a:xfrm>
            <a:off x="566928" y="2249424"/>
            <a:ext cx="11057839" cy="566928"/>
          </a:xfrm>
          <a:prstGeom prst="roundRect">
            <a:avLst>
              <a:gd name="adj" fmla="val 12903"/>
            </a:avLst>
          </a:prstGeom>
          <a:solidFill>
            <a:srgbClr val="EAF1F8"/>
          </a:solidFill>
          <a:ln w="12700">
            <a:solidFill>
              <a:srgbClr val="1C7293"/>
            </a:solidFill>
            <a:prstDash val="solid"/>
          </a:ln>
        </p:spPr>
      </p:sp>
      <p:sp>
        <p:nvSpPr>
          <p:cNvPr id="7" name="Text 5"/>
          <p:cNvSpPr/>
          <p:nvPr/>
        </p:nvSpPr>
        <p:spPr>
          <a:xfrm>
            <a:off x="768096" y="2249424"/>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You apply an Ingress. Nothing happens. Why?</a:t>
            </a:r>
            <a:endParaRPr lang="en-US" sz="1500" dirty="0"/>
          </a:p>
        </p:txBody>
      </p:sp>
      <p:sp>
        <p:nvSpPr>
          <p:cNvPr id="8" name="Shape 6"/>
          <p:cNvSpPr/>
          <p:nvPr/>
        </p:nvSpPr>
        <p:spPr>
          <a:xfrm>
            <a:off x="566928" y="3160395"/>
            <a:ext cx="402336" cy="402336"/>
          </a:xfrm>
          <a:prstGeom prst="ellipse">
            <a:avLst/>
          </a:prstGeom>
          <a:solidFill>
            <a:srgbClr val="1C7293"/>
          </a:solidFill>
          <a:ln w="12700">
            <a:solidFill>
              <a:srgbClr val="1C7293"/>
            </a:solidFill>
            <a:prstDash val="solid"/>
          </a:ln>
        </p:spPr>
      </p:sp>
      <p:sp>
        <p:nvSpPr>
          <p:cNvPr id="9" name="Text 7"/>
          <p:cNvSpPr/>
          <p:nvPr/>
        </p:nvSpPr>
        <p:spPr>
          <a:xfrm>
            <a:off x="566928" y="31603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p:nvPr/>
        </p:nvSpPr>
        <p:spPr>
          <a:xfrm>
            <a:off x="1133856" y="2999232"/>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Generic rule document</a:t>
            </a:r>
            <a:endParaRPr lang="en-US" sz="1400" dirty="0"/>
          </a:p>
        </p:txBody>
      </p:sp>
      <p:sp>
        <p:nvSpPr>
          <p:cNvPr id="11" name="Text 9"/>
          <p:cNvSpPr/>
          <p:nvPr/>
        </p:nvSpPr>
        <p:spPr>
          <a:xfrm>
            <a:off x="4407408" y="2999232"/>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vanilla Ingress might send `frontend.example.com` to `web-app`, while `/api` on the same host goes to `checkout-api`. It is desired routing state stored in the API.</a:t>
            </a:r>
            <a:endParaRPr lang="en-US" sz="1250" dirty="0"/>
          </a:p>
        </p:txBody>
      </p:sp>
      <p:sp>
        <p:nvSpPr>
          <p:cNvPr id="12" name="Shape 10"/>
          <p:cNvSpPr/>
          <p:nvPr/>
        </p:nvSpPr>
        <p:spPr>
          <a:xfrm>
            <a:off x="566928" y="3885057"/>
            <a:ext cx="402336" cy="402336"/>
          </a:xfrm>
          <a:prstGeom prst="ellipse">
            <a:avLst/>
          </a:prstGeom>
          <a:solidFill>
            <a:srgbClr val="2E9E63"/>
          </a:solidFill>
          <a:ln w="12700">
            <a:solidFill>
              <a:srgbClr val="2E9E63"/>
            </a:solidFill>
            <a:prstDash val="solid"/>
          </a:ln>
        </p:spPr>
      </p:sp>
      <p:sp>
        <p:nvSpPr>
          <p:cNvPr id="13" name="Text 11"/>
          <p:cNvSpPr/>
          <p:nvPr/>
        </p:nvSpPr>
        <p:spPr>
          <a:xfrm>
            <a:off x="566928" y="388505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1133856" y="3723894"/>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Generic controller process</a:t>
            </a:r>
            <a:endParaRPr lang="en-US" sz="1400" dirty="0"/>
          </a:p>
        </p:txBody>
      </p:sp>
      <p:sp>
        <p:nvSpPr>
          <p:cNvPr id="15" name="Text 13"/>
          <p:cNvSpPr/>
          <p:nvPr/>
        </p:nvSpPr>
        <p:spPr>
          <a:xfrm>
            <a:off x="4407408" y="3723894"/>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An ingress-nginx or Traefik deployment watches those rules, opens the listening socket, terminates TLS and forwards matching requests to the right Service.</a:t>
            </a:r>
            <a:endParaRPr lang="en-US" sz="1250" dirty="0"/>
          </a:p>
        </p:txBody>
      </p:sp>
      <p:sp>
        <p:nvSpPr>
          <p:cNvPr id="16" name="Shape 14"/>
          <p:cNvSpPr/>
          <p:nvPr/>
        </p:nvSpPr>
        <p:spPr>
          <a:xfrm>
            <a:off x="566928" y="4609719"/>
            <a:ext cx="402336" cy="402336"/>
          </a:xfrm>
          <a:prstGeom prst="ellipse">
            <a:avLst/>
          </a:prstGeom>
          <a:solidFill>
            <a:srgbClr val="D64545"/>
          </a:solidFill>
          <a:ln w="12700">
            <a:solidFill>
              <a:srgbClr val="D64545"/>
            </a:solidFill>
            <a:prstDash val="solid"/>
          </a:ln>
        </p:spPr>
      </p:sp>
      <p:sp>
        <p:nvSpPr>
          <p:cNvPr id="17" name="Text 15"/>
          <p:cNvSpPr/>
          <p:nvPr/>
        </p:nvSpPr>
        <p:spPr>
          <a:xfrm>
            <a:off x="566928" y="460971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1133856" y="4448556"/>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AxisPay symptom</a:t>
            </a:r>
            <a:endParaRPr lang="en-US" sz="1400" dirty="0"/>
          </a:p>
        </p:txBody>
      </p:sp>
      <p:sp>
        <p:nvSpPr>
          <p:cNvPr id="19" name="Text 17"/>
          <p:cNvSpPr/>
          <p:nvPr/>
        </p:nvSpPr>
        <p:spPr>
          <a:xfrm>
            <a:off x="4407408" y="4448556"/>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If `api.axispay.local` or `merchant.axispay.local` never gets an ADDRESS, the rules exist but no controller is publishing the AxisPay edge.</a:t>
            </a:r>
            <a:endParaRPr lang="en-US" sz="1250" dirty="0"/>
          </a:p>
        </p:txBody>
      </p:sp>
      <p:sp>
        <p:nvSpPr>
          <p:cNvPr id="20" name="Shape 18"/>
          <p:cNvSpPr/>
          <p:nvPr/>
        </p:nvSpPr>
        <p:spPr>
          <a:xfrm>
            <a:off x="566928" y="5334381"/>
            <a:ext cx="402336" cy="402336"/>
          </a:xfrm>
          <a:prstGeom prst="ellipse">
            <a:avLst/>
          </a:prstGeom>
          <a:solidFill>
            <a:srgbClr val="C97B1E"/>
          </a:solidFill>
          <a:ln w="12700">
            <a:solidFill>
              <a:srgbClr val="C97B1E"/>
            </a:solidFill>
            <a:prstDash val="solid"/>
          </a:ln>
        </p:spPr>
      </p:sp>
      <p:sp>
        <p:nvSpPr>
          <p:cNvPr id="21" name="Text 19"/>
          <p:cNvSpPr/>
          <p:nvPr/>
        </p:nvSpPr>
        <p:spPr>
          <a:xfrm>
            <a:off x="566928" y="5334381"/>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133856" y="5173218"/>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AxisPay class binding</a:t>
            </a:r>
            <a:endParaRPr lang="en-US" sz="1400" dirty="0"/>
          </a:p>
        </p:txBody>
      </p:sp>
      <p:sp>
        <p:nvSpPr>
          <p:cNvPr id="23" name="Text 21"/>
          <p:cNvSpPr/>
          <p:nvPr/>
        </p:nvSpPr>
        <p:spPr>
          <a:xfrm>
            <a:off x="4407408" y="5173218"/>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When AxisPay sets `ingressClassName`, only the intended controller should claim `edge-gateway`. Omit it and the public route may stay idle or be claimed twice.</a:t>
            </a:r>
            <a:endParaRPr lang="en-US" sz="1250" dirty="0"/>
          </a:p>
        </p:txBody>
      </p:sp>
      <p:sp>
        <p:nvSpPr>
          <p:cNvPr id="24" name="Text 22"/>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An empty ADDRESS column is the tell. Check it before you debug anything else.</a:t>
            </a:r>
            <a:endParaRPr lang="en-US" sz="1400" dirty="0"/>
          </a:p>
        </p:txBody>
      </p:sp>
      <p:sp>
        <p:nvSpPr>
          <p:cNvPr id="25" name="Text 2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26" name="Text 2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10</a:t>
            </a:r>
            <a:endParaRPr lang="en-US" sz="900" dirty="0"/>
          </a:p>
        </p:txBody>
      </p:sp>
      <p:pic>
        <p:nvPicPr>
          <p:cNvPr id="2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856232"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185623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M4.4 · INGRESS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Ingress rules are data; the controller is the proxy</a:t>
            </a:r>
            <a:endParaRPr lang="en-US" sz="3200" dirty="0"/>
          </a:p>
        </p:txBody>
      </p:sp>
      <p:sp>
        <p:nvSpPr>
          <p:cNvPr id="5" name="Shape 3"/>
          <p:cNvSpPr/>
          <p:nvPr/>
        </p:nvSpPr>
        <p:spPr>
          <a:xfrm>
            <a:off x="777240" y="2331720"/>
            <a:ext cx="2743200" cy="1965960"/>
          </a:xfrm>
          <a:prstGeom prst="roundRect">
            <a:avLst>
              <a:gd name="adj" fmla="val 3721"/>
            </a:avLst>
          </a:prstGeom>
          <a:solidFill>
            <a:srgbClr val="8E6FBF"/>
          </a:solidFill>
          <a:ln w="12700">
            <a:solidFill>
              <a:srgbClr val="8E6FBF"/>
            </a:solidFill>
            <a:prstDash val="solid"/>
          </a:ln>
        </p:spPr>
      </p:sp>
      <p:sp>
        <p:nvSpPr>
          <p:cNvPr id="6" name="Text 4"/>
          <p:cNvSpPr/>
          <p:nvPr/>
        </p:nvSpPr>
        <p:spPr>
          <a:xfrm>
            <a:off x="850392" y="2441448"/>
            <a:ext cx="2596896" cy="90434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Ingress</a:t>
            </a:r>
            <a:endParaRPr lang="en-US" sz="1400" dirty="0"/>
          </a:p>
        </p:txBody>
      </p:sp>
      <p:sp>
        <p:nvSpPr>
          <p:cNvPr id="7" name="Text 5"/>
          <p:cNvSpPr/>
          <p:nvPr/>
        </p:nvSpPr>
        <p:spPr>
          <a:xfrm>
            <a:off x="850392" y="3314700"/>
            <a:ext cx="2596896" cy="86502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rules only</a:t>
            </a:r>
            <a:endParaRPr lang="en-US" sz="1050" dirty="0"/>
          </a:p>
        </p:txBody>
      </p:sp>
      <p:sp>
        <p:nvSpPr>
          <p:cNvPr id="8" name="Text 6"/>
          <p:cNvSpPr/>
          <p:nvPr/>
        </p:nvSpPr>
        <p:spPr>
          <a:xfrm>
            <a:off x="1024128" y="2880360"/>
            <a:ext cx="2249424" cy="1005840"/>
          </a:xfrm>
          <a:prstGeom prst="rect">
            <a:avLst/>
          </a:prstGeom>
          <a:noFill/>
          <a:ln/>
        </p:spPr>
        <p:txBody>
          <a:bodyPr wrap="square" lIns="0" tIns="0" rIns="0" bIns="0" rtlCol="0" anchor="ctr"/>
          <a:lstStyle/>
          <a:p>
            <a:pPr algn="ctr" indent="0" marL="0">
              <a:buNone/>
            </a:pPr>
            <a:r>
              <a:rPr lang="en-US" sz="1000" dirty="0">
                <a:solidFill>
                  <a:srgbClr val="FFFFFF"/>
                </a:solidFill>
                <a:latin typeface="Courier New" pitchFamily="34" charset="0"/>
                <a:ea typeface="Courier New" pitchFamily="34" charset="-122"/>
                <a:cs typeface="Courier New" pitchFamily="34" charset="-120"/>
              </a:rPr>
              <a:t>host: frontend.example.com</a:t>
            </a:r>
            <a:endParaRPr lang="en-US" sz="1000" dirty="0"/>
          </a:p>
          <a:p>
            <a:pPr algn="ctr" indent="0" marL="0">
              <a:buNone/>
            </a:pPr>
            <a:r>
              <a:rPr lang="en-US" sz="1000" dirty="0">
                <a:solidFill>
                  <a:srgbClr val="FFFFFF"/>
                </a:solidFill>
                <a:latin typeface="Courier New" pitchFamily="34" charset="0"/>
                <a:ea typeface="Courier New" pitchFamily="34" charset="-122"/>
                <a:cs typeface="Courier New" pitchFamily="34" charset="-120"/>
              </a:rPr>
              <a:t>/api → checkout-api</a:t>
            </a:r>
            <a:endParaRPr lang="en-US" sz="1000" dirty="0"/>
          </a:p>
          <a:p>
            <a:pPr algn="ctr" indent="0" marL="0">
              <a:buNone/>
            </a:pPr>
            <a:r>
              <a:rPr lang="en-US" sz="1000" dirty="0">
                <a:solidFill>
                  <a:srgbClr val="FFFFFF"/>
                </a:solidFill>
                <a:latin typeface="Courier New" pitchFamily="34" charset="0"/>
                <a:ea typeface="Courier New" pitchFamily="34" charset="-122"/>
                <a:cs typeface="Courier New" pitchFamily="34" charset="-120"/>
              </a:rPr>
              <a:t>TLS: web-tls</a:t>
            </a:r>
            <a:endParaRPr lang="en-US" sz="1000" dirty="0"/>
          </a:p>
        </p:txBody>
      </p:sp>
      <p:sp>
        <p:nvSpPr>
          <p:cNvPr id="9" name="Shape 7"/>
          <p:cNvSpPr/>
          <p:nvPr/>
        </p:nvSpPr>
        <p:spPr>
          <a:xfrm>
            <a:off x="1051560" y="1874520"/>
            <a:ext cx="2194560" cy="347472"/>
          </a:xfrm>
          <a:prstGeom prst="roundRect">
            <a:avLst>
              <a:gd name="adj" fmla="val 15789"/>
            </a:avLst>
          </a:prstGeom>
          <a:solidFill>
            <a:srgbClr val="D64545"/>
          </a:solidFill>
          <a:ln w="12700">
            <a:solidFill>
              <a:srgbClr val="D64545"/>
            </a:solidFill>
            <a:prstDash val="solid"/>
          </a:ln>
        </p:spPr>
      </p:sp>
      <p:sp>
        <p:nvSpPr>
          <p:cNvPr id="10" name="Text 8"/>
          <p:cNvSpPr/>
          <p:nvPr/>
        </p:nvSpPr>
        <p:spPr>
          <a:xfrm>
            <a:off x="1051560" y="1874520"/>
            <a:ext cx="219456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without controller → ADDRESS: &lt;pending&gt;</a:t>
            </a:r>
            <a:endParaRPr lang="en-US" sz="1000" dirty="0"/>
          </a:p>
        </p:txBody>
      </p:sp>
      <p:sp>
        <p:nvSpPr>
          <p:cNvPr id="11" name="Shape 9"/>
          <p:cNvSpPr/>
          <p:nvPr/>
        </p:nvSpPr>
        <p:spPr>
          <a:xfrm>
            <a:off x="4709160" y="2514600"/>
            <a:ext cx="2560320" cy="1417320"/>
          </a:xfrm>
          <a:prstGeom prst="roundRect">
            <a:avLst>
              <a:gd name="adj" fmla="val 5161"/>
            </a:avLst>
          </a:prstGeom>
          <a:solidFill>
            <a:srgbClr val="1C7293"/>
          </a:solidFill>
          <a:ln w="12700">
            <a:solidFill>
              <a:srgbClr val="1C7293"/>
            </a:solidFill>
            <a:prstDash val="solid"/>
          </a:ln>
        </p:spPr>
      </p:sp>
      <p:sp>
        <p:nvSpPr>
          <p:cNvPr id="12" name="Text 10"/>
          <p:cNvSpPr/>
          <p:nvPr/>
        </p:nvSpPr>
        <p:spPr>
          <a:xfrm>
            <a:off x="4782312" y="2624328"/>
            <a:ext cx="2414016" cy="65196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Ingress Controller</a:t>
            </a:r>
            <a:endParaRPr lang="en-US" sz="1400" dirty="0"/>
          </a:p>
        </p:txBody>
      </p:sp>
      <p:sp>
        <p:nvSpPr>
          <p:cNvPr id="13" name="Text 11"/>
          <p:cNvSpPr/>
          <p:nvPr/>
        </p:nvSpPr>
        <p:spPr>
          <a:xfrm>
            <a:off x="4782312" y="3223260"/>
            <a:ext cx="2414016" cy="623621"/>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nginx / traefik</a:t>
            </a:r>
            <a:endParaRPr lang="en-US" sz="1050" dirty="0"/>
          </a:p>
        </p:txBody>
      </p:sp>
      <p:sp>
        <p:nvSpPr>
          <p:cNvPr id="14" name="Shape 12"/>
          <p:cNvSpPr/>
          <p:nvPr/>
        </p:nvSpPr>
        <p:spPr>
          <a:xfrm>
            <a:off x="4937760" y="2121408"/>
            <a:ext cx="2103120" cy="347472"/>
          </a:xfrm>
          <a:prstGeom prst="roundRect">
            <a:avLst>
              <a:gd name="adj" fmla="val 15789"/>
            </a:avLst>
          </a:prstGeom>
          <a:solidFill>
            <a:srgbClr val="2E9E63"/>
          </a:solidFill>
          <a:ln w="12700">
            <a:solidFill>
              <a:srgbClr val="2E9E63"/>
            </a:solidFill>
            <a:prstDash val="solid"/>
          </a:ln>
        </p:spPr>
      </p:sp>
      <p:sp>
        <p:nvSpPr>
          <p:cNvPr id="15" name="Text 13"/>
          <p:cNvSpPr/>
          <p:nvPr/>
        </p:nvSpPr>
        <p:spPr>
          <a:xfrm>
            <a:off x="4937760" y="2121408"/>
            <a:ext cx="2103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with controller → ADDRESS: 203.0.113.10</a:t>
            </a:r>
            <a:endParaRPr lang="en-US" sz="1000" dirty="0"/>
          </a:p>
        </p:txBody>
      </p:sp>
      <p:sp>
        <p:nvSpPr>
          <p:cNvPr id="16" name="Shape 14"/>
          <p:cNvSpPr/>
          <p:nvPr/>
        </p:nvSpPr>
        <p:spPr>
          <a:xfrm>
            <a:off x="8321040" y="2331720"/>
            <a:ext cx="1600200" cy="822960"/>
          </a:xfrm>
          <a:prstGeom prst="roundRect">
            <a:avLst>
              <a:gd name="adj" fmla="val 8889"/>
            </a:avLst>
          </a:prstGeom>
          <a:solidFill>
            <a:srgbClr val="2E9E63"/>
          </a:solidFill>
          <a:ln w="12700">
            <a:solidFill>
              <a:srgbClr val="2E9E63"/>
            </a:solidFill>
            <a:prstDash val="solid"/>
          </a:ln>
        </p:spPr>
      </p:sp>
      <p:sp>
        <p:nvSpPr>
          <p:cNvPr id="17" name="Text 15"/>
          <p:cNvSpPr/>
          <p:nvPr/>
        </p:nvSpPr>
        <p:spPr>
          <a:xfrm>
            <a:off x="8394192" y="2441448"/>
            <a:ext cx="1453896" cy="37856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Service</a:t>
            </a:r>
            <a:endParaRPr lang="en-US" sz="1400" dirty="0"/>
          </a:p>
        </p:txBody>
      </p:sp>
      <p:sp>
        <p:nvSpPr>
          <p:cNvPr id="18" name="Text 16"/>
          <p:cNvSpPr/>
          <p:nvPr/>
        </p:nvSpPr>
        <p:spPr>
          <a:xfrm>
            <a:off x="8394192" y="2743200"/>
            <a:ext cx="1453896" cy="36210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frontend</a:t>
            </a:r>
            <a:endParaRPr lang="en-US" sz="1050" dirty="0"/>
          </a:p>
        </p:txBody>
      </p:sp>
      <p:sp>
        <p:nvSpPr>
          <p:cNvPr id="19" name="Shape 17"/>
          <p:cNvSpPr/>
          <p:nvPr/>
        </p:nvSpPr>
        <p:spPr>
          <a:xfrm>
            <a:off x="8321040" y="3703320"/>
            <a:ext cx="1600200" cy="822960"/>
          </a:xfrm>
          <a:prstGeom prst="roundRect">
            <a:avLst>
              <a:gd name="adj" fmla="val 8889"/>
            </a:avLst>
          </a:prstGeom>
          <a:solidFill>
            <a:srgbClr val="2E9E63"/>
          </a:solidFill>
          <a:ln w="12700">
            <a:solidFill>
              <a:srgbClr val="2E9E63"/>
            </a:solidFill>
            <a:prstDash val="solid"/>
          </a:ln>
        </p:spPr>
      </p:sp>
      <p:sp>
        <p:nvSpPr>
          <p:cNvPr id="20" name="Text 18"/>
          <p:cNvSpPr/>
          <p:nvPr/>
        </p:nvSpPr>
        <p:spPr>
          <a:xfrm>
            <a:off x="8394192" y="3813048"/>
            <a:ext cx="1453896" cy="37856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Service</a:t>
            </a:r>
            <a:endParaRPr lang="en-US" sz="1400" dirty="0"/>
          </a:p>
        </p:txBody>
      </p:sp>
      <p:sp>
        <p:nvSpPr>
          <p:cNvPr id="21" name="Text 19"/>
          <p:cNvSpPr/>
          <p:nvPr/>
        </p:nvSpPr>
        <p:spPr>
          <a:xfrm>
            <a:off x="8394192" y="4114800"/>
            <a:ext cx="1453896" cy="36210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checkout-api</a:t>
            </a:r>
            <a:endParaRPr lang="en-US" sz="1050" dirty="0"/>
          </a:p>
        </p:txBody>
      </p:sp>
      <p:sp>
        <p:nvSpPr>
          <p:cNvPr id="22" name="Shape 20"/>
          <p:cNvSpPr/>
          <p:nvPr/>
        </p:nvSpPr>
        <p:spPr>
          <a:xfrm>
            <a:off x="10241280" y="2331720"/>
            <a:ext cx="914400" cy="713232"/>
          </a:xfrm>
          <a:prstGeom prst="roundRect">
            <a:avLst>
              <a:gd name="adj" fmla="val 10256"/>
            </a:avLst>
          </a:prstGeom>
          <a:solidFill>
            <a:srgbClr val="1B4066"/>
          </a:solidFill>
          <a:ln w="12700">
            <a:solidFill>
              <a:srgbClr val="1B4066"/>
            </a:solidFill>
            <a:prstDash val="solid"/>
          </a:ln>
        </p:spPr>
      </p:sp>
      <p:sp>
        <p:nvSpPr>
          <p:cNvPr id="23" name="Text 21"/>
          <p:cNvSpPr/>
          <p:nvPr/>
        </p:nvSpPr>
        <p:spPr>
          <a:xfrm>
            <a:off x="10314432" y="2441448"/>
            <a:ext cx="768096" cy="32808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24" name="Text 22"/>
          <p:cNvSpPr/>
          <p:nvPr/>
        </p:nvSpPr>
        <p:spPr>
          <a:xfrm>
            <a:off x="10314432" y="2688336"/>
            <a:ext cx="768096" cy="31382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web</a:t>
            </a:r>
            <a:endParaRPr lang="en-US" sz="1050" dirty="0"/>
          </a:p>
        </p:txBody>
      </p:sp>
      <p:sp>
        <p:nvSpPr>
          <p:cNvPr id="25" name="Shape 23"/>
          <p:cNvSpPr/>
          <p:nvPr/>
        </p:nvSpPr>
        <p:spPr>
          <a:xfrm>
            <a:off x="10241280" y="3703320"/>
            <a:ext cx="914400" cy="713232"/>
          </a:xfrm>
          <a:prstGeom prst="roundRect">
            <a:avLst>
              <a:gd name="adj" fmla="val 10256"/>
            </a:avLst>
          </a:prstGeom>
          <a:solidFill>
            <a:srgbClr val="1B4066"/>
          </a:solidFill>
          <a:ln w="12700">
            <a:solidFill>
              <a:srgbClr val="1B4066"/>
            </a:solidFill>
            <a:prstDash val="solid"/>
          </a:ln>
        </p:spPr>
      </p:sp>
      <p:sp>
        <p:nvSpPr>
          <p:cNvPr id="26" name="Text 24"/>
          <p:cNvSpPr/>
          <p:nvPr/>
        </p:nvSpPr>
        <p:spPr>
          <a:xfrm>
            <a:off x="10314432" y="3813048"/>
            <a:ext cx="768096" cy="32808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Pod</a:t>
            </a:r>
            <a:endParaRPr lang="en-US" sz="1400" dirty="0"/>
          </a:p>
        </p:txBody>
      </p:sp>
      <p:sp>
        <p:nvSpPr>
          <p:cNvPr id="27" name="Text 25"/>
          <p:cNvSpPr/>
          <p:nvPr/>
        </p:nvSpPr>
        <p:spPr>
          <a:xfrm>
            <a:off x="10314432" y="4059936"/>
            <a:ext cx="768096" cy="31382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api</a:t>
            </a:r>
            <a:endParaRPr lang="en-US" sz="1050" dirty="0"/>
          </a:p>
        </p:txBody>
      </p:sp>
      <p:sp>
        <p:nvSpPr>
          <p:cNvPr id="28" name="Shape 26"/>
          <p:cNvSpPr/>
          <p:nvPr/>
        </p:nvSpPr>
        <p:spPr>
          <a:xfrm>
            <a:off x="4526280" y="4572000"/>
            <a:ext cx="2880360" cy="658368"/>
          </a:xfrm>
          <a:prstGeom prst="roundRect">
            <a:avLst>
              <a:gd name="adj" fmla="val 11111"/>
            </a:avLst>
          </a:prstGeom>
          <a:solidFill>
            <a:srgbClr val="1B4066"/>
          </a:solidFill>
          <a:ln w="12700">
            <a:solidFill>
              <a:srgbClr val="1B4066"/>
            </a:solidFill>
            <a:prstDash val="solid"/>
          </a:ln>
        </p:spPr>
      </p:sp>
      <p:sp>
        <p:nvSpPr>
          <p:cNvPr id="29" name="Text 27"/>
          <p:cNvSpPr/>
          <p:nvPr/>
        </p:nvSpPr>
        <p:spPr>
          <a:xfrm>
            <a:off x="4599432" y="4572000"/>
            <a:ext cx="273405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proxy listens on 80/443 and forwards by rule</a:t>
            </a:r>
            <a:endParaRPr lang="en-US" sz="1400" dirty="0"/>
          </a:p>
        </p:txBody>
      </p:sp>
      <p:sp>
        <p:nvSpPr>
          <p:cNvPr id="30" name="Shape 28"/>
          <p:cNvSpPr/>
          <p:nvPr/>
        </p:nvSpPr>
        <p:spPr>
          <a:xfrm>
            <a:off x="5349240" y="1600200"/>
            <a:ext cx="1325880" cy="365760"/>
          </a:xfrm>
          <a:prstGeom prst="roundRect">
            <a:avLst>
              <a:gd name="adj" fmla="val 20000"/>
            </a:avLst>
          </a:prstGeom>
          <a:solidFill>
            <a:srgbClr val="1B4066"/>
          </a:solidFill>
          <a:ln w="12700">
            <a:solidFill>
              <a:srgbClr val="1B4066"/>
            </a:solidFill>
            <a:prstDash val="solid"/>
          </a:ln>
        </p:spPr>
      </p:sp>
      <p:sp>
        <p:nvSpPr>
          <p:cNvPr id="31" name="Text 29"/>
          <p:cNvSpPr/>
          <p:nvPr/>
        </p:nvSpPr>
        <p:spPr>
          <a:xfrm>
            <a:off x="5422392" y="1600200"/>
            <a:ext cx="117957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browser</a:t>
            </a:r>
            <a:endParaRPr lang="en-US" sz="1400" dirty="0"/>
          </a:p>
        </p:txBody>
      </p:sp>
      <p:sp>
        <p:nvSpPr>
          <p:cNvPr id="32" name="Shape 30"/>
          <p:cNvSpPr/>
          <p:nvPr/>
        </p:nvSpPr>
        <p:spPr>
          <a:xfrm>
            <a:off x="3611880" y="3319272"/>
            <a:ext cx="1005840" cy="0"/>
          </a:xfrm>
          <a:prstGeom prst="line">
            <a:avLst/>
          </a:prstGeom>
          <a:noFill/>
          <a:ln w="25400">
            <a:solidFill>
              <a:srgbClr val="8E6FBF"/>
            </a:solidFill>
            <a:prstDash val="solid"/>
            <a:tailEnd type="triangle"/>
          </a:ln>
        </p:spPr>
      </p:sp>
      <p:sp>
        <p:nvSpPr>
          <p:cNvPr id="33" name="Text 31"/>
          <p:cNvSpPr/>
          <p:nvPr/>
        </p:nvSpPr>
        <p:spPr>
          <a:xfrm>
            <a:off x="3154680" y="2935224"/>
            <a:ext cx="2377440" cy="310896"/>
          </a:xfrm>
          <a:prstGeom prst="rect">
            <a:avLst/>
          </a:prstGeom>
          <a:noFill/>
          <a:ln/>
        </p:spPr>
        <p:txBody>
          <a:bodyPr wrap="square" lIns="0" tIns="0" rIns="0" bIns="0" rtlCol="0" anchor="ctr"/>
          <a:lstStyle/>
          <a:p>
            <a:pPr algn="ctr" indent="0" marL="0">
              <a:buNone/>
            </a:pPr>
            <a:r>
              <a:rPr lang="en-US" sz="1000" b="1" dirty="0">
                <a:solidFill>
                  <a:srgbClr val="8E6FBF"/>
                </a:solidFill>
                <a:latin typeface="Calibri" pitchFamily="34" charset="0"/>
                <a:ea typeface="Calibri" pitchFamily="34" charset="-122"/>
                <a:cs typeface="Calibri" pitchFamily="34" charset="-120"/>
              </a:rPr>
              <a:t>watches</a:t>
            </a:r>
            <a:endParaRPr lang="en-US" sz="1000" dirty="0"/>
          </a:p>
        </p:txBody>
      </p:sp>
      <p:sp>
        <p:nvSpPr>
          <p:cNvPr id="34" name="Shape 32"/>
          <p:cNvSpPr/>
          <p:nvPr/>
        </p:nvSpPr>
        <p:spPr>
          <a:xfrm>
            <a:off x="5989320" y="1993392"/>
            <a:ext cx="0" cy="128016"/>
          </a:xfrm>
          <a:prstGeom prst="line">
            <a:avLst/>
          </a:prstGeom>
          <a:noFill/>
          <a:ln w="25400">
            <a:solidFill>
              <a:srgbClr val="1C7293"/>
            </a:solidFill>
            <a:prstDash val="solid"/>
            <a:tailEnd type="triangle"/>
          </a:ln>
        </p:spPr>
      </p:sp>
      <p:sp>
        <p:nvSpPr>
          <p:cNvPr id="35" name="Text 33"/>
          <p:cNvSpPr/>
          <p:nvPr/>
        </p:nvSpPr>
        <p:spPr>
          <a:xfrm>
            <a:off x="6217920" y="1947672"/>
            <a:ext cx="914400" cy="219456"/>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traffic</a:t>
            </a:r>
            <a:endParaRPr lang="en-US" sz="1000" dirty="0"/>
          </a:p>
        </p:txBody>
      </p:sp>
      <p:sp>
        <p:nvSpPr>
          <p:cNvPr id="36" name="Shape 34"/>
          <p:cNvSpPr/>
          <p:nvPr/>
        </p:nvSpPr>
        <p:spPr>
          <a:xfrm>
            <a:off x="7296912" y="2999232"/>
            <a:ext cx="932688" cy="-182880"/>
          </a:xfrm>
          <a:prstGeom prst="line">
            <a:avLst/>
          </a:prstGeom>
          <a:noFill/>
          <a:ln w="25400">
            <a:solidFill>
              <a:srgbClr val="2E9E63"/>
            </a:solidFill>
            <a:prstDash val="solid"/>
            <a:tailEnd type="triangle"/>
          </a:ln>
        </p:spPr>
      </p:sp>
      <p:sp>
        <p:nvSpPr>
          <p:cNvPr id="37" name="Text 35"/>
          <p:cNvSpPr/>
          <p:nvPr/>
        </p:nvSpPr>
        <p:spPr>
          <a:xfrm>
            <a:off x="6839712" y="2523744"/>
            <a:ext cx="2377440" cy="310896"/>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host</a:t>
            </a:r>
            <a:endParaRPr lang="en-US" sz="1000" dirty="0"/>
          </a:p>
        </p:txBody>
      </p:sp>
      <p:sp>
        <p:nvSpPr>
          <p:cNvPr id="38" name="Shape 36"/>
          <p:cNvSpPr/>
          <p:nvPr/>
        </p:nvSpPr>
        <p:spPr>
          <a:xfrm>
            <a:off x="7296912" y="3456432"/>
            <a:ext cx="932688" cy="548640"/>
          </a:xfrm>
          <a:prstGeom prst="line">
            <a:avLst/>
          </a:prstGeom>
          <a:noFill/>
          <a:ln w="25400">
            <a:solidFill>
              <a:srgbClr val="2E9E63"/>
            </a:solidFill>
            <a:prstDash val="solid"/>
            <a:tailEnd type="triangle"/>
          </a:ln>
        </p:spPr>
      </p:sp>
      <p:sp>
        <p:nvSpPr>
          <p:cNvPr id="39" name="Text 37"/>
          <p:cNvSpPr/>
          <p:nvPr/>
        </p:nvSpPr>
        <p:spPr>
          <a:xfrm>
            <a:off x="6839712" y="3346704"/>
            <a:ext cx="2377440" cy="310896"/>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path</a:t>
            </a:r>
            <a:endParaRPr lang="en-US" sz="1000" dirty="0"/>
          </a:p>
        </p:txBody>
      </p:sp>
      <p:sp>
        <p:nvSpPr>
          <p:cNvPr id="40" name="Shape 38"/>
          <p:cNvSpPr/>
          <p:nvPr/>
        </p:nvSpPr>
        <p:spPr>
          <a:xfrm>
            <a:off x="9966960" y="2743200"/>
            <a:ext cx="228600" cy="0"/>
          </a:xfrm>
          <a:prstGeom prst="line">
            <a:avLst/>
          </a:prstGeom>
          <a:noFill/>
          <a:ln w="25400">
            <a:solidFill>
              <a:srgbClr val="2E9E63"/>
            </a:solidFill>
            <a:prstDash val="solid"/>
            <a:tailEnd type="triangle"/>
          </a:ln>
        </p:spPr>
      </p:sp>
      <p:sp>
        <p:nvSpPr>
          <p:cNvPr id="41" name="Shape 39"/>
          <p:cNvSpPr/>
          <p:nvPr/>
        </p:nvSpPr>
        <p:spPr>
          <a:xfrm>
            <a:off x="9966960" y="4114800"/>
            <a:ext cx="228600" cy="0"/>
          </a:xfrm>
          <a:prstGeom prst="line">
            <a:avLst/>
          </a:prstGeom>
          <a:noFill/>
          <a:ln w="25400">
            <a:solidFill>
              <a:srgbClr val="2E9E63"/>
            </a:solidFill>
            <a:prstDash val="solid"/>
            <a:tailEnd type="triangle"/>
          </a:ln>
        </p:spPr>
      </p:sp>
      <p:sp>
        <p:nvSpPr>
          <p:cNvPr id="42" name="Text 40"/>
          <p:cNvSpPr/>
          <p:nvPr/>
        </p:nvSpPr>
        <p:spPr>
          <a:xfrm>
            <a:off x="566928" y="5742432"/>
            <a:ext cx="11057839" cy="384048"/>
          </a:xfrm>
          <a:prstGeom prst="rect">
            <a:avLst/>
          </a:prstGeom>
          <a:noFill/>
          <a:ln/>
        </p:spPr>
        <p:txBody>
          <a:bodyPr wrap="square" lIns="0" tIns="0" rIns="0" bIns="0" rtlCol="0" anchor="ctr"/>
          <a:lstStyle/>
          <a:p>
            <a:pPr algn="ctr" indent="0" marL="0">
              <a:buNone/>
            </a:pPr>
            <a:r>
              <a:rPr lang="en-US" sz="1500" b="1" dirty="0">
                <a:solidFill>
                  <a:srgbClr val="F2A03D"/>
                </a:solidFill>
                <a:latin typeface="Calibri" pitchFamily="34" charset="0"/>
                <a:ea typeface="Calibri" pitchFamily="34" charset="-122"/>
                <a:cs typeface="Calibri" pitchFamily="34" charset="-120"/>
              </a:rPr>
              <a:t>Ingress is desired routing STATE. The controller is the component that actually accepts traffic.</a:t>
            </a:r>
            <a:endParaRPr lang="en-US" sz="1500" dirty="0"/>
          </a:p>
        </p:txBody>
      </p:sp>
      <p:sp>
        <p:nvSpPr>
          <p:cNvPr id="43" name="Text 41"/>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44" name="Text 42"/>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11</a:t>
            </a:r>
            <a:endParaRPr lang="en-US" sz="900" dirty="0"/>
          </a:p>
        </p:txBody>
      </p:sp>
      <p:pic>
        <p:nvPicPr>
          <p:cNvPr id="45"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46"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47"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L4.3</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Ingress and TLS at the edge</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Generate certificates and inspect them with openssl</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Route two hostnames with path-based rules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Take a real payment from OUTSIDE the cluster over HTTPS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Change pathType to Exact and watch everything 404</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curl -k https://api.axispay.local returns a payment</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HTTP redirects to HTTPS</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LAB=L4.3</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55 minutes   ·   labs/day4/L4.3-ingress-tls/</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12</a:t>
            </a:r>
            <a:endParaRPr lang="en-US" sz="900" dirty="0"/>
          </a:p>
        </p:txBody>
      </p:sp>
      <p:pic>
        <p:nvPicPr>
          <p:cNvPr id="1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7600" b="1" dirty="0">
                <a:solidFill>
                  <a:srgbClr val="F2A03D"/>
                </a:solidFill>
                <a:latin typeface="Cambria" pitchFamily="34" charset="0"/>
                <a:ea typeface="Cambria" pitchFamily="34" charset="-122"/>
                <a:cs typeface="Cambria" pitchFamily="34" charset="-120"/>
              </a:rPr>
              <a:t>M4.5</a:t>
            </a:r>
            <a:endParaRPr lang="en-US" sz="76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NetworkPolicy</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The control that keeps the DMZ out of the cardholder data environment</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Explain that policy is additive and default-allow until a selector matches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Apply default-deny, then allow-list precisely</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Verify enforcement empirically rather than by reading YAML</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80 min</a:t>
            </a:r>
            <a:endParaRPr lang="en-US" sz="1100" dirty="0"/>
          </a:p>
        </p:txBody>
      </p:sp>
      <p:pic>
        <p:nvPicPr>
          <p:cNvPr id="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487168"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48716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M4.5 · NETWORKPOLICY</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Three properties that decide everything</a:t>
            </a:r>
            <a:endParaRPr lang="en-US" sz="3200" dirty="0"/>
          </a:p>
        </p:txBody>
      </p:sp>
      <p:sp>
        <p:nvSpPr>
          <p:cNvPr id="5" name="Text 3"/>
          <p:cNvSpPr/>
          <p:nvPr/>
        </p:nvSpPr>
        <p:spPr>
          <a:xfrm>
            <a:off x="566928" y="1737360"/>
            <a:ext cx="11057839" cy="457200"/>
          </a:xfrm>
          <a:prstGeom prst="rect">
            <a:avLst/>
          </a:prstGeom>
          <a:noFill/>
          <a:ln/>
        </p:spPr>
        <p:txBody>
          <a:bodyPr wrap="square" lIns="0" tIns="0" rIns="0" bIns="0" rtlCol="0" anchor="ctr"/>
          <a:lstStyle/>
          <a:p>
            <a:pPr indent="0" marL="0">
              <a:lnSpc>
                <a:spcPts val="1700"/>
              </a:lnSpc>
              <a:buNone/>
            </a:pPr>
            <a:r>
              <a:rPr lang="en-US" sz="1350" i="1" dirty="0">
                <a:solidFill>
                  <a:srgbClr val="1C7293"/>
                </a:solidFill>
                <a:latin typeface="Calibri" pitchFamily="34" charset="0"/>
                <a:ea typeface="Calibri" pitchFamily="34" charset="-122"/>
                <a:cs typeface="Calibri" pitchFamily="34" charset="-120"/>
              </a:rPr>
              <a:t>A NetworkPolicy selects pods and declares which ingress and egress connections are allowed to them at Layer 3 and Layer 4 using selectors, CIDRs and ports. It does not create routes or proxies; it constrains traffic that the cluster network would otherwise permit.</a:t>
            </a:r>
            <a:endParaRPr lang="en-US" sz="1350" dirty="0"/>
          </a:p>
        </p:txBody>
      </p:sp>
      <p:sp>
        <p:nvSpPr>
          <p:cNvPr id="6" name="Shape 4"/>
          <p:cNvSpPr/>
          <p:nvPr/>
        </p:nvSpPr>
        <p:spPr>
          <a:xfrm>
            <a:off x="566928" y="2249424"/>
            <a:ext cx="11057839" cy="566928"/>
          </a:xfrm>
          <a:prstGeom prst="roundRect">
            <a:avLst>
              <a:gd name="adj" fmla="val 12903"/>
            </a:avLst>
          </a:prstGeom>
          <a:solidFill>
            <a:srgbClr val="EAF1F8"/>
          </a:solidFill>
          <a:ln w="12700">
            <a:solidFill>
              <a:srgbClr val="1C7293"/>
            </a:solidFill>
            <a:prstDash val="solid"/>
          </a:ln>
        </p:spPr>
      </p:sp>
      <p:sp>
        <p:nvSpPr>
          <p:cNvPr id="7" name="Text 5"/>
          <p:cNvSpPr/>
          <p:nvPr/>
        </p:nvSpPr>
        <p:spPr>
          <a:xfrm>
            <a:off x="768096" y="2249424"/>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Why does adding one policy break things you never mentioned in it?</a:t>
            </a:r>
            <a:endParaRPr lang="en-US" sz="1500" dirty="0"/>
          </a:p>
        </p:txBody>
      </p:sp>
      <p:sp>
        <p:nvSpPr>
          <p:cNvPr id="8" name="Shape 6"/>
          <p:cNvSpPr/>
          <p:nvPr/>
        </p:nvSpPr>
        <p:spPr>
          <a:xfrm>
            <a:off x="566928" y="3160395"/>
            <a:ext cx="402336" cy="402336"/>
          </a:xfrm>
          <a:prstGeom prst="ellipse">
            <a:avLst/>
          </a:prstGeom>
          <a:solidFill>
            <a:srgbClr val="C97B1E"/>
          </a:solidFill>
          <a:ln w="12700">
            <a:solidFill>
              <a:srgbClr val="C97B1E"/>
            </a:solidFill>
            <a:prstDash val="solid"/>
          </a:ln>
        </p:spPr>
      </p:sp>
      <p:sp>
        <p:nvSpPr>
          <p:cNvPr id="9" name="Text 7"/>
          <p:cNvSpPr/>
          <p:nvPr/>
        </p:nvSpPr>
        <p:spPr>
          <a:xfrm>
            <a:off x="566928" y="31603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p:nvPr/>
        </p:nvSpPr>
        <p:spPr>
          <a:xfrm>
            <a:off x="1133856" y="2999232"/>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One selected pod changes mode</a:t>
            </a:r>
            <a:endParaRPr lang="en-US" sz="1400" dirty="0"/>
          </a:p>
        </p:txBody>
      </p:sp>
      <p:sp>
        <p:nvSpPr>
          <p:cNvPr id="11" name="Text 9"/>
          <p:cNvSpPr/>
          <p:nvPr/>
        </p:nvSpPr>
        <p:spPr>
          <a:xfrm>
            <a:off x="4407408" y="2999232"/>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In a simple `frontend` → `backend` app, `backend` is wide open until some policy selects it. After that, only the sources and ports named in policy may still connect.</a:t>
            </a:r>
            <a:endParaRPr lang="en-US" sz="1250" dirty="0"/>
          </a:p>
        </p:txBody>
      </p:sp>
      <p:sp>
        <p:nvSpPr>
          <p:cNvPr id="12" name="Shape 10"/>
          <p:cNvSpPr/>
          <p:nvPr/>
        </p:nvSpPr>
        <p:spPr>
          <a:xfrm>
            <a:off x="566928" y="3885057"/>
            <a:ext cx="402336" cy="402336"/>
          </a:xfrm>
          <a:prstGeom prst="ellipse">
            <a:avLst/>
          </a:prstGeom>
          <a:solidFill>
            <a:srgbClr val="1C7293"/>
          </a:solidFill>
          <a:ln w="12700">
            <a:solidFill>
              <a:srgbClr val="1C7293"/>
            </a:solidFill>
            <a:prstDash val="solid"/>
          </a:ln>
        </p:spPr>
      </p:sp>
      <p:sp>
        <p:nvSpPr>
          <p:cNvPr id="13" name="Text 11"/>
          <p:cNvSpPr/>
          <p:nvPr/>
        </p:nvSpPr>
        <p:spPr>
          <a:xfrm>
            <a:off x="566928" y="388505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1133856" y="3723894"/>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Permission is only additive</a:t>
            </a:r>
            <a:endParaRPr lang="en-US" sz="1400" dirty="0"/>
          </a:p>
        </p:txBody>
      </p:sp>
      <p:sp>
        <p:nvSpPr>
          <p:cNvPr id="15" name="Text 13"/>
          <p:cNvSpPr/>
          <p:nvPr/>
        </p:nvSpPr>
        <p:spPr>
          <a:xfrm>
            <a:off x="4407408" y="3723894"/>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You never write `deny frontend`. To block it, select `backend` and omit `frontend` from the allow-list. A default-deny is simply an empty rule set on `podSelector: {}`.</a:t>
            </a:r>
            <a:endParaRPr lang="en-US" sz="1250" dirty="0"/>
          </a:p>
        </p:txBody>
      </p:sp>
      <p:sp>
        <p:nvSpPr>
          <p:cNvPr id="16" name="Shape 14"/>
          <p:cNvSpPr/>
          <p:nvPr/>
        </p:nvSpPr>
        <p:spPr>
          <a:xfrm>
            <a:off x="566928" y="4609719"/>
            <a:ext cx="402336" cy="402336"/>
          </a:xfrm>
          <a:prstGeom prst="ellipse">
            <a:avLst/>
          </a:prstGeom>
          <a:solidFill>
            <a:srgbClr val="2E9E63"/>
          </a:solidFill>
          <a:ln w="12700">
            <a:solidFill>
              <a:srgbClr val="2E9E63"/>
            </a:solidFill>
            <a:prstDash val="solid"/>
          </a:ln>
        </p:spPr>
      </p:sp>
      <p:sp>
        <p:nvSpPr>
          <p:cNvPr id="17" name="Text 15"/>
          <p:cNvSpPr/>
          <p:nvPr/>
        </p:nvSpPr>
        <p:spPr>
          <a:xfrm>
            <a:off x="566928" y="460971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1133856" y="4448556"/>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AxisPay flow needs both sides</a:t>
            </a:r>
            <a:endParaRPr lang="en-US" sz="1400" dirty="0"/>
          </a:p>
        </p:txBody>
      </p:sp>
      <p:sp>
        <p:nvSpPr>
          <p:cNvPr id="19" name="Text 17"/>
          <p:cNvSpPr/>
          <p:nvPr/>
        </p:nvSpPr>
        <p:spPr>
          <a:xfrm>
            <a:off x="4407408" y="4448556"/>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For `edge-gateway` to call `payment-service`, egress from `axispay-edge` and ingress to `payment-service` must both allow the flow. The same is true again for `payment-service` → `fraud-service`.</a:t>
            </a:r>
            <a:endParaRPr lang="en-US" sz="1250" dirty="0"/>
          </a:p>
        </p:txBody>
      </p:sp>
      <p:sp>
        <p:nvSpPr>
          <p:cNvPr id="20" name="Shape 18"/>
          <p:cNvSpPr/>
          <p:nvPr/>
        </p:nvSpPr>
        <p:spPr>
          <a:xfrm>
            <a:off x="566928" y="5334381"/>
            <a:ext cx="402336" cy="402336"/>
          </a:xfrm>
          <a:prstGeom prst="ellipse">
            <a:avLst/>
          </a:prstGeom>
          <a:solidFill>
            <a:srgbClr val="D64545"/>
          </a:solidFill>
          <a:ln w="12700">
            <a:solidFill>
              <a:srgbClr val="D64545"/>
            </a:solidFill>
            <a:prstDash val="solid"/>
          </a:ln>
        </p:spPr>
      </p:sp>
      <p:sp>
        <p:nvSpPr>
          <p:cNvPr id="21" name="Text 19"/>
          <p:cNvSpPr/>
          <p:nvPr/>
        </p:nvSpPr>
        <p:spPr>
          <a:xfrm>
            <a:off x="566928" y="5334381"/>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133856" y="5173218"/>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AxisPay depends on enforcement</a:t>
            </a:r>
            <a:endParaRPr lang="en-US" sz="1400" dirty="0"/>
          </a:p>
        </p:txBody>
      </p:sp>
      <p:sp>
        <p:nvSpPr>
          <p:cNvPr id="23" name="Text 21"/>
          <p:cNvSpPr/>
          <p:nvPr/>
        </p:nvSpPr>
        <p:spPr>
          <a:xfrm>
            <a:off x="4407408" y="5173218"/>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AxisPay uses Calico to turn these YAML objects into packet filters. If the plugin were present but non-enforcing, every policy would apply cleanly and the DMZ could still reach PostgreSQL.</a:t>
            </a:r>
            <a:endParaRPr lang="en-US" sz="1250" dirty="0"/>
          </a:p>
        </p:txBody>
      </p:sp>
      <p:sp>
        <p:nvSpPr>
          <p:cNvPr id="24" name="Text 22"/>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Deny first, then allow back exactly what you can justify. Building the allow-list first is how you end up with a policy set that looks strict and enforces nothing.</a:t>
            </a:r>
            <a:endParaRPr lang="en-US" sz="1400" dirty="0"/>
          </a:p>
        </p:txBody>
      </p:sp>
      <p:sp>
        <p:nvSpPr>
          <p:cNvPr id="25" name="Text 2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26" name="Text 2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14</a:t>
            </a:r>
            <a:endParaRPr lang="en-US" sz="900" dirty="0"/>
          </a:p>
        </p:txBody>
      </p:sp>
      <p:pic>
        <p:nvPicPr>
          <p:cNvPr id="2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487168"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248716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M4.5 · NETWORKPOLICY</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 selected pod flips from open to allow-listed</a:t>
            </a:r>
            <a:endParaRPr lang="en-US" sz="3200" dirty="0"/>
          </a:p>
        </p:txBody>
      </p:sp>
      <p:sp>
        <p:nvSpPr>
          <p:cNvPr id="5" name="Shape 3"/>
          <p:cNvSpPr/>
          <p:nvPr/>
        </p:nvSpPr>
        <p:spPr>
          <a:xfrm>
            <a:off x="658368" y="1920240"/>
            <a:ext cx="5212080" cy="3200400"/>
          </a:xfrm>
          <a:prstGeom prst="roundRect">
            <a:avLst>
              <a:gd name="adj" fmla="val 2857"/>
            </a:avLst>
          </a:prstGeom>
          <a:solidFill>
            <a:srgbClr val="12314F"/>
          </a:solidFill>
          <a:ln w="12700">
            <a:solidFill>
              <a:srgbClr val="2E9E63"/>
            </a:solidFill>
            <a:prstDash val="solid"/>
          </a:ln>
        </p:spPr>
      </p:sp>
      <p:sp>
        <p:nvSpPr>
          <p:cNvPr id="6" name="Text 4"/>
          <p:cNvSpPr/>
          <p:nvPr/>
        </p:nvSpPr>
        <p:spPr>
          <a:xfrm>
            <a:off x="768096" y="2011680"/>
            <a:ext cx="4992624" cy="274320"/>
          </a:xfrm>
          <a:prstGeom prst="rect">
            <a:avLst/>
          </a:prstGeom>
          <a:noFill/>
          <a:ln/>
        </p:spPr>
        <p:txBody>
          <a:bodyPr wrap="square" lIns="0" tIns="0" rIns="0" bIns="0" rtlCol="0" anchor="ctr"/>
          <a:lstStyle/>
          <a:p>
            <a:pPr algn="ctr" indent="0" marL="0">
              <a:buNone/>
            </a:pPr>
            <a:r>
              <a:rPr lang="en-US" sz="1050" b="1" spc="100" kern="0" dirty="0">
                <a:solidFill>
                  <a:srgbClr val="2E9E63"/>
                </a:solidFill>
                <a:latin typeface="Calibri" pitchFamily="34" charset="0"/>
                <a:ea typeface="Calibri" pitchFamily="34" charset="-122"/>
                <a:cs typeface="Calibri" pitchFamily="34" charset="-120"/>
              </a:rPr>
              <a:t>NO POLICY SELECTS backend</a:t>
            </a:r>
            <a:endParaRPr lang="en-US" sz="1050" dirty="0"/>
          </a:p>
        </p:txBody>
      </p:sp>
      <p:sp>
        <p:nvSpPr>
          <p:cNvPr id="7" name="Shape 5"/>
          <p:cNvSpPr/>
          <p:nvPr/>
        </p:nvSpPr>
        <p:spPr>
          <a:xfrm>
            <a:off x="2578608" y="2926080"/>
            <a:ext cx="1371600" cy="914400"/>
          </a:xfrm>
          <a:prstGeom prst="roundRect">
            <a:avLst>
              <a:gd name="adj" fmla="val 8000"/>
            </a:avLst>
          </a:prstGeom>
          <a:solidFill>
            <a:srgbClr val="1C7293"/>
          </a:solidFill>
          <a:ln w="12700">
            <a:solidFill>
              <a:srgbClr val="1C7293"/>
            </a:solidFill>
            <a:prstDash val="solid"/>
          </a:ln>
        </p:spPr>
      </p:sp>
      <p:sp>
        <p:nvSpPr>
          <p:cNvPr id="8" name="Text 6"/>
          <p:cNvSpPr/>
          <p:nvPr/>
        </p:nvSpPr>
        <p:spPr>
          <a:xfrm>
            <a:off x="2651760" y="3035808"/>
            <a:ext cx="1225296"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backend</a:t>
            </a:r>
            <a:endParaRPr lang="en-US" sz="1400" dirty="0"/>
          </a:p>
        </p:txBody>
      </p:sp>
      <p:sp>
        <p:nvSpPr>
          <p:cNvPr id="9" name="Text 7"/>
          <p:cNvSpPr/>
          <p:nvPr/>
        </p:nvSpPr>
        <p:spPr>
          <a:xfrm>
            <a:off x="2651760" y="3383280"/>
            <a:ext cx="1225296" cy="40233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:8080</a:t>
            </a:r>
            <a:endParaRPr lang="en-US" sz="1050" dirty="0"/>
          </a:p>
        </p:txBody>
      </p:sp>
      <p:sp>
        <p:nvSpPr>
          <p:cNvPr id="10" name="Shape 8"/>
          <p:cNvSpPr/>
          <p:nvPr/>
        </p:nvSpPr>
        <p:spPr>
          <a:xfrm>
            <a:off x="1005840" y="2240280"/>
            <a:ext cx="1143000" cy="658368"/>
          </a:xfrm>
          <a:prstGeom prst="roundRect">
            <a:avLst>
              <a:gd name="adj" fmla="val 11111"/>
            </a:avLst>
          </a:prstGeom>
          <a:solidFill>
            <a:srgbClr val="1B4066"/>
          </a:solidFill>
          <a:ln w="12700">
            <a:solidFill>
              <a:srgbClr val="1B4066"/>
            </a:solidFill>
            <a:prstDash val="solid"/>
          </a:ln>
        </p:spPr>
      </p:sp>
      <p:sp>
        <p:nvSpPr>
          <p:cNvPr id="11" name="Text 9"/>
          <p:cNvSpPr/>
          <p:nvPr/>
        </p:nvSpPr>
        <p:spPr>
          <a:xfrm>
            <a:off x="1078992" y="2240280"/>
            <a:ext cx="99669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frontend</a:t>
            </a:r>
            <a:endParaRPr lang="en-US" sz="1400" dirty="0"/>
          </a:p>
        </p:txBody>
      </p:sp>
      <p:sp>
        <p:nvSpPr>
          <p:cNvPr id="12" name="Shape 10"/>
          <p:cNvSpPr/>
          <p:nvPr/>
        </p:nvSpPr>
        <p:spPr>
          <a:xfrm>
            <a:off x="1005840" y="4005072"/>
            <a:ext cx="1143000" cy="658368"/>
          </a:xfrm>
          <a:prstGeom prst="roundRect">
            <a:avLst>
              <a:gd name="adj" fmla="val 11111"/>
            </a:avLst>
          </a:prstGeom>
          <a:solidFill>
            <a:srgbClr val="1B4066"/>
          </a:solidFill>
          <a:ln w="12700">
            <a:solidFill>
              <a:srgbClr val="1B4066"/>
            </a:solidFill>
            <a:prstDash val="solid"/>
          </a:ln>
        </p:spPr>
      </p:sp>
      <p:sp>
        <p:nvSpPr>
          <p:cNvPr id="13" name="Text 11"/>
          <p:cNvSpPr/>
          <p:nvPr/>
        </p:nvSpPr>
        <p:spPr>
          <a:xfrm>
            <a:off x="1078992" y="4005072"/>
            <a:ext cx="99669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batch-job</a:t>
            </a:r>
            <a:endParaRPr lang="en-US" sz="1400" dirty="0"/>
          </a:p>
        </p:txBody>
      </p:sp>
      <p:sp>
        <p:nvSpPr>
          <p:cNvPr id="14" name="Shape 12"/>
          <p:cNvSpPr/>
          <p:nvPr/>
        </p:nvSpPr>
        <p:spPr>
          <a:xfrm>
            <a:off x="4370832" y="2240280"/>
            <a:ext cx="1143000" cy="658368"/>
          </a:xfrm>
          <a:prstGeom prst="roundRect">
            <a:avLst>
              <a:gd name="adj" fmla="val 11111"/>
            </a:avLst>
          </a:prstGeom>
          <a:solidFill>
            <a:srgbClr val="1B4066"/>
          </a:solidFill>
          <a:ln w="12700">
            <a:solidFill>
              <a:srgbClr val="1B4066"/>
            </a:solidFill>
            <a:prstDash val="solid"/>
          </a:ln>
        </p:spPr>
      </p:sp>
      <p:sp>
        <p:nvSpPr>
          <p:cNvPr id="15" name="Text 13"/>
          <p:cNvSpPr/>
          <p:nvPr/>
        </p:nvSpPr>
        <p:spPr>
          <a:xfrm>
            <a:off x="4443984" y="2240280"/>
            <a:ext cx="99669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debug-pod</a:t>
            </a:r>
            <a:endParaRPr lang="en-US" sz="1400" dirty="0"/>
          </a:p>
        </p:txBody>
      </p:sp>
      <p:sp>
        <p:nvSpPr>
          <p:cNvPr id="16" name="Shape 14"/>
          <p:cNvSpPr/>
          <p:nvPr/>
        </p:nvSpPr>
        <p:spPr>
          <a:xfrm>
            <a:off x="2176272" y="2578608"/>
            <a:ext cx="347472" cy="566928"/>
          </a:xfrm>
          <a:prstGeom prst="line">
            <a:avLst/>
          </a:prstGeom>
          <a:noFill/>
          <a:ln w="25400">
            <a:solidFill>
              <a:srgbClr val="2E9E63"/>
            </a:solidFill>
            <a:prstDash val="solid"/>
            <a:tailEnd type="triangle"/>
          </a:ln>
        </p:spPr>
      </p:sp>
      <p:sp>
        <p:nvSpPr>
          <p:cNvPr id="17" name="Shape 15"/>
          <p:cNvSpPr/>
          <p:nvPr/>
        </p:nvSpPr>
        <p:spPr>
          <a:xfrm>
            <a:off x="2176272" y="4315968"/>
            <a:ext cx="347472" cy="-566928"/>
          </a:xfrm>
          <a:prstGeom prst="line">
            <a:avLst/>
          </a:prstGeom>
          <a:noFill/>
          <a:ln w="25400">
            <a:solidFill>
              <a:srgbClr val="2E9E63"/>
            </a:solidFill>
            <a:prstDash val="solid"/>
            <a:tailEnd type="triangle"/>
          </a:ln>
        </p:spPr>
      </p:sp>
      <p:sp>
        <p:nvSpPr>
          <p:cNvPr id="18" name="Shape 16"/>
          <p:cNvSpPr/>
          <p:nvPr/>
        </p:nvSpPr>
        <p:spPr>
          <a:xfrm>
            <a:off x="4270248" y="2578608"/>
            <a:ext cx="-256032" cy="566928"/>
          </a:xfrm>
          <a:prstGeom prst="line">
            <a:avLst/>
          </a:prstGeom>
          <a:noFill/>
          <a:ln w="25400">
            <a:solidFill>
              <a:srgbClr val="2E9E63"/>
            </a:solidFill>
            <a:prstDash val="solid"/>
            <a:tailEnd type="triangle"/>
          </a:ln>
        </p:spPr>
      </p:sp>
      <p:sp>
        <p:nvSpPr>
          <p:cNvPr id="19" name="Text 17"/>
          <p:cNvSpPr/>
          <p:nvPr/>
        </p:nvSpPr>
        <p:spPr>
          <a:xfrm>
            <a:off x="1828800" y="4443984"/>
            <a:ext cx="2697480" cy="25603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every source can connect</a:t>
            </a:r>
            <a:endParaRPr lang="en-US" sz="1050" dirty="0"/>
          </a:p>
        </p:txBody>
      </p:sp>
      <p:sp>
        <p:nvSpPr>
          <p:cNvPr id="20" name="Shape 18"/>
          <p:cNvSpPr/>
          <p:nvPr/>
        </p:nvSpPr>
        <p:spPr>
          <a:xfrm>
            <a:off x="6309360" y="1920240"/>
            <a:ext cx="5212080" cy="3200400"/>
          </a:xfrm>
          <a:prstGeom prst="roundRect">
            <a:avLst>
              <a:gd name="adj" fmla="val 2857"/>
            </a:avLst>
          </a:prstGeom>
          <a:solidFill>
            <a:srgbClr val="12314F"/>
          </a:solidFill>
          <a:ln w="12700">
            <a:solidFill>
              <a:srgbClr val="D64545"/>
            </a:solidFill>
            <a:prstDash val="solid"/>
          </a:ln>
        </p:spPr>
      </p:sp>
      <p:sp>
        <p:nvSpPr>
          <p:cNvPr id="21" name="Text 19"/>
          <p:cNvSpPr/>
          <p:nvPr/>
        </p:nvSpPr>
        <p:spPr>
          <a:xfrm>
            <a:off x="6419088" y="2011680"/>
            <a:ext cx="4992624" cy="274320"/>
          </a:xfrm>
          <a:prstGeom prst="rect">
            <a:avLst/>
          </a:prstGeom>
          <a:noFill/>
          <a:ln/>
        </p:spPr>
        <p:txBody>
          <a:bodyPr wrap="square" lIns="0" tIns="0" rIns="0" bIns="0" rtlCol="0" anchor="ctr"/>
          <a:lstStyle/>
          <a:p>
            <a:pPr algn="ctr" indent="0" marL="0">
              <a:buNone/>
            </a:pPr>
            <a:r>
              <a:rPr lang="en-US" sz="1050" b="1" spc="100" kern="0" dirty="0">
                <a:solidFill>
                  <a:srgbClr val="D64545"/>
                </a:solidFill>
                <a:latin typeface="Calibri" pitchFamily="34" charset="0"/>
                <a:ea typeface="Calibri" pitchFamily="34" charset="-122"/>
                <a:cs typeface="Calibri" pitchFamily="34" charset="-120"/>
              </a:rPr>
              <a:t>POLICY SELECTS backend</a:t>
            </a:r>
            <a:endParaRPr lang="en-US" sz="1050" dirty="0"/>
          </a:p>
        </p:txBody>
      </p:sp>
      <p:sp>
        <p:nvSpPr>
          <p:cNvPr id="22" name="Shape 20"/>
          <p:cNvSpPr/>
          <p:nvPr/>
        </p:nvSpPr>
        <p:spPr>
          <a:xfrm>
            <a:off x="8229600" y="2926080"/>
            <a:ext cx="1371600" cy="914400"/>
          </a:xfrm>
          <a:prstGeom prst="roundRect">
            <a:avLst>
              <a:gd name="adj" fmla="val 8000"/>
            </a:avLst>
          </a:prstGeom>
          <a:solidFill>
            <a:srgbClr val="1C7293"/>
          </a:solidFill>
          <a:ln w="12700">
            <a:solidFill>
              <a:srgbClr val="1C7293"/>
            </a:solidFill>
            <a:prstDash val="solid"/>
          </a:ln>
        </p:spPr>
      </p:sp>
      <p:sp>
        <p:nvSpPr>
          <p:cNvPr id="23" name="Text 21"/>
          <p:cNvSpPr/>
          <p:nvPr/>
        </p:nvSpPr>
        <p:spPr>
          <a:xfrm>
            <a:off x="8302752" y="3035808"/>
            <a:ext cx="1225296"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backend</a:t>
            </a:r>
            <a:endParaRPr lang="en-US" sz="1400" dirty="0"/>
          </a:p>
        </p:txBody>
      </p:sp>
      <p:sp>
        <p:nvSpPr>
          <p:cNvPr id="24" name="Text 22"/>
          <p:cNvSpPr/>
          <p:nvPr/>
        </p:nvSpPr>
        <p:spPr>
          <a:xfrm>
            <a:off x="8302752" y="3383280"/>
            <a:ext cx="1225296" cy="40233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:8080</a:t>
            </a:r>
            <a:endParaRPr lang="en-US" sz="1050" dirty="0"/>
          </a:p>
        </p:txBody>
      </p:sp>
      <p:sp>
        <p:nvSpPr>
          <p:cNvPr id="25" name="Shape 23"/>
          <p:cNvSpPr/>
          <p:nvPr/>
        </p:nvSpPr>
        <p:spPr>
          <a:xfrm>
            <a:off x="7845552" y="2148840"/>
            <a:ext cx="2148840" cy="566928"/>
          </a:xfrm>
          <a:prstGeom prst="roundRect">
            <a:avLst>
              <a:gd name="adj" fmla="val 12903"/>
            </a:avLst>
          </a:prstGeom>
          <a:solidFill>
            <a:srgbClr val="8E6FBF"/>
          </a:solidFill>
          <a:ln w="12700">
            <a:solidFill>
              <a:srgbClr val="8E6FBF"/>
            </a:solidFill>
            <a:prstDash val="solid"/>
          </a:ln>
        </p:spPr>
      </p:sp>
      <p:sp>
        <p:nvSpPr>
          <p:cNvPr id="26" name="Text 24"/>
          <p:cNvSpPr/>
          <p:nvPr/>
        </p:nvSpPr>
        <p:spPr>
          <a:xfrm>
            <a:off x="7918704" y="2258568"/>
            <a:ext cx="2002536" cy="260787"/>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NetworkPolicy</a:t>
            </a:r>
            <a:endParaRPr lang="en-US" sz="1400" dirty="0"/>
          </a:p>
        </p:txBody>
      </p:sp>
      <p:sp>
        <p:nvSpPr>
          <p:cNvPr id="27" name="Text 25"/>
          <p:cNvSpPr/>
          <p:nvPr/>
        </p:nvSpPr>
        <p:spPr>
          <a:xfrm>
            <a:off x="7918704" y="2432304"/>
            <a:ext cx="2002536" cy="249448"/>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allow tcp/8080 from frontend</a:t>
            </a:r>
            <a:endParaRPr lang="en-US" sz="1050" dirty="0"/>
          </a:p>
        </p:txBody>
      </p:sp>
      <p:sp>
        <p:nvSpPr>
          <p:cNvPr id="28" name="Shape 26"/>
          <p:cNvSpPr/>
          <p:nvPr/>
        </p:nvSpPr>
        <p:spPr>
          <a:xfrm>
            <a:off x="6656832" y="2240280"/>
            <a:ext cx="1143000" cy="658368"/>
          </a:xfrm>
          <a:prstGeom prst="roundRect">
            <a:avLst>
              <a:gd name="adj" fmla="val 11111"/>
            </a:avLst>
          </a:prstGeom>
          <a:solidFill>
            <a:srgbClr val="1B4066"/>
          </a:solidFill>
          <a:ln w="12700">
            <a:solidFill>
              <a:srgbClr val="1B4066"/>
            </a:solidFill>
            <a:prstDash val="solid"/>
          </a:ln>
        </p:spPr>
      </p:sp>
      <p:sp>
        <p:nvSpPr>
          <p:cNvPr id="29" name="Text 27"/>
          <p:cNvSpPr/>
          <p:nvPr/>
        </p:nvSpPr>
        <p:spPr>
          <a:xfrm>
            <a:off x="6729984" y="2240280"/>
            <a:ext cx="99669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frontend</a:t>
            </a:r>
            <a:endParaRPr lang="en-US" sz="1400" dirty="0"/>
          </a:p>
        </p:txBody>
      </p:sp>
      <p:sp>
        <p:nvSpPr>
          <p:cNvPr id="30" name="Shape 28"/>
          <p:cNvSpPr/>
          <p:nvPr/>
        </p:nvSpPr>
        <p:spPr>
          <a:xfrm>
            <a:off x="6656832" y="4005072"/>
            <a:ext cx="1143000" cy="658368"/>
          </a:xfrm>
          <a:prstGeom prst="roundRect">
            <a:avLst>
              <a:gd name="adj" fmla="val 11111"/>
            </a:avLst>
          </a:prstGeom>
          <a:solidFill>
            <a:srgbClr val="1B4066"/>
          </a:solidFill>
          <a:ln w="12700">
            <a:solidFill>
              <a:srgbClr val="1B4066"/>
            </a:solidFill>
            <a:prstDash val="solid"/>
          </a:ln>
        </p:spPr>
      </p:sp>
      <p:sp>
        <p:nvSpPr>
          <p:cNvPr id="31" name="Text 29"/>
          <p:cNvSpPr/>
          <p:nvPr/>
        </p:nvSpPr>
        <p:spPr>
          <a:xfrm>
            <a:off x="6729984" y="4005072"/>
            <a:ext cx="99669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batch-job</a:t>
            </a:r>
            <a:endParaRPr lang="en-US" sz="1400" dirty="0"/>
          </a:p>
        </p:txBody>
      </p:sp>
      <p:sp>
        <p:nvSpPr>
          <p:cNvPr id="32" name="Shape 30"/>
          <p:cNvSpPr/>
          <p:nvPr/>
        </p:nvSpPr>
        <p:spPr>
          <a:xfrm>
            <a:off x="10012680" y="2240280"/>
            <a:ext cx="1143000" cy="658368"/>
          </a:xfrm>
          <a:prstGeom prst="roundRect">
            <a:avLst>
              <a:gd name="adj" fmla="val 11111"/>
            </a:avLst>
          </a:prstGeom>
          <a:solidFill>
            <a:srgbClr val="1B4066"/>
          </a:solidFill>
          <a:ln w="12700">
            <a:solidFill>
              <a:srgbClr val="1B4066"/>
            </a:solidFill>
            <a:prstDash val="solid"/>
          </a:ln>
        </p:spPr>
      </p:sp>
      <p:sp>
        <p:nvSpPr>
          <p:cNvPr id="33" name="Text 31"/>
          <p:cNvSpPr/>
          <p:nvPr/>
        </p:nvSpPr>
        <p:spPr>
          <a:xfrm>
            <a:off x="10085832" y="2240280"/>
            <a:ext cx="996696"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debug-pod</a:t>
            </a:r>
            <a:endParaRPr lang="en-US" sz="1400" dirty="0"/>
          </a:p>
        </p:txBody>
      </p:sp>
      <p:sp>
        <p:nvSpPr>
          <p:cNvPr id="34" name="Shape 32"/>
          <p:cNvSpPr/>
          <p:nvPr/>
        </p:nvSpPr>
        <p:spPr>
          <a:xfrm>
            <a:off x="7827264" y="2578608"/>
            <a:ext cx="347472" cy="566928"/>
          </a:xfrm>
          <a:prstGeom prst="line">
            <a:avLst/>
          </a:prstGeom>
          <a:noFill/>
          <a:ln w="25400">
            <a:solidFill>
              <a:srgbClr val="2E9E63"/>
            </a:solidFill>
            <a:prstDash val="solid"/>
            <a:tailEnd type="triangle"/>
          </a:ln>
        </p:spPr>
      </p:sp>
      <p:sp>
        <p:nvSpPr>
          <p:cNvPr id="35" name="Text 33"/>
          <p:cNvSpPr/>
          <p:nvPr/>
        </p:nvSpPr>
        <p:spPr>
          <a:xfrm>
            <a:off x="7370064" y="2478024"/>
            <a:ext cx="2377440" cy="310896"/>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allowed</a:t>
            </a:r>
            <a:endParaRPr lang="en-US" sz="1000" dirty="0"/>
          </a:p>
        </p:txBody>
      </p:sp>
      <p:sp>
        <p:nvSpPr>
          <p:cNvPr id="36" name="Shape 34"/>
          <p:cNvSpPr/>
          <p:nvPr/>
        </p:nvSpPr>
        <p:spPr>
          <a:xfrm>
            <a:off x="7827264" y="4315968"/>
            <a:ext cx="347472" cy="-566928"/>
          </a:xfrm>
          <a:prstGeom prst="line">
            <a:avLst/>
          </a:prstGeom>
          <a:noFill/>
          <a:ln w="25400">
            <a:solidFill>
              <a:srgbClr val="D64545"/>
            </a:solidFill>
            <a:prstDash val="solid"/>
            <a:tailEnd type="triangle"/>
          </a:ln>
        </p:spPr>
      </p:sp>
      <p:sp>
        <p:nvSpPr>
          <p:cNvPr id="37" name="Shape 35"/>
          <p:cNvSpPr/>
          <p:nvPr/>
        </p:nvSpPr>
        <p:spPr>
          <a:xfrm>
            <a:off x="10104120" y="2578608"/>
            <a:ext cx="-457200" cy="566928"/>
          </a:xfrm>
          <a:prstGeom prst="line">
            <a:avLst/>
          </a:prstGeom>
          <a:noFill/>
          <a:ln w="25400">
            <a:solidFill>
              <a:srgbClr val="D64545"/>
            </a:solidFill>
            <a:prstDash val="solid"/>
            <a:tailEnd type="triangle"/>
          </a:ln>
        </p:spPr>
      </p:sp>
      <p:sp>
        <p:nvSpPr>
          <p:cNvPr id="38" name="Text 36"/>
          <p:cNvSpPr/>
          <p:nvPr/>
        </p:nvSpPr>
        <p:spPr>
          <a:xfrm>
            <a:off x="7040880" y="3803904"/>
            <a:ext cx="960120" cy="228600"/>
          </a:xfrm>
          <a:prstGeom prst="rect">
            <a:avLst/>
          </a:prstGeom>
          <a:noFill/>
          <a:ln/>
        </p:spPr>
        <p:txBody>
          <a:bodyPr wrap="square" lIns="0" tIns="0" rIns="0" bIns="0" rtlCol="0" anchor="ctr"/>
          <a:lstStyle/>
          <a:p>
            <a:pPr algn="ctr" indent="0" marL="0">
              <a:buNone/>
            </a:pPr>
            <a:r>
              <a:rPr lang="en-US" sz="1000" b="1" dirty="0">
                <a:solidFill>
                  <a:srgbClr val="D64545"/>
                </a:solidFill>
                <a:latin typeface="Calibri" pitchFamily="34" charset="0"/>
                <a:ea typeface="Calibri" pitchFamily="34" charset="-122"/>
                <a:cs typeface="Calibri" pitchFamily="34" charset="-120"/>
              </a:rPr>
              <a:t>blocked</a:t>
            </a:r>
            <a:endParaRPr lang="en-US" sz="1000" dirty="0"/>
          </a:p>
        </p:txBody>
      </p:sp>
      <p:sp>
        <p:nvSpPr>
          <p:cNvPr id="39" name="Text 37"/>
          <p:cNvSpPr/>
          <p:nvPr/>
        </p:nvSpPr>
        <p:spPr>
          <a:xfrm>
            <a:off x="9555480" y="2834640"/>
            <a:ext cx="960120" cy="228600"/>
          </a:xfrm>
          <a:prstGeom prst="rect">
            <a:avLst/>
          </a:prstGeom>
          <a:noFill/>
          <a:ln/>
        </p:spPr>
        <p:txBody>
          <a:bodyPr wrap="square" lIns="0" tIns="0" rIns="0" bIns="0" rtlCol="0" anchor="ctr"/>
          <a:lstStyle/>
          <a:p>
            <a:pPr algn="ctr" indent="0" marL="0">
              <a:buNone/>
            </a:pPr>
            <a:r>
              <a:rPr lang="en-US" sz="1000" b="1" dirty="0">
                <a:solidFill>
                  <a:srgbClr val="D64545"/>
                </a:solidFill>
                <a:latin typeface="Calibri" pitchFamily="34" charset="0"/>
                <a:ea typeface="Calibri" pitchFamily="34" charset="-122"/>
                <a:cs typeface="Calibri" pitchFamily="34" charset="-120"/>
              </a:rPr>
              <a:t>blocked</a:t>
            </a:r>
            <a:endParaRPr lang="en-US" sz="1000" dirty="0"/>
          </a:p>
        </p:txBody>
      </p:sp>
      <p:sp>
        <p:nvSpPr>
          <p:cNvPr id="40" name="Text 38"/>
          <p:cNvSpPr/>
          <p:nvPr/>
        </p:nvSpPr>
        <p:spPr>
          <a:xfrm>
            <a:off x="566928" y="5742432"/>
            <a:ext cx="11057839" cy="384048"/>
          </a:xfrm>
          <a:prstGeom prst="rect">
            <a:avLst/>
          </a:prstGeom>
          <a:noFill/>
          <a:ln/>
        </p:spPr>
        <p:txBody>
          <a:bodyPr wrap="square" lIns="0" tIns="0" rIns="0" bIns="0" rtlCol="0" anchor="ctr"/>
          <a:lstStyle/>
          <a:p>
            <a:pPr algn="ctr" indent="0" marL="0">
              <a:buNone/>
            </a:pPr>
            <a:r>
              <a:rPr lang="en-US" sz="1500" b="1" dirty="0">
                <a:solidFill>
                  <a:srgbClr val="F2A03D"/>
                </a:solidFill>
                <a:latin typeface="Calibri" pitchFamily="34" charset="0"/>
                <a:ea typeface="Calibri" pitchFamily="34" charset="-122"/>
                <a:cs typeface="Calibri" pitchFamily="34" charset="-120"/>
              </a:rPr>
              <a:t>The first selecting policy flips a pod from open-by-default to allow-list-only.</a:t>
            </a:r>
            <a:endParaRPr lang="en-US" sz="1500" dirty="0"/>
          </a:p>
        </p:txBody>
      </p:sp>
      <p:sp>
        <p:nvSpPr>
          <p:cNvPr id="41" name="Text 39"/>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42" name="Text 40"/>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15</a:t>
            </a:r>
            <a:endParaRPr lang="en-US" sz="900" dirty="0"/>
          </a:p>
        </p:txBody>
      </p:sp>
      <p:pic>
        <p:nvPicPr>
          <p:cNvPr id="43"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44"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45"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592324"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59232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M4.5 · WORKED EXAMPLE</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control, demonstrated</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F2A03D"/>
                </a:solidFill>
                <a:latin typeface="Calibri" pitchFamily="34" charset="0"/>
                <a:ea typeface="Calibri" pitchFamily="34" charset="-122"/>
                <a:cs typeface="Calibri" pitchFamily="34" charset="-120"/>
              </a:rPr>
              <a:t>Same command, before and after. This is what you show a QSA.</a:t>
            </a:r>
            <a:endParaRPr lang="en-US" sz="1400" dirty="0"/>
          </a:p>
        </p:txBody>
      </p:sp>
      <p:sp>
        <p:nvSpPr>
          <p:cNvPr id="6" name="Shape 4"/>
          <p:cNvSpPr/>
          <p:nvPr/>
        </p:nvSpPr>
        <p:spPr>
          <a:xfrm>
            <a:off x="566928" y="2249424"/>
            <a:ext cx="11057839" cy="3307080"/>
          </a:xfrm>
          <a:prstGeom prst="roundRect">
            <a:avLst>
              <a:gd name="adj" fmla="val 2212"/>
            </a:avLst>
          </a:prstGeom>
          <a:solidFill>
            <a:srgbClr val="0E2740"/>
          </a:solidFill>
          <a:ln w="12700">
            <a:solidFill>
              <a:srgbClr val="1B4066"/>
            </a:solidFill>
            <a:prstDash val="solid"/>
          </a:ln>
        </p:spPr>
      </p:sp>
      <p:sp>
        <p:nvSpPr>
          <p:cNvPr id="7" name="Shape 5"/>
          <p:cNvSpPr/>
          <p:nvPr/>
        </p:nvSpPr>
        <p:spPr>
          <a:xfrm>
            <a:off x="768096" y="2404872"/>
            <a:ext cx="118872" cy="118872"/>
          </a:xfrm>
          <a:prstGeom prst="ellipse">
            <a:avLst/>
          </a:prstGeom>
          <a:solidFill>
            <a:srgbClr val="D64545"/>
          </a:solidFill>
          <a:ln w="12700">
            <a:solidFill>
              <a:srgbClr val="D64545"/>
            </a:solidFill>
            <a:prstDash val="solid"/>
          </a:ln>
        </p:spPr>
      </p:sp>
      <p:sp>
        <p:nvSpPr>
          <p:cNvPr id="8" name="Shape 6"/>
          <p:cNvSpPr/>
          <p:nvPr/>
        </p:nvSpPr>
        <p:spPr>
          <a:xfrm>
            <a:off x="987552" y="2404872"/>
            <a:ext cx="118872" cy="118872"/>
          </a:xfrm>
          <a:prstGeom prst="ellipse">
            <a:avLst/>
          </a:prstGeom>
          <a:solidFill>
            <a:srgbClr val="F2A03D"/>
          </a:solidFill>
          <a:ln w="12700">
            <a:solidFill>
              <a:srgbClr val="F2A03D"/>
            </a:solidFill>
            <a:prstDash val="solid"/>
          </a:ln>
        </p:spPr>
      </p:sp>
      <p:sp>
        <p:nvSpPr>
          <p:cNvPr id="9" name="Shape 7"/>
          <p:cNvSpPr/>
          <p:nvPr/>
        </p:nvSpPr>
        <p:spPr>
          <a:xfrm>
            <a:off x="1207008" y="2404872"/>
            <a:ext cx="118872" cy="118872"/>
          </a:xfrm>
          <a:prstGeom prst="ellipse">
            <a:avLst/>
          </a:prstGeom>
          <a:solidFill>
            <a:srgbClr val="2E9E63"/>
          </a:solidFill>
          <a:ln w="12700">
            <a:solidFill>
              <a:srgbClr val="2E9E63"/>
            </a:solidFill>
            <a:prstDash val="solid"/>
          </a:ln>
        </p:spPr>
      </p:sp>
      <p:sp>
        <p:nvSpPr>
          <p:cNvPr id="10" name="Text 8"/>
          <p:cNvSpPr/>
          <p:nvPr/>
        </p:nvSpPr>
        <p:spPr>
          <a:xfrm>
            <a:off x="804672" y="2706624"/>
            <a:ext cx="10600639" cy="2667000"/>
          </a:xfrm>
          <a:prstGeom prst="rect">
            <a:avLst/>
          </a:prstGeom>
          <a:noFill/>
          <a:ln/>
        </p:spPr>
        <p:txBody>
          <a:bodyPr wrap="square" lIns="0" tIns="0" rIns="0" bIns="0" rtlCol="0" anchor="t"/>
          <a:lstStyle/>
          <a:p>
            <a:pPr indent="0" marL="0">
              <a:lnSpc>
                <a:spcPts val="1500"/>
              </a:lnSpc>
              <a:buNone/>
            </a:pPr>
            <a:r>
              <a:rPr lang="en-US" sz="1000" b="1" dirty="0">
                <a:solidFill>
                  <a:srgbClr val="F2A03D"/>
                </a:solidFill>
                <a:latin typeface="Courier New" pitchFamily="34" charset="0"/>
                <a:ea typeface="Courier New" pitchFamily="34" charset="-122"/>
                <a:cs typeface="Courier New" pitchFamily="34" charset="-120"/>
              </a:rPr>
              <a:t>$ kubectl exec -n axispay-edge deploy/edge-gateway -- python3 -c \</a:t>
            </a:r>
            <a:endParaRPr lang="en-US" sz="1000" dirty="0"/>
          </a:p>
          <a:p>
            <a:pPr indent="0" marL="0">
              <a:lnSpc>
                <a:spcPts val="1500"/>
              </a:lnSpc>
              <a:buNone/>
            </a:pPr>
            <a:r>
              <a:rPr lang="en-US" sz="1000" b="1" dirty="0">
                <a:solidFill>
                  <a:srgbClr val="F2A03D"/>
                </a:solidFill>
                <a:latin typeface="Courier New" pitchFamily="34" charset="0"/>
                <a:ea typeface="Courier New" pitchFamily="34" charset="-122"/>
                <a:cs typeface="Courier New" pitchFamily="34" charset="-120"/>
              </a:rPr>
              <a:t>    "import socket; socket.create_connection(</a:t>
            </a:r>
            <a:endParaRPr lang="en-US" sz="1000" dirty="0"/>
          </a:p>
          <a:p>
            <a:pPr indent="0" marL="0">
              <a:lnSpc>
                <a:spcPts val="1500"/>
              </a:lnSpc>
              <a:buNone/>
            </a:pPr>
            <a:r>
              <a:rPr lang="en-US" sz="1000" b="1" dirty="0">
                <a:solidFill>
                  <a:srgbClr val="F2A03D"/>
                </a:solidFill>
                <a:latin typeface="Courier New" pitchFamily="34" charset="0"/>
                <a:ea typeface="Courier New" pitchFamily="34" charset="-122"/>
                <a:cs typeface="Courier New" pitchFamily="34" charset="-120"/>
              </a:rPr>
              <a:t>     ('postgres-0.postgres.axispay-data...',5432),timeout=5)"</a:t>
            </a:r>
            <a:endParaRPr lang="en-US" sz="1000" dirty="0"/>
          </a:p>
          <a:p>
            <a:pPr indent="0" marL="0">
              <a:lnSpc>
                <a:spcPts val="1500"/>
              </a:lnSpc>
              <a:buNone/>
            </a:pPr>
            <a:r>
              <a:rPr lang="en-US" sz="1000" dirty="0">
                <a:solidFill>
                  <a:srgbClr val="D8E6F2"/>
                </a:solidFill>
                <a:latin typeface="Courier New" pitchFamily="34" charset="0"/>
                <a:ea typeface="Courier New" pitchFamily="34" charset="-122"/>
                <a:cs typeface="Courier New" pitchFamily="34" charset="-120"/>
              </a:rPr>
              <a:t> </a:t>
            </a:r>
            <a:endParaRPr lang="en-US" sz="1000" dirty="0"/>
          </a:p>
          <a:p>
            <a:pPr indent="0" marL="0">
              <a:lnSpc>
                <a:spcPts val="1500"/>
              </a:lnSpc>
              <a:buNone/>
            </a:pPr>
            <a:r>
              <a:rPr lang="en-US" sz="1000" dirty="0">
                <a:solidFill>
                  <a:srgbClr val="63758B"/>
                </a:solidFill>
                <a:latin typeface="Courier New" pitchFamily="34" charset="0"/>
                <a:ea typeface="Courier New" pitchFamily="34" charset="-122"/>
                <a:cs typeface="Courier New" pitchFamily="34" charset="-120"/>
              </a:rPr>
              <a:t># BEFORE — L4.4 step 1</a:t>
            </a:r>
            <a:endParaRPr lang="en-US" sz="1000" dirty="0"/>
          </a:p>
          <a:p>
            <a:pPr indent="0" marL="0">
              <a:lnSpc>
                <a:spcPts val="1500"/>
              </a:lnSpc>
              <a:buNone/>
            </a:pPr>
            <a:r>
              <a:rPr lang="en-US" sz="1000" dirty="0">
                <a:solidFill>
                  <a:srgbClr val="D64545"/>
                </a:solidFill>
                <a:latin typeface="Courier New" pitchFamily="34" charset="0"/>
                <a:ea typeface="Courier New" pitchFamily="34" charset="-122"/>
                <a:cs typeface="Courier New" pitchFamily="34" charset="-120"/>
              </a:rPr>
              <a:t>CONNECTED to PostgreSQL from the DMZ  &lt;- this is the finding</a:t>
            </a:r>
            <a:endParaRPr lang="en-US" sz="1000" dirty="0"/>
          </a:p>
          <a:p>
            <a:pPr indent="0" marL="0">
              <a:lnSpc>
                <a:spcPts val="1500"/>
              </a:lnSpc>
              <a:buNone/>
            </a:pPr>
            <a:r>
              <a:rPr lang="en-US" sz="1000" dirty="0">
                <a:solidFill>
                  <a:srgbClr val="D8E6F2"/>
                </a:solidFill>
                <a:latin typeface="Courier New" pitchFamily="34" charset="0"/>
                <a:ea typeface="Courier New" pitchFamily="34" charset="-122"/>
                <a:cs typeface="Courier New" pitchFamily="34" charset="-120"/>
              </a:rPr>
              <a:t> </a:t>
            </a:r>
            <a:endParaRPr lang="en-US" sz="1000" dirty="0"/>
          </a:p>
          <a:p>
            <a:pPr indent="0" marL="0">
              <a:lnSpc>
                <a:spcPts val="1500"/>
              </a:lnSpc>
              <a:buNone/>
            </a:pPr>
            <a:r>
              <a:rPr lang="en-US" sz="1000" dirty="0">
                <a:solidFill>
                  <a:srgbClr val="63758B"/>
                </a:solidFill>
                <a:latin typeface="Courier New" pitchFamily="34" charset="0"/>
                <a:ea typeface="Courier New" pitchFamily="34" charset="-122"/>
                <a:cs typeface="Courier New" pitchFamily="34" charset="-120"/>
              </a:rPr>
              <a:t># AFTER — L4.4 step 6, same command</a:t>
            </a:r>
            <a:endParaRPr lang="en-US" sz="1000" dirty="0"/>
          </a:p>
          <a:p>
            <a:pPr indent="0" marL="0">
              <a:lnSpc>
                <a:spcPts val="1500"/>
              </a:lnSpc>
              <a:buNone/>
            </a:pPr>
            <a:r>
              <a:rPr lang="en-US" sz="1000" dirty="0">
                <a:solidFill>
                  <a:srgbClr val="2E9E63"/>
                </a:solidFill>
                <a:latin typeface="Courier New" pitchFamily="34" charset="0"/>
                <a:ea typeface="Courier New" pitchFamily="34" charset="-122"/>
                <a:cs typeface="Courier New" pitchFamily="34" charset="-120"/>
              </a:rPr>
              <a:t>BLOCKED — the DMZ can no longer reach the vault: TimeoutError</a:t>
            </a:r>
            <a:endParaRPr lang="en-US" sz="1000" dirty="0"/>
          </a:p>
          <a:p>
            <a:pPr indent="0" marL="0">
              <a:lnSpc>
                <a:spcPts val="1500"/>
              </a:lnSpc>
              <a:buNone/>
            </a:pPr>
            <a:r>
              <a:rPr lang="en-US" sz="1000" dirty="0">
                <a:solidFill>
                  <a:srgbClr val="D8E6F2"/>
                </a:solidFill>
                <a:latin typeface="Courier New" pitchFamily="34" charset="0"/>
                <a:ea typeface="Courier New" pitchFamily="34" charset="-122"/>
                <a:cs typeface="Courier New" pitchFamily="34" charset="-120"/>
              </a:rPr>
              <a:t> </a:t>
            </a:r>
            <a:endParaRPr lang="en-US" sz="1000" dirty="0"/>
          </a:p>
          <a:p>
            <a:pPr indent="0" marL="0">
              <a:lnSpc>
                <a:spcPts val="1500"/>
              </a:lnSpc>
              <a:buNone/>
            </a:pPr>
            <a:r>
              <a:rPr lang="en-US" sz="1000" b="1" dirty="0">
                <a:solidFill>
                  <a:srgbClr val="F2A03D"/>
                </a:solidFill>
                <a:latin typeface="Courier New" pitchFamily="34" charset="0"/>
                <a:ea typeface="Courier New" pitchFamily="34" charset="-122"/>
                <a:cs typeface="Courier New" pitchFamily="34" charset="-120"/>
              </a:rPr>
              <a:t>$ python3 platform/admin/validate/simulate-netpol.py</a:t>
            </a:r>
            <a:endParaRPr lang="en-US" sz="1000" dirty="0"/>
          </a:p>
          <a:p>
            <a:pPr indent="0" marL="0">
              <a:lnSpc>
                <a:spcPts val="1500"/>
              </a:lnSpc>
              <a:buNone/>
            </a:pPr>
            <a:r>
              <a:rPr lang="en-US" sz="1000" dirty="0">
                <a:solidFill>
                  <a:srgbClr val="2E9E63"/>
                </a:solidFill>
                <a:latin typeface="Courier New" pitchFamily="34" charset="0"/>
                <a:ea typeface="Courier New" pitchFamily="34" charset="-122"/>
                <a:cs typeface="Courier New" pitchFamily="34" charset="-120"/>
              </a:rPr>
              <a:t>All 39 policy assertions hold.</a:t>
            </a:r>
            <a:endParaRPr lang="en-US" sz="1000" dirty="0"/>
          </a:p>
          <a:p>
            <a:pPr indent="0" marL="0">
              <a:lnSpc>
                <a:spcPts val="1500"/>
              </a:lnSpc>
              <a:buNone/>
            </a:pPr>
            <a:r>
              <a:rPr lang="en-US" sz="1000" dirty="0">
                <a:solidFill>
                  <a:srgbClr val="63758B"/>
                </a:solidFill>
                <a:latin typeface="Courier New" pitchFamily="34" charset="0"/>
                <a:ea typeface="Courier New" pitchFamily="34" charset="-122"/>
                <a:cs typeface="Courier New" pitchFamily="34" charset="-120"/>
              </a:rPr>
              <a:t>  19 calls the platform makes: ALLOWED</a:t>
            </a:r>
            <a:endParaRPr lang="en-US" sz="1000" dirty="0"/>
          </a:p>
          <a:p>
            <a:pPr indent="0" marL="0">
              <a:lnSpc>
                <a:spcPts val="1500"/>
              </a:lnSpc>
              <a:buNone/>
            </a:pPr>
            <a:r>
              <a:rPr lang="en-US" sz="1000" dirty="0">
                <a:solidFill>
                  <a:srgbClr val="63758B"/>
                </a:solidFill>
                <a:latin typeface="Courier New" pitchFamily="34" charset="0"/>
                <a:ea typeface="Courier New" pitchFamily="34" charset="-122"/>
                <a:cs typeface="Courier New" pitchFamily="34" charset="-120"/>
              </a:rPr>
              <a:t>   8 controls that matter:      BLOCKED</a:t>
            </a:r>
            <a:endParaRPr lang="en-US" sz="1000" dirty="0"/>
          </a:p>
        </p:txBody>
      </p:sp>
      <p:sp>
        <p:nvSpPr>
          <p:cNvPr id="11" name="Text 9"/>
          <p:cNvSpPr/>
          <p:nvPr/>
        </p:nvSpPr>
        <p:spPr>
          <a:xfrm>
            <a:off x="566928" y="5721096"/>
            <a:ext cx="11057839" cy="457200"/>
          </a:xfrm>
          <a:prstGeom prst="rect">
            <a:avLst/>
          </a:prstGeom>
          <a:noFill/>
          <a:ln/>
        </p:spPr>
        <p:txBody>
          <a:bodyPr wrap="square" lIns="0" tIns="0" rIns="0" bIns="0" rtlCol="0" anchor="ctr"/>
          <a:lstStyle/>
          <a:p>
            <a:pPr indent="0" marL="0">
              <a:buNone/>
            </a:pPr>
            <a:r>
              <a:rPr lang="en-US" sz="1300" i="1" dirty="0">
                <a:solidFill>
                  <a:srgbClr val="D8E6F2"/>
                </a:solidFill>
                <a:latin typeface="Calibri" pitchFamily="34" charset="0"/>
                <a:ea typeface="Calibri" pitchFamily="34" charset="-122"/>
                <a:cs typeface="Calibri" pitchFamily="34" charset="-120"/>
              </a:rPr>
              <a:t>A TIMEOUT, not a refusal. Dropped packets look like a slow network, which is why an over-broad policy is so hard to diagnose — that is INC-4c.</a:t>
            </a:r>
            <a:endParaRPr lang="en-US" sz="1300" dirty="0"/>
          </a:p>
        </p:txBody>
      </p:sp>
      <p:sp>
        <p:nvSpPr>
          <p:cNvPr id="12" name="Text 10"/>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3" name="Text 11"/>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16</a:t>
            </a:r>
            <a:endParaRPr lang="en-US" sz="900" dirty="0"/>
          </a:p>
        </p:txBody>
      </p:sp>
      <p:pic>
        <p:nvPicPr>
          <p:cNvPr id="14"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5"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6"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120140" cy="292608"/>
          </a:xfrm>
          <a:prstGeom prst="roundRect">
            <a:avLst>
              <a:gd name="adj" fmla="val 50000"/>
            </a:avLst>
          </a:prstGeom>
          <a:solidFill>
            <a:srgbClr val="D64545"/>
          </a:solidFill>
          <a:ln w="12700">
            <a:solidFill>
              <a:srgbClr val="D64545"/>
            </a:solidFill>
            <a:prstDash val="solid"/>
          </a:ln>
        </p:spPr>
      </p:sp>
      <p:sp>
        <p:nvSpPr>
          <p:cNvPr id="3" name="Text 1"/>
          <p:cNvSpPr/>
          <p:nvPr/>
        </p:nvSpPr>
        <p:spPr>
          <a:xfrm>
            <a:off x="566928" y="384048"/>
            <a:ext cx="11201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WARNING</a:t>
            </a:r>
            <a:endParaRPr lang="en-US" sz="1100" dirty="0"/>
          </a:p>
        </p:txBody>
      </p:sp>
      <p:sp>
        <p:nvSpPr>
          <p:cNvPr id="4" name="Shape 2"/>
          <p:cNvSpPr/>
          <p:nvPr/>
        </p:nvSpPr>
        <p:spPr>
          <a:xfrm>
            <a:off x="566928" y="1554480"/>
            <a:ext cx="11057839" cy="3017520"/>
          </a:xfrm>
          <a:prstGeom prst="roundRect">
            <a:avLst>
              <a:gd name="adj" fmla="val 3636"/>
            </a:avLst>
          </a:prstGeom>
          <a:solidFill>
            <a:srgbClr val="12314F"/>
          </a:solidFill>
          <a:ln w="12700">
            <a:solidFill>
              <a:srgbClr val="D64545"/>
            </a:solidFill>
            <a:prstDash val="solid"/>
          </a:ln>
        </p:spPr>
      </p:sp>
      <p:sp>
        <p:nvSpPr>
          <p:cNvPr id="5" name="Text 3"/>
          <p:cNvSpPr/>
          <p:nvPr/>
        </p:nvSpPr>
        <p:spPr>
          <a:xfrm>
            <a:off x="1115568" y="1920240"/>
            <a:ext cx="9960559" cy="1463040"/>
          </a:xfrm>
          <a:prstGeom prst="rect">
            <a:avLst/>
          </a:prstGeom>
          <a:noFill/>
          <a:ln/>
        </p:spPr>
        <p:txBody>
          <a:bodyPr wrap="square" lIns="0" tIns="0" rIns="0" bIns="0"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Apply default-deny and the entire platform stops working.</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That is correct.</a:t>
            </a:r>
            <a:endParaRPr lang="en-US" sz="3000" dirty="0"/>
          </a:p>
        </p:txBody>
      </p:sp>
      <p:sp>
        <p:nvSpPr>
          <p:cNvPr id="6" name="Text 4"/>
          <p:cNvSpPr/>
          <p:nvPr/>
        </p:nvSpPr>
        <p:spPr>
          <a:xfrm>
            <a:off x="1115568" y="3429000"/>
            <a:ext cx="9960559" cy="914400"/>
          </a:xfrm>
          <a:prstGeom prst="rect">
            <a:avLst/>
          </a:prstGeom>
          <a:noFill/>
          <a:ln/>
        </p:spPr>
        <p:txBody>
          <a:bodyPr wrap="square" lIns="0" tIns="0" rIns="0" bIns="0" rtlCol="0" anchor="ctr"/>
          <a:lstStyle/>
          <a:p>
            <a:pPr indent="0" marL="0">
              <a:lnSpc>
                <a:spcPts val="2100"/>
              </a:lnSpc>
              <a:buNone/>
            </a:pPr>
            <a:r>
              <a:rPr lang="en-US" sz="1500" dirty="0">
                <a:solidFill>
                  <a:srgbClr val="D8E6F2"/>
                </a:solidFill>
                <a:latin typeface="Calibri" pitchFamily="34" charset="0"/>
                <a:ea typeface="Calibri" pitchFamily="34" charset="-122"/>
                <a:cs typeface="Calibri" pitchFamily="34" charset="-120"/>
              </a:rPr>
              <a:t>In L4.4 step 2 everything breaks — including calls you explicitly allowed. Before you apply the next file, work out WHY.</a:t>
            </a:r>
            <a:endParaRPr lang="en-US" sz="1500" dirty="0"/>
          </a:p>
        </p:txBody>
      </p:sp>
      <p:sp>
        <p:nvSpPr>
          <p:cNvPr id="7" name="Text 5"/>
          <p:cNvSpPr/>
          <p:nvPr/>
        </p:nvSpPr>
        <p:spPr>
          <a:xfrm>
            <a:off x="658368" y="4800600"/>
            <a:ext cx="11057839" cy="1188720"/>
          </a:xfrm>
          <a:prstGeom prst="rect">
            <a:avLst/>
          </a:prstGeom>
          <a:noFill/>
          <a:ln/>
        </p:spPr>
        <p:txBody>
          <a:bodyPr wrap="square" lIns="0" tIns="0" rIns="0" bIns="0" rtlCol="0" anchor="ctr"/>
          <a:lstStyle/>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Every service call begins with a DNS lookup to CoreDNS in kube-system.</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That lookup is EGRESS TRAFFIC, and default-deny blocked it.</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The symptom is a NAME RESOLUTION failure, not a connection refusal — so it looks like a DNS outage, not a policy problem.</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You saw this exact shape in L4.2 step 6. That was not an accident.</a:t>
            </a:r>
            <a:endParaRPr lang="en-US" sz="1350" dirty="0"/>
          </a:p>
        </p:txBody>
      </p:sp>
      <p:sp>
        <p:nvSpPr>
          <p:cNvPr id="8" name="Text 6"/>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9" name="Text 7"/>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17</a:t>
            </a:r>
            <a:endParaRPr lang="en-US" sz="900" dirty="0"/>
          </a:p>
        </p:txBody>
      </p:sp>
      <p:pic>
        <p:nvPicPr>
          <p:cNvPr id="10"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1"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2"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L4.4</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Zero-trust segmentation</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PROVE the finding: connect to PostgreSQL from the DMZ</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Apply default-deny and watch the platform stop</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Derive the DNS egress rule from a broken cluster</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Allow-list every real call path</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Run the SAME command from step 1 and get the opposite result</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22 policies applied</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edge-gateway CANNOT reach PostgreSQL</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simulate-netpol.py: 39/39</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LAB=L4.4</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50 minutes   ·   labs/day4/L4.4-networkpolicy/</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18</a:t>
            </a:r>
            <a:endParaRPr lang="en-US" sz="900" dirty="0"/>
          </a:p>
        </p:txBody>
      </p:sp>
      <p:pic>
        <p:nvPicPr>
          <p:cNvPr id="1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4000" b="1" dirty="0">
                <a:solidFill>
                  <a:srgbClr val="F2A03D"/>
                </a:solidFill>
                <a:latin typeface="Cambria" pitchFamily="34" charset="0"/>
                <a:ea typeface="Cambria" pitchFamily="34" charset="-122"/>
                <a:cs typeface="Cambria" pitchFamily="34" charset="-120"/>
              </a:rPr>
              <a:t>M4.6 – M4.7</a:t>
            </a:r>
            <a:endParaRPr lang="en-US" sz="40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Placement and disruption</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Affinity, spread, taints, drains and the budgets that make Friday survivable</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Distinguish required from preferred and predict each consequence</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Spread payment replicas across nodes deliberately</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Write a PodDisruptionBudget and prove it under live traffic</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110 min</a:t>
            </a:r>
            <a:endParaRPr lang="en-US" sz="1100" dirty="0"/>
          </a:p>
        </p:txBody>
      </p:sp>
      <p:pic>
        <p:nvPicPr>
          <p:cNvPr id="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066544"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06654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M4.6 · PLACEMENT</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required vs preferred — and the HPA it silently caps</a:t>
            </a:r>
            <a:endParaRPr lang="en-US" sz="3200" dirty="0"/>
          </a:p>
        </p:txBody>
      </p:sp>
      <p:sp>
        <p:nvSpPr>
          <p:cNvPr id="5" name="Text 3"/>
          <p:cNvSpPr/>
          <p:nvPr/>
        </p:nvSpPr>
        <p:spPr>
          <a:xfrm>
            <a:off x="566928" y="1737360"/>
            <a:ext cx="11057839" cy="457200"/>
          </a:xfrm>
          <a:prstGeom prst="rect">
            <a:avLst/>
          </a:prstGeom>
          <a:noFill/>
          <a:ln/>
        </p:spPr>
        <p:txBody>
          <a:bodyPr wrap="square" lIns="0" tIns="0" rIns="0" bIns="0" rtlCol="0" anchor="ctr"/>
          <a:lstStyle/>
          <a:p>
            <a:pPr indent="0" marL="0">
              <a:lnSpc>
                <a:spcPts val="1700"/>
              </a:lnSpc>
              <a:buNone/>
            </a:pPr>
            <a:r>
              <a:rPr lang="en-US" sz="1350" i="1" dirty="0">
                <a:solidFill>
                  <a:srgbClr val="1C7293"/>
                </a:solidFill>
                <a:latin typeface="Calibri" pitchFamily="34" charset="0"/>
                <a:ea typeface="Calibri" pitchFamily="34" charset="-122"/>
                <a:cs typeface="Calibri" pitchFamily="34" charset="-120"/>
              </a:rPr>
              <a:t>Scheduler affinity rules come in hard and soft forms. `requiredDuringSchedulingIgnoredDuringExecution` is a gate that must pass before placement, while `preferredDuringSchedulingIgnoredDuringExecution` is a weighted hint the scheduler tries to honor without blocking the pod if capacity is tight.</a:t>
            </a:r>
            <a:endParaRPr lang="en-US" sz="1350" dirty="0"/>
          </a:p>
        </p:txBody>
      </p:sp>
      <p:sp>
        <p:nvSpPr>
          <p:cNvPr id="6" name="Shape 4"/>
          <p:cNvSpPr/>
          <p:nvPr/>
        </p:nvSpPr>
        <p:spPr>
          <a:xfrm>
            <a:off x="566928" y="2249424"/>
            <a:ext cx="11057839" cy="566928"/>
          </a:xfrm>
          <a:prstGeom prst="roundRect">
            <a:avLst>
              <a:gd name="adj" fmla="val 12903"/>
            </a:avLst>
          </a:prstGeom>
          <a:solidFill>
            <a:srgbClr val="EAF1F8"/>
          </a:solidFill>
          <a:ln w="12700">
            <a:solidFill>
              <a:srgbClr val="1C7293"/>
            </a:solidFill>
            <a:prstDash val="solid"/>
          </a:ln>
        </p:spPr>
      </p:sp>
      <p:sp>
        <p:nvSpPr>
          <p:cNvPr id="7" name="Text 5"/>
          <p:cNvSpPr/>
          <p:nvPr/>
        </p:nvSpPr>
        <p:spPr>
          <a:xfrm>
            <a:off x="768096" y="2249424"/>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Both spread your pods. Why does AxisPay use one for payment-service and the other for fraud-service?</a:t>
            </a:r>
            <a:endParaRPr lang="en-US" sz="1500" dirty="0"/>
          </a:p>
        </p:txBody>
      </p:sp>
      <p:sp>
        <p:nvSpPr>
          <p:cNvPr id="8" name="Shape 6"/>
          <p:cNvSpPr/>
          <p:nvPr/>
        </p:nvSpPr>
        <p:spPr>
          <a:xfrm>
            <a:off x="566928" y="3160395"/>
            <a:ext cx="402336" cy="402336"/>
          </a:xfrm>
          <a:prstGeom prst="ellipse">
            <a:avLst/>
          </a:prstGeom>
          <a:solidFill>
            <a:srgbClr val="D64545"/>
          </a:solidFill>
          <a:ln w="12700">
            <a:solidFill>
              <a:srgbClr val="D64545"/>
            </a:solidFill>
            <a:prstDash val="solid"/>
          </a:ln>
        </p:spPr>
      </p:sp>
      <p:sp>
        <p:nvSpPr>
          <p:cNvPr id="9" name="Text 7"/>
          <p:cNvSpPr/>
          <p:nvPr/>
        </p:nvSpPr>
        <p:spPr>
          <a:xfrm>
            <a:off x="566928" y="31603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p:nvPr/>
        </p:nvSpPr>
        <p:spPr>
          <a:xfrm>
            <a:off x="1133856" y="2999232"/>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required is a gate</a:t>
            </a:r>
            <a:endParaRPr lang="en-US" sz="1400" dirty="0"/>
          </a:p>
        </p:txBody>
      </p:sp>
      <p:sp>
        <p:nvSpPr>
          <p:cNvPr id="11" name="Text 9"/>
          <p:cNvSpPr/>
          <p:nvPr/>
        </p:nvSpPr>
        <p:spPr>
          <a:xfrm>
            <a:off x="4407408" y="2999232"/>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generic `web-app` with required anti-affinity stays Pending if every node already has a matching replica. Hard rules protect spread by refusing to schedule.</a:t>
            </a:r>
            <a:endParaRPr lang="en-US" sz="1250" dirty="0"/>
          </a:p>
        </p:txBody>
      </p:sp>
      <p:sp>
        <p:nvSpPr>
          <p:cNvPr id="12" name="Shape 10"/>
          <p:cNvSpPr/>
          <p:nvPr/>
        </p:nvSpPr>
        <p:spPr>
          <a:xfrm>
            <a:off x="566928" y="3885057"/>
            <a:ext cx="402336" cy="402336"/>
          </a:xfrm>
          <a:prstGeom prst="ellipse">
            <a:avLst/>
          </a:prstGeom>
          <a:solidFill>
            <a:srgbClr val="2E9E63"/>
          </a:solidFill>
          <a:ln w="12700">
            <a:solidFill>
              <a:srgbClr val="2E9E63"/>
            </a:solidFill>
            <a:prstDash val="solid"/>
          </a:ln>
        </p:spPr>
      </p:sp>
      <p:sp>
        <p:nvSpPr>
          <p:cNvPr id="13" name="Text 11"/>
          <p:cNvSpPr/>
          <p:nvPr/>
        </p:nvSpPr>
        <p:spPr>
          <a:xfrm>
            <a:off x="566928" y="388505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1133856" y="3723894"/>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payment-service uses required</a:t>
            </a:r>
            <a:endParaRPr lang="en-US" sz="1400" dirty="0"/>
          </a:p>
        </p:txBody>
      </p:sp>
      <p:sp>
        <p:nvSpPr>
          <p:cNvPr id="15" name="Text 13"/>
          <p:cNvSpPr/>
          <p:nvPr/>
        </p:nvSpPr>
        <p:spPr>
          <a:xfrm>
            <a:off x="4407408" y="3723894"/>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For a critical replicated workload, sharing one failure domain is worse than leaving one replica unscheduled. AxisPay applies that to `payment-service`: three replicas on one node look redundant but fail together.</a:t>
            </a:r>
            <a:endParaRPr lang="en-US" sz="1250" dirty="0"/>
          </a:p>
        </p:txBody>
      </p:sp>
      <p:sp>
        <p:nvSpPr>
          <p:cNvPr id="16" name="Shape 14"/>
          <p:cNvSpPr/>
          <p:nvPr/>
        </p:nvSpPr>
        <p:spPr>
          <a:xfrm>
            <a:off x="566928" y="4609719"/>
            <a:ext cx="402336" cy="402336"/>
          </a:xfrm>
          <a:prstGeom prst="ellipse">
            <a:avLst/>
          </a:prstGeom>
          <a:solidFill>
            <a:srgbClr val="C97B1E"/>
          </a:solidFill>
          <a:ln w="12700">
            <a:solidFill>
              <a:srgbClr val="C97B1E"/>
            </a:solidFill>
            <a:prstDash val="solid"/>
          </a:ln>
        </p:spPr>
      </p:sp>
      <p:sp>
        <p:nvSpPr>
          <p:cNvPr id="17" name="Text 15"/>
          <p:cNvSpPr/>
          <p:nvPr/>
        </p:nvSpPr>
        <p:spPr>
          <a:xfrm>
            <a:off x="566928" y="460971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1133856" y="4448556"/>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AxisPay hits a hard limit</a:t>
            </a:r>
            <a:endParaRPr lang="en-US" sz="1400" dirty="0"/>
          </a:p>
        </p:txBody>
      </p:sp>
      <p:sp>
        <p:nvSpPr>
          <p:cNvPr id="19" name="Text 17"/>
          <p:cNvSpPr/>
          <p:nvPr/>
        </p:nvSpPr>
        <p:spPr>
          <a:xfrm>
            <a:off x="4407408" y="4448556"/>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With required anti-affinity on hostname, `payment-service` can never have more replicas than nodes. Scale to 4 on a 3-node cluster and the fourth stays Pending.</a:t>
            </a:r>
            <a:endParaRPr lang="en-US" sz="1250" dirty="0"/>
          </a:p>
        </p:txBody>
      </p:sp>
      <p:sp>
        <p:nvSpPr>
          <p:cNvPr id="20" name="Shape 18"/>
          <p:cNvSpPr/>
          <p:nvPr/>
        </p:nvSpPr>
        <p:spPr>
          <a:xfrm>
            <a:off x="566928" y="5334381"/>
            <a:ext cx="402336" cy="402336"/>
          </a:xfrm>
          <a:prstGeom prst="ellipse">
            <a:avLst/>
          </a:prstGeom>
          <a:solidFill>
            <a:srgbClr val="1C7293"/>
          </a:solidFill>
          <a:ln w="12700">
            <a:solidFill>
              <a:srgbClr val="1C7293"/>
            </a:solidFill>
            <a:prstDash val="solid"/>
          </a:ln>
        </p:spPr>
      </p:sp>
      <p:sp>
        <p:nvSpPr>
          <p:cNvPr id="21" name="Text 19"/>
          <p:cNvSpPr/>
          <p:nvPr/>
        </p:nvSpPr>
        <p:spPr>
          <a:xfrm>
            <a:off x="566928" y="5334381"/>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133856" y="5173218"/>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fraud-service uses preferred</a:t>
            </a:r>
            <a:endParaRPr lang="en-US" sz="1400" dirty="0"/>
          </a:p>
        </p:txBody>
      </p:sp>
      <p:sp>
        <p:nvSpPr>
          <p:cNvPr id="23" name="Text 21"/>
          <p:cNvSpPr/>
          <p:nvPr/>
        </p:nvSpPr>
        <p:spPr>
          <a:xfrm>
            <a:off x="4407408" y="5173218"/>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For autoscaled or bursty workloads, a soft anti-affinity rule preserves spread when possible without turning node count into a hidden ceiling. AxisPay uses that for `fraud-service` because its HPA scales to 6 and must keep scheduling during spikes.</a:t>
            </a:r>
            <a:endParaRPr lang="en-US" sz="1250" dirty="0"/>
          </a:p>
        </p:txBody>
      </p:sp>
      <p:sp>
        <p:nvSpPr>
          <p:cNvPr id="24" name="Text 22"/>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Same intent, different failure mode. For an autoscaled service, preferred is the only safe choice.</a:t>
            </a:r>
            <a:endParaRPr lang="en-US" sz="1400" dirty="0"/>
          </a:p>
        </p:txBody>
      </p:sp>
      <p:sp>
        <p:nvSpPr>
          <p:cNvPr id="25" name="Text 2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26" name="Text 2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20</a:t>
            </a:r>
            <a:endParaRPr lang="en-US" sz="900" dirty="0"/>
          </a:p>
        </p:txBody>
      </p:sp>
      <p:pic>
        <p:nvPicPr>
          <p:cNvPr id="2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066544"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06654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M4.6 · PLACEMENT</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Three ways to influence WHERE a pod lands — in order of power</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Pod placement can be influenced from the pod spec in three distinct ways: by matching node labels directly, by expressing richer node rules, or by placing relative to other pods already running. All three answer 'which node?' from the pod's side; the next slide covers the node's side.</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2286000"/>
                <a:gridCol w="4343400"/>
                <a:gridCol w="4434840"/>
              </a:tblGrid>
              <a:tr h="8046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matches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When to reach for it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80467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nodeSelector</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Exact-match key/value labels on the node, for example `accelerator: nvidia`. The simplest mechanism: a flat map, AND-ed together, with no operators. If no node matches every key, the pod stays Pending.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Simple, fixed constraints — for example, run `gpu-workload` only on nodes labelled `accelerator: nvidia`.</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80467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nodeAffinity</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The expressive successor to nodeSelector. Supports operators such as `In`, `NotIn`, `Exists`, `Gt`, `Lt` and the same hard-versus-soft split: `required...` blocks placement; `preferred...` biases it.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Richer node rules or soft preferences — for example, prefer SSD nodes for `checkout-api` without blocking placement elsewhere.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80467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podAffinity / podAntiAffinity</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Matches LABELS ON OTHER PODS already running, not node labels. AxisPay uses pod anti-affinity so two `payment-service` replicas do not share one node.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Co-location or spread relative to other workloads — for example, keeping AxisPay replicas apart or placing helpers beside the workload they serve.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21</a:t>
            </a:r>
            <a:endParaRPr lang="en-US" sz="900" dirty="0"/>
          </a:p>
        </p:txBody>
      </p:sp>
      <p:pic>
        <p:nvPicPr>
          <p:cNvPr id="23"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4"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5"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066544"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206654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M4.6 · PLACEMENT</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NodeAffinity matches node labels; PodAntiAffinity matches other pods</a:t>
            </a:r>
            <a:endParaRPr lang="en-US" sz="3200" dirty="0"/>
          </a:p>
        </p:txBody>
      </p:sp>
      <p:sp>
        <p:nvSpPr>
          <p:cNvPr id="5" name="Shape 3"/>
          <p:cNvSpPr/>
          <p:nvPr/>
        </p:nvSpPr>
        <p:spPr>
          <a:xfrm>
            <a:off x="658368" y="1828800"/>
            <a:ext cx="5257800" cy="3383280"/>
          </a:xfrm>
          <a:prstGeom prst="roundRect">
            <a:avLst>
              <a:gd name="adj" fmla="val 2703"/>
            </a:avLst>
          </a:prstGeom>
          <a:solidFill>
            <a:srgbClr val="12314F"/>
          </a:solidFill>
          <a:ln w="12700">
            <a:solidFill>
              <a:srgbClr val="1C7293"/>
            </a:solidFill>
            <a:prstDash val="solid"/>
          </a:ln>
        </p:spPr>
      </p:sp>
      <p:sp>
        <p:nvSpPr>
          <p:cNvPr id="6" name="Text 4"/>
          <p:cNvSpPr/>
          <p:nvPr/>
        </p:nvSpPr>
        <p:spPr>
          <a:xfrm>
            <a:off x="768096" y="1920240"/>
            <a:ext cx="5038344" cy="274320"/>
          </a:xfrm>
          <a:prstGeom prst="rect">
            <a:avLst/>
          </a:prstGeom>
          <a:noFill/>
          <a:ln/>
        </p:spPr>
        <p:txBody>
          <a:bodyPr wrap="square" lIns="0" tIns="0" rIns="0" bIns="0" rtlCol="0" anchor="ctr"/>
          <a:lstStyle/>
          <a:p>
            <a:pPr algn="ctr" indent="0" marL="0">
              <a:buNone/>
            </a:pPr>
            <a:r>
              <a:rPr lang="en-US" sz="1050" b="1" spc="100" kern="0" dirty="0">
                <a:solidFill>
                  <a:srgbClr val="1C7293"/>
                </a:solidFill>
                <a:latin typeface="Calibri" pitchFamily="34" charset="0"/>
                <a:ea typeface="Calibri" pitchFamily="34" charset="-122"/>
                <a:cs typeface="Calibri" pitchFamily="34" charset="-120"/>
              </a:rPr>
              <a:t>NODEAFFINITY</a:t>
            </a:r>
            <a:endParaRPr lang="en-US" sz="1050" dirty="0"/>
          </a:p>
        </p:txBody>
      </p:sp>
      <p:sp>
        <p:nvSpPr>
          <p:cNvPr id="7" name="Shape 5"/>
          <p:cNvSpPr/>
          <p:nvPr/>
        </p:nvSpPr>
        <p:spPr>
          <a:xfrm>
            <a:off x="1920240" y="2148840"/>
            <a:ext cx="2697480" cy="731520"/>
          </a:xfrm>
          <a:prstGeom prst="roundRect">
            <a:avLst>
              <a:gd name="adj" fmla="val 10000"/>
            </a:avLst>
          </a:prstGeom>
          <a:solidFill>
            <a:srgbClr val="8E6FBF"/>
          </a:solidFill>
          <a:ln w="12700">
            <a:solidFill>
              <a:srgbClr val="8E6FBF"/>
            </a:solidFill>
            <a:prstDash val="solid"/>
          </a:ln>
        </p:spPr>
      </p:sp>
      <p:sp>
        <p:nvSpPr>
          <p:cNvPr id="8" name="Text 6"/>
          <p:cNvSpPr/>
          <p:nvPr/>
        </p:nvSpPr>
        <p:spPr>
          <a:xfrm>
            <a:off x="1993392" y="2258568"/>
            <a:ext cx="2551176" cy="33649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gpu-workload</a:t>
            </a:r>
            <a:endParaRPr lang="en-US" sz="1400" dirty="0"/>
          </a:p>
        </p:txBody>
      </p:sp>
      <p:sp>
        <p:nvSpPr>
          <p:cNvPr id="9" name="Text 7"/>
          <p:cNvSpPr/>
          <p:nvPr/>
        </p:nvSpPr>
        <p:spPr>
          <a:xfrm>
            <a:off x="1993392" y="2514600"/>
            <a:ext cx="2551176" cy="321869"/>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needs accelerator In [nvidia]</a:t>
            </a:r>
            <a:endParaRPr lang="en-US" sz="1050" dirty="0"/>
          </a:p>
        </p:txBody>
      </p:sp>
      <p:sp>
        <p:nvSpPr>
          <p:cNvPr id="10" name="Shape 8"/>
          <p:cNvSpPr/>
          <p:nvPr/>
        </p:nvSpPr>
        <p:spPr>
          <a:xfrm>
            <a:off x="960120" y="3154680"/>
            <a:ext cx="1874520" cy="1234440"/>
          </a:xfrm>
          <a:prstGeom prst="roundRect">
            <a:avLst>
              <a:gd name="adj" fmla="val 5926"/>
            </a:avLst>
          </a:prstGeom>
          <a:solidFill>
            <a:srgbClr val="2E9E63"/>
          </a:solidFill>
          <a:ln w="12700">
            <a:solidFill>
              <a:srgbClr val="2E9E63"/>
            </a:solidFill>
            <a:prstDash val="solid"/>
          </a:ln>
        </p:spPr>
      </p:sp>
      <p:sp>
        <p:nvSpPr>
          <p:cNvPr id="11" name="Text 9"/>
          <p:cNvSpPr/>
          <p:nvPr/>
        </p:nvSpPr>
        <p:spPr>
          <a:xfrm>
            <a:off x="1033272" y="3264408"/>
            <a:ext cx="1728216" cy="56784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node-a</a:t>
            </a:r>
            <a:endParaRPr lang="en-US" sz="1400" dirty="0"/>
          </a:p>
        </p:txBody>
      </p:sp>
      <p:sp>
        <p:nvSpPr>
          <p:cNvPr id="12" name="Text 10"/>
          <p:cNvSpPr/>
          <p:nvPr/>
        </p:nvSpPr>
        <p:spPr>
          <a:xfrm>
            <a:off x="1033272" y="3771900"/>
            <a:ext cx="1728216" cy="543154"/>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labels: accelerator=nvidia</a:t>
            </a:r>
            <a:endParaRPr lang="en-US" sz="1050" dirty="0"/>
          </a:p>
          <a:p>
            <a:pPr algn="ctr" indent="0" marL="0">
              <a:buNone/>
            </a:pPr>
            <a:r>
              <a:rPr lang="en-US" sz="1050" i="1" dirty="0">
                <a:solidFill>
                  <a:srgbClr val="D8E6F2"/>
                </a:solidFill>
                <a:latin typeface="Calibri" pitchFamily="34" charset="0"/>
                <a:ea typeface="Calibri" pitchFamily="34" charset="-122"/>
                <a:cs typeface="Calibri" pitchFamily="34" charset="-120"/>
              </a:rPr>
              <a:t>zone=west</a:t>
            </a:r>
            <a:endParaRPr lang="en-US" sz="1050" dirty="0"/>
          </a:p>
        </p:txBody>
      </p:sp>
      <p:sp>
        <p:nvSpPr>
          <p:cNvPr id="13" name="Shape 11"/>
          <p:cNvSpPr/>
          <p:nvPr/>
        </p:nvSpPr>
        <p:spPr>
          <a:xfrm>
            <a:off x="3703320" y="3154680"/>
            <a:ext cx="1874520" cy="1234440"/>
          </a:xfrm>
          <a:prstGeom prst="roundRect">
            <a:avLst>
              <a:gd name="adj" fmla="val 5926"/>
            </a:avLst>
          </a:prstGeom>
          <a:solidFill>
            <a:srgbClr val="1B4066"/>
          </a:solidFill>
          <a:ln w="12700">
            <a:solidFill>
              <a:srgbClr val="1B4066"/>
            </a:solidFill>
            <a:prstDash val="solid"/>
          </a:ln>
        </p:spPr>
      </p:sp>
      <p:sp>
        <p:nvSpPr>
          <p:cNvPr id="14" name="Text 12"/>
          <p:cNvSpPr/>
          <p:nvPr/>
        </p:nvSpPr>
        <p:spPr>
          <a:xfrm>
            <a:off x="3776472" y="3264408"/>
            <a:ext cx="1728216" cy="56784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node-b</a:t>
            </a:r>
            <a:endParaRPr lang="en-US" sz="1400" dirty="0"/>
          </a:p>
        </p:txBody>
      </p:sp>
      <p:sp>
        <p:nvSpPr>
          <p:cNvPr id="15" name="Text 13"/>
          <p:cNvSpPr/>
          <p:nvPr/>
        </p:nvSpPr>
        <p:spPr>
          <a:xfrm>
            <a:off x="3776472" y="3771900"/>
            <a:ext cx="1728216" cy="543154"/>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labels: zone=east</a:t>
            </a:r>
            <a:endParaRPr lang="en-US" sz="1050" dirty="0"/>
          </a:p>
        </p:txBody>
      </p:sp>
      <p:sp>
        <p:nvSpPr>
          <p:cNvPr id="16" name="Shape 14"/>
          <p:cNvSpPr/>
          <p:nvPr/>
        </p:nvSpPr>
        <p:spPr>
          <a:xfrm>
            <a:off x="3218688" y="2834640"/>
            <a:ext cx="-1188720" cy="438912"/>
          </a:xfrm>
          <a:prstGeom prst="line">
            <a:avLst/>
          </a:prstGeom>
          <a:noFill/>
          <a:ln w="25400">
            <a:solidFill>
              <a:srgbClr val="2E9E63"/>
            </a:solidFill>
            <a:prstDash val="solid"/>
            <a:tailEnd type="triangle"/>
          </a:ln>
        </p:spPr>
      </p:sp>
      <p:sp>
        <p:nvSpPr>
          <p:cNvPr id="17" name="Text 15"/>
          <p:cNvSpPr/>
          <p:nvPr/>
        </p:nvSpPr>
        <p:spPr>
          <a:xfrm>
            <a:off x="1463040" y="2871216"/>
            <a:ext cx="1463040" cy="219456"/>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label match</a:t>
            </a:r>
            <a:endParaRPr lang="en-US" sz="1000" dirty="0"/>
          </a:p>
        </p:txBody>
      </p:sp>
      <p:sp>
        <p:nvSpPr>
          <p:cNvPr id="18" name="Shape 16"/>
          <p:cNvSpPr/>
          <p:nvPr/>
        </p:nvSpPr>
        <p:spPr>
          <a:xfrm>
            <a:off x="4279392" y="2834640"/>
            <a:ext cx="347472" cy="438912"/>
          </a:xfrm>
          <a:prstGeom prst="line">
            <a:avLst/>
          </a:prstGeom>
          <a:noFill/>
          <a:ln w="25400">
            <a:solidFill>
              <a:srgbClr val="D64545"/>
            </a:solidFill>
            <a:prstDash val="solid"/>
            <a:tailEnd type="triangle"/>
          </a:ln>
        </p:spPr>
      </p:sp>
      <p:sp>
        <p:nvSpPr>
          <p:cNvPr id="19" name="Text 17"/>
          <p:cNvSpPr/>
          <p:nvPr/>
        </p:nvSpPr>
        <p:spPr>
          <a:xfrm>
            <a:off x="4434840" y="3127248"/>
            <a:ext cx="1005840" cy="201168"/>
          </a:xfrm>
          <a:prstGeom prst="rect">
            <a:avLst/>
          </a:prstGeom>
          <a:noFill/>
          <a:ln/>
        </p:spPr>
        <p:txBody>
          <a:bodyPr wrap="square" lIns="0" tIns="0" rIns="0" bIns="0" rtlCol="0" anchor="ctr"/>
          <a:lstStyle/>
          <a:p>
            <a:pPr algn="ctr" indent="0" marL="0">
              <a:buNone/>
            </a:pPr>
            <a:r>
              <a:rPr lang="en-US" sz="1000" b="1" dirty="0">
                <a:solidFill>
                  <a:srgbClr val="D64545"/>
                </a:solidFill>
                <a:latin typeface="Calibri" pitchFamily="34" charset="0"/>
                <a:ea typeface="Calibri" pitchFamily="34" charset="-122"/>
                <a:cs typeface="Calibri" pitchFamily="34" charset="-120"/>
              </a:rPr>
              <a:t>no match</a:t>
            </a:r>
            <a:endParaRPr lang="en-US" sz="1000" dirty="0"/>
          </a:p>
        </p:txBody>
      </p:sp>
      <p:sp>
        <p:nvSpPr>
          <p:cNvPr id="20" name="Text 18"/>
          <p:cNvSpPr/>
          <p:nvPr/>
        </p:nvSpPr>
        <p:spPr>
          <a:xfrm>
            <a:off x="1417320" y="4590288"/>
            <a:ext cx="3611880" cy="25603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scheduler reads NODE labels</a:t>
            </a:r>
            <a:endParaRPr lang="en-US" sz="1050" dirty="0"/>
          </a:p>
        </p:txBody>
      </p:sp>
      <p:sp>
        <p:nvSpPr>
          <p:cNvPr id="21" name="Shape 19"/>
          <p:cNvSpPr/>
          <p:nvPr/>
        </p:nvSpPr>
        <p:spPr>
          <a:xfrm>
            <a:off x="6263640" y="1828800"/>
            <a:ext cx="5257800" cy="3383280"/>
          </a:xfrm>
          <a:prstGeom prst="roundRect">
            <a:avLst>
              <a:gd name="adj" fmla="val 2703"/>
            </a:avLst>
          </a:prstGeom>
          <a:solidFill>
            <a:srgbClr val="12314F"/>
          </a:solidFill>
          <a:ln w="12700">
            <a:solidFill>
              <a:srgbClr val="F2A03D"/>
            </a:solidFill>
            <a:prstDash val="solid"/>
          </a:ln>
        </p:spPr>
      </p:sp>
      <p:sp>
        <p:nvSpPr>
          <p:cNvPr id="22" name="Text 20"/>
          <p:cNvSpPr/>
          <p:nvPr/>
        </p:nvSpPr>
        <p:spPr>
          <a:xfrm>
            <a:off x="6373368" y="1920240"/>
            <a:ext cx="5038344" cy="274320"/>
          </a:xfrm>
          <a:prstGeom prst="rect">
            <a:avLst/>
          </a:prstGeom>
          <a:noFill/>
          <a:ln/>
        </p:spPr>
        <p:txBody>
          <a:bodyPr wrap="square" lIns="0" tIns="0" rIns="0" bIns="0" rtlCol="0" anchor="ctr"/>
          <a:lstStyle/>
          <a:p>
            <a:pPr algn="ctr" indent="0" marL="0">
              <a:buNone/>
            </a:pPr>
            <a:r>
              <a:rPr lang="en-US" sz="1050" b="1" spc="100" kern="0" dirty="0">
                <a:solidFill>
                  <a:srgbClr val="F2A03D"/>
                </a:solidFill>
                <a:latin typeface="Calibri" pitchFamily="34" charset="0"/>
                <a:ea typeface="Calibri" pitchFamily="34" charset="-122"/>
                <a:cs typeface="Calibri" pitchFamily="34" charset="-120"/>
              </a:rPr>
              <a:t>POD ANTI-AFFINITY</a:t>
            </a:r>
            <a:endParaRPr lang="en-US" sz="1050" dirty="0"/>
          </a:p>
        </p:txBody>
      </p:sp>
      <p:sp>
        <p:nvSpPr>
          <p:cNvPr id="23" name="Shape 21"/>
          <p:cNvSpPr/>
          <p:nvPr/>
        </p:nvSpPr>
        <p:spPr>
          <a:xfrm>
            <a:off x="7516368" y="2148840"/>
            <a:ext cx="2743200" cy="731520"/>
          </a:xfrm>
          <a:prstGeom prst="roundRect">
            <a:avLst>
              <a:gd name="adj" fmla="val 10000"/>
            </a:avLst>
          </a:prstGeom>
          <a:solidFill>
            <a:srgbClr val="8E6FBF"/>
          </a:solidFill>
          <a:ln w="12700">
            <a:solidFill>
              <a:srgbClr val="8E6FBF"/>
            </a:solidFill>
            <a:prstDash val="solid"/>
          </a:ln>
        </p:spPr>
      </p:sp>
      <p:sp>
        <p:nvSpPr>
          <p:cNvPr id="24" name="Text 22"/>
          <p:cNvSpPr/>
          <p:nvPr/>
        </p:nvSpPr>
        <p:spPr>
          <a:xfrm>
            <a:off x="7589520" y="2258568"/>
            <a:ext cx="2596896" cy="336499"/>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web-app</a:t>
            </a:r>
            <a:endParaRPr lang="en-US" sz="1400" dirty="0"/>
          </a:p>
        </p:txBody>
      </p:sp>
      <p:sp>
        <p:nvSpPr>
          <p:cNvPr id="25" name="Text 23"/>
          <p:cNvSpPr/>
          <p:nvPr/>
        </p:nvSpPr>
        <p:spPr>
          <a:xfrm>
            <a:off x="7589520" y="2514600"/>
            <a:ext cx="2596896" cy="321869"/>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anti-affinity: app=web-app on hostname</a:t>
            </a:r>
            <a:endParaRPr lang="en-US" sz="1050" dirty="0"/>
          </a:p>
        </p:txBody>
      </p:sp>
      <p:sp>
        <p:nvSpPr>
          <p:cNvPr id="26" name="Shape 24"/>
          <p:cNvSpPr/>
          <p:nvPr/>
        </p:nvSpPr>
        <p:spPr>
          <a:xfrm>
            <a:off x="6583680" y="3154680"/>
            <a:ext cx="1874520" cy="1234440"/>
          </a:xfrm>
          <a:prstGeom prst="roundRect">
            <a:avLst>
              <a:gd name="adj" fmla="val 5926"/>
            </a:avLst>
          </a:prstGeom>
          <a:solidFill>
            <a:srgbClr val="D64545"/>
          </a:solidFill>
          <a:ln w="12700">
            <a:solidFill>
              <a:srgbClr val="D64545"/>
            </a:solidFill>
            <a:prstDash val="solid"/>
          </a:ln>
        </p:spPr>
      </p:sp>
      <p:sp>
        <p:nvSpPr>
          <p:cNvPr id="27" name="Text 25"/>
          <p:cNvSpPr/>
          <p:nvPr/>
        </p:nvSpPr>
        <p:spPr>
          <a:xfrm>
            <a:off x="6656832" y="3264408"/>
            <a:ext cx="1728216" cy="56784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node-a</a:t>
            </a:r>
            <a:endParaRPr lang="en-US" sz="1400" dirty="0"/>
          </a:p>
        </p:txBody>
      </p:sp>
      <p:sp>
        <p:nvSpPr>
          <p:cNvPr id="28" name="Text 26"/>
          <p:cNvSpPr/>
          <p:nvPr/>
        </p:nvSpPr>
        <p:spPr>
          <a:xfrm>
            <a:off x="6656832" y="3771900"/>
            <a:ext cx="1728216" cy="543154"/>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existing pod:</a:t>
            </a:r>
            <a:endParaRPr lang="en-US" sz="1050" dirty="0"/>
          </a:p>
          <a:p>
            <a:pPr algn="ctr" indent="0" marL="0">
              <a:buNone/>
            </a:pPr>
            <a:r>
              <a:rPr lang="en-US" sz="1050" i="1" dirty="0">
                <a:solidFill>
                  <a:srgbClr val="D8E6F2"/>
                </a:solidFill>
                <a:latin typeface="Calibri" pitchFamily="34" charset="0"/>
                <a:ea typeface="Calibri" pitchFamily="34" charset="-122"/>
                <a:cs typeface="Calibri" pitchFamily="34" charset="-120"/>
              </a:rPr>
              <a:t>app=web-app</a:t>
            </a:r>
            <a:endParaRPr lang="en-US" sz="1050" dirty="0"/>
          </a:p>
        </p:txBody>
      </p:sp>
      <p:sp>
        <p:nvSpPr>
          <p:cNvPr id="29" name="Shape 27"/>
          <p:cNvSpPr/>
          <p:nvPr/>
        </p:nvSpPr>
        <p:spPr>
          <a:xfrm>
            <a:off x="9326880" y="3154680"/>
            <a:ext cx="1874520" cy="1234440"/>
          </a:xfrm>
          <a:prstGeom prst="roundRect">
            <a:avLst>
              <a:gd name="adj" fmla="val 5926"/>
            </a:avLst>
          </a:prstGeom>
          <a:solidFill>
            <a:srgbClr val="2E9E63"/>
          </a:solidFill>
          <a:ln w="12700">
            <a:solidFill>
              <a:srgbClr val="2E9E63"/>
            </a:solidFill>
            <a:prstDash val="solid"/>
          </a:ln>
        </p:spPr>
      </p:sp>
      <p:sp>
        <p:nvSpPr>
          <p:cNvPr id="30" name="Text 28"/>
          <p:cNvSpPr/>
          <p:nvPr/>
        </p:nvSpPr>
        <p:spPr>
          <a:xfrm>
            <a:off x="9400032" y="3264408"/>
            <a:ext cx="1728216" cy="56784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node-b</a:t>
            </a:r>
            <a:endParaRPr lang="en-US" sz="1400" dirty="0"/>
          </a:p>
        </p:txBody>
      </p:sp>
      <p:sp>
        <p:nvSpPr>
          <p:cNvPr id="31" name="Text 29"/>
          <p:cNvSpPr/>
          <p:nvPr/>
        </p:nvSpPr>
        <p:spPr>
          <a:xfrm>
            <a:off x="9400032" y="3771900"/>
            <a:ext cx="1728216" cy="543154"/>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existing pod:</a:t>
            </a:r>
            <a:endParaRPr lang="en-US" sz="1050" dirty="0"/>
          </a:p>
          <a:p>
            <a:pPr algn="ctr" indent="0" marL="0">
              <a:buNone/>
            </a:pPr>
            <a:r>
              <a:rPr lang="en-US" sz="1050" i="1" dirty="0">
                <a:solidFill>
                  <a:srgbClr val="D8E6F2"/>
                </a:solidFill>
                <a:latin typeface="Calibri" pitchFamily="34" charset="0"/>
                <a:ea typeface="Calibri" pitchFamily="34" charset="-122"/>
                <a:cs typeface="Calibri" pitchFamily="34" charset="-120"/>
              </a:rPr>
              <a:t>app=cache</a:t>
            </a:r>
            <a:endParaRPr lang="en-US" sz="1050" dirty="0"/>
          </a:p>
        </p:txBody>
      </p:sp>
      <p:sp>
        <p:nvSpPr>
          <p:cNvPr id="32" name="Shape 30"/>
          <p:cNvSpPr/>
          <p:nvPr/>
        </p:nvSpPr>
        <p:spPr>
          <a:xfrm>
            <a:off x="8321040" y="2834640"/>
            <a:ext cx="-914400" cy="438912"/>
          </a:xfrm>
          <a:prstGeom prst="line">
            <a:avLst/>
          </a:prstGeom>
          <a:noFill/>
          <a:ln w="25400">
            <a:solidFill>
              <a:srgbClr val="D64545"/>
            </a:solidFill>
            <a:prstDash val="solid"/>
            <a:tailEnd type="triangle"/>
          </a:ln>
        </p:spPr>
      </p:sp>
      <p:sp>
        <p:nvSpPr>
          <p:cNvPr id="33" name="Shape 31"/>
          <p:cNvSpPr/>
          <p:nvPr/>
        </p:nvSpPr>
        <p:spPr>
          <a:xfrm>
            <a:off x="8549640" y="2834640"/>
            <a:ext cx="914400" cy="438912"/>
          </a:xfrm>
          <a:prstGeom prst="line">
            <a:avLst/>
          </a:prstGeom>
          <a:noFill/>
          <a:ln w="25400">
            <a:solidFill>
              <a:srgbClr val="2E9E63"/>
            </a:solidFill>
            <a:prstDash val="solid"/>
            <a:tailEnd type="triangle"/>
          </a:ln>
        </p:spPr>
      </p:sp>
      <p:sp>
        <p:nvSpPr>
          <p:cNvPr id="34" name="Text 32"/>
          <p:cNvSpPr/>
          <p:nvPr/>
        </p:nvSpPr>
        <p:spPr>
          <a:xfrm>
            <a:off x="7955280" y="2907792"/>
            <a:ext cx="1188720" cy="201168"/>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allowed</a:t>
            </a:r>
            <a:endParaRPr lang="en-US" sz="1000" dirty="0"/>
          </a:p>
        </p:txBody>
      </p:sp>
      <p:sp>
        <p:nvSpPr>
          <p:cNvPr id="35" name="Text 33"/>
          <p:cNvSpPr/>
          <p:nvPr/>
        </p:nvSpPr>
        <p:spPr>
          <a:xfrm>
            <a:off x="6995160" y="4590288"/>
            <a:ext cx="3611880" cy="25603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scheduler reads labels on OTHER PODS</a:t>
            </a:r>
            <a:endParaRPr lang="en-US" sz="1050" dirty="0"/>
          </a:p>
        </p:txBody>
      </p:sp>
      <p:sp>
        <p:nvSpPr>
          <p:cNvPr id="36" name="Text 34"/>
          <p:cNvSpPr/>
          <p:nvPr/>
        </p:nvSpPr>
        <p:spPr>
          <a:xfrm>
            <a:off x="566928" y="5742432"/>
            <a:ext cx="11057839" cy="384048"/>
          </a:xfrm>
          <a:prstGeom prst="rect">
            <a:avLst/>
          </a:prstGeom>
          <a:noFill/>
          <a:ln/>
        </p:spPr>
        <p:txBody>
          <a:bodyPr wrap="square" lIns="0" tIns="0" rIns="0" bIns="0" rtlCol="0" anchor="ctr"/>
          <a:lstStyle/>
          <a:p>
            <a:pPr algn="ctr" indent="0" marL="0">
              <a:buNone/>
            </a:pPr>
            <a:r>
              <a:rPr lang="en-US" sz="1500" b="1" dirty="0">
                <a:solidFill>
                  <a:srgbClr val="F2A03D"/>
                </a:solidFill>
                <a:latin typeface="Calibri" pitchFamily="34" charset="0"/>
                <a:ea typeface="Calibri" pitchFamily="34" charset="-122"/>
                <a:cs typeface="Calibri" pitchFamily="34" charset="-120"/>
              </a:rPr>
              <a:t>Node affinity asks 'which nodes fit me?'; pod anti-affinity asks 'who is already there?'.</a:t>
            </a:r>
            <a:endParaRPr lang="en-US" sz="1500" dirty="0"/>
          </a:p>
        </p:txBody>
      </p:sp>
      <p:sp>
        <p:nvSpPr>
          <p:cNvPr id="37" name="Text 35"/>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38" name="Text 36"/>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22</a:t>
            </a:r>
            <a:endParaRPr lang="en-US" sz="900" dirty="0"/>
          </a:p>
        </p:txBody>
      </p:sp>
      <p:pic>
        <p:nvPicPr>
          <p:cNvPr id="39"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40"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41"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066544"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06654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M4.6 · PLACEMENT</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Taints and tolerations — the node's side of the conversation</a:t>
            </a:r>
            <a:endParaRPr lang="en-US" sz="3200" dirty="0"/>
          </a:p>
        </p:txBody>
      </p:sp>
      <p:sp>
        <p:nvSpPr>
          <p:cNvPr id="5" name="Text 3"/>
          <p:cNvSpPr/>
          <p:nvPr/>
        </p:nvSpPr>
        <p:spPr>
          <a:xfrm>
            <a:off x="566928" y="1737360"/>
            <a:ext cx="11057839" cy="457200"/>
          </a:xfrm>
          <a:prstGeom prst="rect">
            <a:avLst/>
          </a:prstGeom>
          <a:noFill/>
          <a:ln/>
        </p:spPr>
        <p:txBody>
          <a:bodyPr wrap="square" lIns="0" tIns="0" rIns="0" bIns="0" rtlCol="0" anchor="ctr"/>
          <a:lstStyle/>
          <a:p>
            <a:pPr indent="0" marL="0">
              <a:lnSpc>
                <a:spcPts val="1700"/>
              </a:lnSpc>
              <a:buNone/>
            </a:pPr>
            <a:r>
              <a:rPr lang="en-US" sz="1350" i="1" dirty="0">
                <a:solidFill>
                  <a:srgbClr val="1C7293"/>
                </a:solidFill>
                <a:latin typeface="Calibri" pitchFamily="34" charset="0"/>
                <a:ea typeface="Calibri" pitchFamily="34" charset="-122"/>
                <a:cs typeface="Calibri" pitchFamily="34" charset="-120"/>
              </a:rPr>
              <a:t>Taints and tolerations invert the normal placement model: a node advertises a repelling rule, and only pods that explicitly tolerate it remain eligible to stay or land there. Kubernetes uses them to reserve special hardware, protect control-plane nodes and coordinate maintenance.</a:t>
            </a:r>
            <a:endParaRPr lang="en-US" sz="1350" dirty="0"/>
          </a:p>
        </p:txBody>
      </p:sp>
      <p:sp>
        <p:nvSpPr>
          <p:cNvPr id="6" name="Shape 4"/>
          <p:cNvSpPr/>
          <p:nvPr/>
        </p:nvSpPr>
        <p:spPr>
          <a:xfrm>
            <a:off x="566928" y="2249424"/>
            <a:ext cx="11057839" cy="566928"/>
          </a:xfrm>
          <a:prstGeom prst="roundRect">
            <a:avLst>
              <a:gd name="adj" fmla="val 12903"/>
            </a:avLst>
          </a:prstGeom>
          <a:solidFill>
            <a:srgbClr val="EAF1F8"/>
          </a:solidFill>
          <a:ln w="12700">
            <a:solidFill>
              <a:srgbClr val="1C7293"/>
            </a:solidFill>
            <a:prstDash val="solid"/>
          </a:ln>
        </p:spPr>
      </p:sp>
      <p:sp>
        <p:nvSpPr>
          <p:cNvPr id="7" name="Text 5"/>
          <p:cNvSpPr/>
          <p:nvPr/>
        </p:nvSpPr>
        <p:spPr>
          <a:xfrm>
            <a:off x="768096" y="2249424"/>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Affinity is the pod asking for a node. How does a NODE refuse pods it doesn't want?</a:t>
            </a:r>
            <a:endParaRPr lang="en-US" sz="1500" dirty="0"/>
          </a:p>
        </p:txBody>
      </p:sp>
      <p:sp>
        <p:nvSpPr>
          <p:cNvPr id="8" name="Shape 6"/>
          <p:cNvSpPr/>
          <p:nvPr/>
        </p:nvSpPr>
        <p:spPr>
          <a:xfrm>
            <a:off x="566928" y="3160395"/>
            <a:ext cx="402336" cy="402336"/>
          </a:xfrm>
          <a:prstGeom prst="ellipse">
            <a:avLst/>
          </a:prstGeom>
          <a:solidFill>
            <a:srgbClr val="D64545"/>
          </a:solidFill>
          <a:ln w="12700">
            <a:solidFill>
              <a:srgbClr val="D64545"/>
            </a:solidFill>
            <a:prstDash val="solid"/>
          </a:ln>
        </p:spPr>
      </p:sp>
      <p:sp>
        <p:nvSpPr>
          <p:cNvPr id="9" name="Text 7"/>
          <p:cNvSpPr/>
          <p:nvPr/>
        </p:nvSpPr>
        <p:spPr>
          <a:xfrm>
            <a:off x="566928" y="31603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p:nvPr/>
        </p:nvSpPr>
        <p:spPr>
          <a:xfrm>
            <a:off x="1133856" y="2999232"/>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 taint marks the node</a:t>
            </a:r>
            <a:endParaRPr lang="en-US" sz="1400" dirty="0"/>
          </a:p>
        </p:txBody>
      </p:sp>
      <p:sp>
        <p:nvSpPr>
          <p:cNvPr id="11" name="Text 9"/>
          <p:cNvSpPr/>
          <p:nvPr/>
        </p:nvSpPr>
        <p:spPr>
          <a:xfrm>
            <a:off x="4407408" y="2999232"/>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node tainted `accelerator=nvidia:NoSchedule` tells the scheduler that ordinary pods should stay away. The refusal lives on the node, not in the workload spec.</a:t>
            </a:r>
            <a:endParaRPr lang="en-US" sz="1250" dirty="0"/>
          </a:p>
        </p:txBody>
      </p:sp>
      <p:sp>
        <p:nvSpPr>
          <p:cNvPr id="12" name="Shape 10"/>
          <p:cNvSpPr/>
          <p:nvPr/>
        </p:nvSpPr>
        <p:spPr>
          <a:xfrm>
            <a:off x="566928" y="3885057"/>
            <a:ext cx="402336" cy="402336"/>
          </a:xfrm>
          <a:prstGeom prst="ellipse">
            <a:avLst/>
          </a:prstGeom>
          <a:solidFill>
            <a:srgbClr val="1C7293"/>
          </a:solidFill>
          <a:ln w="12700">
            <a:solidFill>
              <a:srgbClr val="1C7293"/>
            </a:solidFill>
            <a:prstDash val="solid"/>
          </a:ln>
        </p:spPr>
      </p:sp>
      <p:sp>
        <p:nvSpPr>
          <p:cNvPr id="13" name="Text 11"/>
          <p:cNvSpPr/>
          <p:nvPr/>
        </p:nvSpPr>
        <p:spPr>
          <a:xfrm>
            <a:off x="566928" y="388505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1133856" y="3723894"/>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 toleration is a pass</a:t>
            </a:r>
            <a:endParaRPr lang="en-US" sz="1400" dirty="0"/>
          </a:p>
        </p:txBody>
      </p:sp>
      <p:sp>
        <p:nvSpPr>
          <p:cNvPr id="15" name="Text 13"/>
          <p:cNvSpPr/>
          <p:nvPr/>
        </p:nvSpPr>
        <p:spPr>
          <a:xfrm>
            <a:off x="4407408" y="3723894"/>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`gpu-job` pod with the matching toleration becomes eligible to land there, but it is not pulled there automatically; an untainted node may still win.</a:t>
            </a:r>
            <a:endParaRPr lang="en-US" sz="1250" dirty="0"/>
          </a:p>
        </p:txBody>
      </p:sp>
      <p:sp>
        <p:nvSpPr>
          <p:cNvPr id="16" name="Shape 14"/>
          <p:cNvSpPr/>
          <p:nvPr/>
        </p:nvSpPr>
        <p:spPr>
          <a:xfrm>
            <a:off x="566928" y="4609719"/>
            <a:ext cx="402336" cy="402336"/>
          </a:xfrm>
          <a:prstGeom prst="ellipse">
            <a:avLst/>
          </a:prstGeom>
          <a:solidFill>
            <a:srgbClr val="C97B1E"/>
          </a:solidFill>
          <a:ln w="12700">
            <a:solidFill>
              <a:srgbClr val="C97B1E"/>
            </a:solidFill>
            <a:prstDash val="solid"/>
          </a:ln>
        </p:spPr>
      </p:sp>
      <p:sp>
        <p:nvSpPr>
          <p:cNvPr id="17" name="Text 15"/>
          <p:cNvSpPr/>
          <p:nvPr/>
        </p:nvSpPr>
        <p:spPr>
          <a:xfrm>
            <a:off x="566928" y="460971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1133856" y="4448556"/>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AxisPay still sees three effects</a:t>
            </a:r>
            <a:endParaRPr lang="en-US" sz="1400" dirty="0"/>
          </a:p>
        </p:txBody>
      </p:sp>
      <p:sp>
        <p:nvSpPr>
          <p:cNvPr id="19" name="Text 17"/>
          <p:cNvSpPr/>
          <p:nvPr/>
        </p:nvSpPr>
        <p:spPr>
          <a:xfrm>
            <a:off x="4407408" y="4448556"/>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On AxisPay nodes, `NoSchedule` keeps ordinary apps off the control plane, `PreferNoSchedule` is a soft nudge, and `NoExecute` is the maintenance lever that also evicts running pods.</a:t>
            </a:r>
            <a:endParaRPr lang="en-US" sz="1250" dirty="0"/>
          </a:p>
        </p:txBody>
      </p:sp>
      <p:sp>
        <p:nvSpPr>
          <p:cNvPr id="20" name="Shape 18"/>
          <p:cNvSpPr/>
          <p:nvPr/>
        </p:nvSpPr>
        <p:spPr>
          <a:xfrm>
            <a:off x="566928" y="5334381"/>
            <a:ext cx="402336" cy="402336"/>
          </a:xfrm>
          <a:prstGeom prst="ellipse">
            <a:avLst/>
          </a:prstGeom>
          <a:solidFill>
            <a:srgbClr val="2E9E63"/>
          </a:solidFill>
          <a:ln w="12700">
            <a:solidFill>
              <a:srgbClr val="2E9E63"/>
            </a:solidFill>
            <a:prstDash val="solid"/>
          </a:ln>
        </p:spPr>
      </p:sp>
      <p:sp>
        <p:nvSpPr>
          <p:cNvPr id="21" name="Text 19"/>
          <p:cNvSpPr/>
          <p:nvPr/>
        </p:nvSpPr>
        <p:spPr>
          <a:xfrm>
            <a:off x="566928" y="5334381"/>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133856" y="5173218"/>
            <a:ext cx="3200400" cy="724662"/>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Why your Day 2 DaemonSet needed one</a:t>
            </a:r>
            <a:endParaRPr lang="en-US" sz="1400" dirty="0"/>
          </a:p>
        </p:txBody>
      </p:sp>
      <p:sp>
        <p:nvSpPr>
          <p:cNvPr id="23" name="Text 21"/>
          <p:cNvSpPr/>
          <p:nvPr/>
        </p:nvSpPr>
        <p:spPr>
          <a:xfrm>
            <a:off x="4407408" y="5173218"/>
            <a:ext cx="7217359" cy="724662"/>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common example is the control-plane taint `node-role.kubernetes.io/control-plane:NoSchedule`, which keeps ordinary app pods off that node by default. Your `node-agent` DaemonSet needed a matching toleration because it was meant to run everywhere, including the tainted control-plane node.</a:t>
            </a:r>
            <a:endParaRPr lang="en-US" sz="1250" dirty="0"/>
          </a:p>
        </p:txBody>
      </p:sp>
      <p:sp>
        <p:nvSpPr>
          <p:cNvPr id="24" name="Text 22"/>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Affinity is attraction from the pod. A taint is refusal from the node. A toleration does not attract — it only lifts the refusal.</a:t>
            </a:r>
            <a:endParaRPr lang="en-US" sz="1400" dirty="0"/>
          </a:p>
        </p:txBody>
      </p:sp>
      <p:sp>
        <p:nvSpPr>
          <p:cNvPr id="25" name="Text 2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26" name="Text 2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23</a:t>
            </a:r>
            <a:endParaRPr lang="en-US" sz="900" dirty="0"/>
          </a:p>
        </p:txBody>
      </p:sp>
      <p:pic>
        <p:nvPicPr>
          <p:cNvPr id="2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066544"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206654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M4.6 · PLACEMENT</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 taint repels by default; a toleration only lifts the block</a:t>
            </a:r>
            <a:endParaRPr lang="en-US" sz="3200" dirty="0"/>
          </a:p>
        </p:txBody>
      </p:sp>
      <p:sp>
        <p:nvSpPr>
          <p:cNvPr id="5" name="Shape 3"/>
          <p:cNvSpPr/>
          <p:nvPr/>
        </p:nvSpPr>
        <p:spPr>
          <a:xfrm>
            <a:off x="4498848" y="2057400"/>
            <a:ext cx="3246120" cy="2423160"/>
          </a:xfrm>
          <a:prstGeom prst="roundRect">
            <a:avLst>
              <a:gd name="adj" fmla="val 3019"/>
            </a:avLst>
          </a:prstGeom>
          <a:solidFill>
            <a:srgbClr val="D64545"/>
          </a:solidFill>
          <a:ln w="12700">
            <a:solidFill>
              <a:srgbClr val="D64545"/>
            </a:solidFill>
            <a:prstDash val="solid"/>
          </a:ln>
        </p:spPr>
      </p:sp>
      <p:sp>
        <p:nvSpPr>
          <p:cNvPr id="6" name="Text 4"/>
          <p:cNvSpPr/>
          <p:nvPr/>
        </p:nvSpPr>
        <p:spPr>
          <a:xfrm>
            <a:off x="4572000" y="2167128"/>
            <a:ext cx="3099816" cy="111465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gpu-node</a:t>
            </a:r>
            <a:endParaRPr lang="en-US" sz="1400" dirty="0"/>
          </a:p>
        </p:txBody>
      </p:sp>
      <p:sp>
        <p:nvSpPr>
          <p:cNvPr id="7" name="Text 5"/>
          <p:cNvSpPr/>
          <p:nvPr/>
        </p:nvSpPr>
        <p:spPr>
          <a:xfrm>
            <a:off x="4572000" y="3268980"/>
            <a:ext cx="3099816" cy="1066190"/>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taint: accelerator=nvidia:NoSchedule</a:t>
            </a:r>
            <a:endParaRPr lang="en-US" sz="1050" dirty="0"/>
          </a:p>
        </p:txBody>
      </p:sp>
      <p:sp>
        <p:nvSpPr>
          <p:cNvPr id="8" name="Shape 6"/>
          <p:cNvSpPr/>
          <p:nvPr/>
        </p:nvSpPr>
        <p:spPr>
          <a:xfrm>
            <a:off x="1051560" y="2514600"/>
            <a:ext cx="1463040" cy="749808"/>
          </a:xfrm>
          <a:prstGeom prst="roundRect">
            <a:avLst>
              <a:gd name="adj" fmla="val 9756"/>
            </a:avLst>
          </a:prstGeom>
          <a:solidFill>
            <a:srgbClr val="1B4066"/>
          </a:solidFill>
          <a:ln w="12700">
            <a:solidFill>
              <a:srgbClr val="1B4066"/>
            </a:solidFill>
            <a:prstDash val="solid"/>
          </a:ln>
        </p:spPr>
      </p:sp>
      <p:sp>
        <p:nvSpPr>
          <p:cNvPr id="9" name="Text 7"/>
          <p:cNvSpPr/>
          <p:nvPr/>
        </p:nvSpPr>
        <p:spPr>
          <a:xfrm>
            <a:off x="1124712" y="2624328"/>
            <a:ext cx="131673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web-app</a:t>
            </a:r>
            <a:endParaRPr lang="en-US" sz="1400" dirty="0"/>
          </a:p>
        </p:txBody>
      </p:sp>
      <p:sp>
        <p:nvSpPr>
          <p:cNvPr id="10" name="Text 8"/>
          <p:cNvSpPr/>
          <p:nvPr/>
        </p:nvSpPr>
        <p:spPr>
          <a:xfrm>
            <a:off x="1124712" y="2889504"/>
            <a:ext cx="131673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no toleration</a:t>
            </a:r>
            <a:endParaRPr lang="en-US" sz="1050" dirty="0"/>
          </a:p>
        </p:txBody>
      </p:sp>
      <p:sp>
        <p:nvSpPr>
          <p:cNvPr id="11" name="Shape 9"/>
          <p:cNvSpPr/>
          <p:nvPr/>
        </p:nvSpPr>
        <p:spPr>
          <a:xfrm>
            <a:off x="1051560" y="3730752"/>
            <a:ext cx="1463040" cy="749808"/>
          </a:xfrm>
          <a:prstGeom prst="roundRect">
            <a:avLst>
              <a:gd name="adj" fmla="val 9756"/>
            </a:avLst>
          </a:prstGeom>
          <a:solidFill>
            <a:srgbClr val="2E9E63"/>
          </a:solidFill>
          <a:ln w="12700">
            <a:solidFill>
              <a:srgbClr val="2E9E63"/>
            </a:solidFill>
            <a:prstDash val="solid"/>
          </a:ln>
        </p:spPr>
      </p:sp>
      <p:sp>
        <p:nvSpPr>
          <p:cNvPr id="12" name="Text 10"/>
          <p:cNvSpPr/>
          <p:nvPr/>
        </p:nvSpPr>
        <p:spPr>
          <a:xfrm>
            <a:off x="1124712" y="3840480"/>
            <a:ext cx="131673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gpu-job</a:t>
            </a:r>
            <a:endParaRPr lang="en-US" sz="1400" dirty="0"/>
          </a:p>
        </p:txBody>
      </p:sp>
      <p:sp>
        <p:nvSpPr>
          <p:cNvPr id="13" name="Text 11"/>
          <p:cNvSpPr/>
          <p:nvPr/>
        </p:nvSpPr>
        <p:spPr>
          <a:xfrm>
            <a:off x="1124712" y="4105656"/>
            <a:ext cx="131673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tolerates accelerator=nvidia</a:t>
            </a:r>
            <a:endParaRPr lang="en-US" sz="1050" dirty="0"/>
          </a:p>
        </p:txBody>
      </p:sp>
      <p:sp>
        <p:nvSpPr>
          <p:cNvPr id="14" name="Shape 12"/>
          <p:cNvSpPr/>
          <p:nvPr/>
        </p:nvSpPr>
        <p:spPr>
          <a:xfrm>
            <a:off x="2578608" y="2898648"/>
            <a:ext cx="1828800" cy="0"/>
          </a:xfrm>
          <a:prstGeom prst="line">
            <a:avLst/>
          </a:prstGeom>
          <a:noFill/>
          <a:ln w="25400">
            <a:solidFill>
              <a:srgbClr val="D64545"/>
            </a:solidFill>
            <a:prstDash val="solid"/>
            <a:tailEnd type="triangle"/>
          </a:ln>
        </p:spPr>
      </p:sp>
      <p:sp>
        <p:nvSpPr>
          <p:cNvPr id="15" name="Shape 13"/>
          <p:cNvSpPr/>
          <p:nvPr/>
        </p:nvSpPr>
        <p:spPr>
          <a:xfrm>
            <a:off x="2578608" y="4114800"/>
            <a:ext cx="1828800" cy="-45720"/>
          </a:xfrm>
          <a:prstGeom prst="line">
            <a:avLst/>
          </a:prstGeom>
          <a:noFill/>
          <a:ln w="25400">
            <a:solidFill>
              <a:srgbClr val="2E9E63"/>
            </a:solidFill>
            <a:prstDash val="solid"/>
            <a:tailEnd type="triangle"/>
          </a:ln>
        </p:spPr>
      </p:sp>
      <p:sp>
        <p:nvSpPr>
          <p:cNvPr id="16" name="Text 14"/>
          <p:cNvSpPr/>
          <p:nvPr/>
        </p:nvSpPr>
        <p:spPr>
          <a:xfrm>
            <a:off x="2121408" y="3707892"/>
            <a:ext cx="2743200" cy="310896"/>
          </a:xfrm>
          <a:prstGeom prst="rect">
            <a:avLst/>
          </a:prstGeom>
          <a:noFill/>
          <a:ln/>
        </p:spPr>
        <p:txBody>
          <a:bodyPr wrap="square" lIns="0" tIns="0" rIns="0" bIns="0" rtlCol="0" anchor="ctr"/>
          <a:lstStyle/>
          <a:p>
            <a:pPr algn="ctr" indent="0" marL="0">
              <a:buNone/>
            </a:pPr>
            <a:r>
              <a:rPr lang="en-US" sz="1000" b="1" dirty="0">
                <a:solidFill>
                  <a:srgbClr val="2E9E63"/>
                </a:solidFill>
                <a:latin typeface="Calibri" pitchFamily="34" charset="0"/>
                <a:ea typeface="Calibri" pitchFamily="34" charset="-122"/>
                <a:cs typeface="Calibri" pitchFamily="34" charset="-120"/>
              </a:rPr>
              <a:t>eligible</a:t>
            </a:r>
            <a:endParaRPr lang="en-US" sz="1000" dirty="0"/>
          </a:p>
        </p:txBody>
      </p:sp>
      <p:sp>
        <p:nvSpPr>
          <p:cNvPr id="17" name="Text 15"/>
          <p:cNvSpPr/>
          <p:nvPr/>
        </p:nvSpPr>
        <p:spPr>
          <a:xfrm>
            <a:off x="2880360" y="2578608"/>
            <a:ext cx="914400" cy="228600"/>
          </a:xfrm>
          <a:prstGeom prst="rect">
            <a:avLst/>
          </a:prstGeom>
          <a:noFill/>
          <a:ln/>
        </p:spPr>
        <p:txBody>
          <a:bodyPr wrap="square" lIns="0" tIns="0" rIns="0" bIns="0" rtlCol="0" anchor="ctr"/>
          <a:lstStyle/>
          <a:p>
            <a:pPr algn="ctr" indent="0" marL="0">
              <a:buNone/>
            </a:pPr>
            <a:r>
              <a:rPr lang="en-US" sz="1000" b="1" dirty="0">
                <a:solidFill>
                  <a:srgbClr val="D64545"/>
                </a:solidFill>
                <a:latin typeface="Calibri" pitchFamily="34" charset="0"/>
                <a:ea typeface="Calibri" pitchFamily="34" charset="-122"/>
                <a:cs typeface="Calibri" pitchFamily="34" charset="-120"/>
              </a:rPr>
              <a:t>blocked</a:t>
            </a:r>
            <a:endParaRPr lang="en-US" sz="1000" dirty="0"/>
          </a:p>
        </p:txBody>
      </p:sp>
      <p:sp>
        <p:nvSpPr>
          <p:cNvPr id="18" name="Shape 16"/>
          <p:cNvSpPr/>
          <p:nvPr/>
        </p:nvSpPr>
        <p:spPr>
          <a:xfrm>
            <a:off x="8485632" y="2514600"/>
            <a:ext cx="2103120" cy="749808"/>
          </a:xfrm>
          <a:prstGeom prst="roundRect">
            <a:avLst>
              <a:gd name="adj" fmla="val 9756"/>
            </a:avLst>
          </a:prstGeom>
          <a:solidFill>
            <a:srgbClr val="C97B1E"/>
          </a:solidFill>
          <a:ln w="12700">
            <a:solidFill>
              <a:srgbClr val="C97B1E"/>
            </a:solidFill>
            <a:prstDash val="solid"/>
          </a:ln>
        </p:spPr>
      </p:sp>
      <p:sp>
        <p:nvSpPr>
          <p:cNvPr id="19" name="Text 17"/>
          <p:cNvSpPr/>
          <p:nvPr/>
        </p:nvSpPr>
        <p:spPr>
          <a:xfrm>
            <a:off x="8558784" y="2624328"/>
            <a:ext cx="195681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NoSchedule</a:t>
            </a:r>
            <a:endParaRPr lang="en-US" sz="1400" dirty="0"/>
          </a:p>
        </p:txBody>
      </p:sp>
      <p:sp>
        <p:nvSpPr>
          <p:cNvPr id="20" name="Text 18"/>
          <p:cNvSpPr/>
          <p:nvPr/>
        </p:nvSpPr>
        <p:spPr>
          <a:xfrm>
            <a:off x="8558784" y="2889504"/>
            <a:ext cx="195681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block new pods</a:t>
            </a:r>
            <a:endParaRPr lang="en-US" sz="1050" dirty="0"/>
          </a:p>
        </p:txBody>
      </p:sp>
      <p:sp>
        <p:nvSpPr>
          <p:cNvPr id="21" name="Shape 19"/>
          <p:cNvSpPr/>
          <p:nvPr/>
        </p:nvSpPr>
        <p:spPr>
          <a:xfrm>
            <a:off x="8485632" y="3429000"/>
            <a:ext cx="2103120" cy="749808"/>
          </a:xfrm>
          <a:prstGeom prst="roundRect">
            <a:avLst>
              <a:gd name="adj" fmla="val 9756"/>
            </a:avLst>
          </a:prstGeom>
          <a:solidFill>
            <a:srgbClr val="F2A03D"/>
          </a:solidFill>
          <a:ln w="12700">
            <a:solidFill>
              <a:srgbClr val="F2A03D"/>
            </a:solidFill>
            <a:prstDash val="solid"/>
          </a:ln>
        </p:spPr>
      </p:sp>
      <p:sp>
        <p:nvSpPr>
          <p:cNvPr id="22" name="Text 20"/>
          <p:cNvSpPr/>
          <p:nvPr/>
        </p:nvSpPr>
        <p:spPr>
          <a:xfrm>
            <a:off x="8558784" y="3538728"/>
            <a:ext cx="195681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PreferNoSchedule</a:t>
            </a:r>
            <a:endParaRPr lang="en-US" sz="1400" dirty="0"/>
          </a:p>
        </p:txBody>
      </p:sp>
      <p:sp>
        <p:nvSpPr>
          <p:cNvPr id="23" name="Text 21"/>
          <p:cNvSpPr/>
          <p:nvPr/>
        </p:nvSpPr>
        <p:spPr>
          <a:xfrm>
            <a:off x="8558784" y="3803904"/>
            <a:ext cx="195681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soft repel</a:t>
            </a:r>
            <a:endParaRPr lang="en-US" sz="1050" dirty="0"/>
          </a:p>
        </p:txBody>
      </p:sp>
      <p:sp>
        <p:nvSpPr>
          <p:cNvPr id="24" name="Shape 22"/>
          <p:cNvSpPr/>
          <p:nvPr/>
        </p:nvSpPr>
        <p:spPr>
          <a:xfrm>
            <a:off x="8485632" y="4343400"/>
            <a:ext cx="2103120" cy="749808"/>
          </a:xfrm>
          <a:prstGeom prst="roundRect">
            <a:avLst>
              <a:gd name="adj" fmla="val 9756"/>
            </a:avLst>
          </a:prstGeom>
          <a:solidFill>
            <a:srgbClr val="D64545"/>
          </a:solidFill>
          <a:ln w="12700">
            <a:solidFill>
              <a:srgbClr val="D64545"/>
            </a:solidFill>
            <a:prstDash val="solid"/>
          </a:ln>
        </p:spPr>
      </p:sp>
      <p:sp>
        <p:nvSpPr>
          <p:cNvPr id="25" name="Text 23"/>
          <p:cNvSpPr/>
          <p:nvPr/>
        </p:nvSpPr>
        <p:spPr>
          <a:xfrm>
            <a:off x="8558784" y="4453128"/>
            <a:ext cx="1956816" cy="34491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NoExecute</a:t>
            </a:r>
            <a:endParaRPr lang="en-US" sz="1400" dirty="0"/>
          </a:p>
        </p:txBody>
      </p:sp>
      <p:sp>
        <p:nvSpPr>
          <p:cNvPr id="26" name="Text 24"/>
          <p:cNvSpPr/>
          <p:nvPr/>
        </p:nvSpPr>
        <p:spPr>
          <a:xfrm>
            <a:off x="8558784" y="4718304"/>
            <a:ext cx="1956816" cy="329916"/>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block + evict</a:t>
            </a:r>
            <a:endParaRPr lang="en-US" sz="1050" dirty="0"/>
          </a:p>
        </p:txBody>
      </p:sp>
      <p:sp>
        <p:nvSpPr>
          <p:cNvPr id="27" name="Text 25"/>
          <p:cNvSpPr/>
          <p:nvPr/>
        </p:nvSpPr>
        <p:spPr>
          <a:xfrm>
            <a:off x="4297680" y="4663440"/>
            <a:ext cx="3657600" cy="274320"/>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A toleration is a pass, not a preference.</a:t>
            </a:r>
            <a:endParaRPr lang="en-US" sz="1050" dirty="0"/>
          </a:p>
        </p:txBody>
      </p:sp>
      <p:sp>
        <p:nvSpPr>
          <p:cNvPr id="28" name="Text 26"/>
          <p:cNvSpPr/>
          <p:nvPr/>
        </p:nvSpPr>
        <p:spPr>
          <a:xfrm>
            <a:off x="566928" y="5742432"/>
            <a:ext cx="11057839" cy="384048"/>
          </a:xfrm>
          <a:prstGeom prst="rect">
            <a:avLst/>
          </a:prstGeom>
          <a:noFill/>
          <a:ln/>
        </p:spPr>
        <p:txBody>
          <a:bodyPr wrap="square" lIns="0" tIns="0" rIns="0" bIns="0" rtlCol="0" anchor="ctr"/>
          <a:lstStyle/>
          <a:p>
            <a:pPr algn="ctr" indent="0" marL="0">
              <a:buNone/>
            </a:pPr>
            <a:r>
              <a:rPr lang="en-US" sz="1500" b="1" dirty="0">
                <a:solidFill>
                  <a:srgbClr val="F2A03D"/>
                </a:solidFill>
                <a:latin typeface="Calibri" pitchFamily="34" charset="0"/>
                <a:ea typeface="Calibri" pitchFamily="34" charset="-122"/>
                <a:cs typeface="Calibri" pitchFamily="34" charset="-120"/>
              </a:rPr>
              <a:t>The node says 'keep out' first; a toleration only removes that refusal for matching pods.</a:t>
            </a:r>
            <a:endParaRPr lang="en-US" sz="1500" dirty="0"/>
          </a:p>
        </p:txBody>
      </p:sp>
      <p:sp>
        <p:nvSpPr>
          <p:cNvPr id="29" name="Text 27"/>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30" name="Text 28"/>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24</a:t>
            </a:r>
            <a:endParaRPr lang="en-US" sz="900" dirty="0"/>
          </a:p>
        </p:txBody>
      </p:sp>
      <p:pic>
        <p:nvPicPr>
          <p:cNvPr id="31"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32"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33"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17170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1717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M4.7 · DISRUPTION</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PodDisruptionBudget — what it does and does not do</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A PodDisruptionBudget tells the eviction API how many replicas of a selected workload must remain available during voluntary operations such as drain or a rolling node upgrade. It does not keep pods alive; it only throttles Kubernetes-initiated evictions.</a:t>
            </a: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840480"/>
                <a:gridCol w="2011680"/>
                <a:gridCol w="5212080"/>
              </a:tblGrid>
              <a:tr h="5120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PDB applies?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51206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kubectl drain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Voluntary. A generic `web-app` PDB is checked before each eviction and drain pauses when the budget is exhausted.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Cluster / node-pool upgrade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Voluntary. AxisPay's Friday upgrade uses the same eviction path under the hood.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51206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Node crashes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Involuntary. If the node hosting a `payment-service` replica disappears, the budget cannot save the pod that vanished with it.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OOM kill</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Involuntary. If a `fraud-service` container exhausts memory, the kernel kills it locally without asking the eviction API.</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51206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Liveness probe failure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 `edge-gateway` restart happens in place on the node; it is not a drain-time eviction.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kubectl delete pod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`kubectl delete pod payment-service-...` bypasses the eviction API entirely.</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25</a:t>
            </a:r>
            <a:endParaRPr lang="en-US" sz="900" dirty="0"/>
          </a:p>
        </p:txBody>
      </p:sp>
      <p:pic>
        <p:nvPicPr>
          <p:cNvPr id="2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2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2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171700"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21717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M4.7 · DISRUPTION</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During drain, the PDB allows one eviction and then blocks the next</a:t>
            </a:r>
            <a:endParaRPr lang="en-US" sz="3200" dirty="0"/>
          </a:p>
        </p:txBody>
      </p:sp>
      <p:sp>
        <p:nvSpPr>
          <p:cNvPr id="5" name="Shape 3"/>
          <p:cNvSpPr/>
          <p:nvPr/>
        </p:nvSpPr>
        <p:spPr>
          <a:xfrm>
            <a:off x="4572000" y="1810512"/>
            <a:ext cx="3017520" cy="365760"/>
          </a:xfrm>
          <a:prstGeom prst="roundRect">
            <a:avLst>
              <a:gd name="adj" fmla="val 15000"/>
            </a:avLst>
          </a:prstGeom>
          <a:solidFill>
            <a:srgbClr val="8E6FBF"/>
          </a:solidFill>
          <a:ln w="12700">
            <a:solidFill>
              <a:srgbClr val="8E6FBF"/>
            </a:solidFill>
            <a:prstDash val="solid"/>
          </a:ln>
        </p:spPr>
      </p:sp>
      <p:sp>
        <p:nvSpPr>
          <p:cNvPr id="6" name="Text 4"/>
          <p:cNvSpPr/>
          <p:nvPr/>
        </p:nvSpPr>
        <p:spPr>
          <a:xfrm>
            <a:off x="4572000" y="1810512"/>
            <a:ext cx="30175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PDB: minAvailable 2 for app=web-app</a:t>
            </a:r>
            <a:endParaRPr lang="en-US" sz="1000" dirty="0"/>
          </a:p>
        </p:txBody>
      </p:sp>
      <p:sp>
        <p:nvSpPr>
          <p:cNvPr id="7" name="Shape 5"/>
          <p:cNvSpPr/>
          <p:nvPr/>
        </p:nvSpPr>
        <p:spPr>
          <a:xfrm>
            <a:off x="658368" y="2240280"/>
            <a:ext cx="3474720" cy="2697480"/>
          </a:xfrm>
          <a:prstGeom prst="roundRect">
            <a:avLst>
              <a:gd name="adj" fmla="val 3390"/>
            </a:avLst>
          </a:prstGeom>
          <a:solidFill>
            <a:srgbClr val="12314F"/>
          </a:solidFill>
          <a:ln w="12700">
            <a:solidFill>
              <a:srgbClr val="2E9E63"/>
            </a:solidFill>
            <a:prstDash val="solid"/>
          </a:ln>
        </p:spPr>
      </p:sp>
      <p:sp>
        <p:nvSpPr>
          <p:cNvPr id="8" name="Text 6"/>
          <p:cNvSpPr/>
          <p:nvPr/>
        </p:nvSpPr>
        <p:spPr>
          <a:xfrm>
            <a:off x="768096" y="2331720"/>
            <a:ext cx="3255264" cy="274320"/>
          </a:xfrm>
          <a:prstGeom prst="rect">
            <a:avLst/>
          </a:prstGeom>
          <a:noFill/>
          <a:ln/>
        </p:spPr>
        <p:txBody>
          <a:bodyPr wrap="square" lIns="0" tIns="0" rIns="0" bIns="0" rtlCol="0" anchor="ctr"/>
          <a:lstStyle/>
          <a:p>
            <a:pPr algn="ctr" indent="0" marL="0">
              <a:buNone/>
            </a:pPr>
            <a:r>
              <a:rPr lang="en-US" sz="1050" b="1" spc="100" kern="0" dirty="0">
                <a:solidFill>
                  <a:srgbClr val="2E9E63"/>
                </a:solidFill>
                <a:latin typeface="Calibri" pitchFamily="34" charset="0"/>
                <a:ea typeface="Calibri" pitchFamily="34" charset="-122"/>
                <a:cs typeface="Calibri" pitchFamily="34" charset="-120"/>
              </a:rPr>
              <a:t>1 · BEFORE DRAIN</a:t>
            </a:r>
            <a:endParaRPr lang="en-US" sz="1050" dirty="0"/>
          </a:p>
        </p:txBody>
      </p:sp>
      <p:sp>
        <p:nvSpPr>
          <p:cNvPr id="9" name="Shape 7"/>
          <p:cNvSpPr/>
          <p:nvPr/>
        </p:nvSpPr>
        <p:spPr>
          <a:xfrm>
            <a:off x="960120" y="2834640"/>
            <a:ext cx="804672" cy="640080"/>
          </a:xfrm>
          <a:prstGeom prst="roundRect">
            <a:avLst>
              <a:gd name="adj" fmla="val 11429"/>
            </a:avLst>
          </a:prstGeom>
          <a:solidFill>
            <a:srgbClr val="1B4066"/>
          </a:solidFill>
          <a:ln w="12700">
            <a:solidFill>
              <a:srgbClr val="1B4066"/>
            </a:solidFill>
            <a:prstDash val="solid"/>
          </a:ln>
        </p:spPr>
      </p:sp>
      <p:sp>
        <p:nvSpPr>
          <p:cNvPr id="10" name="Text 8"/>
          <p:cNvSpPr/>
          <p:nvPr/>
        </p:nvSpPr>
        <p:spPr>
          <a:xfrm>
            <a:off x="1033272"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node-a</a:t>
            </a:r>
            <a:endParaRPr lang="en-US" sz="1400" dirty="0"/>
          </a:p>
        </p:txBody>
      </p:sp>
      <p:sp>
        <p:nvSpPr>
          <p:cNvPr id="11" name="Shape 9"/>
          <p:cNvSpPr/>
          <p:nvPr/>
        </p:nvSpPr>
        <p:spPr>
          <a:xfrm>
            <a:off x="1993392" y="2834640"/>
            <a:ext cx="804672" cy="640080"/>
          </a:xfrm>
          <a:prstGeom prst="roundRect">
            <a:avLst>
              <a:gd name="adj" fmla="val 11429"/>
            </a:avLst>
          </a:prstGeom>
          <a:solidFill>
            <a:srgbClr val="1B4066"/>
          </a:solidFill>
          <a:ln w="12700">
            <a:solidFill>
              <a:srgbClr val="1B4066"/>
            </a:solidFill>
            <a:prstDash val="solid"/>
          </a:ln>
        </p:spPr>
      </p:sp>
      <p:sp>
        <p:nvSpPr>
          <p:cNvPr id="12" name="Text 10"/>
          <p:cNvSpPr/>
          <p:nvPr/>
        </p:nvSpPr>
        <p:spPr>
          <a:xfrm>
            <a:off x="2066544"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node-b</a:t>
            </a:r>
            <a:endParaRPr lang="en-US" sz="1400" dirty="0"/>
          </a:p>
        </p:txBody>
      </p:sp>
      <p:sp>
        <p:nvSpPr>
          <p:cNvPr id="13" name="Shape 11"/>
          <p:cNvSpPr/>
          <p:nvPr/>
        </p:nvSpPr>
        <p:spPr>
          <a:xfrm>
            <a:off x="3026664" y="2834640"/>
            <a:ext cx="804672" cy="640080"/>
          </a:xfrm>
          <a:prstGeom prst="roundRect">
            <a:avLst>
              <a:gd name="adj" fmla="val 11429"/>
            </a:avLst>
          </a:prstGeom>
          <a:solidFill>
            <a:srgbClr val="1B4066"/>
          </a:solidFill>
          <a:ln w="12700">
            <a:solidFill>
              <a:srgbClr val="1B4066"/>
            </a:solidFill>
            <a:prstDash val="solid"/>
          </a:ln>
        </p:spPr>
      </p:sp>
      <p:sp>
        <p:nvSpPr>
          <p:cNvPr id="14" name="Text 12"/>
          <p:cNvSpPr/>
          <p:nvPr/>
        </p:nvSpPr>
        <p:spPr>
          <a:xfrm>
            <a:off x="3099816"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node-c</a:t>
            </a:r>
            <a:endParaRPr lang="en-US" sz="1400" dirty="0"/>
          </a:p>
        </p:txBody>
      </p:sp>
      <p:sp>
        <p:nvSpPr>
          <p:cNvPr id="15" name="Shape 13"/>
          <p:cNvSpPr/>
          <p:nvPr/>
        </p:nvSpPr>
        <p:spPr>
          <a:xfrm>
            <a:off x="987552" y="3639312"/>
            <a:ext cx="749808" cy="329184"/>
          </a:xfrm>
          <a:prstGeom prst="roundRect">
            <a:avLst>
              <a:gd name="adj" fmla="val 16667"/>
            </a:avLst>
          </a:prstGeom>
          <a:solidFill>
            <a:srgbClr val="2E9E63"/>
          </a:solidFill>
          <a:ln w="12700">
            <a:solidFill>
              <a:srgbClr val="2E9E63"/>
            </a:solidFill>
            <a:prstDash val="solid"/>
          </a:ln>
        </p:spPr>
      </p:sp>
      <p:sp>
        <p:nvSpPr>
          <p:cNvPr id="16" name="Text 14"/>
          <p:cNvSpPr/>
          <p:nvPr/>
        </p:nvSpPr>
        <p:spPr>
          <a:xfrm>
            <a:off x="987552"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17" name="Shape 15"/>
          <p:cNvSpPr/>
          <p:nvPr/>
        </p:nvSpPr>
        <p:spPr>
          <a:xfrm>
            <a:off x="2020824" y="3639312"/>
            <a:ext cx="749808" cy="329184"/>
          </a:xfrm>
          <a:prstGeom prst="roundRect">
            <a:avLst>
              <a:gd name="adj" fmla="val 16667"/>
            </a:avLst>
          </a:prstGeom>
          <a:solidFill>
            <a:srgbClr val="2E9E63"/>
          </a:solidFill>
          <a:ln w="12700">
            <a:solidFill>
              <a:srgbClr val="2E9E63"/>
            </a:solidFill>
            <a:prstDash val="solid"/>
          </a:ln>
        </p:spPr>
      </p:sp>
      <p:sp>
        <p:nvSpPr>
          <p:cNvPr id="18" name="Text 16"/>
          <p:cNvSpPr/>
          <p:nvPr/>
        </p:nvSpPr>
        <p:spPr>
          <a:xfrm>
            <a:off x="2020824"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19" name="Shape 17"/>
          <p:cNvSpPr/>
          <p:nvPr/>
        </p:nvSpPr>
        <p:spPr>
          <a:xfrm>
            <a:off x="3054096" y="3639312"/>
            <a:ext cx="749808" cy="329184"/>
          </a:xfrm>
          <a:prstGeom prst="roundRect">
            <a:avLst>
              <a:gd name="adj" fmla="val 16667"/>
            </a:avLst>
          </a:prstGeom>
          <a:solidFill>
            <a:srgbClr val="2E9E63"/>
          </a:solidFill>
          <a:ln w="12700">
            <a:solidFill>
              <a:srgbClr val="2E9E63"/>
            </a:solidFill>
            <a:prstDash val="solid"/>
          </a:ln>
        </p:spPr>
      </p:sp>
      <p:sp>
        <p:nvSpPr>
          <p:cNvPr id="20" name="Text 18"/>
          <p:cNvSpPr/>
          <p:nvPr/>
        </p:nvSpPr>
        <p:spPr>
          <a:xfrm>
            <a:off x="3054096"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21" name="Text 19"/>
          <p:cNvSpPr/>
          <p:nvPr/>
        </p:nvSpPr>
        <p:spPr>
          <a:xfrm>
            <a:off x="914400" y="4169664"/>
            <a:ext cx="2926080" cy="256032"/>
          </a:xfrm>
          <a:prstGeom prst="rect">
            <a:avLst/>
          </a:prstGeom>
          <a:noFill/>
          <a:ln/>
        </p:spPr>
        <p:txBody>
          <a:bodyPr wrap="square" lIns="0" tIns="0" rIns="0" bIns="0" rtlCol="0" anchor="ctr"/>
          <a:lstStyle/>
          <a:p>
            <a:pPr algn="ctr" indent="0" marL="0">
              <a:buNone/>
            </a:pPr>
            <a:r>
              <a:rPr lang="en-US" sz="1050" i="1" dirty="0">
                <a:solidFill>
                  <a:srgbClr val="D8E6F2"/>
                </a:solidFill>
                <a:latin typeface="Calibri" pitchFamily="34" charset="0"/>
                <a:ea typeface="Calibri" pitchFamily="34" charset="-122"/>
                <a:cs typeface="Calibri" pitchFamily="34" charset="-120"/>
              </a:rPr>
              <a:t>3 ready · 1 eviction allowed</a:t>
            </a:r>
            <a:endParaRPr lang="en-US" sz="1050" dirty="0"/>
          </a:p>
        </p:txBody>
      </p:sp>
      <p:sp>
        <p:nvSpPr>
          <p:cNvPr id="22" name="Shape 20"/>
          <p:cNvSpPr/>
          <p:nvPr/>
        </p:nvSpPr>
        <p:spPr>
          <a:xfrm>
            <a:off x="4361688" y="2240280"/>
            <a:ext cx="3474720" cy="2697480"/>
          </a:xfrm>
          <a:prstGeom prst="roundRect">
            <a:avLst>
              <a:gd name="adj" fmla="val 3390"/>
            </a:avLst>
          </a:prstGeom>
          <a:solidFill>
            <a:srgbClr val="12314F"/>
          </a:solidFill>
          <a:ln w="12700">
            <a:solidFill>
              <a:srgbClr val="F2A03D"/>
            </a:solidFill>
            <a:prstDash val="solid"/>
          </a:ln>
        </p:spPr>
      </p:sp>
      <p:sp>
        <p:nvSpPr>
          <p:cNvPr id="23" name="Text 21"/>
          <p:cNvSpPr/>
          <p:nvPr/>
        </p:nvSpPr>
        <p:spPr>
          <a:xfrm>
            <a:off x="4471416" y="2331720"/>
            <a:ext cx="3255264" cy="274320"/>
          </a:xfrm>
          <a:prstGeom prst="rect">
            <a:avLst/>
          </a:prstGeom>
          <a:noFill/>
          <a:ln/>
        </p:spPr>
        <p:txBody>
          <a:bodyPr wrap="square" lIns="0" tIns="0" rIns="0" bIns="0" rtlCol="0" anchor="ctr"/>
          <a:lstStyle/>
          <a:p>
            <a:pPr algn="ctr" indent="0" marL="0">
              <a:buNone/>
            </a:pPr>
            <a:r>
              <a:rPr lang="en-US" sz="1050" b="1" spc="100" kern="0" dirty="0">
                <a:solidFill>
                  <a:srgbClr val="F2A03D"/>
                </a:solidFill>
                <a:latin typeface="Calibri" pitchFamily="34" charset="0"/>
                <a:ea typeface="Calibri" pitchFamily="34" charset="-122"/>
                <a:cs typeface="Calibri" pitchFamily="34" charset="-120"/>
              </a:rPr>
              <a:t>2 · FIRST EVICTION</a:t>
            </a:r>
            <a:endParaRPr lang="en-US" sz="1050" dirty="0"/>
          </a:p>
        </p:txBody>
      </p:sp>
      <p:sp>
        <p:nvSpPr>
          <p:cNvPr id="24" name="Shape 22"/>
          <p:cNvSpPr/>
          <p:nvPr/>
        </p:nvSpPr>
        <p:spPr>
          <a:xfrm>
            <a:off x="4663440" y="2834640"/>
            <a:ext cx="804672" cy="640080"/>
          </a:xfrm>
          <a:prstGeom prst="roundRect">
            <a:avLst>
              <a:gd name="adj" fmla="val 11429"/>
            </a:avLst>
          </a:prstGeom>
          <a:solidFill>
            <a:srgbClr val="D64545"/>
          </a:solidFill>
          <a:ln w="12700">
            <a:solidFill>
              <a:srgbClr val="D64545"/>
            </a:solidFill>
            <a:prstDash val="solid"/>
          </a:ln>
        </p:spPr>
      </p:sp>
      <p:sp>
        <p:nvSpPr>
          <p:cNvPr id="25" name="Text 23"/>
          <p:cNvSpPr/>
          <p:nvPr/>
        </p:nvSpPr>
        <p:spPr>
          <a:xfrm>
            <a:off x="4736592"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node-a</a:t>
            </a:r>
            <a:endParaRPr lang="en-US" sz="1400" dirty="0"/>
          </a:p>
        </p:txBody>
      </p:sp>
      <p:sp>
        <p:nvSpPr>
          <p:cNvPr id="26" name="Shape 24"/>
          <p:cNvSpPr/>
          <p:nvPr/>
        </p:nvSpPr>
        <p:spPr>
          <a:xfrm>
            <a:off x="5696712" y="2834640"/>
            <a:ext cx="804672" cy="640080"/>
          </a:xfrm>
          <a:prstGeom prst="roundRect">
            <a:avLst>
              <a:gd name="adj" fmla="val 11429"/>
            </a:avLst>
          </a:prstGeom>
          <a:solidFill>
            <a:srgbClr val="1B4066"/>
          </a:solidFill>
          <a:ln w="12700">
            <a:solidFill>
              <a:srgbClr val="1B4066"/>
            </a:solidFill>
            <a:prstDash val="solid"/>
          </a:ln>
        </p:spPr>
      </p:sp>
      <p:sp>
        <p:nvSpPr>
          <p:cNvPr id="27" name="Text 25"/>
          <p:cNvSpPr/>
          <p:nvPr/>
        </p:nvSpPr>
        <p:spPr>
          <a:xfrm>
            <a:off x="5769864"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node-b</a:t>
            </a:r>
            <a:endParaRPr lang="en-US" sz="1400" dirty="0"/>
          </a:p>
        </p:txBody>
      </p:sp>
      <p:sp>
        <p:nvSpPr>
          <p:cNvPr id="28" name="Shape 26"/>
          <p:cNvSpPr/>
          <p:nvPr/>
        </p:nvSpPr>
        <p:spPr>
          <a:xfrm>
            <a:off x="6729984" y="2834640"/>
            <a:ext cx="804672" cy="640080"/>
          </a:xfrm>
          <a:prstGeom prst="roundRect">
            <a:avLst>
              <a:gd name="adj" fmla="val 11429"/>
            </a:avLst>
          </a:prstGeom>
          <a:solidFill>
            <a:srgbClr val="1B4066"/>
          </a:solidFill>
          <a:ln w="12700">
            <a:solidFill>
              <a:srgbClr val="1B4066"/>
            </a:solidFill>
            <a:prstDash val="solid"/>
          </a:ln>
        </p:spPr>
      </p:sp>
      <p:sp>
        <p:nvSpPr>
          <p:cNvPr id="29" name="Text 27"/>
          <p:cNvSpPr/>
          <p:nvPr/>
        </p:nvSpPr>
        <p:spPr>
          <a:xfrm>
            <a:off x="6803136"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node-c</a:t>
            </a:r>
            <a:endParaRPr lang="en-US" sz="1400" dirty="0"/>
          </a:p>
        </p:txBody>
      </p:sp>
      <p:sp>
        <p:nvSpPr>
          <p:cNvPr id="30" name="Shape 28"/>
          <p:cNvSpPr/>
          <p:nvPr/>
        </p:nvSpPr>
        <p:spPr>
          <a:xfrm>
            <a:off x="4690872" y="3639312"/>
            <a:ext cx="749808" cy="329184"/>
          </a:xfrm>
          <a:prstGeom prst="roundRect">
            <a:avLst>
              <a:gd name="adj" fmla="val 16667"/>
            </a:avLst>
          </a:prstGeom>
          <a:solidFill>
            <a:srgbClr val="D64545"/>
          </a:solidFill>
          <a:ln w="12700">
            <a:solidFill>
              <a:srgbClr val="D64545"/>
            </a:solidFill>
            <a:prstDash val="solid"/>
          </a:ln>
        </p:spPr>
      </p:sp>
      <p:sp>
        <p:nvSpPr>
          <p:cNvPr id="31" name="Text 29"/>
          <p:cNvSpPr/>
          <p:nvPr/>
        </p:nvSpPr>
        <p:spPr>
          <a:xfrm>
            <a:off x="4690872"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evicted</a:t>
            </a:r>
            <a:endParaRPr lang="en-US" sz="1000" dirty="0"/>
          </a:p>
        </p:txBody>
      </p:sp>
      <p:sp>
        <p:nvSpPr>
          <p:cNvPr id="32" name="Shape 30"/>
          <p:cNvSpPr/>
          <p:nvPr/>
        </p:nvSpPr>
        <p:spPr>
          <a:xfrm>
            <a:off x="5724144" y="3639312"/>
            <a:ext cx="749808" cy="329184"/>
          </a:xfrm>
          <a:prstGeom prst="roundRect">
            <a:avLst>
              <a:gd name="adj" fmla="val 16667"/>
            </a:avLst>
          </a:prstGeom>
          <a:solidFill>
            <a:srgbClr val="2E9E63"/>
          </a:solidFill>
          <a:ln w="12700">
            <a:solidFill>
              <a:srgbClr val="2E9E63"/>
            </a:solidFill>
            <a:prstDash val="solid"/>
          </a:ln>
        </p:spPr>
      </p:sp>
      <p:sp>
        <p:nvSpPr>
          <p:cNvPr id="33" name="Text 31"/>
          <p:cNvSpPr/>
          <p:nvPr/>
        </p:nvSpPr>
        <p:spPr>
          <a:xfrm>
            <a:off x="5724144"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34" name="Shape 32"/>
          <p:cNvSpPr/>
          <p:nvPr/>
        </p:nvSpPr>
        <p:spPr>
          <a:xfrm>
            <a:off x="6757416" y="3639312"/>
            <a:ext cx="749808" cy="329184"/>
          </a:xfrm>
          <a:prstGeom prst="roundRect">
            <a:avLst>
              <a:gd name="adj" fmla="val 16667"/>
            </a:avLst>
          </a:prstGeom>
          <a:solidFill>
            <a:srgbClr val="2E9E63"/>
          </a:solidFill>
          <a:ln w="12700">
            <a:solidFill>
              <a:srgbClr val="2E9E63"/>
            </a:solidFill>
            <a:prstDash val="solid"/>
          </a:ln>
        </p:spPr>
      </p:sp>
      <p:sp>
        <p:nvSpPr>
          <p:cNvPr id="35" name="Text 33"/>
          <p:cNvSpPr/>
          <p:nvPr/>
        </p:nvSpPr>
        <p:spPr>
          <a:xfrm>
            <a:off x="6757416"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36" name="Shape 34"/>
          <p:cNvSpPr/>
          <p:nvPr/>
        </p:nvSpPr>
        <p:spPr>
          <a:xfrm>
            <a:off x="5349240" y="4069080"/>
            <a:ext cx="1554480" cy="475488"/>
          </a:xfrm>
          <a:prstGeom prst="roundRect">
            <a:avLst>
              <a:gd name="adj" fmla="val 15385"/>
            </a:avLst>
          </a:prstGeom>
          <a:solidFill>
            <a:srgbClr val="C97B1E"/>
          </a:solidFill>
          <a:ln w="12700">
            <a:solidFill>
              <a:srgbClr val="C97B1E"/>
            </a:solidFill>
            <a:prstDash val="solid"/>
          </a:ln>
        </p:spPr>
      </p:sp>
      <p:sp>
        <p:nvSpPr>
          <p:cNvPr id="37" name="Text 35"/>
          <p:cNvSpPr/>
          <p:nvPr/>
        </p:nvSpPr>
        <p:spPr>
          <a:xfrm>
            <a:off x="5422392" y="4069080"/>
            <a:ext cx="1408176"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replacement Pending</a:t>
            </a:r>
            <a:endParaRPr lang="en-US" sz="1400" dirty="0"/>
          </a:p>
        </p:txBody>
      </p:sp>
      <p:sp>
        <p:nvSpPr>
          <p:cNvPr id="38" name="Text 36"/>
          <p:cNvSpPr/>
          <p:nvPr/>
        </p:nvSpPr>
        <p:spPr>
          <a:xfrm>
            <a:off x="4617720" y="4572000"/>
            <a:ext cx="2926080" cy="219456"/>
          </a:xfrm>
          <a:prstGeom prst="rect">
            <a:avLst/>
          </a:prstGeom>
          <a:noFill/>
          <a:ln/>
        </p:spPr>
        <p:txBody>
          <a:bodyPr wrap="square" lIns="0" tIns="0" rIns="0" bIns="0" rtlCol="0" anchor="ctr"/>
          <a:lstStyle/>
          <a:p>
            <a:pPr algn="ctr" indent="0" marL="0">
              <a:buNone/>
            </a:pPr>
            <a:r>
              <a:rPr lang="en-US" sz="1000" i="1" dirty="0">
                <a:solidFill>
                  <a:srgbClr val="D8E6F2"/>
                </a:solidFill>
                <a:latin typeface="Calibri" pitchFamily="34" charset="0"/>
                <a:ea typeface="Calibri" pitchFamily="34" charset="-122"/>
                <a:cs typeface="Calibri" pitchFamily="34" charset="-120"/>
              </a:rPr>
              <a:t>2 ready now · 0 disruptions left</a:t>
            </a:r>
            <a:endParaRPr lang="en-US" sz="1000" dirty="0"/>
          </a:p>
        </p:txBody>
      </p:sp>
      <p:sp>
        <p:nvSpPr>
          <p:cNvPr id="39" name="Shape 37"/>
          <p:cNvSpPr/>
          <p:nvPr/>
        </p:nvSpPr>
        <p:spPr>
          <a:xfrm>
            <a:off x="8065008" y="2240280"/>
            <a:ext cx="3474720" cy="2697480"/>
          </a:xfrm>
          <a:prstGeom prst="roundRect">
            <a:avLst>
              <a:gd name="adj" fmla="val 3390"/>
            </a:avLst>
          </a:prstGeom>
          <a:solidFill>
            <a:srgbClr val="12314F"/>
          </a:solidFill>
          <a:ln w="12700">
            <a:solidFill>
              <a:srgbClr val="D64545"/>
            </a:solidFill>
            <a:prstDash val="solid"/>
          </a:ln>
        </p:spPr>
      </p:sp>
      <p:sp>
        <p:nvSpPr>
          <p:cNvPr id="40" name="Text 38"/>
          <p:cNvSpPr/>
          <p:nvPr/>
        </p:nvSpPr>
        <p:spPr>
          <a:xfrm>
            <a:off x="8174736" y="2331720"/>
            <a:ext cx="3255264" cy="274320"/>
          </a:xfrm>
          <a:prstGeom prst="rect">
            <a:avLst/>
          </a:prstGeom>
          <a:noFill/>
          <a:ln/>
        </p:spPr>
        <p:txBody>
          <a:bodyPr wrap="square" lIns="0" tIns="0" rIns="0" bIns="0" rtlCol="0" anchor="ctr"/>
          <a:lstStyle/>
          <a:p>
            <a:pPr algn="ctr" indent="0" marL="0">
              <a:buNone/>
            </a:pPr>
            <a:r>
              <a:rPr lang="en-US" sz="1050" b="1" spc="100" kern="0" dirty="0">
                <a:solidFill>
                  <a:srgbClr val="D64545"/>
                </a:solidFill>
                <a:latin typeface="Calibri" pitchFamily="34" charset="0"/>
                <a:ea typeface="Calibri" pitchFamily="34" charset="-122"/>
                <a:cs typeface="Calibri" pitchFamily="34" charset="-120"/>
              </a:rPr>
              <a:t>3 · SECOND EVICTION</a:t>
            </a:r>
            <a:endParaRPr lang="en-US" sz="1050" dirty="0"/>
          </a:p>
        </p:txBody>
      </p:sp>
      <p:sp>
        <p:nvSpPr>
          <p:cNvPr id="41" name="Shape 39"/>
          <p:cNvSpPr/>
          <p:nvPr/>
        </p:nvSpPr>
        <p:spPr>
          <a:xfrm>
            <a:off x="8366760" y="2834640"/>
            <a:ext cx="804672" cy="640080"/>
          </a:xfrm>
          <a:prstGeom prst="roundRect">
            <a:avLst>
              <a:gd name="adj" fmla="val 11429"/>
            </a:avLst>
          </a:prstGeom>
          <a:solidFill>
            <a:srgbClr val="1B4066"/>
          </a:solidFill>
          <a:ln w="12700">
            <a:solidFill>
              <a:srgbClr val="1B4066"/>
            </a:solidFill>
            <a:prstDash val="solid"/>
          </a:ln>
        </p:spPr>
      </p:sp>
      <p:sp>
        <p:nvSpPr>
          <p:cNvPr id="42" name="Text 40"/>
          <p:cNvSpPr/>
          <p:nvPr/>
        </p:nvSpPr>
        <p:spPr>
          <a:xfrm>
            <a:off x="8439912"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node-b</a:t>
            </a:r>
            <a:endParaRPr lang="en-US" sz="1400" dirty="0"/>
          </a:p>
        </p:txBody>
      </p:sp>
      <p:sp>
        <p:nvSpPr>
          <p:cNvPr id="43" name="Shape 41"/>
          <p:cNvSpPr/>
          <p:nvPr/>
        </p:nvSpPr>
        <p:spPr>
          <a:xfrm>
            <a:off x="9400032" y="2834640"/>
            <a:ext cx="804672" cy="640080"/>
          </a:xfrm>
          <a:prstGeom prst="roundRect">
            <a:avLst>
              <a:gd name="adj" fmla="val 11429"/>
            </a:avLst>
          </a:prstGeom>
          <a:solidFill>
            <a:srgbClr val="1B4066"/>
          </a:solidFill>
          <a:ln w="12700">
            <a:solidFill>
              <a:srgbClr val="1B4066"/>
            </a:solidFill>
            <a:prstDash val="solid"/>
          </a:ln>
        </p:spPr>
      </p:sp>
      <p:sp>
        <p:nvSpPr>
          <p:cNvPr id="44" name="Text 42"/>
          <p:cNvSpPr/>
          <p:nvPr/>
        </p:nvSpPr>
        <p:spPr>
          <a:xfrm>
            <a:off x="9473184"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node-c</a:t>
            </a:r>
            <a:endParaRPr lang="en-US" sz="1400" dirty="0"/>
          </a:p>
        </p:txBody>
      </p:sp>
      <p:sp>
        <p:nvSpPr>
          <p:cNvPr id="45" name="Shape 43"/>
          <p:cNvSpPr/>
          <p:nvPr/>
        </p:nvSpPr>
        <p:spPr>
          <a:xfrm>
            <a:off x="10433304" y="2834640"/>
            <a:ext cx="804672" cy="640080"/>
          </a:xfrm>
          <a:prstGeom prst="roundRect">
            <a:avLst>
              <a:gd name="adj" fmla="val 11429"/>
            </a:avLst>
          </a:prstGeom>
          <a:solidFill>
            <a:srgbClr val="2E9E63"/>
          </a:solidFill>
          <a:ln w="12700">
            <a:solidFill>
              <a:srgbClr val="2E9E63"/>
            </a:solidFill>
            <a:prstDash val="solid"/>
          </a:ln>
        </p:spPr>
      </p:sp>
      <p:sp>
        <p:nvSpPr>
          <p:cNvPr id="46" name="Text 44"/>
          <p:cNvSpPr/>
          <p:nvPr/>
        </p:nvSpPr>
        <p:spPr>
          <a:xfrm>
            <a:off x="10506456" y="2834640"/>
            <a:ext cx="65836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node-d</a:t>
            </a:r>
            <a:endParaRPr lang="en-US" sz="1400" dirty="0"/>
          </a:p>
        </p:txBody>
      </p:sp>
      <p:sp>
        <p:nvSpPr>
          <p:cNvPr id="47" name="Shape 45"/>
          <p:cNvSpPr/>
          <p:nvPr/>
        </p:nvSpPr>
        <p:spPr>
          <a:xfrm>
            <a:off x="8394192" y="3639312"/>
            <a:ext cx="749808" cy="329184"/>
          </a:xfrm>
          <a:prstGeom prst="roundRect">
            <a:avLst>
              <a:gd name="adj" fmla="val 16667"/>
            </a:avLst>
          </a:prstGeom>
          <a:solidFill>
            <a:srgbClr val="2E9E63"/>
          </a:solidFill>
          <a:ln w="12700">
            <a:solidFill>
              <a:srgbClr val="2E9E63"/>
            </a:solidFill>
            <a:prstDash val="solid"/>
          </a:ln>
        </p:spPr>
      </p:sp>
      <p:sp>
        <p:nvSpPr>
          <p:cNvPr id="48" name="Text 46"/>
          <p:cNvSpPr/>
          <p:nvPr/>
        </p:nvSpPr>
        <p:spPr>
          <a:xfrm>
            <a:off x="8394192"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49" name="Shape 47"/>
          <p:cNvSpPr/>
          <p:nvPr/>
        </p:nvSpPr>
        <p:spPr>
          <a:xfrm>
            <a:off x="9427464" y="3639312"/>
            <a:ext cx="749808" cy="329184"/>
          </a:xfrm>
          <a:prstGeom prst="roundRect">
            <a:avLst>
              <a:gd name="adj" fmla="val 16667"/>
            </a:avLst>
          </a:prstGeom>
          <a:solidFill>
            <a:srgbClr val="2E9E63"/>
          </a:solidFill>
          <a:ln w="12700">
            <a:solidFill>
              <a:srgbClr val="2E9E63"/>
            </a:solidFill>
            <a:prstDash val="solid"/>
          </a:ln>
        </p:spPr>
      </p:sp>
      <p:sp>
        <p:nvSpPr>
          <p:cNvPr id="50" name="Text 48"/>
          <p:cNvSpPr/>
          <p:nvPr/>
        </p:nvSpPr>
        <p:spPr>
          <a:xfrm>
            <a:off x="9427464" y="3639312"/>
            <a:ext cx="74980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51" name="Shape 49"/>
          <p:cNvSpPr/>
          <p:nvPr/>
        </p:nvSpPr>
        <p:spPr>
          <a:xfrm>
            <a:off x="10369296" y="4041648"/>
            <a:ext cx="914400" cy="329184"/>
          </a:xfrm>
          <a:prstGeom prst="roundRect">
            <a:avLst>
              <a:gd name="adj" fmla="val 16667"/>
            </a:avLst>
          </a:prstGeom>
          <a:solidFill>
            <a:srgbClr val="D64545"/>
          </a:solidFill>
          <a:ln w="12700">
            <a:solidFill>
              <a:srgbClr val="D64545"/>
            </a:solidFill>
            <a:prstDash val="solid"/>
          </a:ln>
        </p:spPr>
      </p:sp>
      <p:sp>
        <p:nvSpPr>
          <p:cNvPr id="52" name="Text 50"/>
          <p:cNvSpPr/>
          <p:nvPr/>
        </p:nvSpPr>
        <p:spPr>
          <a:xfrm>
            <a:off x="10369296" y="4041648"/>
            <a:ext cx="91440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by PDB</a:t>
            </a:r>
            <a:endParaRPr lang="en-US" sz="1000" dirty="0"/>
          </a:p>
        </p:txBody>
      </p:sp>
      <p:sp>
        <p:nvSpPr>
          <p:cNvPr id="53" name="Shape 51"/>
          <p:cNvSpPr/>
          <p:nvPr/>
        </p:nvSpPr>
        <p:spPr>
          <a:xfrm>
            <a:off x="10104120" y="3154680"/>
            <a:ext cx="237744" cy="658368"/>
          </a:xfrm>
          <a:prstGeom prst="line">
            <a:avLst/>
          </a:prstGeom>
          <a:noFill/>
          <a:ln w="25400">
            <a:solidFill>
              <a:srgbClr val="D64545"/>
            </a:solidFill>
            <a:prstDash val="solid"/>
            <a:tailEnd type="triangle"/>
          </a:ln>
        </p:spPr>
      </p:sp>
      <p:sp>
        <p:nvSpPr>
          <p:cNvPr id="54" name="Text 52"/>
          <p:cNvSpPr/>
          <p:nvPr/>
        </p:nvSpPr>
        <p:spPr>
          <a:xfrm>
            <a:off x="8229600" y="4572000"/>
            <a:ext cx="3154680" cy="219456"/>
          </a:xfrm>
          <a:prstGeom prst="rect">
            <a:avLst/>
          </a:prstGeom>
          <a:noFill/>
          <a:ln/>
        </p:spPr>
        <p:txBody>
          <a:bodyPr wrap="square" lIns="0" tIns="0" rIns="0" bIns="0" rtlCol="0" anchor="ctr"/>
          <a:lstStyle/>
          <a:p>
            <a:pPr algn="ctr" indent="0" marL="0">
              <a:buNone/>
            </a:pPr>
            <a:r>
              <a:rPr lang="en-US" sz="1000" i="1" dirty="0">
                <a:solidFill>
                  <a:srgbClr val="D8E6F2"/>
                </a:solidFill>
                <a:latin typeface="Calibri" pitchFamily="34" charset="0"/>
                <a:ea typeface="Calibri" pitchFamily="34" charset="-122"/>
                <a:cs typeface="Calibri" pitchFamily="34" charset="-120"/>
              </a:rPr>
              <a:t>drain waits until a replacement becomes Ready</a:t>
            </a:r>
            <a:endParaRPr lang="en-US" sz="1000" dirty="0"/>
          </a:p>
        </p:txBody>
      </p:sp>
      <p:sp>
        <p:nvSpPr>
          <p:cNvPr id="55" name="Text 53"/>
          <p:cNvSpPr/>
          <p:nvPr/>
        </p:nvSpPr>
        <p:spPr>
          <a:xfrm>
            <a:off x="566928" y="5742432"/>
            <a:ext cx="11057839" cy="384048"/>
          </a:xfrm>
          <a:prstGeom prst="rect">
            <a:avLst/>
          </a:prstGeom>
          <a:noFill/>
          <a:ln/>
        </p:spPr>
        <p:txBody>
          <a:bodyPr wrap="square" lIns="0" tIns="0" rIns="0" bIns="0" rtlCol="0" anchor="ctr"/>
          <a:lstStyle/>
          <a:p>
            <a:pPr algn="ctr" indent="0" marL="0">
              <a:buNone/>
            </a:pPr>
            <a:r>
              <a:rPr lang="en-US" sz="1500" b="1" dirty="0">
                <a:solidFill>
                  <a:srgbClr val="F2A03D"/>
                </a:solidFill>
                <a:latin typeface="Calibri" pitchFamily="34" charset="0"/>
                <a:ea typeface="Calibri" pitchFamily="34" charset="-122"/>
                <a:cs typeface="Calibri" pitchFamily="34" charset="-120"/>
              </a:rPr>
              <a:t>A PDB does not stop maintenance; it forces maintenance to move one replica at a time.</a:t>
            </a:r>
            <a:endParaRPr lang="en-US" sz="1500" dirty="0"/>
          </a:p>
        </p:txBody>
      </p:sp>
      <p:sp>
        <p:nvSpPr>
          <p:cNvPr id="56" name="Text 5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57" name="Text 5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26</a:t>
            </a:r>
            <a:endParaRPr lang="en-US" sz="900" dirty="0"/>
          </a:p>
        </p:txBody>
      </p:sp>
      <p:pic>
        <p:nvPicPr>
          <p:cNvPr id="58"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59"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60"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INDEPENDENT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L4.5 + L4.6</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Placement, drains and disruption budgets</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Spread payment replicas one per node — by instruction, not luck</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Find the hard limit of required anti-affinity</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Drain a node under 40 rps WITHOUT a PDB and measure the failures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Apply the budgets and drain again — measure zero</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Read the postgres PDB and explain why it documents having no budget</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Replicas on distinct nodes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6 PDBs applied</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 drain under load with ZERO failed payments</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LAB=L4.5 &amp;&amp; make validate-lab LAB=L4.6</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110 minutes   ·   labs/day4/L4.5-placement/, L4.6-pdb-drain.md</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27</a:t>
            </a:r>
            <a:endParaRPr lang="en-US" sz="900" dirty="0"/>
          </a:p>
        </p:txBody>
      </p:sp>
      <p:pic>
        <p:nvPicPr>
          <p:cNvPr id="17"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8"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9"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225296" cy="292608"/>
          </a:xfrm>
          <a:prstGeom prst="roundRect">
            <a:avLst>
              <a:gd name="adj" fmla="val 50000"/>
            </a:avLst>
          </a:prstGeom>
          <a:solidFill>
            <a:srgbClr val="D64545"/>
          </a:solidFill>
          <a:ln w="12700">
            <a:solidFill>
              <a:srgbClr val="D64545"/>
            </a:solidFill>
            <a:prstDash val="solid"/>
          </a:ln>
        </p:spPr>
      </p:sp>
      <p:sp>
        <p:nvSpPr>
          <p:cNvPr id="3" name="Text 1"/>
          <p:cNvSpPr/>
          <p:nvPr/>
        </p:nvSpPr>
        <p:spPr>
          <a:xfrm>
            <a:off x="566928" y="384048"/>
            <a:ext cx="122529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INCIDENT</a:t>
            </a:r>
            <a:endParaRPr lang="en-US" sz="1100" dirty="0"/>
          </a:p>
        </p:txBody>
      </p:sp>
      <p:sp>
        <p:nvSpPr>
          <p:cNvPr id="4" name="Shape 2"/>
          <p:cNvSpPr/>
          <p:nvPr/>
        </p:nvSpPr>
        <p:spPr>
          <a:xfrm>
            <a:off x="566928" y="1554480"/>
            <a:ext cx="11057839" cy="3017520"/>
          </a:xfrm>
          <a:prstGeom prst="roundRect">
            <a:avLst>
              <a:gd name="adj" fmla="val 3636"/>
            </a:avLst>
          </a:prstGeom>
          <a:solidFill>
            <a:srgbClr val="12314F"/>
          </a:solidFill>
          <a:ln w="12700">
            <a:solidFill>
              <a:srgbClr val="D64545"/>
            </a:solidFill>
            <a:prstDash val="solid"/>
          </a:ln>
        </p:spPr>
      </p:sp>
      <p:sp>
        <p:nvSpPr>
          <p:cNvPr id="5" name="Text 3"/>
          <p:cNvSpPr/>
          <p:nvPr/>
        </p:nvSpPr>
        <p:spPr>
          <a:xfrm>
            <a:off x="1115568" y="1920240"/>
            <a:ext cx="9960559" cy="1463040"/>
          </a:xfrm>
          <a:prstGeom prst="rect">
            <a:avLst/>
          </a:prstGeom>
          <a:noFill/>
          <a:ln/>
        </p:spPr>
        <p:txBody>
          <a:bodyPr wrap="square" lIns="0" tIns="0" rIns="0" bIns="0"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SEV-1 · THREE alerts in two minutes.</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And one of them logs nothing at all.</a:t>
            </a:r>
            <a:endParaRPr lang="en-US" sz="3000" dirty="0"/>
          </a:p>
        </p:txBody>
      </p:sp>
      <p:sp>
        <p:nvSpPr>
          <p:cNvPr id="6" name="Text 4"/>
          <p:cNvSpPr/>
          <p:nvPr/>
        </p:nvSpPr>
        <p:spPr>
          <a:xfrm>
            <a:off x="1115568" y="3429000"/>
            <a:ext cx="9960559" cy="914400"/>
          </a:xfrm>
          <a:prstGeom prst="rect">
            <a:avLst/>
          </a:prstGeom>
          <a:noFill/>
          <a:ln/>
        </p:spPr>
        <p:txBody>
          <a:bodyPr wrap="square" lIns="0" tIns="0" rIns="0" bIns="0" rtlCol="0" anchor="ctr"/>
          <a:lstStyle/>
          <a:p>
            <a:pPr indent="0" marL="0">
              <a:lnSpc>
                <a:spcPts val="2100"/>
              </a:lnSpc>
              <a:buNone/>
            </a:pPr>
            <a:r>
              <a:rPr lang="en-US" sz="1500" dirty="0">
                <a:solidFill>
                  <a:srgbClr val="D8E6F2"/>
                </a:solidFill>
                <a:latin typeface="Calibri" pitchFamily="34" charset="0"/>
                <a:ea typeface="Calibri" pitchFamily="34" charset="-122"/>
                <a:cs typeface="Calibri" pitchFamily="34" charset="-120"/>
              </a:rPr>
              <a:t>404 on the merchant API. Intermittent name resolution. Approval rate 96% → 61% with no errors anywhere. Three changes merged this afternoon, three teams, none of them believes theirs is the problem.</a:t>
            </a:r>
            <a:endParaRPr lang="en-US" sz="1500" dirty="0"/>
          </a:p>
        </p:txBody>
      </p:sp>
      <p:sp>
        <p:nvSpPr>
          <p:cNvPr id="7" name="Text 5"/>
          <p:cNvSpPr/>
          <p:nvPr/>
        </p:nvSpPr>
        <p:spPr>
          <a:xfrm>
            <a:off x="658368" y="4800600"/>
            <a:ext cx="11057839" cy="1188720"/>
          </a:xfrm>
          <a:prstGeom prst="rect">
            <a:avLst/>
          </a:prstGeom>
          <a:noFill/>
          <a:ln/>
        </p:spPr>
        <p:txBody>
          <a:bodyPr wrap="square" lIns="0" tIns="0" rIns="0" bIns="0" rtlCol="0" anchor="ctr"/>
          <a:lstStyle/>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Three faults. Fixing the loud ones does not fix the quiet one.</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Alert 3 is the discriminator: down but not to zero, and NOTHING is logged.</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Before you type: which do you work FIRST, and why?</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Scored on method, prioritisation — and NOT MAKING IT WORSE.</a:t>
            </a:r>
            <a:endParaRPr lang="en-US" sz="1350" dirty="0"/>
          </a:p>
        </p:txBody>
      </p:sp>
      <p:sp>
        <p:nvSpPr>
          <p:cNvPr id="8" name="Text 6"/>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9" name="Text 7"/>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28</a:t>
            </a:r>
            <a:endParaRPr lang="en-US" sz="900" dirty="0"/>
          </a:p>
        </p:txBody>
      </p:sp>
      <p:pic>
        <p:nvPicPr>
          <p:cNvPr id="10"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1"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2"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4" name="Shape 2"/>
          <p:cNvSpPr/>
          <p:nvPr/>
        </p:nvSpPr>
        <p:spPr>
          <a:xfrm>
            <a:off x="566928" y="1143000"/>
            <a:ext cx="11057839" cy="1371600"/>
          </a:xfrm>
          <a:prstGeom prst="roundRect">
            <a:avLst>
              <a:gd name="adj" fmla="val 8000"/>
            </a:avLst>
          </a:prstGeom>
          <a:solidFill>
            <a:srgbClr val="12314F"/>
          </a:solidFill>
          <a:ln w="12700">
            <a:solidFill>
              <a:srgbClr val="F2A03D"/>
            </a:solidFill>
            <a:prstDash val="solid"/>
          </a:ln>
        </p:spPr>
      </p:sp>
      <p:sp>
        <p:nvSpPr>
          <p:cNvPr id="5" name="Text 3"/>
          <p:cNvSpPr/>
          <p:nvPr/>
        </p:nvSpPr>
        <p:spPr>
          <a:xfrm>
            <a:off x="841248" y="1143000"/>
            <a:ext cx="914400" cy="1371600"/>
          </a:xfrm>
          <a:prstGeom prst="rect">
            <a:avLst/>
          </a:prstGeom>
          <a:noFill/>
          <a:ln/>
        </p:spPr>
        <p:txBody>
          <a:bodyPr wrap="square" lIns="0" tIns="0" rIns="0" bIns="0" rtlCol="0" anchor="ctr"/>
          <a:lstStyle/>
          <a:p>
            <a:pPr algn="ctr" indent="0" marL="0">
              <a:buNone/>
            </a:pPr>
            <a:r>
              <a:rPr lang="en-US" sz="4600" b="1" dirty="0">
                <a:solidFill>
                  <a:srgbClr val="F2A03D"/>
                </a:solidFill>
                <a:latin typeface="Cambria" pitchFamily="34" charset="0"/>
                <a:ea typeface="Cambria" pitchFamily="34" charset="-122"/>
                <a:cs typeface="Cambria" pitchFamily="34" charset="-120"/>
              </a:rPr>
              <a:t>?</a:t>
            </a:r>
            <a:endParaRPr lang="en-US" sz="4600" dirty="0"/>
          </a:p>
        </p:txBody>
      </p:sp>
      <p:sp>
        <p:nvSpPr>
          <p:cNvPr id="6" name="Text 4"/>
          <p:cNvSpPr/>
          <p:nvPr/>
        </p:nvSpPr>
        <p:spPr>
          <a:xfrm>
            <a:off x="1892808" y="1143000"/>
            <a:ext cx="9320479" cy="1371600"/>
          </a:xfrm>
          <a:prstGeom prst="rect">
            <a:avLst/>
          </a:prstGeom>
          <a:noFill/>
          <a:ln/>
        </p:spPr>
        <p:txBody>
          <a:bodyPr wrap="square" lIns="0" tIns="0" rIns="0" bIns="0" rtlCol="0" anchor="ctr"/>
          <a:lstStyle/>
          <a:p>
            <a:pPr indent="0" marL="0">
              <a:lnSpc>
                <a:spcPts val="2600"/>
              </a:lnSpc>
              <a:buNone/>
            </a:pPr>
            <a:r>
              <a:rPr lang="en-US" sz="2000" b="1" dirty="0">
                <a:solidFill>
                  <a:srgbClr val="FFFFFF"/>
                </a:solidFill>
                <a:latin typeface="Cambria" pitchFamily="34" charset="0"/>
                <a:ea typeface="Cambria" pitchFamily="34" charset="-122"/>
                <a:cs typeface="Cambria" pitchFamily="34" charset="-120"/>
              </a:rPr>
              <a:t>Eight questions. Answer out loud. Not scored.</a:t>
            </a:r>
            <a:endParaRPr lang="en-US" sz="2000" dirty="0"/>
          </a:p>
        </p:txBody>
      </p:sp>
      <p:sp>
        <p:nvSpPr>
          <p:cNvPr id="7" name="Text 5"/>
          <p:cNvSpPr/>
          <p:nvPr/>
        </p:nvSpPr>
        <p:spPr>
          <a:xfrm>
            <a:off x="566928" y="2715768"/>
            <a:ext cx="6400800" cy="274320"/>
          </a:xfrm>
          <a:prstGeom prst="rect">
            <a:avLst/>
          </a:prstGeom>
          <a:noFill/>
          <a:ln/>
        </p:spPr>
        <p:txBody>
          <a:bodyPr wrap="square" lIns="0" tIns="0" rIns="0" bIns="0" rtlCol="0" anchor="ctr"/>
          <a:lstStyle/>
          <a:p>
            <a:pPr indent="0" marL="0">
              <a:buNone/>
            </a:pPr>
            <a:r>
              <a:rPr lang="en-US" sz="1100" b="1" spc="100" kern="0" dirty="0">
                <a:solidFill>
                  <a:srgbClr val="F2A03D"/>
                </a:solidFill>
                <a:latin typeface="Calibri" pitchFamily="34" charset="0"/>
                <a:ea typeface="Calibri" pitchFamily="34" charset="-122"/>
                <a:cs typeface="Calibri" pitchFamily="34" charset="-120"/>
              </a:rPr>
              <a:t>Answers</a:t>
            </a:r>
            <a:endParaRPr lang="en-US" sz="1100" dirty="0"/>
          </a:p>
        </p:txBody>
      </p:sp>
      <p:sp>
        <p:nvSpPr>
          <p:cNvPr id="8" name="Text 6"/>
          <p:cNvSpPr/>
          <p:nvPr/>
        </p:nvSpPr>
        <p:spPr>
          <a:xfrm>
            <a:off x="640080" y="3008376"/>
            <a:ext cx="10966399" cy="336499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1. Is there a proxy process in a ClusterIP request path?  →  No. Kernel rules written by kube-proxy.</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2. Ingress resource vs controller?  →  rules vs the program that reads them. Empty ADDRESS = no controller.</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3. pathType Prefix vs Exact?  →  Exact matches ONLY the literal path. That is INC-4a.</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4. Is NetworkPolicy default-allow or default-deny?  →  default-ALLOW until a policy selects the pod</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5. How do you write a 'deny' rule?  →  You cannot. Select the pod and permit nothing.</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6. What breaks first after default-deny?  →  DNS. Every call starts with a lookup — that is egress.</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7. required vs preferred anti-affinity?  →  required can never exceed the node count; it caps an HPA</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8. Does a PDB protect against a node crash?  →  No. Voluntary disruption only.</a:t>
            </a:r>
            <a:endParaRPr lang="en-US" sz="1200" dirty="0"/>
          </a:p>
        </p:txBody>
      </p:sp>
      <p:sp>
        <p:nvSpPr>
          <p:cNvPr id="9" name="Text 7"/>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0" name="Text 8"/>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29</a:t>
            </a:r>
            <a:endParaRPr lang="en-US" sz="900" dirty="0"/>
          </a:p>
        </p:txBody>
      </p:sp>
      <p:pic>
        <p:nvPicPr>
          <p:cNvPr id="11"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2"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3"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64592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64592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 OF DAY 4</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built today</a:t>
            </a:r>
            <a:endParaRPr lang="en-US" sz="3200" dirty="0"/>
          </a:p>
        </p:txBody>
      </p:sp>
      <p:sp>
        <p:nvSpPr>
          <p:cNvPr id="5" name="Text 3"/>
          <p:cNvSpPr/>
          <p:nvPr/>
        </p:nvSpPr>
        <p:spPr>
          <a:xfrm>
            <a:off x="566928" y="2103120"/>
            <a:ext cx="2524430" cy="1234440"/>
          </a:xfrm>
          <a:prstGeom prst="rect">
            <a:avLst/>
          </a:prstGeom>
          <a:noFill/>
          <a:ln/>
        </p:spPr>
        <p:txBody>
          <a:bodyPr wrap="square" lIns="0" tIns="0" rIns="0" bIns="0" rtlCol="0" anchor="ctr"/>
          <a:lstStyle/>
          <a:p>
            <a:pPr algn="ctr" indent="0" marL="0">
              <a:buNone/>
            </a:pPr>
            <a:r>
              <a:rPr lang="en-US" sz="5800" b="1" dirty="0">
                <a:solidFill>
                  <a:srgbClr val="2E9E63"/>
                </a:solidFill>
                <a:latin typeface="Cambria" pitchFamily="34" charset="0"/>
                <a:ea typeface="Cambria" pitchFamily="34" charset="-122"/>
                <a:cs typeface="Cambria" pitchFamily="34" charset="-120"/>
              </a:rPr>
              <a:t>22</a:t>
            </a:r>
            <a:endParaRPr lang="en-US" sz="5800" dirty="0"/>
          </a:p>
        </p:txBody>
      </p:sp>
      <p:sp>
        <p:nvSpPr>
          <p:cNvPr id="6" name="Text 4"/>
          <p:cNvSpPr/>
          <p:nvPr/>
        </p:nvSpPr>
        <p:spPr>
          <a:xfrm>
            <a:off x="566928"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NetworkPolicies enforcing</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zero trust across</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four namespaces</a:t>
            </a:r>
            <a:endParaRPr lang="en-US" sz="1300" dirty="0"/>
          </a:p>
        </p:txBody>
      </p:sp>
      <p:sp>
        <p:nvSpPr>
          <p:cNvPr id="7" name="Text 5"/>
          <p:cNvSpPr/>
          <p:nvPr/>
        </p:nvSpPr>
        <p:spPr>
          <a:xfrm>
            <a:off x="3411398" y="2103120"/>
            <a:ext cx="2524430" cy="1234440"/>
          </a:xfrm>
          <a:prstGeom prst="rect">
            <a:avLst/>
          </a:prstGeom>
          <a:noFill/>
          <a:ln/>
        </p:spPr>
        <p:txBody>
          <a:bodyPr wrap="square" lIns="0" tIns="0" rIns="0" bIns="0" rtlCol="0" anchor="ctr"/>
          <a:lstStyle/>
          <a:p>
            <a:pPr algn="ctr" indent="0" marL="0">
              <a:buNone/>
            </a:pPr>
            <a:r>
              <a:rPr lang="en-US" sz="5800" b="1" dirty="0">
                <a:solidFill>
                  <a:srgbClr val="2E9E63"/>
                </a:solidFill>
                <a:latin typeface="Cambria" pitchFamily="34" charset="0"/>
                <a:ea typeface="Cambria" pitchFamily="34" charset="-122"/>
                <a:cs typeface="Cambria" pitchFamily="34" charset="-120"/>
              </a:rPr>
              <a:t>0</a:t>
            </a:r>
            <a:endParaRPr lang="en-US" sz="5800" dirty="0"/>
          </a:p>
        </p:txBody>
      </p:sp>
      <p:sp>
        <p:nvSpPr>
          <p:cNvPr id="8" name="Text 6"/>
          <p:cNvSpPr/>
          <p:nvPr/>
        </p:nvSpPr>
        <p:spPr>
          <a:xfrm>
            <a:off x="3411398"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failed payments while</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draining a node under</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40 requests per second</a:t>
            </a:r>
            <a:endParaRPr lang="en-US" sz="1300" dirty="0"/>
          </a:p>
        </p:txBody>
      </p:sp>
      <p:sp>
        <p:nvSpPr>
          <p:cNvPr id="9" name="Text 7"/>
          <p:cNvSpPr/>
          <p:nvPr/>
        </p:nvSpPr>
        <p:spPr>
          <a:xfrm>
            <a:off x="6255868" y="2103120"/>
            <a:ext cx="2524430" cy="1234440"/>
          </a:xfrm>
          <a:prstGeom prst="rect">
            <a:avLst/>
          </a:prstGeom>
          <a:noFill/>
          <a:ln/>
        </p:spPr>
        <p:txBody>
          <a:bodyPr wrap="square" lIns="0" tIns="0" rIns="0" bIns="0" rtlCol="0" anchor="ctr"/>
          <a:lstStyle/>
          <a:p>
            <a:pPr algn="ctr" indent="0" marL="0">
              <a:buNone/>
            </a:pPr>
            <a:r>
              <a:rPr lang="en-US" sz="5800" b="1" dirty="0">
                <a:solidFill>
                  <a:srgbClr val="F2A03D"/>
                </a:solidFill>
                <a:latin typeface="Cambria" pitchFamily="34" charset="0"/>
                <a:ea typeface="Cambria" pitchFamily="34" charset="-122"/>
                <a:cs typeface="Cambria" pitchFamily="34" charset="-120"/>
              </a:rPr>
              <a:t>2</a:t>
            </a:r>
            <a:endParaRPr lang="en-US" sz="5800" dirty="0"/>
          </a:p>
        </p:txBody>
      </p:sp>
      <p:sp>
        <p:nvSpPr>
          <p:cNvPr id="10" name="Text 8"/>
          <p:cNvSpPr/>
          <p:nvPr/>
        </p:nvSpPr>
        <p:spPr>
          <a:xfrm>
            <a:off x="6255868"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hostnames reachable over TLS.</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A merchant could integrate</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today.</a:t>
            </a:r>
            <a:endParaRPr lang="en-US" sz="1300" dirty="0"/>
          </a:p>
        </p:txBody>
      </p:sp>
      <p:sp>
        <p:nvSpPr>
          <p:cNvPr id="11" name="Text 9"/>
          <p:cNvSpPr/>
          <p:nvPr/>
        </p:nvSpPr>
        <p:spPr>
          <a:xfrm>
            <a:off x="9100337" y="2103120"/>
            <a:ext cx="2524430" cy="1234440"/>
          </a:xfrm>
          <a:prstGeom prst="rect">
            <a:avLst/>
          </a:prstGeom>
          <a:noFill/>
          <a:ln/>
        </p:spPr>
        <p:txBody>
          <a:bodyPr wrap="square" lIns="0" tIns="0" rIns="0" bIns="0" rtlCol="0" anchor="ctr"/>
          <a:lstStyle/>
          <a:p>
            <a:pPr algn="ctr" indent="0" marL="0">
              <a:buNone/>
            </a:pPr>
            <a:r>
              <a:rPr lang="en-US" sz="5800" b="1" dirty="0">
                <a:solidFill>
                  <a:srgbClr val="1C7293"/>
                </a:solidFill>
                <a:latin typeface="Cambria" pitchFamily="34" charset="0"/>
                <a:ea typeface="Cambria" pitchFamily="34" charset="-122"/>
                <a:cs typeface="Cambria" pitchFamily="34" charset="-120"/>
              </a:rPr>
              <a:t>39</a:t>
            </a:r>
            <a:endParaRPr lang="en-US" sz="5800" dirty="0"/>
          </a:p>
        </p:txBody>
      </p:sp>
      <p:sp>
        <p:nvSpPr>
          <p:cNvPr id="12" name="Text 10"/>
          <p:cNvSpPr/>
          <p:nvPr/>
        </p:nvSpPr>
        <p:spPr>
          <a:xfrm>
            <a:off x="9100337"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policy assertions verified —</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19 calls allowed,</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8 controls enforced</a:t>
            </a:r>
            <a:endParaRPr lang="en-US" sz="1300" dirty="0"/>
          </a:p>
        </p:txBody>
      </p:sp>
      <p:sp>
        <p:nvSpPr>
          <p:cNvPr id="13" name="Text 11"/>
          <p:cNvSpPr/>
          <p:nvPr/>
        </p:nvSpPr>
        <p:spPr>
          <a:xfrm>
            <a:off x="566928" y="5486400"/>
            <a:ext cx="11057839" cy="548640"/>
          </a:xfrm>
          <a:prstGeom prst="rect">
            <a:avLst/>
          </a:prstGeom>
          <a:noFill/>
          <a:ln/>
        </p:spPr>
        <p:txBody>
          <a:bodyPr wrap="square" lIns="0" tIns="0" rIns="0" bIns="0" rtlCol="0" anchor="ctr"/>
          <a:lstStyle/>
          <a:p>
            <a:pPr algn="ctr" indent="0" marL="0">
              <a:buNone/>
            </a:pPr>
            <a:r>
              <a:rPr lang="en-US" sz="1400" i="1" dirty="0">
                <a:solidFill>
                  <a:srgbClr val="FFFFFF"/>
                </a:solidFill>
                <a:latin typeface="Calibri" pitchFamily="34" charset="0"/>
                <a:ea typeface="Calibri" pitchFamily="34" charset="-122"/>
                <a:cs typeface="Calibri" pitchFamily="34" charset="-120"/>
              </a:rPr>
              <a:t>The DMZ can no longer read the payments database. That is the finding closed, demonstrated with the same command that opened it.</a:t>
            </a:r>
            <a:endParaRPr lang="en-US" sz="1400" dirty="0"/>
          </a:p>
        </p:txBody>
      </p:sp>
      <p:sp>
        <p:nvSpPr>
          <p:cNvPr id="14" name="Text 1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15" name="Text 1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30</a:t>
            </a:r>
            <a:endParaRPr lang="en-US" sz="900" dirty="0"/>
          </a:p>
        </p:txBody>
      </p:sp>
      <p:pic>
        <p:nvPicPr>
          <p:cNvPr id="16"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17"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18"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225296"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22529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TOMORROW</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Day 5 — hand it to the on-call team</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Running workloads is only the middle of operating Kubernetes. After discovery, exposure, segmentation, placement and safe disruption control come the platform capabilities that make access least-privilege, changes repeatable and failures observable.</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840480"/>
                <a:gridCol w="5120640"/>
                <a:gridCol w="2103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is missing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costs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Fixed in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RBAC</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Any ServiceAccount can read or change what it should not. Least privilege does not exist.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L5.2</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Pod Security not enforced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pod that forgets safe defaults is still admitted.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L5.1</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Deploying means 40 kubectl applies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 packaging, no versioning, no one-command rollback</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L5.3</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metrics, no dashboards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You cannot operate what you cannot see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L5.5</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log aggregation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Tracing one payment means kubectl logs across 15 services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L5.6</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alerts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merchant tells you before your monitoring does — every time this week</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L5.6</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4</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31</a:t>
            </a:r>
            <a:endParaRPr lang="en-US" sz="900" dirty="0"/>
          </a:p>
        </p:txBody>
      </p:sp>
      <p:pic>
        <p:nvPicPr>
          <p:cNvPr id="33" name="Theme Background" descr="theme_bg.png"/>
          <p:cNvPicPr>
            <a:picLocks noChangeAspect="1"/>
          </p:cNvPicPr>
          <p:nvPr/>
        </p:nvPicPr>
        <p:blipFill>
          <a:blip r:embed="rId3">
            <a:alphaModFix amt="20000"/>
          </a:blip>
          <a:stretch>
            <a:fillRect/>
          </a:stretch>
        </p:blipFill>
        <p:spPr>
          <a:xfrm>
            <a:off x="0" y="0"/>
            <a:ext cx="12192000" cy="6858000"/>
          </a:xfrm>
          <a:prstGeom prst="rect">
            <a:avLst/>
          </a:prstGeom>
        </p:spPr>
      </p:pic>
      <p:sp>
        <p:nvSpPr>
          <p:cNvPr id="34" name="NobleProg Wordmark"/>
          <p:cNvSpPr txBox="1"/>
          <p:nvPr/>
        </p:nvSpPr>
        <p:spPr>
          <a:xfrm>
            <a:off x="9539139" y="6156593"/>
            <a:ext cx="1885453" cy="584775"/>
          </a:xfrm>
          <a:prstGeom prst="rect">
            <a:avLst/>
          </a:prstGeom>
          <a:noFill/>
        </p:spPr>
        <p:txBody>
          <a:bodyPr wrap="none">
            <a:spAutoFit/>
          </a:bodyPr>
          <a:lstStyle/>
          <a:p>
            <a:r>
              <a:rPr sz="3200" b="1" i="1">
                <a:solidFill>
                  <a:srgbClr val="006EBE"/>
                </a:solidFill>
                <a:latin typeface="Arial Narrow"/>
              </a:rPr>
              <a:t>NobleProg</a:t>
            </a:r>
          </a:p>
        </p:txBody>
      </p:sp>
      <p:sp>
        <p:nvSpPr>
          <p:cNvPr id="35" name="NobleProg Footer"/>
          <p:cNvSpPr txBox="1"/>
          <p:nvPr/>
        </p:nvSpPr>
        <p:spPr>
          <a:xfrm>
            <a:off x="5383410" y="6356350"/>
            <a:ext cx="1774012" cy="569387"/>
          </a:xfrm>
          <a:prstGeom prst="rect">
            <a:avLst/>
          </a:prstGeom>
          <a:noFill/>
        </p:spPr>
        <p:txBody>
          <a:bodyPr wrap="none">
            <a:spAutoFit/>
          </a:bodyPr>
          <a:lstStyle/>
          <a:p>
            <a:r>
              <a:rPr sz="1000" b="1">
                <a:solidFill>
                  <a:srgbClr val="414141"/>
                </a:solidFill>
                <a:latin typeface="Raleway"/>
              </a:rPr>
              <a:t>NobleProg® Limited 2017</a:t>
            </a:r>
          </a:p>
          <a:p>
            <a:r>
              <a:rPr sz="1000">
                <a:solidFill>
                  <a:srgbClr val="414141"/>
                </a:solidFill>
                <a:latin typeface="Raleway"/>
              </a:rPr>
              <a:t>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Axis Financial Services (fictional)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AxisPay Kubernetes Comprehensive — Day 4</dc:title>
  <dc:subject>Networking, Exposure and Placement</dc:subject>
  <dc:creator>AxisPay Curriculum Team</dc:creator>
  <cp:lastModifiedBy>AxisPay Curriculum Team</cp:lastModifiedBy>
  <cp:revision>1</cp:revision>
  <dcterms:created xsi:type="dcterms:W3CDTF">2026-08-14T23:12:07Z</dcterms:created>
  <dcterms:modified xsi:type="dcterms:W3CDTF">2026-08-14T23:12:07Z</dcterms:modified>
</cp:coreProperties>
</file>