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Open on the gap the students felt at the end of Day 2.
TIMING: 2 min
SPEAKER NOTES
Open by doing it, not describing it. Delete a payment-service pod, then try to fetch a payment created this morning. It is gone.\n\nThat fifteen-second demo sells the whole day. Everything today exists because a Python dictionary is not a system of record.
&gt;&gt; LIVE DEMO: kubectl delete pod -n axispay-core -l app.kubernetes.io/name=payment-service --wait=false, then curl for an earlier payment_id. 404.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Retrieval practice on the load-bearing Day 2 concepts.
TIMING: 20 min
SPEAKER NOTES
Question 3 matters most today — StatefulSet readiness probes check a real query, not just a port, and students who blurred liveness and readiness yesterday will struggle in L3.5.\n\nThen everyone runs `make validate-day2`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Derive today's agenda from yesterday's felt gaps.
TIMING: 5 min
SPEAKER NOTES
Row 5 is the callback that lands: several of them found the velocity bug themselves in L2.4's challenge, and today they fix it.\n\nRow 3 is the one to demo rather than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Separate configuration from the workload.
TIMING: 70 min
SPEAKER NOTES
Short module, but the env-vs-volume distinction causes real confusion later, so make it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Make the propagation difference concrete before students meet it in the lab.
TIMING: 8 min
SPEAKER NOTES
In L3.1 step 5 students patch the ConfigMap, wait twenty seconds, and find the env var unchanged. Several will assume something is broken. This slide is what stops that becoming twenty minutes of confusion.\n\nThe subPath exception in step 4 is worth stating explicitly — it is the single most common 'why is my mounted config not updating' question.
ASK THE ROOM: Which mode would you use for a database connection string, and which for a feature flag operations must toggle at 2am?
EXPECTED ANSWER: Connection string: env — it is read once when the pool is built, and changing it mid-flight would be worse than a restart. Feature flag: volume — you want it live without a rollout. The choice is about WHEN the value is read, not about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Show the snapshot behaviour before students hit it.
TIMING: 5 min
SPEAKER NOTES
Then show the fix: a checksum annotation on the pod template containing a hash of the ConfigMap. Any config change alters the template, which creates a new ReplicaSet, which rolls the pods.\n\nThat turns config changes into proper releases — visible in rollout history, and rollback-able. Helm does this for you on Day 5.
&gt;&gt; LIVE DEMO: Run it live. The twenty-second pause with nothing happening is the point — let it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Externalise configuration and prove both consumption modes.
TIMING: 40 minutes
SPEAKER NOTES
Step 5 is the one that matters. Do not let anyone skip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Teach Secrets without overclaiming.
TIMING: 75 min
SPEAKER NOTES
The single most important thing today: nobody leaves this room believing a Kubernetes Secret is encrypted. Overclaiming here is how people build insecure platforms while believing they are secure.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Kill the most dangerous misconception in Kubernetes security.
TIMING: 6 min
SPEAKER NOTES
Say this slowly and let it land. A large fraction of engineers using Kubernetes in production believe Secrets are encrypted.\n\nThen make it concrete: if someone takes a backup of etcd and encryption at rest is not configured, they have every credential in your cluster in plaintext. Ask how many of them know whether their production cluster has it enabled. Usually nobody does — which is the point.
ASK THE ROOM: So what IS the security boundary for a Secret?
EXPECTED ANSWER: RBAC — who is allowed to `get` the Secret object — plus encryption at rest so an etcd backup is not a credential dump. Both are Day 5. Today's improvement is real but modest: moving the JWT key from a plain env var into a Secret means someone now needs `get secrets` as well as `get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Give a concrete reason to prefer volumes, rather than a style rule.
TIMING: 7 min
SPEAKER NOTES
Point 2 is the one that surprises people. Error-tracking tools capturing the environment is an extremely common real-world credential leak, and it has nothing to do with Kubernetes — but the env-var pattern is what exposes you to it.\n\nIn L3.2 step 6 students run `mount | grep secrets` and see tmpfs. That is worth doing: it means a compromised node's disk does not contain the credential.
ASK THE ROOM: You mount a Secret as a volume. The pod is compromised. What has the attacker got?
EXPECTED ANSWER: That credential, from that file — the same as with an env var. A volume reduces the ways it leaks ACCIDENTALLY; it does not stop a deliberate attacker inside the container. Only short-lived, rotatable credentials from an external manager meaningfully limit that, which is why production platforms use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Teach Secrets with their limitations demonstrated rather than described.
TIMING: 40 minutes
SPEAKER NOTES
Challenge C1 — enumerate every way the password could leak — is the best discussion of the day. Aim for six or more: etcd without encryption, get secret, describe with a plain env var, a crash dump, a child process, kubectl exec, node compromise reading tmpfs, and a manifest committed to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Deliver the storage model that StatefulSets depend on.
TIMING: 95 min
SPEAKER NOTES
This is the module StatefulSets are impossible without, which is exactly why the source syllabus's ordering (StatefulSets on day one) does not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Correct a misconception that causes real production incidents.
TIMING: 6 min
SPEAKER NOTES
The existence of ReadWriteOncePod is the giveaway — it was added because so many people read ReadWriteOnce as 'one pod' and built on that assumption.\n\nThe practical consequence: if you need several pods writing to one volume, check whether your storage class can actually do RWX before you design around it. On most cloud block storage it cannot, and you will find out via a Pending PVC with a terse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Teach a setting by the incident it prevents rather than by its definition.
TIMING: 8 min
SPEAKER NOTES
Students see a Pending PVC in L3.4 step 3 and several will think it is broken. This slide is what makes them read the event rather than panic.\n\nChallenge C1 has them deliberately construct the Immediate-binding failure and capture the error. Doing it once means they recognise 'volume node affinity conflict' instantly for the rest of their careers.
ASK THE ROOM: Your PVC has been Pending for five minutes. Broken or working as intended?
EXPECTED ANSWER: Read the event. 'waiting for first consumer to be created before binding' is WaitForFirstConsumer working correctly — create a pod. 'storageclass not found' or 'no persistent volumes available' is genuinely broken. The status is identical; the event is everything. That distinction is INC-3.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Build both static and dynamic storage.
TIMING: 65 minutes
SPEAKER NOTES
Emphasise the reclaim policy discussion. Retain versus Delete is a decision a platform team makes ONCE in the StorageClass, and it is the difference between a recoverable mistake and a destroyed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Give the platform a system of record.
TIMING: 110 min
SPEAKER NOTES
The biggest block of the day. The payoff is a database students can actually query with 5,000 of their own transactions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Justify StatefulSets from a failure students produce themselves.
TIMING: 9 min
SPEAKER NOTES
Do not just assert this. In L3.6 step 1 they create bad-postgres as a Deployment with two replicas and an emptyDir, insert a row, delete the pod, and find a new name and no data.\n\nThen ask the three questions on the slide: which one is the primary, how do you address one specific replica, what happened to the data. Nobody can answer them for a Deployment, and that is the point.\n\nAlso flag: the PVCs are NOT deleted when a StatefulSet is deleted. Deliberate — deleting a workload must never silently destroy its data.
ASK THE ROOM: You scale postgres to 3 replicas. Do you now have a PostgreSQL cluster?
EXPECTED ANSWER: No. You have three independent empty databases that happen to share a name prefix. Kubernetes gives identity, storage and ordering — it knows nothing about replication, leader election or WAL shipping. A real cluster needs an Operator that understands PostgreSQL. This is challenge C1 and it is the most important misconception to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Show that the seeded data is real, not decorative.
TIMING: 7 min
SPEAKER NOTES
Two things worth pausing on.\n\nFirst, the constraint is in the SCHEMA, not in the application. Several services write to this table; enforcing the invariant in code means enforcing it in several places and hoping. Enforcing it in the database means an unbalanced row cannot exist, whoever writes it.\n\nSecond, this is why money is an integer in minor units. Floating point cannot represent 0.1 exactly; across ten thousand entries that is not a rounding curiosity, it is an audit finding.
&gt;&gt; LIVE DEMO: Run it live against the students' own databases. They will get identical numbers — the generator is deterministic, which is deliberate so a lab can say 'you should see exactly this'.
ASK THE ROOM: Why enforce amount = fee + net in the database rather than in payment-service?
EXPECTED ANSWER: Because payment-service is not the only writer — settlement, recon and any future service touch this data, plus a human with psql during an incident. A CHECK constraint holds for all of them. Application-level validation only holds for the applications that remember to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Build the system of record.
TIMING: 110 minutes
SPEAKER NOTES
L3.6 step 5 — the node-local storage trap — is scripted and expected. Students cordon the node, delete the pod, and get 'volume node affinity conflict'. Do NOT rescue them quickly; the failure IS the lesson, and Kubernetes refusing to start the database somewhere its data is not is the CORRECT behaviour.
WARNING: L3.5 seeding takes 30-60 seconds and pipes ~28,000 statements. If a student's psql fails midway, re-run with --regenerate rather than debugging partial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Harden every workload before Day 5 makes it mandatory.
TIMING: 55 min
SPEAKER NOTES
Short module; the lab is independent. The key idea is defence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Pre-empt the seven errors students are about to make today.
TIMING: 6 min
SPEAKER NOTES
Row 1 and row 2 are the two that will actually bite them in L3.5, within the hour. Row 2 in particular — fsGroup — is the single most common cause of a failed first StatefulSet, and the error message points at a directory that looks perfectly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Harden the platform independently.
TIMING: 30 minutes
SPEAKER NOTES
Task 5 — the table of what each control prevents — is the debrief question. Make them write it in their own words rather than copying the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Run the third incident, with prioritisation as the graded skill.
TIMING: 35 min triage + 10 min debrief
SPEAKER NOTES
Inject with `make incident N=3` during the break, before this slide.\n\nThe trap: almost everyone fixes the LOUD fault first because it looks worse. Let them. In the debrief ask what a merchant experienced during the extra four minutes.\n\nThe correct order is the quiet one first — ledger-service is on the payment path, so while it is unready payments fail outright. And it is a one-line fix. Fix the cheap thing on the customer path first, then the expensive one.
ASK THE ROOM: DEBRIEF — why was fault B silent when it was applied?
EXPECTED ANSWER: A ConfigMap has no schema. Kubernetes cannot know which keys an application reads, so renaming one produces a perfectly valid object that happens to break a consumer. Nothing could have errored at apply time. What made it VISIBLE was the readiness probe they wrote yesterday — without it the pod would have stayed in the Service and silently failed every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Formative check across Day 3.
TIMING: 15 min
SPEAKER NOTES
Questions 2 and 6 are the load-bearing ones. If a third of the room gets 2 wrong, re-teach it — believing Secrets are encrypted is actively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Consolidate and hand over to Day 4.
TIMING: 3 min
SPEAKER NOTES
Have them run the ledger balance query one more time and look at it. On day three of a Kubernetes course they have a payments database with a double-entry ledger that balances. That is worth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Create demand for Day 4.
TIMING: 4 min
SPEAKER NOTES
Row 3 is the one to dwell on. Have someone exec into an edge-gateway pod and connect to postgres directly. It works — and in a PCI audit that single fact would put the DMZ inside the cardholder data environment.\n\nThat demo takes thirty seconds and it sells Thursday completely.
TRANSITION: Assessment now — ten items, fifteen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rot="1080000">
            <a:off x="7711135" y="-1463040"/>
            <a:ext cx="5852160" cy="5852160"/>
          </a:xfrm>
          <a:prstGeom prst="roundRect">
            <a:avLst>
              <a:gd name="adj" fmla="val 15625"/>
            </a:avLst>
          </a:prstGeom>
          <a:solidFill>
            <a:srgbClr val="12314F"/>
          </a:solidFill>
          <a:ln w="12700">
            <a:solidFill>
              <a:srgbClr val="12314F"/>
            </a:solidFill>
            <a:prstDash val="solid"/>
          </a:ln>
        </p:spPr>
      </p:sp>
      <p:sp>
        <p:nvSpPr>
          <p:cNvPr id="3" name="Shape 1"/>
          <p:cNvSpPr/>
          <p:nvPr/>
        </p:nvSpPr>
        <p:spPr>
          <a:xfrm>
            <a:off x="9357055" y="4114800"/>
            <a:ext cx="2011680" cy="2011680"/>
          </a:xfrm>
          <a:prstGeom prst="ellipse">
            <a:avLst/>
          </a:prstGeom>
          <a:solidFill>
            <a:srgbClr val="1C7293">
              <a:alpha val="45000"/>
            </a:srgbClr>
          </a:solidFill>
          <a:ln w="12700">
            <a:solidFill>
              <a:srgbClr val="1C7293">
                <a:alpha val="60000"/>
              </a:srgbClr>
            </a:solidFill>
            <a:prstDash val="solid"/>
          </a:ln>
        </p:spPr>
      </p:sp>
      <p:sp>
        <p:nvSpPr>
          <p:cNvPr id="4" name="Text 2"/>
          <p:cNvSpPr/>
          <p:nvPr/>
        </p:nvSpPr>
        <p:spPr>
          <a:xfrm>
            <a:off x="566928" y="1234440"/>
            <a:ext cx="7680960" cy="365760"/>
          </a:xfrm>
          <a:prstGeom prst="rect">
            <a:avLst/>
          </a:prstGeom>
          <a:noFill/>
          <a:ln/>
        </p:spPr>
        <p:txBody>
          <a:bodyPr wrap="square" lIns="0" tIns="0" rIns="0" bIns="0" rtlCol="0" anchor="ctr"/>
          <a:lstStyle/>
          <a:p>
            <a:pPr indent="0" marL="0">
              <a:buNone/>
            </a:pPr>
            <a:r>
              <a:rPr lang="en-US" sz="1400" b="1" spc="200" kern="0" dirty="0">
                <a:solidFill>
                  <a:srgbClr val="F2A03D"/>
                </a:solidFill>
                <a:latin typeface="Calibri" pitchFamily="34" charset="0"/>
                <a:ea typeface="Calibri" pitchFamily="34" charset="-122"/>
                <a:cs typeface="Calibri" pitchFamily="34" charset="-120"/>
              </a:rPr>
              <a:t>KUBERNETES COMPREHENSIVE · AXP-K8S-5D</a:t>
            </a:r>
            <a:endParaRPr lang="en-US" sz="1400" dirty="0"/>
          </a:p>
        </p:txBody>
      </p:sp>
      <p:sp>
        <p:nvSpPr>
          <p:cNvPr id="5" name="Text 3"/>
          <p:cNvSpPr/>
          <p:nvPr/>
        </p:nvSpPr>
        <p:spPr>
          <a:xfrm>
            <a:off x="566928" y="1737360"/>
            <a:ext cx="7680960" cy="1737360"/>
          </a:xfrm>
          <a:prstGeom prst="rect">
            <a:avLst/>
          </a:prstGeom>
          <a:noFill/>
          <a:ln/>
        </p:spPr>
        <p:txBody>
          <a:bodyPr wrap="square" lIns="0" tIns="0" rIns="0" bIns="0" rtlCol="0" anchor="ctr"/>
          <a:lstStyle/>
          <a:p>
            <a:pPr indent="0" marL="0">
              <a:lnSpc>
                <a:spcPts val="5000"/>
              </a:lnSpc>
              <a:buNone/>
            </a:pPr>
            <a:r>
              <a:rPr lang="en-US" sz="5000" b="1" dirty="0">
                <a:solidFill>
                  <a:srgbClr val="FFFFFF"/>
                </a:solidFill>
                <a:latin typeface="Cambria" pitchFamily="34" charset="0"/>
                <a:ea typeface="Cambria" pitchFamily="34" charset="-122"/>
                <a:cs typeface="Cambria" pitchFamily="34" charset="-120"/>
              </a:rPr>
              <a:t>Day 3</a:t>
            </a:r>
            <a:endParaRPr lang="en-US" sz="5000" dirty="0"/>
          </a:p>
          <a:p>
            <a:pPr indent="0" marL="0">
              <a:lnSpc>
                <a:spcPts val="5000"/>
              </a:lnSpc>
              <a:buNone/>
            </a:pPr>
            <a:r>
              <a:rPr lang="en-US" sz="5000" b="1" dirty="0">
                <a:solidFill>
                  <a:srgbClr val="FFFFFF"/>
                </a:solidFill>
                <a:latin typeface="Cambria" pitchFamily="34" charset="0"/>
                <a:ea typeface="Cambria" pitchFamily="34" charset="-122"/>
                <a:cs typeface="Cambria" pitchFamily="34" charset="-120"/>
              </a:rPr>
              <a:t>State, Configuration &amp; Data</a:t>
            </a:r>
            <a:endParaRPr lang="en-US" sz="5000" dirty="0"/>
          </a:p>
        </p:txBody>
      </p:sp>
      <p:sp>
        <p:nvSpPr>
          <p:cNvPr id="6" name="Text 4"/>
          <p:cNvSpPr/>
          <p:nvPr/>
        </p:nvSpPr>
        <p:spPr>
          <a:xfrm>
            <a:off x="566928" y="3520440"/>
            <a:ext cx="7315200" cy="868680"/>
          </a:xfrm>
          <a:prstGeom prst="rect">
            <a:avLst/>
          </a:prstGeom>
          <a:noFill/>
          <a:ln/>
        </p:spPr>
        <p:txBody>
          <a:bodyPr wrap="square" lIns="0" tIns="0" rIns="0" bIns="0" rtlCol="0" anchor="ctr"/>
          <a:lstStyle/>
          <a:p>
            <a:pPr indent="0" marL="0">
              <a:buNone/>
            </a:pPr>
            <a:r>
              <a:rPr lang="en-US" sz="1700" dirty="0">
                <a:solidFill>
                  <a:srgbClr val="D8E6F2"/>
                </a:solidFill>
                <a:latin typeface="Calibri" pitchFamily="34" charset="0"/>
                <a:ea typeface="Calibri" pitchFamily="34" charset="-122"/>
                <a:cs typeface="Calibri" pitchFamily="34" charset="-120"/>
              </a:rPr>
              <a:t>Give it a memory. By 17:00 the platform has a real database with 5,000 transactions, a ledger that balances to zero, and every credential out of your manifests.</a:t>
            </a:r>
            <a:endParaRPr lang="en-US" sz="1700" dirty="0"/>
          </a:p>
        </p:txBody>
      </p:sp>
      <p:sp>
        <p:nvSpPr>
          <p:cNvPr id="7" name="Shape 5"/>
          <p:cNvSpPr/>
          <p:nvPr/>
        </p:nvSpPr>
        <p:spPr>
          <a:xfrm>
            <a:off x="566928" y="4709160"/>
            <a:ext cx="2148840" cy="749808"/>
          </a:xfrm>
          <a:prstGeom prst="roundRect">
            <a:avLst>
              <a:gd name="adj" fmla="val 12195"/>
            </a:avLst>
          </a:prstGeom>
          <a:solidFill>
            <a:srgbClr val="12314F"/>
          </a:solidFill>
          <a:ln w="12700">
            <a:solidFill>
              <a:srgbClr val="1B4066"/>
            </a:solidFill>
            <a:prstDash val="solid"/>
          </a:ln>
        </p:spPr>
      </p:sp>
      <p:sp>
        <p:nvSpPr>
          <p:cNvPr id="8" name="Text 6"/>
          <p:cNvSpPr/>
          <p:nvPr/>
        </p:nvSpPr>
        <p:spPr>
          <a:xfrm>
            <a:off x="566928" y="4773168"/>
            <a:ext cx="2148840" cy="274320"/>
          </a:xfrm>
          <a:prstGeom prst="rect">
            <a:avLst/>
          </a:prstGeom>
          <a:noFill/>
          <a:ln/>
        </p:spPr>
        <p:txBody>
          <a:bodyPr wrap="square" lIns="0" tIns="0" rIns="0" bIns="0" rtlCol="0" anchor="ctr"/>
          <a:lstStyle/>
          <a:p>
            <a:pPr algn="ctr" indent="0" marL="0">
              <a:buNone/>
            </a:pPr>
            <a:r>
              <a:rPr lang="en-US" sz="900" b="1" spc="100" kern="0" dirty="0">
                <a:solidFill>
                  <a:srgbClr val="F2A03D"/>
                </a:solidFill>
                <a:latin typeface="Calibri" pitchFamily="34" charset="0"/>
                <a:ea typeface="Calibri" pitchFamily="34" charset="-122"/>
                <a:cs typeface="Calibri" pitchFamily="34" charset="-120"/>
              </a:rPr>
              <a:t>DURATION</a:t>
            </a:r>
            <a:endParaRPr lang="en-US" sz="900" dirty="0"/>
          </a:p>
        </p:txBody>
      </p:sp>
      <p:sp>
        <p:nvSpPr>
          <p:cNvPr id="9" name="Text 7"/>
          <p:cNvSpPr/>
          <p:nvPr/>
        </p:nvSpPr>
        <p:spPr>
          <a:xfrm>
            <a:off x="566928" y="5029200"/>
            <a:ext cx="21488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 hours</a:t>
            </a:r>
            <a:endParaRPr lang="en-US" sz="1300" dirty="0"/>
          </a:p>
        </p:txBody>
      </p:sp>
      <p:sp>
        <p:nvSpPr>
          <p:cNvPr id="10" name="Shape 8"/>
          <p:cNvSpPr/>
          <p:nvPr/>
        </p:nvSpPr>
        <p:spPr>
          <a:xfrm>
            <a:off x="2898648" y="4709160"/>
            <a:ext cx="2148840" cy="749808"/>
          </a:xfrm>
          <a:prstGeom prst="roundRect">
            <a:avLst>
              <a:gd name="adj" fmla="val 12195"/>
            </a:avLst>
          </a:prstGeom>
          <a:solidFill>
            <a:srgbClr val="12314F"/>
          </a:solidFill>
          <a:ln w="12700">
            <a:solidFill>
              <a:srgbClr val="1B4066"/>
            </a:solidFill>
            <a:prstDash val="solid"/>
          </a:ln>
        </p:spPr>
      </p:sp>
      <p:sp>
        <p:nvSpPr>
          <p:cNvPr id="11" name="Text 9"/>
          <p:cNvSpPr/>
          <p:nvPr/>
        </p:nvSpPr>
        <p:spPr>
          <a:xfrm>
            <a:off x="2898648" y="4773168"/>
            <a:ext cx="2148840" cy="274320"/>
          </a:xfrm>
          <a:prstGeom prst="rect">
            <a:avLst/>
          </a:prstGeom>
          <a:noFill/>
          <a:ln/>
        </p:spPr>
        <p:txBody>
          <a:bodyPr wrap="square" lIns="0" tIns="0" rIns="0" bIns="0" rtlCol="0" anchor="ctr"/>
          <a:lstStyle/>
          <a:p>
            <a:pPr algn="ctr" indent="0" marL="0">
              <a:buNone/>
            </a:pPr>
            <a:r>
              <a:rPr lang="en-US" sz="900" b="1" spc="100" kern="0" dirty="0">
                <a:solidFill>
                  <a:srgbClr val="F2A03D"/>
                </a:solidFill>
                <a:latin typeface="Calibri" pitchFamily="34" charset="0"/>
                <a:ea typeface="Calibri" pitchFamily="34" charset="-122"/>
                <a:cs typeface="Calibri" pitchFamily="34" charset="-120"/>
              </a:rPr>
              <a:t>THEORY</a:t>
            </a:r>
            <a:endParaRPr lang="en-US" sz="900" dirty="0"/>
          </a:p>
        </p:txBody>
      </p:sp>
      <p:sp>
        <p:nvSpPr>
          <p:cNvPr id="12" name="Text 10"/>
          <p:cNvSpPr/>
          <p:nvPr/>
        </p:nvSpPr>
        <p:spPr>
          <a:xfrm>
            <a:off x="2898648" y="5029200"/>
            <a:ext cx="21488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240 min</a:t>
            </a:r>
            <a:endParaRPr lang="en-US" sz="1300" dirty="0"/>
          </a:p>
        </p:txBody>
      </p:sp>
      <p:sp>
        <p:nvSpPr>
          <p:cNvPr id="13" name="Shape 11"/>
          <p:cNvSpPr/>
          <p:nvPr/>
        </p:nvSpPr>
        <p:spPr>
          <a:xfrm>
            <a:off x="5230368" y="4709160"/>
            <a:ext cx="2148840" cy="749808"/>
          </a:xfrm>
          <a:prstGeom prst="roundRect">
            <a:avLst>
              <a:gd name="adj" fmla="val 12195"/>
            </a:avLst>
          </a:prstGeom>
          <a:solidFill>
            <a:srgbClr val="12314F"/>
          </a:solidFill>
          <a:ln w="12700">
            <a:solidFill>
              <a:srgbClr val="1B4066"/>
            </a:solidFill>
            <a:prstDash val="solid"/>
          </a:ln>
        </p:spPr>
      </p:sp>
      <p:sp>
        <p:nvSpPr>
          <p:cNvPr id="14" name="Text 12"/>
          <p:cNvSpPr/>
          <p:nvPr/>
        </p:nvSpPr>
        <p:spPr>
          <a:xfrm>
            <a:off x="5230368" y="4773168"/>
            <a:ext cx="2148840" cy="274320"/>
          </a:xfrm>
          <a:prstGeom prst="rect">
            <a:avLst/>
          </a:prstGeom>
          <a:noFill/>
          <a:ln/>
        </p:spPr>
        <p:txBody>
          <a:bodyPr wrap="square" lIns="0" tIns="0" rIns="0" bIns="0" rtlCol="0" anchor="ctr"/>
          <a:lstStyle/>
          <a:p>
            <a:pPr algn="ctr" indent="0" marL="0">
              <a:buNone/>
            </a:pPr>
            <a:r>
              <a:rPr lang="en-US" sz="900" b="1" spc="100" kern="0" dirty="0">
                <a:solidFill>
                  <a:srgbClr val="F2A03D"/>
                </a:solidFill>
                <a:latin typeface="Calibri" pitchFamily="34" charset="0"/>
                <a:ea typeface="Calibri" pitchFamily="34" charset="-122"/>
                <a:cs typeface="Calibri" pitchFamily="34" charset="-120"/>
              </a:rPr>
              <a:t>HANDS-ON</a:t>
            </a:r>
            <a:endParaRPr lang="en-US" sz="900" dirty="0"/>
          </a:p>
        </p:txBody>
      </p:sp>
      <p:sp>
        <p:nvSpPr>
          <p:cNvPr id="15" name="Text 13"/>
          <p:cNvSpPr/>
          <p:nvPr/>
        </p:nvSpPr>
        <p:spPr>
          <a:xfrm>
            <a:off x="5230368" y="5029200"/>
            <a:ext cx="21488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345 min</a:t>
            </a:r>
            <a:endParaRPr lang="en-US" sz="1300" dirty="0"/>
          </a:p>
        </p:txBody>
      </p:sp>
      <p:sp>
        <p:nvSpPr>
          <p:cNvPr id="16" name="Shape 14"/>
          <p:cNvSpPr/>
          <p:nvPr/>
        </p:nvSpPr>
        <p:spPr>
          <a:xfrm>
            <a:off x="7562088" y="4709160"/>
            <a:ext cx="2148840" cy="749808"/>
          </a:xfrm>
          <a:prstGeom prst="roundRect">
            <a:avLst>
              <a:gd name="adj" fmla="val 12195"/>
            </a:avLst>
          </a:prstGeom>
          <a:solidFill>
            <a:srgbClr val="12314F"/>
          </a:solidFill>
          <a:ln w="12700">
            <a:solidFill>
              <a:srgbClr val="1B4066"/>
            </a:solidFill>
            <a:prstDash val="solid"/>
          </a:ln>
        </p:spPr>
      </p:sp>
      <p:sp>
        <p:nvSpPr>
          <p:cNvPr id="17" name="Text 15"/>
          <p:cNvSpPr/>
          <p:nvPr/>
        </p:nvSpPr>
        <p:spPr>
          <a:xfrm>
            <a:off x="7562088" y="4773168"/>
            <a:ext cx="2148840" cy="274320"/>
          </a:xfrm>
          <a:prstGeom prst="rect">
            <a:avLst/>
          </a:prstGeom>
          <a:noFill/>
          <a:ln/>
        </p:spPr>
        <p:txBody>
          <a:bodyPr wrap="square" lIns="0" tIns="0" rIns="0" bIns="0" rtlCol="0" anchor="ctr"/>
          <a:lstStyle/>
          <a:p>
            <a:pPr algn="ctr" indent="0" marL="0">
              <a:buNone/>
            </a:pPr>
            <a:r>
              <a:rPr lang="en-US" sz="900" b="1" spc="100" kern="0" dirty="0">
                <a:solidFill>
                  <a:srgbClr val="F2A03D"/>
                </a:solidFill>
                <a:latin typeface="Calibri" pitchFamily="34" charset="0"/>
                <a:ea typeface="Calibri" pitchFamily="34" charset="-122"/>
                <a:cs typeface="Calibri" pitchFamily="34" charset="-120"/>
              </a:rPr>
              <a:t>LABS</a:t>
            </a:r>
            <a:endParaRPr lang="en-US" sz="900" dirty="0"/>
          </a:p>
        </p:txBody>
      </p:sp>
      <p:sp>
        <p:nvSpPr>
          <p:cNvPr id="18" name="Text 16"/>
          <p:cNvSpPr/>
          <p:nvPr/>
        </p:nvSpPr>
        <p:spPr>
          <a:xfrm>
            <a:off x="7562088" y="5029200"/>
            <a:ext cx="21488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 + 1 incident</a:t>
            </a:r>
            <a:endParaRPr lang="en-US" sz="1300" dirty="0"/>
          </a:p>
        </p:txBody>
      </p:sp>
      <p:sp>
        <p:nvSpPr>
          <p:cNvPr id="19" name="Text 17"/>
          <p:cNvSpPr/>
          <p:nvPr/>
        </p:nvSpPr>
        <p:spPr>
          <a:xfrm>
            <a:off x="566928" y="5943600"/>
            <a:ext cx="8229600" cy="274320"/>
          </a:xfrm>
          <a:prstGeom prst="rect">
            <a:avLst/>
          </a:prstGeom>
          <a:noFill/>
          <a:ln/>
        </p:spPr>
        <p:txBody>
          <a:bodyPr wrap="square" lIns="0" tIns="0" rIns="0" bIns="0" rtlCol="0" anchor="ctr"/>
          <a:lstStyle/>
          <a:p>
            <a:pPr indent="0" marL="0">
              <a:buNone/>
            </a:pPr>
            <a:r>
              <a:rPr lang="en-US" sz="1000" dirty="0">
                <a:solidFill>
                  <a:srgbClr val="63758B"/>
                </a:solidFill>
                <a:latin typeface="Calibri" pitchFamily="34" charset="0"/>
                <a:ea typeface="Calibri" pitchFamily="34" charset="-122"/>
                <a:cs typeface="Calibri" pitchFamily="34" charset="-120"/>
              </a:rPr>
              <a:t>Everything you processed yesterday vanished when a pod restarted. Today that stops.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751076" cy="292608"/>
          </a:xfrm>
          <a:prstGeom prst="roundRect">
            <a:avLst>
              <a:gd name="adj" fmla="val 50000"/>
            </a:avLst>
          </a:prstGeom>
          <a:solidFill>
            <a:srgbClr val="C97B1E"/>
          </a:solidFill>
          <a:ln w="12700">
            <a:solidFill>
              <a:srgbClr val="C97B1E"/>
            </a:solidFill>
            <a:prstDash val="solid"/>
          </a:ln>
        </p:spPr>
      </p:sp>
      <p:sp>
        <p:nvSpPr>
          <p:cNvPr id="3" name="Text 1"/>
          <p:cNvSpPr/>
          <p:nvPr/>
        </p:nvSpPr>
        <p:spPr>
          <a:xfrm>
            <a:off x="566928" y="384048"/>
            <a:ext cx="1751076"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MORNING RECAP</a:t>
            </a:r>
            <a:endParaRPr lang="en-US" sz="1100" dirty="0"/>
          </a:p>
        </p:txBody>
      </p:sp>
      <p:sp>
        <p:nvSpPr>
          <p:cNvPr id="4" name="Shape 2"/>
          <p:cNvSpPr/>
          <p:nvPr/>
        </p:nvSpPr>
        <p:spPr>
          <a:xfrm>
            <a:off x="566928" y="1143000"/>
            <a:ext cx="11057839" cy="2286000"/>
          </a:xfrm>
          <a:prstGeom prst="roundRect">
            <a:avLst>
              <a:gd name="adj" fmla="val 4800"/>
            </a:avLst>
          </a:prstGeom>
          <a:solidFill>
            <a:srgbClr val="12314F"/>
          </a:solidFill>
          <a:ln w="12700">
            <a:solidFill>
              <a:srgbClr val="F2A03D"/>
            </a:solidFill>
            <a:prstDash val="solid"/>
          </a:ln>
        </p:spPr>
      </p:sp>
      <p:sp>
        <p:nvSpPr>
          <p:cNvPr id="5" name="Text 3"/>
          <p:cNvSpPr/>
          <p:nvPr/>
        </p:nvSpPr>
        <p:spPr>
          <a:xfrm>
            <a:off x="841248" y="1143000"/>
            <a:ext cx="914400" cy="2286000"/>
          </a:xfrm>
          <a:prstGeom prst="rect">
            <a:avLst/>
          </a:prstGeom>
          <a:noFill/>
          <a:ln/>
        </p:spPr>
        <p:txBody>
          <a:bodyPr wrap="square" lIns="0" tIns="0" rIns="0" bIns="0" rtlCol="0" anchor="ctr"/>
          <a:lstStyle/>
          <a:p>
            <a:pPr algn="ctr" indent="0" marL="0">
              <a:buNone/>
            </a:pPr>
            <a:r>
              <a:rPr lang="en-US" sz="7400" b="1" dirty="0">
                <a:solidFill>
                  <a:srgbClr val="F2A03D"/>
                </a:solidFill>
                <a:latin typeface="Cambria" pitchFamily="34" charset="0"/>
                <a:ea typeface="Cambria" pitchFamily="34" charset="-122"/>
                <a:cs typeface="Cambria" pitchFamily="34" charset="-120"/>
              </a:rPr>
              <a:t>?</a:t>
            </a:r>
            <a:endParaRPr lang="en-US" sz="7400" dirty="0"/>
          </a:p>
        </p:txBody>
      </p:sp>
      <p:sp>
        <p:nvSpPr>
          <p:cNvPr id="6" name="Text 4"/>
          <p:cNvSpPr/>
          <p:nvPr/>
        </p:nvSpPr>
        <p:spPr>
          <a:xfrm>
            <a:off x="1892808" y="1143000"/>
            <a:ext cx="9320479" cy="2286000"/>
          </a:xfrm>
          <a:prstGeom prst="rect">
            <a:avLst/>
          </a:prstGeom>
          <a:noFill/>
          <a:ln/>
        </p:spPr>
        <p:txBody>
          <a:bodyPr wrap="square" lIns="0" tIns="0" rIns="0" bIns="0" rtlCol="0" anchor="ctr"/>
          <a:lstStyle/>
          <a:p>
            <a:pPr indent="0" marL="0">
              <a:lnSpc>
                <a:spcPts val="3200"/>
              </a:lnSpc>
              <a:buNone/>
            </a:pPr>
            <a:r>
              <a:rPr lang="en-US" sz="2500" b="1" dirty="0">
                <a:solidFill>
                  <a:srgbClr val="FFFFFF"/>
                </a:solidFill>
                <a:latin typeface="Cambria" pitchFamily="34" charset="0"/>
                <a:ea typeface="Cambria" pitchFamily="34" charset="-122"/>
                <a:cs typeface="Cambria" pitchFamily="34" charset="-120"/>
              </a:rPr>
              <a:t>Five from yesterday. Answer out loud.</a:t>
            </a:r>
            <a:endParaRPr lang="en-US" sz="2500" dirty="0"/>
          </a:p>
        </p:txBody>
      </p:sp>
      <p:sp>
        <p:nvSpPr>
          <p:cNvPr id="7" name="Text 5"/>
          <p:cNvSpPr/>
          <p:nvPr/>
        </p:nvSpPr>
        <p:spPr>
          <a:xfrm>
            <a:off x="566928" y="3630168"/>
            <a:ext cx="6400800" cy="274320"/>
          </a:xfrm>
          <a:prstGeom prst="rect">
            <a:avLst/>
          </a:prstGeom>
          <a:noFill/>
          <a:ln/>
        </p:spPr>
        <p:txBody>
          <a:bodyPr wrap="square" lIns="0" tIns="0" rIns="0" bIns="0" rtlCol="0" anchor="ctr"/>
          <a:lstStyle/>
          <a:p>
            <a:pPr indent="0" marL="0">
              <a:buNone/>
            </a:pPr>
            <a:r>
              <a:rPr lang="en-US" sz="1100" b="1" spc="100" kern="0" dirty="0">
                <a:solidFill>
                  <a:srgbClr val="F2A03D"/>
                </a:solidFill>
                <a:latin typeface="Calibri" pitchFamily="34" charset="0"/>
                <a:ea typeface="Calibri" pitchFamily="34" charset="-122"/>
                <a:cs typeface="Calibri" pitchFamily="34" charset="-120"/>
              </a:rPr>
              <a:t>Answers</a:t>
            </a:r>
            <a:endParaRPr lang="en-US" sz="1100" dirty="0"/>
          </a:p>
        </p:txBody>
      </p:sp>
      <p:sp>
        <p:nvSpPr>
          <p:cNvPr id="8" name="Text 6"/>
          <p:cNvSpPr/>
          <p:nvPr/>
        </p:nvSpPr>
        <p:spPr>
          <a:xfrm>
            <a:off x="640080" y="3922776"/>
            <a:ext cx="10966399" cy="2450592"/>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D8E6F2"/>
                </a:solidFill>
                <a:latin typeface="Calibri" pitchFamily="34" charset="0"/>
                <a:ea typeface="Calibri" pitchFamily="34" charset="-122"/>
                <a:cs typeface="Calibri" pitchFamily="34" charset="-120"/>
              </a:rPr>
              <a:t>Which does the scheduler use — requests or limits?  →  requests only</a:t>
            </a:r>
            <a:endParaRPr lang="en-US" sz="1350" dirty="0"/>
          </a:p>
          <a:p>
            <a:pPr marL="342900" indent="-342900">
              <a:spcAft>
                <a:spcPts val="700"/>
              </a:spcAft>
              <a:buSzPct val="100000"/>
              <a:buChar char="•"/>
            </a:pPr>
            <a:r>
              <a:rPr lang="en-US" sz="1350" dirty="0">
                <a:solidFill>
                  <a:srgbClr val="D8E6F2"/>
                </a:solidFill>
                <a:latin typeface="Calibri" pitchFamily="34" charset="0"/>
                <a:ea typeface="Calibri" pitchFamily="34" charset="-122"/>
                <a:cs typeface="Calibri" pitchFamily="34" charset="-120"/>
              </a:rPr>
              <a:t>CPU over limit vs memory over limit?  →  throttled (silent) vs OOMKilled (137)</a:t>
            </a:r>
            <a:endParaRPr lang="en-US" sz="1350" dirty="0"/>
          </a:p>
          <a:p>
            <a:pPr marL="342900" indent="-342900">
              <a:spcAft>
                <a:spcPts val="700"/>
              </a:spcAft>
              <a:buSzPct val="100000"/>
              <a:buChar char="•"/>
            </a:pPr>
            <a:r>
              <a:rPr lang="en-US" sz="1350" dirty="0">
                <a:solidFill>
                  <a:srgbClr val="D8E6F2"/>
                </a:solidFill>
                <a:latin typeface="Calibri" pitchFamily="34" charset="0"/>
                <a:ea typeface="Calibri" pitchFamily="34" charset="-122"/>
                <a:cs typeface="Calibri" pitchFamily="34" charset="-120"/>
              </a:rPr>
              <a:t>Which probe restarts the container?  →  liveness. Readiness only removes it from endpoints.</a:t>
            </a:r>
            <a:endParaRPr lang="en-US" sz="1350" dirty="0"/>
          </a:p>
          <a:p>
            <a:pPr marL="342900" indent="-342900">
              <a:spcAft>
                <a:spcPts val="700"/>
              </a:spcAft>
              <a:buSzPct val="100000"/>
              <a:buChar char="•"/>
            </a:pPr>
            <a:r>
              <a:rPr lang="en-US" sz="1350" dirty="0">
                <a:solidFill>
                  <a:srgbClr val="D8E6F2"/>
                </a:solidFill>
                <a:latin typeface="Calibri" pitchFamily="34" charset="0"/>
                <a:ea typeface="Calibri" pitchFamily="34" charset="-122"/>
                <a:cs typeface="Calibri" pitchFamily="34" charset="-120"/>
              </a:rPr>
              <a:t>HPA shows TARGETS &lt;unknown&gt;. Why?  →  no CPU request, so no denominator</a:t>
            </a:r>
            <a:endParaRPr lang="en-US" sz="1350" dirty="0"/>
          </a:p>
          <a:p>
            <a:pPr marL="342900" indent="-342900">
              <a:spcAft>
                <a:spcPts val="700"/>
              </a:spcAft>
              <a:buSzPct val="100000"/>
              <a:buChar char="•"/>
            </a:pPr>
            <a:r>
              <a:rPr lang="en-US" sz="1350" dirty="0">
                <a:solidFill>
                  <a:srgbClr val="D8E6F2"/>
                </a:solidFill>
                <a:latin typeface="Calibri" pitchFamily="34" charset="0"/>
                <a:ea typeface="Calibri" pitchFamily="34" charset="-122"/>
                <a:cs typeface="Calibri" pitchFamily="34" charset="-120"/>
              </a:rPr>
              <a:t>What makes a rolling update zero-downtime?  →  readiness probe + maxUnavailable: 0</a:t>
            </a:r>
            <a:endParaRPr lang="en-US" sz="1350" dirty="0"/>
          </a:p>
        </p:txBody>
      </p:sp>
      <p:sp>
        <p:nvSpPr>
          <p:cNvPr id="9" name="Text 7"/>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10" name="Text 8"/>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1005840"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10058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TODAY</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What is missing, and what it costs</a:t>
            </a:r>
            <a:endParaRPr lang="en-US" sz="3200" dirty="0"/>
          </a:p>
        </p:txBody>
      </p:sp>
      <p:sp>
        <p:nvSpPr>
          <p:cNvPr id="5" name="Text 3"/>
          <p:cNvSpPr/>
          <p:nvPr/>
        </p:nvSpPr>
        <p:spPr>
          <a:xfrm>
            <a:off x="566928" y="1737360"/>
            <a:ext cx="11057839" cy="384048"/>
          </a:xfrm>
          <a:prstGeom prst="rect">
            <a:avLst/>
          </a:prstGeom>
          <a:noFill/>
          <a:ln/>
        </p:spPr>
        <p:txBody>
          <a:bodyPr wrap="square" lIns="0" tIns="0" rIns="0" bIns="0" rtlCol="0" anchor="ctr"/>
          <a:lstStyle/>
          <a:p>
            <a:pPr indent="0" marL="0">
              <a:buNone/>
            </a:pPr>
            <a:r>
              <a:rPr lang="en-US" sz="1400" i="1" dirty="0">
                <a:solidFill>
                  <a:srgbClr val="1C7293"/>
                </a:solidFill>
                <a:latin typeface="Calibri" pitchFamily="34" charset="0"/>
                <a:ea typeface="Calibri" pitchFamily="34" charset="-122"/>
                <a:cs typeface="Calibri" pitchFamily="34" charset="-120"/>
              </a:rPr>
              <a:t>Every row is something you could already feel yesterday.</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657600"/>
                <a:gridCol w="5303520"/>
                <a:gridCol w="2103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Missing right now</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costs you</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Fixed in</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Config baked into 11 manifests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 log-level change at 03:00 means eleven edits under pressure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L3.1</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JWT signing key in a plain env var</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Anyone with `get pods` can mint tokens for any merchant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L3.2</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persistent storage at all</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Delete a pod and every payment is gone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L3.3, L3.4</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database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Nothing to reconcile against. No seven-year retention.</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L3.5</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Fraud counters in memory</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The control weakens as you scale — you found this yourself</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L3.5</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A database would be a Deployment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Random names, no stable storage, no ordering</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L3.6</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Containers run as root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 container escape becomes a host compromise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L3.7</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8" name="Text 5"/>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8351215" y="-1097280"/>
            <a:ext cx="5120640" cy="5120640"/>
          </a:xfrm>
          <a:prstGeom prst="ellipse">
            <a:avLst/>
          </a:prstGeom>
          <a:solidFill>
            <a:srgbClr val="12314F"/>
          </a:solidFill>
          <a:ln w="12700">
            <a:solidFill>
              <a:srgbClr val="12314F"/>
            </a:solidFill>
            <a:prstDash val="solid"/>
          </a:ln>
        </p:spPr>
      </p:sp>
      <p:sp>
        <p:nvSpPr>
          <p:cNvPr id="3" name="Text 1"/>
          <p:cNvSpPr/>
          <p:nvPr/>
        </p:nvSpPr>
        <p:spPr>
          <a:xfrm>
            <a:off x="566928" y="1600200"/>
            <a:ext cx="5669280" cy="1463040"/>
          </a:xfrm>
          <a:prstGeom prst="rect">
            <a:avLst/>
          </a:prstGeom>
          <a:noFill/>
          <a:ln/>
        </p:spPr>
        <p:txBody>
          <a:bodyPr wrap="square" lIns="0" tIns="0" rIns="0" bIns="0" rtlCol="0" anchor="ctr"/>
          <a:lstStyle/>
          <a:p>
            <a:pPr indent="0" marL="0">
              <a:buNone/>
            </a:pPr>
            <a:r>
              <a:rPr lang="en-US" sz="7600" b="1" dirty="0">
                <a:solidFill>
                  <a:srgbClr val="F2A03D"/>
                </a:solidFill>
                <a:latin typeface="Cambria" pitchFamily="34" charset="0"/>
                <a:ea typeface="Cambria" pitchFamily="34" charset="-122"/>
                <a:cs typeface="Cambria" pitchFamily="34" charset="-120"/>
              </a:rPr>
              <a:t>M3.1</a:t>
            </a:r>
            <a:endParaRPr lang="en-US" sz="7600" dirty="0"/>
          </a:p>
        </p:txBody>
      </p:sp>
      <p:sp>
        <p:nvSpPr>
          <p:cNvPr id="4" name="Text 2"/>
          <p:cNvSpPr/>
          <p:nvPr/>
        </p:nvSpPr>
        <p:spPr>
          <a:xfrm>
            <a:off x="566928" y="2971800"/>
            <a:ext cx="786384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ConfigMaps</a:t>
            </a:r>
            <a:endParaRPr lang="en-US" sz="3800" dirty="0"/>
          </a:p>
        </p:txBody>
      </p:sp>
      <p:sp>
        <p:nvSpPr>
          <p:cNvPr id="5" name="Text 3"/>
          <p:cNvSpPr/>
          <p:nvPr/>
        </p:nvSpPr>
        <p:spPr>
          <a:xfrm>
            <a:off x="566928" y="3886200"/>
            <a:ext cx="7498080" cy="822960"/>
          </a:xfrm>
          <a:prstGeom prst="rect">
            <a:avLst/>
          </a:prstGeom>
          <a:noFill/>
          <a:ln/>
        </p:spPr>
        <p:txBody>
          <a:bodyPr wrap="square" lIns="0" tIns="0" rIns="0" bIns="0" rtlCol="0" anchor="ctr"/>
          <a:lstStyle/>
          <a:p>
            <a:pPr indent="0" marL="0">
              <a:buNone/>
            </a:pPr>
            <a:r>
              <a:rPr lang="en-US" sz="1500" dirty="0">
                <a:solidFill>
                  <a:srgbClr val="D8E6F2"/>
                </a:solidFill>
                <a:latin typeface="Calibri" pitchFamily="34" charset="0"/>
                <a:ea typeface="Calibri" pitchFamily="34" charset="-122"/>
                <a:cs typeface="Calibri" pitchFamily="34" charset="-120"/>
              </a:rPr>
              <a:t>Configuration does not belong in a workload definition</a:t>
            </a:r>
            <a:endParaRPr lang="en-US" sz="1500" dirty="0"/>
          </a:p>
        </p:txBody>
      </p:sp>
      <p:sp>
        <p:nvSpPr>
          <p:cNvPr id="6" name="Text 4"/>
          <p:cNvSpPr/>
          <p:nvPr/>
        </p:nvSpPr>
        <p:spPr>
          <a:xfrm>
            <a:off x="566928" y="4709160"/>
            <a:ext cx="7498080" cy="274320"/>
          </a:xfrm>
          <a:prstGeom prst="rect">
            <a:avLst/>
          </a:prstGeom>
          <a:noFill/>
          <a:ln/>
        </p:spPr>
        <p:txBody>
          <a:bodyPr wrap="square" lIns="0" tIns="0" rIns="0" bIns="0" rtlCol="0" anchor="ctr"/>
          <a:lstStyle/>
          <a:p>
            <a:pPr indent="0" marL="0">
              <a:buNone/>
            </a:pPr>
            <a:r>
              <a:rPr lang="en-US" sz="1100" b="1" dirty="0">
                <a:solidFill>
                  <a:srgbClr val="F2A03D"/>
                </a:solidFill>
                <a:latin typeface="Calibri" pitchFamily="34" charset="0"/>
                <a:ea typeface="Calibri" pitchFamily="34" charset="-122"/>
                <a:cs typeface="Calibri" pitchFamily="34" charset="-120"/>
              </a:rPr>
              <a:t>By the end of this module you will be able to:</a:t>
            </a:r>
            <a:endParaRPr lang="en-US" sz="1100" dirty="0"/>
          </a:p>
        </p:txBody>
      </p:sp>
      <p:sp>
        <p:nvSpPr>
          <p:cNvPr id="7" name="Text 5"/>
          <p:cNvSpPr/>
          <p:nvPr/>
        </p:nvSpPr>
        <p:spPr>
          <a:xfrm>
            <a:off x="658368" y="4983480"/>
            <a:ext cx="7498080" cy="10972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Externalise configuration from manifests</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Consume config as env vars AND as volumes — and know the difference</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Trigger a rollout on config change with a checksum annotation</a:t>
            </a:r>
            <a:endParaRPr lang="en-US" sz="1200" dirty="0"/>
          </a:p>
        </p:txBody>
      </p:sp>
      <p:sp>
        <p:nvSpPr>
          <p:cNvPr id="8" name="Text 6"/>
          <p:cNvSpPr/>
          <p:nvPr/>
        </p:nvSpPr>
        <p:spPr>
          <a:xfrm>
            <a:off x="9814255" y="5989320"/>
            <a:ext cx="1828800" cy="320040"/>
          </a:xfrm>
          <a:prstGeom prst="rect">
            <a:avLst/>
          </a:prstGeom>
          <a:noFill/>
          <a:ln/>
        </p:spPr>
        <p:txBody>
          <a:bodyPr wrap="square" lIns="0" tIns="0" rIns="0" bIns="0" rtlCol="0" anchor="ctr"/>
          <a:lstStyle/>
          <a:p>
            <a:pPr algn="r" indent="0" marL="0">
              <a:buNone/>
            </a:pPr>
            <a:r>
              <a:rPr lang="en-US" sz="1100" dirty="0">
                <a:solidFill>
                  <a:srgbClr val="63758B"/>
                </a:solidFill>
                <a:latin typeface="Calibri" pitchFamily="34" charset="0"/>
                <a:ea typeface="Calibri" pitchFamily="34" charset="-122"/>
                <a:cs typeface="Calibri" pitchFamily="34" charset="-120"/>
              </a:rPr>
              <a:t>70 min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2171700"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21717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M3.1 · CONFIGMAPS</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Two ways to consume a ConfigMap — and they behave completely differently</a:t>
            </a:r>
            <a:endParaRPr lang="en-US" sz="3200" dirty="0"/>
          </a:p>
        </p:txBody>
      </p:sp>
      <p:sp>
        <p:nvSpPr>
          <p:cNvPr id="5" name="Shape 3"/>
          <p:cNvSpPr/>
          <p:nvPr/>
        </p:nvSpPr>
        <p:spPr>
          <a:xfrm>
            <a:off x="566928" y="1737360"/>
            <a:ext cx="11057839" cy="566928"/>
          </a:xfrm>
          <a:prstGeom prst="roundRect">
            <a:avLst>
              <a:gd name="adj" fmla="val 12903"/>
            </a:avLst>
          </a:prstGeom>
          <a:solidFill>
            <a:srgbClr val="EAF1F8"/>
          </a:solidFill>
          <a:ln w="12700">
            <a:solidFill>
              <a:srgbClr val="1C7293"/>
            </a:solidFill>
            <a:prstDash val="solid"/>
          </a:ln>
        </p:spPr>
      </p:sp>
      <p:sp>
        <p:nvSpPr>
          <p:cNvPr id="6" name="Text 4"/>
          <p:cNvSpPr/>
          <p:nvPr/>
        </p:nvSpPr>
        <p:spPr>
          <a:xfrm>
            <a:off x="768096" y="1737360"/>
            <a:ext cx="10655503" cy="566928"/>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You change a ConfigMap. What happens to the pods already running?</a:t>
            </a:r>
            <a:endParaRPr lang="en-US" sz="1500" dirty="0"/>
          </a:p>
        </p:txBody>
      </p:sp>
      <p:sp>
        <p:nvSpPr>
          <p:cNvPr id="7" name="Shape 5"/>
          <p:cNvSpPr/>
          <p:nvPr/>
        </p:nvSpPr>
        <p:spPr>
          <a:xfrm>
            <a:off x="566928" y="2712339"/>
            <a:ext cx="402336" cy="402336"/>
          </a:xfrm>
          <a:prstGeom prst="ellipse">
            <a:avLst/>
          </a:prstGeom>
          <a:solidFill>
            <a:srgbClr val="C97B1E"/>
          </a:solidFill>
          <a:ln w="12700">
            <a:solidFill>
              <a:srgbClr val="C97B1E"/>
            </a:solidFill>
            <a:prstDash val="solid"/>
          </a:ln>
        </p:spPr>
      </p:sp>
      <p:sp>
        <p:nvSpPr>
          <p:cNvPr id="8" name="Text 6"/>
          <p:cNvSpPr/>
          <p:nvPr/>
        </p:nvSpPr>
        <p:spPr>
          <a:xfrm>
            <a:off x="566928" y="2712339"/>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9" name="Text 7"/>
          <p:cNvSpPr/>
          <p:nvPr/>
        </p:nvSpPr>
        <p:spPr>
          <a:xfrm>
            <a:off x="1133856" y="2487168"/>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env / envFrom</a:t>
            </a:r>
            <a:endParaRPr lang="en-US" sz="1400" dirty="0"/>
          </a:p>
        </p:txBody>
      </p:sp>
      <p:sp>
        <p:nvSpPr>
          <p:cNvPr id="10" name="Text 8"/>
          <p:cNvSpPr/>
          <p:nvPr/>
        </p:nvSpPr>
        <p:spPr>
          <a:xfrm>
            <a:off x="4407408" y="2487168"/>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The kubelet reads the ConfigMap ONCE, when it creates the container, and copies the values into the process environment. It is a SNAPSHOT. Change the ConfigMap afterwards and the running pod never sees it — no error, no warning, no event.</a:t>
            </a:r>
            <a:endParaRPr lang="en-US" sz="1250" dirty="0"/>
          </a:p>
        </p:txBody>
      </p:sp>
      <p:sp>
        <p:nvSpPr>
          <p:cNvPr id="11" name="Shape 9"/>
          <p:cNvSpPr/>
          <p:nvPr/>
        </p:nvSpPr>
        <p:spPr>
          <a:xfrm>
            <a:off x="566928" y="3565017"/>
            <a:ext cx="402336" cy="402336"/>
          </a:xfrm>
          <a:prstGeom prst="ellipse">
            <a:avLst/>
          </a:prstGeom>
          <a:solidFill>
            <a:srgbClr val="1C7293"/>
          </a:solidFill>
          <a:ln w="12700">
            <a:solidFill>
              <a:srgbClr val="1C7293"/>
            </a:solidFill>
            <a:prstDash val="solid"/>
          </a:ln>
        </p:spPr>
      </p:sp>
      <p:sp>
        <p:nvSpPr>
          <p:cNvPr id="12" name="Text 10"/>
          <p:cNvSpPr/>
          <p:nvPr/>
        </p:nvSpPr>
        <p:spPr>
          <a:xfrm>
            <a:off x="566928" y="3565017"/>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133856" y="3339846"/>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Why that is often right</a:t>
            </a:r>
            <a:endParaRPr lang="en-US" sz="1400" dirty="0"/>
          </a:p>
        </p:txBody>
      </p:sp>
      <p:sp>
        <p:nvSpPr>
          <p:cNvPr id="14" name="Text 12"/>
          <p:cNvSpPr/>
          <p:nvPr/>
        </p:nvSpPr>
        <p:spPr>
          <a:xfrm>
            <a:off x="4407408" y="3339846"/>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Most config is read once at startup anyway: URLs, timeouts, feature flags. A snapshot is honest about that, and it means a config change is a deliberate release rather than a surprise mid-request.</a:t>
            </a:r>
            <a:endParaRPr lang="en-US" sz="1250" dirty="0"/>
          </a:p>
        </p:txBody>
      </p:sp>
      <p:sp>
        <p:nvSpPr>
          <p:cNvPr id="15" name="Shape 13"/>
          <p:cNvSpPr/>
          <p:nvPr/>
        </p:nvSpPr>
        <p:spPr>
          <a:xfrm>
            <a:off x="566928" y="4417695"/>
            <a:ext cx="402336" cy="402336"/>
          </a:xfrm>
          <a:prstGeom prst="ellipse">
            <a:avLst/>
          </a:prstGeom>
          <a:solidFill>
            <a:srgbClr val="2E9E63"/>
          </a:solidFill>
          <a:ln w="12700">
            <a:solidFill>
              <a:srgbClr val="2E9E63"/>
            </a:solidFill>
            <a:prstDash val="solid"/>
          </a:ln>
        </p:spPr>
      </p:sp>
      <p:sp>
        <p:nvSpPr>
          <p:cNvPr id="16" name="Text 14"/>
          <p:cNvSpPr/>
          <p:nvPr/>
        </p:nvSpPr>
        <p:spPr>
          <a:xfrm>
            <a:off x="566928" y="4417695"/>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p:nvPr/>
        </p:nvSpPr>
        <p:spPr>
          <a:xfrm>
            <a:off x="1133856" y="4192524"/>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volumeMount</a:t>
            </a:r>
            <a:endParaRPr lang="en-US" sz="1400" dirty="0"/>
          </a:p>
        </p:txBody>
      </p:sp>
      <p:sp>
        <p:nvSpPr>
          <p:cNvPr id="18" name="Text 16"/>
          <p:cNvSpPr/>
          <p:nvPr/>
        </p:nvSpPr>
        <p:spPr>
          <a:xfrm>
            <a:off x="4407408" y="4192524"/>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The kubelet projects each key as a file and UPDATES IT IN PLACE when the ConfigMap changes — typically within about 60 seconds, on its sync loop. No restart, no rollout.</a:t>
            </a:r>
            <a:endParaRPr lang="en-US" sz="1250" dirty="0"/>
          </a:p>
        </p:txBody>
      </p:sp>
      <p:sp>
        <p:nvSpPr>
          <p:cNvPr id="19" name="Shape 17"/>
          <p:cNvSpPr/>
          <p:nvPr/>
        </p:nvSpPr>
        <p:spPr>
          <a:xfrm>
            <a:off x="566928" y="5270373"/>
            <a:ext cx="402336" cy="402336"/>
          </a:xfrm>
          <a:prstGeom prst="ellipse">
            <a:avLst/>
          </a:prstGeom>
          <a:solidFill>
            <a:srgbClr val="D64545"/>
          </a:solidFill>
          <a:ln w="12700">
            <a:solidFill>
              <a:srgbClr val="D64545"/>
            </a:solidFill>
            <a:prstDash val="solid"/>
          </a:ln>
        </p:spPr>
      </p:sp>
      <p:sp>
        <p:nvSpPr>
          <p:cNvPr id="20" name="Text 18"/>
          <p:cNvSpPr/>
          <p:nvPr/>
        </p:nvSpPr>
        <p:spPr>
          <a:xfrm>
            <a:off x="566928" y="5270373"/>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1" name="Text 19"/>
          <p:cNvSpPr/>
          <p:nvPr/>
        </p:nvSpPr>
        <p:spPr>
          <a:xfrm>
            <a:off x="1133856" y="5045202"/>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The catch</a:t>
            </a:r>
            <a:endParaRPr lang="en-US" sz="1400" dirty="0"/>
          </a:p>
        </p:txBody>
      </p:sp>
      <p:sp>
        <p:nvSpPr>
          <p:cNvPr id="22" name="Text 20"/>
          <p:cNvSpPr/>
          <p:nvPr/>
        </p:nvSpPr>
        <p:spPr>
          <a:xfrm>
            <a:off x="4407408" y="5045202"/>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Kubernetes updated the FILE. It did not tell your process. The application must watch or re-read the file to notice. And a subPath mount NEVER updates — that is a documented exception people trip over constantly.</a:t>
            </a:r>
            <a:endParaRPr lang="en-US" sz="1250" dirty="0"/>
          </a:p>
        </p:txBody>
      </p:sp>
      <p:sp>
        <p:nvSpPr>
          <p:cNvPr id="23" name="Text 21"/>
          <p:cNvSpPr/>
          <p:nvPr/>
        </p:nvSpPr>
        <p:spPr>
          <a:xfrm>
            <a:off x="566928" y="5687568"/>
            <a:ext cx="11057839" cy="548640"/>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AxisPay uses env for startup values and a volume for fraud thresholds — so operations can retune risk without redeploying the payment path.</a:t>
            </a:r>
            <a:endParaRPr lang="en-US" sz="1400" dirty="0"/>
          </a:p>
        </p:txBody>
      </p:sp>
      <p:sp>
        <p:nvSpPr>
          <p:cNvPr id="24" name="Text 22"/>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25" name="Text 23"/>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2592324"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2592324"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M3.1 · WORKED EXAMPLE</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env-var snapshot, demonstrated</a:t>
            </a:r>
            <a:endParaRPr lang="en-US" sz="3200" dirty="0"/>
          </a:p>
        </p:txBody>
      </p:sp>
      <p:sp>
        <p:nvSpPr>
          <p:cNvPr id="5" name="Text 3"/>
          <p:cNvSpPr/>
          <p:nvPr/>
        </p:nvSpPr>
        <p:spPr>
          <a:xfrm>
            <a:off x="566928" y="1737360"/>
            <a:ext cx="11057839" cy="384048"/>
          </a:xfrm>
          <a:prstGeom prst="rect">
            <a:avLst/>
          </a:prstGeom>
          <a:noFill/>
          <a:ln/>
        </p:spPr>
        <p:txBody>
          <a:bodyPr wrap="square" lIns="0" tIns="0" rIns="0" bIns="0" rtlCol="0" anchor="ctr"/>
          <a:lstStyle/>
          <a:p>
            <a:pPr indent="0" marL="0">
              <a:buNone/>
            </a:pPr>
            <a:r>
              <a:rPr lang="en-US" sz="1400" i="1" dirty="0">
                <a:solidFill>
                  <a:srgbClr val="F2A03D"/>
                </a:solidFill>
                <a:latin typeface="Calibri" pitchFamily="34" charset="0"/>
                <a:ea typeface="Calibri" pitchFamily="34" charset="-122"/>
                <a:cs typeface="Calibri" pitchFamily="34" charset="-120"/>
              </a:rPr>
              <a:t>Real sequence from L3.1 step 5. Nothing is broken — this is the design.</a:t>
            </a:r>
            <a:endParaRPr lang="en-US" sz="1400" dirty="0"/>
          </a:p>
        </p:txBody>
      </p:sp>
      <p:sp>
        <p:nvSpPr>
          <p:cNvPr id="6" name="Shape 4"/>
          <p:cNvSpPr/>
          <p:nvPr/>
        </p:nvSpPr>
        <p:spPr>
          <a:xfrm>
            <a:off x="566928" y="2249424"/>
            <a:ext cx="11057839" cy="3021330"/>
          </a:xfrm>
          <a:prstGeom prst="roundRect">
            <a:avLst>
              <a:gd name="adj" fmla="val 2421"/>
            </a:avLst>
          </a:prstGeom>
          <a:solidFill>
            <a:srgbClr val="0E2740"/>
          </a:solidFill>
          <a:ln w="12700">
            <a:solidFill>
              <a:srgbClr val="1B4066"/>
            </a:solidFill>
            <a:prstDash val="solid"/>
          </a:ln>
        </p:spPr>
      </p:sp>
      <p:sp>
        <p:nvSpPr>
          <p:cNvPr id="7" name="Shape 5"/>
          <p:cNvSpPr/>
          <p:nvPr/>
        </p:nvSpPr>
        <p:spPr>
          <a:xfrm>
            <a:off x="768096" y="2404872"/>
            <a:ext cx="118872" cy="118872"/>
          </a:xfrm>
          <a:prstGeom prst="ellipse">
            <a:avLst/>
          </a:prstGeom>
          <a:solidFill>
            <a:srgbClr val="D64545"/>
          </a:solidFill>
          <a:ln w="12700">
            <a:solidFill>
              <a:srgbClr val="D64545"/>
            </a:solidFill>
            <a:prstDash val="solid"/>
          </a:ln>
        </p:spPr>
      </p:sp>
      <p:sp>
        <p:nvSpPr>
          <p:cNvPr id="8" name="Shape 6"/>
          <p:cNvSpPr/>
          <p:nvPr/>
        </p:nvSpPr>
        <p:spPr>
          <a:xfrm>
            <a:off x="987552" y="2404872"/>
            <a:ext cx="118872" cy="118872"/>
          </a:xfrm>
          <a:prstGeom prst="ellipse">
            <a:avLst/>
          </a:prstGeom>
          <a:solidFill>
            <a:srgbClr val="F2A03D"/>
          </a:solidFill>
          <a:ln w="12700">
            <a:solidFill>
              <a:srgbClr val="F2A03D"/>
            </a:solidFill>
            <a:prstDash val="solid"/>
          </a:ln>
        </p:spPr>
      </p:sp>
      <p:sp>
        <p:nvSpPr>
          <p:cNvPr id="9" name="Shape 7"/>
          <p:cNvSpPr/>
          <p:nvPr/>
        </p:nvSpPr>
        <p:spPr>
          <a:xfrm>
            <a:off x="1207008" y="2404872"/>
            <a:ext cx="118872" cy="118872"/>
          </a:xfrm>
          <a:prstGeom prst="ellipse">
            <a:avLst/>
          </a:prstGeom>
          <a:solidFill>
            <a:srgbClr val="2E9E63"/>
          </a:solidFill>
          <a:ln w="12700">
            <a:solidFill>
              <a:srgbClr val="2E9E63"/>
            </a:solidFill>
            <a:prstDash val="solid"/>
          </a:ln>
        </p:spPr>
      </p:sp>
      <p:sp>
        <p:nvSpPr>
          <p:cNvPr id="10" name="Text 8"/>
          <p:cNvSpPr/>
          <p:nvPr/>
        </p:nvSpPr>
        <p:spPr>
          <a:xfrm>
            <a:off x="804672" y="2706624"/>
            <a:ext cx="10600639" cy="2381250"/>
          </a:xfrm>
          <a:prstGeom prst="rect">
            <a:avLst/>
          </a:prstGeom>
          <a:noFill/>
          <a:ln/>
        </p:spPr>
        <p:txBody>
          <a:bodyPr wrap="square" lIns="0" tIns="0" rIns="0" bIns="0" rtlCol="0" anchor="t"/>
          <a:lstStyle/>
          <a:p>
            <a:pPr indent="0" marL="0">
              <a:lnSpc>
                <a:spcPts val="1875"/>
              </a:lnSpc>
              <a:buNone/>
            </a:pPr>
            <a:r>
              <a:rPr lang="en-US" sz="1250" b="1" dirty="0">
                <a:solidFill>
                  <a:srgbClr val="F2A03D"/>
                </a:solidFill>
                <a:latin typeface="Courier New" pitchFamily="34" charset="0"/>
                <a:ea typeface="Courier New" pitchFamily="34" charset="-122"/>
                <a:cs typeface="Courier New" pitchFamily="34" charset="-120"/>
              </a:rPr>
              <a:t>$ kubectl patch configmap axispay-platform-config -n axispay-core \\</a:t>
            </a:r>
            <a:endParaRPr lang="en-US" sz="1250" dirty="0"/>
          </a:p>
          <a:p>
            <a:pPr indent="0" marL="0">
              <a:lnSpc>
                <a:spcPts val="1875"/>
              </a:lnSpc>
              <a:buNone/>
            </a:pPr>
            <a:r>
              <a:rPr lang="en-US" sz="1250" b="1" dirty="0">
                <a:solidFill>
                  <a:srgbClr val="F2A03D"/>
                </a:solidFill>
                <a:latin typeface="Courier New" pitchFamily="34" charset="0"/>
                <a:ea typeface="Courier New" pitchFamily="34" charset="-122"/>
                <a:cs typeface="Courier New" pitchFamily="34" charset="-120"/>
              </a:rPr>
              <a:t>    --type merge -p '{"data":{"LOG_LEVEL":"debug"}}'</a:t>
            </a:r>
            <a:endParaRPr lang="en-US" sz="1250" dirty="0"/>
          </a:p>
          <a:p>
            <a:pPr indent="0" marL="0">
              <a:lnSpc>
                <a:spcPts val="1875"/>
              </a:lnSpc>
              <a:buNone/>
            </a:pPr>
            <a:r>
              <a:rPr lang="en-US" sz="1250" dirty="0">
                <a:solidFill>
                  <a:srgbClr val="2E9E63"/>
                </a:solidFill>
                <a:latin typeface="Courier New" pitchFamily="34" charset="0"/>
                <a:ea typeface="Courier New" pitchFamily="34" charset="-122"/>
                <a:cs typeface="Courier New" pitchFamily="34" charset="-120"/>
              </a:rPr>
              <a:t>configmap/axispay-platform-config patched</a:t>
            </a:r>
            <a:endParaRPr lang="en-US" sz="1250" dirty="0"/>
          </a:p>
          <a:p>
            <a:pPr indent="0" marL="0">
              <a:lnSpc>
                <a:spcPts val="1875"/>
              </a:lnSpc>
              <a:buNone/>
            </a:pPr>
            <a:r>
              <a:rPr lang="en-US" sz="1250" dirty="0">
                <a:solidFill>
                  <a:srgbClr val="D8E6F2"/>
                </a:solidFill>
                <a:latin typeface="Courier New" pitchFamily="34" charset="0"/>
                <a:ea typeface="Courier New" pitchFamily="34" charset="-122"/>
                <a:cs typeface="Courier New" pitchFamily="34" charset="-120"/>
              </a:rPr>
              <a:t> </a:t>
            </a:r>
            <a:endParaRPr lang="en-US" sz="1250" dirty="0"/>
          </a:p>
          <a:p>
            <a:pPr indent="0" marL="0">
              <a:lnSpc>
                <a:spcPts val="1875"/>
              </a:lnSpc>
              <a:buNone/>
            </a:pPr>
            <a:r>
              <a:rPr lang="en-US" sz="1250" b="1" dirty="0">
                <a:solidFill>
                  <a:srgbClr val="F2A03D"/>
                </a:solidFill>
                <a:latin typeface="Courier New" pitchFamily="34" charset="0"/>
                <a:ea typeface="Courier New" pitchFamily="34" charset="-122"/>
                <a:cs typeface="Courier New" pitchFamily="34" charset="-120"/>
              </a:rPr>
              <a:t>$ sleep 20 &amp;&amp; kubectl exec -n axispay-core $POD -- printenv | grep LOG_LEVEL</a:t>
            </a:r>
            <a:endParaRPr lang="en-US" sz="1250" dirty="0"/>
          </a:p>
          <a:p>
            <a:pPr indent="0" marL="0">
              <a:lnSpc>
                <a:spcPts val="1875"/>
              </a:lnSpc>
              <a:buNone/>
            </a:pPr>
            <a:r>
              <a:rPr lang="en-US" sz="1250" dirty="0">
                <a:solidFill>
                  <a:srgbClr val="D64545"/>
                </a:solidFill>
                <a:latin typeface="Courier New" pitchFamily="34" charset="0"/>
                <a:ea typeface="Courier New" pitchFamily="34" charset="-122"/>
                <a:cs typeface="Courier New" pitchFamily="34" charset="-120"/>
              </a:rPr>
              <a:t>LOG_LEVEL=info                     &lt;- STILL info. No error. No warning.</a:t>
            </a:r>
            <a:endParaRPr lang="en-US" sz="1250" dirty="0"/>
          </a:p>
          <a:p>
            <a:pPr indent="0" marL="0">
              <a:lnSpc>
                <a:spcPts val="1875"/>
              </a:lnSpc>
              <a:buNone/>
            </a:pPr>
            <a:r>
              <a:rPr lang="en-US" sz="1250" dirty="0">
                <a:solidFill>
                  <a:srgbClr val="D8E6F2"/>
                </a:solidFill>
                <a:latin typeface="Courier New" pitchFamily="34" charset="0"/>
                <a:ea typeface="Courier New" pitchFamily="34" charset="-122"/>
                <a:cs typeface="Courier New" pitchFamily="34" charset="-120"/>
              </a:rPr>
              <a:t> </a:t>
            </a:r>
            <a:endParaRPr lang="en-US" sz="1250" dirty="0"/>
          </a:p>
          <a:p>
            <a:pPr indent="0" marL="0">
              <a:lnSpc>
                <a:spcPts val="1875"/>
              </a:lnSpc>
              <a:buNone/>
            </a:pPr>
            <a:r>
              <a:rPr lang="en-US" sz="1250" b="1" dirty="0">
                <a:solidFill>
                  <a:srgbClr val="F2A03D"/>
                </a:solidFill>
                <a:latin typeface="Courier New" pitchFamily="34" charset="0"/>
                <a:ea typeface="Courier New" pitchFamily="34" charset="-122"/>
                <a:cs typeface="Courier New" pitchFamily="34" charset="-120"/>
              </a:rPr>
              <a:t>$ kubectl rollout restart deployment/payment-service -n axispay-core</a:t>
            </a:r>
            <a:endParaRPr lang="en-US" sz="1250" dirty="0"/>
          </a:p>
          <a:p>
            <a:pPr indent="0" marL="0">
              <a:lnSpc>
                <a:spcPts val="1875"/>
              </a:lnSpc>
              <a:buNone/>
            </a:pPr>
            <a:r>
              <a:rPr lang="en-US" sz="1250" b="1" dirty="0">
                <a:solidFill>
                  <a:srgbClr val="F2A03D"/>
                </a:solidFill>
                <a:latin typeface="Courier New" pitchFamily="34" charset="0"/>
                <a:ea typeface="Courier New" pitchFamily="34" charset="-122"/>
                <a:cs typeface="Courier New" pitchFamily="34" charset="-120"/>
              </a:rPr>
              <a:t>$ kubectl exec -n axispay-core $POD -- printenv | grep LOG_LEVEL</a:t>
            </a:r>
            <a:endParaRPr lang="en-US" sz="1250" dirty="0"/>
          </a:p>
          <a:p>
            <a:pPr indent="0" marL="0">
              <a:lnSpc>
                <a:spcPts val="1875"/>
              </a:lnSpc>
              <a:buNone/>
            </a:pPr>
            <a:r>
              <a:rPr lang="en-US" sz="1250" dirty="0">
                <a:solidFill>
                  <a:srgbClr val="2E9E63"/>
                </a:solidFill>
                <a:latin typeface="Courier New" pitchFamily="34" charset="0"/>
                <a:ea typeface="Courier New" pitchFamily="34" charset="-122"/>
                <a:cs typeface="Courier New" pitchFamily="34" charset="-120"/>
              </a:rPr>
              <a:t>LOG_LEVEL=debug</a:t>
            </a:r>
            <a:endParaRPr lang="en-US" sz="1250" dirty="0"/>
          </a:p>
        </p:txBody>
      </p:sp>
      <p:sp>
        <p:nvSpPr>
          <p:cNvPr id="11" name="Text 9"/>
          <p:cNvSpPr/>
          <p:nvPr/>
        </p:nvSpPr>
        <p:spPr>
          <a:xfrm>
            <a:off x="566928" y="5435346"/>
            <a:ext cx="11057839" cy="457200"/>
          </a:xfrm>
          <a:prstGeom prst="rect">
            <a:avLst/>
          </a:prstGeom>
          <a:noFill/>
          <a:ln/>
        </p:spPr>
        <p:txBody>
          <a:bodyPr wrap="square" lIns="0" tIns="0" rIns="0" bIns="0" rtlCol="0" anchor="ctr"/>
          <a:lstStyle/>
          <a:p>
            <a:pPr indent="0" marL="0">
              <a:buNone/>
            </a:pPr>
            <a:r>
              <a:rPr lang="en-US" sz="1300" i="1" dirty="0">
                <a:solidFill>
                  <a:srgbClr val="D8E6F2"/>
                </a:solidFill>
                <a:latin typeface="Calibri" pitchFamily="34" charset="0"/>
                <a:ea typeface="Calibri" pitchFamily="34" charset="-122"/>
                <a:cs typeface="Calibri" pitchFamily="34" charset="-120"/>
              </a:rPr>
              <a:t>The env var was copied into the process when the container started. Changing the source afterwards changes nothing — and nothing tells you so.</a:t>
            </a:r>
            <a:endParaRPr lang="en-US" sz="1300" dirty="0"/>
          </a:p>
        </p:txBody>
      </p:sp>
      <p:sp>
        <p:nvSpPr>
          <p:cNvPr id="12" name="Text 10"/>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13" name="Text 11"/>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435608" cy="292608"/>
          </a:xfrm>
          <a:prstGeom prst="roundRect">
            <a:avLst>
              <a:gd name="adj" fmla="val 50000"/>
            </a:avLst>
          </a:prstGeom>
          <a:solidFill>
            <a:srgbClr val="2E9E63"/>
          </a:solidFill>
          <a:ln w="12700">
            <a:solidFill>
              <a:srgbClr val="2E9E63"/>
            </a:solidFill>
            <a:prstDash val="solid"/>
          </a:ln>
        </p:spPr>
      </p:sp>
      <p:sp>
        <p:nvSpPr>
          <p:cNvPr id="3" name="Text 1"/>
          <p:cNvSpPr/>
          <p:nvPr/>
        </p:nvSpPr>
        <p:spPr>
          <a:xfrm>
            <a:off x="566928" y="384048"/>
            <a:ext cx="1435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GUIDED LAB</a:t>
            </a:r>
            <a:endParaRPr lang="en-US" sz="1100" dirty="0"/>
          </a:p>
        </p:txBody>
      </p:sp>
      <p:sp>
        <p:nvSpPr>
          <p:cNvPr id="4" name="Text 2"/>
          <p:cNvSpPr/>
          <p:nvPr/>
        </p:nvSpPr>
        <p:spPr>
          <a:xfrm>
            <a:off x="566928" y="914400"/>
            <a:ext cx="2743200" cy="777240"/>
          </a:xfrm>
          <a:prstGeom prst="rect">
            <a:avLst/>
          </a:prstGeom>
          <a:noFill/>
          <a:ln/>
        </p:spPr>
        <p:txBody>
          <a:bodyPr wrap="square" lIns="0" tIns="0" rIns="0" bIns="0" rtlCol="0" anchor="ctr"/>
          <a:lstStyle/>
          <a:p>
            <a:pPr indent="0" marL="0">
              <a:buNone/>
            </a:pPr>
            <a:r>
              <a:rPr lang="en-US" sz="4000" b="1" dirty="0">
                <a:solidFill>
                  <a:srgbClr val="2E9E63"/>
                </a:solidFill>
                <a:latin typeface="Cambria" pitchFamily="34" charset="0"/>
                <a:ea typeface="Cambria" pitchFamily="34" charset="-122"/>
                <a:cs typeface="Cambria" pitchFamily="34" charset="-120"/>
              </a:rPr>
              <a:t>L3.1</a:t>
            </a:r>
            <a:endParaRPr lang="en-US" sz="4000" dirty="0"/>
          </a:p>
        </p:txBody>
      </p:sp>
      <p:sp>
        <p:nvSpPr>
          <p:cNvPr id="5" name="Text 3"/>
          <p:cNvSpPr/>
          <p:nvPr/>
        </p:nvSpPr>
        <p:spPr>
          <a:xfrm>
            <a:off x="566928" y="1691640"/>
            <a:ext cx="11057839"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Externalising configuration</a:t>
            </a:r>
            <a:endParaRPr lang="en-US" sz="3000" dirty="0"/>
          </a:p>
        </p:txBody>
      </p:sp>
      <p:sp>
        <p:nvSpPr>
          <p:cNvPr id="6" name="Shape 4"/>
          <p:cNvSpPr/>
          <p:nvPr/>
        </p:nvSpPr>
        <p:spPr>
          <a:xfrm>
            <a:off x="566928" y="2560320"/>
            <a:ext cx="5577840" cy="2834640"/>
          </a:xfrm>
          <a:prstGeom prst="roundRect">
            <a:avLst>
              <a:gd name="adj" fmla="val 3226"/>
            </a:avLst>
          </a:prstGeom>
          <a:solidFill>
            <a:srgbClr val="12314F"/>
          </a:solidFill>
          <a:ln w="12700">
            <a:solidFill>
              <a:srgbClr val="1B4066"/>
            </a:solidFill>
            <a:prstDash val="solid"/>
          </a:ln>
        </p:spPr>
      </p:sp>
      <p:sp>
        <p:nvSpPr>
          <p:cNvPr id="7" name="Text 5"/>
          <p:cNvSpPr/>
          <p:nvPr/>
        </p:nvSpPr>
        <p:spPr>
          <a:xfrm>
            <a:off x="841248" y="2724912"/>
            <a:ext cx="5029200" cy="274320"/>
          </a:xfrm>
          <a:prstGeom prst="rect">
            <a:avLst/>
          </a:prstGeom>
          <a:noFill/>
          <a:ln/>
        </p:spPr>
        <p:txBody>
          <a:bodyPr wrap="square" lIns="0" tIns="0" rIns="0" bIns="0" rtlCol="0" anchor="ctr"/>
          <a:lstStyle/>
          <a:p>
            <a:pPr indent="0" marL="0">
              <a:buNone/>
            </a:pPr>
            <a:r>
              <a:rPr lang="en-US" sz="1000" b="1" spc="100" kern="0" dirty="0">
                <a:solidFill>
                  <a:srgbClr val="F2A03D"/>
                </a:solidFill>
                <a:latin typeface="Calibri" pitchFamily="34" charset="0"/>
                <a:ea typeface="Calibri" pitchFamily="34" charset="-122"/>
                <a:cs typeface="Calibri" pitchFamily="34" charset="-120"/>
              </a:rPr>
              <a:t>YOU WILL</a:t>
            </a:r>
            <a:endParaRPr lang="en-US" sz="1000" dirty="0"/>
          </a:p>
        </p:txBody>
      </p:sp>
      <p:sp>
        <p:nvSpPr>
          <p:cNvPr id="8" name="Text 6"/>
          <p:cNvSpPr/>
          <p:nvPr/>
        </p:nvSpPr>
        <p:spPr>
          <a:xfrm>
            <a:off x="886968" y="3017520"/>
            <a:ext cx="5029200" cy="219456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Move config out of eleven manifests into two ConfigMaps</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Consume as env vars, then prove they do NOT update live</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Mount as a volume and watch the file change with no restart</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Wire a checksum annotation so config changes become releases</a:t>
            </a:r>
            <a:endParaRPr lang="en-US" sz="1300" dirty="0"/>
          </a:p>
        </p:txBody>
      </p:sp>
      <p:sp>
        <p:nvSpPr>
          <p:cNvPr id="9" name="Shape 7"/>
          <p:cNvSpPr/>
          <p:nvPr/>
        </p:nvSpPr>
        <p:spPr>
          <a:xfrm>
            <a:off x="6464808" y="2560320"/>
            <a:ext cx="5120640" cy="2834640"/>
          </a:xfrm>
          <a:prstGeom prst="roundRect">
            <a:avLst>
              <a:gd name="adj" fmla="val 3226"/>
            </a:avLst>
          </a:prstGeom>
          <a:solidFill>
            <a:srgbClr val="12314F"/>
          </a:solidFill>
          <a:ln w="12700">
            <a:solidFill>
              <a:srgbClr val="1B4066"/>
            </a:solidFill>
            <a:prstDash val="solid"/>
          </a:ln>
        </p:spPr>
      </p:sp>
      <p:sp>
        <p:nvSpPr>
          <p:cNvPr id="10" name="Text 8"/>
          <p:cNvSpPr/>
          <p:nvPr/>
        </p:nvSpPr>
        <p:spPr>
          <a:xfrm>
            <a:off x="6739128" y="2724912"/>
            <a:ext cx="4572000" cy="274320"/>
          </a:xfrm>
          <a:prstGeom prst="rect">
            <a:avLst/>
          </a:prstGeom>
          <a:noFill/>
          <a:ln/>
        </p:spPr>
        <p:txBody>
          <a:bodyPr wrap="square" lIns="0" tIns="0" rIns="0" bIns="0" rtlCol="0" anchor="ctr"/>
          <a:lstStyle/>
          <a:p>
            <a:pPr indent="0" marL="0">
              <a:buNone/>
            </a:pPr>
            <a:r>
              <a:rPr lang="en-US" sz="1000" b="1" spc="100" kern="0" dirty="0">
                <a:solidFill>
                  <a:srgbClr val="2E9E63"/>
                </a:solidFill>
                <a:latin typeface="Calibri" pitchFamily="34" charset="0"/>
                <a:ea typeface="Calibri" pitchFamily="34" charset="-122"/>
                <a:cs typeface="Calibri" pitchFamily="34" charset="-120"/>
              </a:rPr>
              <a:t>DONE WHEN</a:t>
            </a:r>
            <a:endParaRPr lang="en-US" sz="1000" dirty="0"/>
          </a:p>
        </p:txBody>
      </p:sp>
      <p:sp>
        <p:nvSpPr>
          <p:cNvPr id="11" name="Text 9"/>
          <p:cNvSpPr/>
          <p:nvPr/>
        </p:nvSpPr>
        <p:spPr>
          <a:xfrm>
            <a:off x="6784848" y="3017520"/>
            <a:ext cx="4572000" cy="146304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Both ConfigMaps applied</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You can explain env vs volume propagation</a:t>
            </a:r>
            <a:endParaRPr lang="en-US" sz="1300" dirty="0"/>
          </a:p>
        </p:txBody>
      </p:sp>
      <p:sp>
        <p:nvSpPr>
          <p:cNvPr id="12" name="Shape 10"/>
          <p:cNvSpPr/>
          <p:nvPr/>
        </p:nvSpPr>
        <p:spPr>
          <a:xfrm>
            <a:off x="6739128" y="4617720"/>
            <a:ext cx="4572000" cy="566928"/>
          </a:xfrm>
          <a:prstGeom prst="roundRect">
            <a:avLst>
              <a:gd name="adj" fmla="val 12903"/>
            </a:avLst>
          </a:prstGeom>
          <a:solidFill>
            <a:srgbClr val="0E2740"/>
          </a:solidFill>
          <a:ln w="12700">
            <a:solidFill>
              <a:srgbClr val="1C7293"/>
            </a:solidFill>
            <a:prstDash val="solid"/>
          </a:ln>
        </p:spPr>
      </p:sp>
      <p:sp>
        <p:nvSpPr>
          <p:cNvPr id="13" name="Text 11"/>
          <p:cNvSpPr/>
          <p:nvPr/>
        </p:nvSpPr>
        <p:spPr>
          <a:xfrm>
            <a:off x="6876288" y="4617720"/>
            <a:ext cx="4297680" cy="566928"/>
          </a:xfrm>
          <a:prstGeom prst="rect">
            <a:avLst/>
          </a:prstGeom>
          <a:noFill/>
          <a:ln/>
        </p:spPr>
        <p:txBody>
          <a:bodyPr wrap="square" lIns="0" tIns="0" rIns="0" bIns="0" rtlCol="0" anchor="ctr"/>
          <a:lstStyle/>
          <a:p>
            <a:pPr indent="0" marL="0">
              <a:buNone/>
            </a:pPr>
            <a:r>
              <a:rPr lang="en-US" sz="1150" dirty="0">
                <a:solidFill>
                  <a:srgbClr val="F2A03D"/>
                </a:solidFill>
                <a:latin typeface="Courier New" pitchFamily="34" charset="0"/>
                <a:ea typeface="Courier New" pitchFamily="34" charset="-122"/>
                <a:cs typeface="Courier New" pitchFamily="34" charset="-120"/>
              </a:rPr>
              <a:t>make validate-lab LAB=L3.1</a:t>
            </a:r>
            <a:endParaRPr lang="en-US" sz="1150" dirty="0"/>
          </a:p>
        </p:txBody>
      </p:sp>
      <p:sp>
        <p:nvSpPr>
          <p:cNvPr id="14" name="Text 12"/>
          <p:cNvSpPr/>
          <p:nvPr/>
        </p:nvSpPr>
        <p:spPr>
          <a:xfrm>
            <a:off x="566928" y="5577840"/>
            <a:ext cx="11057839" cy="365760"/>
          </a:xfrm>
          <a:prstGeom prst="rect">
            <a:avLst/>
          </a:prstGeom>
          <a:noFill/>
          <a:ln/>
        </p:spPr>
        <p:txBody>
          <a:bodyPr wrap="square" lIns="0" tIns="0" rIns="0" bIns="0" rtlCol="0" anchor="ctr"/>
          <a:lstStyle/>
          <a:p>
            <a:pPr indent="0" marL="0">
              <a:buNone/>
            </a:pPr>
            <a:r>
              <a:rPr lang="en-US" sz="1200" dirty="0">
                <a:solidFill>
                  <a:srgbClr val="63758B"/>
                </a:solidFill>
                <a:latin typeface="Calibri" pitchFamily="34" charset="0"/>
                <a:ea typeface="Calibri" pitchFamily="34" charset="-122"/>
                <a:cs typeface="Calibri" pitchFamily="34" charset="-120"/>
              </a:rPr>
              <a:t>40 minutes   ·   labs/day3/L3.1-configmaps/</a:t>
            </a:r>
            <a:endParaRPr lang="en-US" sz="1200" dirty="0"/>
          </a:p>
        </p:txBody>
      </p:sp>
      <p:sp>
        <p:nvSpPr>
          <p:cNvPr id="15" name="Text 1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16" name="Text 1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8351215" y="-1097280"/>
            <a:ext cx="5120640" cy="5120640"/>
          </a:xfrm>
          <a:prstGeom prst="ellipse">
            <a:avLst/>
          </a:prstGeom>
          <a:solidFill>
            <a:srgbClr val="12314F"/>
          </a:solidFill>
          <a:ln w="12700">
            <a:solidFill>
              <a:srgbClr val="12314F"/>
            </a:solidFill>
            <a:prstDash val="solid"/>
          </a:ln>
        </p:spPr>
      </p:sp>
      <p:sp>
        <p:nvSpPr>
          <p:cNvPr id="3" name="Text 1"/>
          <p:cNvSpPr/>
          <p:nvPr/>
        </p:nvSpPr>
        <p:spPr>
          <a:xfrm>
            <a:off x="566928" y="1600200"/>
            <a:ext cx="5669280" cy="1463040"/>
          </a:xfrm>
          <a:prstGeom prst="rect">
            <a:avLst/>
          </a:prstGeom>
          <a:noFill/>
          <a:ln/>
        </p:spPr>
        <p:txBody>
          <a:bodyPr wrap="square" lIns="0" tIns="0" rIns="0" bIns="0" rtlCol="0" anchor="ctr"/>
          <a:lstStyle/>
          <a:p>
            <a:pPr indent="0" marL="0">
              <a:buNone/>
            </a:pPr>
            <a:r>
              <a:rPr lang="en-US" sz="7600" b="1" dirty="0">
                <a:solidFill>
                  <a:srgbClr val="F2A03D"/>
                </a:solidFill>
                <a:latin typeface="Cambria" pitchFamily="34" charset="0"/>
                <a:ea typeface="Cambria" pitchFamily="34" charset="-122"/>
                <a:cs typeface="Cambria" pitchFamily="34" charset="-120"/>
              </a:rPr>
              <a:t>M3.2</a:t>
            </a:r>
            <a:endParaRPr lang="en-US" sz="7600" dirty="0"/>
          </a:p>
        </p:txBody>
      </p:sp>
      <p:sp>
        <p:nvSpPr>
          <p:cNvPr id="4" name="Text 2"/>
          <p:cNvSpPr/>
          <p:nvPr/>
        </p:nvSpPr>
        <p:spPr>
          <a:xfrm>
            <a:off x="566928" y="2971800"/>
            <a:ext cx="786384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Secrets</a:t>
            </a:r>
            <a:endParaRPr lang="en-US" sz="3800" dirty="0"/>
          </a:p>
        </p:txBody>
      </p:sp>
      <p:sp>
        <p:nvSpPr>
          <p:cNvPr id="5" name="Text 3"/>
          <p:cNvSpPr/>
          <p:nvPr/>
        </p:nvSpPr>
        <p:spPr>
          <a:xfrm>
            <a:off x="566928" y="3886200"/>
            <a:ext cx="7498080" cy="822960"/>
          </a:xfrm>
          <a:prstGeom prst="rect">
            <a:avLst/>
          </a:prstGeom>
          <a:noFill/>
          <a:ln/>
        </p:spPr>
        <p:txBody>
          <a:bodyPr wrap="square" lIns="0" tIns="0" rIns="0" bIns="0" rtlCol="0" anchor="ctr"/>
          <a:lstStyle/>
          <a:p>
            <a:pPr indent="0" marL="0">
              <a:buNone/>
            </a:pPr>
            <a:r>
              <a:rPr lang="en-US" sz="1500" dirty="0">
                <a:solidFill>
                  <a:srgbClr val="D8E6F2"/>
                </a:solidFill>
                <a:latin typeface="Calibri" pitchFamily="34" charset="0"/>
                <a:ea typeface="Calibri" pitchFamily="34" charset="-122"/>
                <a:cs typeface="Calibri" pitchFamily="34" charset="-120"/>
              </a:rPr>
              <a:t>And an honest account of what they do not protect</a:t>
            </a:r>
            <a:endParaRPr lang="en-US" sz="1500" dirty="0"/>
          </a:p>
        </p:txBody>
      </p:sp>
      <p:sp>
        <p:nvSpPr>
          <p:cNvPr id="6" name="Text 4"/>
          <p:cNvSpPr/>
          <p:nvPr/>
        </p:nvSpPr>
        <p:spPr>
          <a:xfrm>
            <a:off x="566928" y="4709160"/>
            <a:ext cx="7498080" cy="274320"/>
          </a:xfrm>
          <a:prstGeom prst="rect">
            <a:avLst/>
          </a:prstGeom>
          <a:noFill/>
          <a:ln/>
        </p:spPr>
        <p:txBody>
          <a:bodyPr wrap="square" lIns="0" tIns="0" rIns="0" bIns="0" rtlCol="0" anchor="ctr"/>
          <a:lstStyle/>
          <a:p>
            <a:pPr indent="0" marL="0">
              <a:buNone/>
            </a:pPr>
            <a:r>
              <a:rPr lang="en-US" sz="1100" b="1" dirty="0">
                <a:solidFill>
                  <a:srgbClr val="F2A03D"/>
                </a:solidFill>
                <a:latin typeface="Calibri" pitchFamily="34" charset="0"/>
                <a:ea typeface="Calibri" pitchFamily="34" charset="-122"/>
                <a:cs typeface="Calibri" pitchFamily="34" charset="-120"/>
              </a:rPr>
              <a:t>By the end of this module you will be able to:</a:t>
            </a:r>
            <a:endParaRPr lang="en-US" sz="1100" dirty="0"/>
          </a:p>
        </p:txBody>
      </p:sp>
      <p:sp>
        <p:nvSpPr>
          <p:cNvPr id="7" name="Text 5"/>
          <p:cNvSpPr/>
          <p:nvPr/>
        </p:nvSpPr>
        <p:spPr>
          <a:xfrm>
            <a:off x="658368" y="4983480"/>
            <a:ext cx="7498080" cy="10972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Create and consume Secrets as env vars and volumes</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State plainly that base64 is not encryption — having decoded one</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Name what actually protects a Secret</a:t>
            </a:r>
            <a:endParaRPr lang="en-US" sz="1200" dirty="0"/>
          </a:p>
        </p:txBody>
      </p:sp>
      <p:sp>
        <p:nvSpPr>
          <p:cNvPr id="8" name="Text 6"/>
          <p:cNvSpPr/>
          <p:nvPr/>
        </p:nvSpPr>
        <p:spPr>
          <a:xfrm>
            <a:off x="9814255" y="5989320"/>
            <a:ext cx="1828800" cy="320040"/>
          </a:xfrm>
          <a:prstGeom prst="rect">
            <a:avLst/>
          </a:prstGeom>
          <a:noFill/>
          <a:ln/>
        </p:spPr>
        <p:txBody>
          <a:bodyPr wrap="square" lIns="0" tIns="0" rIns="0" bIns="0" rtlCol="0" anchor="ctr"/>
          <a:lstStyle/>
          <a:p>
            <a:pPr algn="r" indent="0" marL="0">
              <a:buNone/>
            </a:pPr>
            <a:r>
              <a:rPr lang="en-US" sz="1100" dirty="0">
                <a:solidFill>
                  <a:srgbClr val="63758B"/>
                </a:solidFill>
                <a:latin typeface="Calibri" pitchFamily="34" charset="0"/>
                <a:ea typeface="Calibri" pitchFamily="34" charset="-122"/>
                <a:cs typeface="Calibri" pitchFamily="34" charset="-120"/>
              </a:rPr>
              <a:t>75 min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120140" cy="292608"/>
          </a:xfrm>
          <a:prstGeom prst="roundRect">
            <a:avLst>
              <a:gd name="adj" fmla="val 50000"/>
            </a:avLst>
          </a:prstGeom>
          <a:solidFill>
            <a:srgbClr val="D64545"/>
          </a:solidFill>
          <a:ln w="12700">
            <a:solidFill>
              <a:srgbClr val="D64545"/>
            </a:solidFill>
            <a:prstDash val="solid"/>
          </a:ln>
        </p:spPr>
      </p:sp>
      <p:sp>
        <p:nvSpPr>
          <p:cNvPr id="3" name="Text 1"/>
          <p:cNvSpPr/>
          <p:nvPr/>
        </p:nvSpPr>
        <p:spPr>
          <a:xfrm>
            <a:off x="566928" y="384048"/>
            <a:ext cx="11201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WARNING</a:t>
            </a:r>
            <a:endParaRPr lang="en-US" sz="1100" dirty="0"/>
          </a:p>
        </p:txBody>
      </p:sp>
      <p:sp>
        <p:nvSpPr>
          <p:cNvPr id="4" name="Shape 2"/>
          <p:cNvSpPr/>
          <p:nvPr/>
        </p:nvSpPr>
        <p:spPr>
          <a:xfrm>
            <a:off x="566928" y="1554480"/>
            <a:ext cx="11057839" cy="3017520"/>
          </a:xfrm>
          <a:prstGeom prst="roundRect">
            <a:avLst>
              <a:gd name="adj" fmla="val 3636"/>
            </a:avLst>
          </a:prstGeom>
          <a:solidFill>
            <a:srgbClr val="12314F"/>
          </a:solidFill>
          <a:ln w="12700">
            <a:solidFill>
              <a:srgbClr val="D64545"/>
            </a:solidFill>
            <a:prstDash val="solid"/>
          </a:ln>
        </p:spPr>
      </p:sp>
      <p:sp>
        <p:nvSpPr>
          <p:cNvPr id="5" name="Text 3"/>
          <p:cNvSpPr/>
          <p:nvPr/>
        </p:nvSpPr>
        <p:spPr>
          <a:xfrm>
            <a:off x="1115568" y="1920240"/>
            <a:ext cx="9960559" cy="1463040"/>
          </a:xfrm>
          <a:prstGeom prst="rect">
            <a:avLst/>
          </a:prstGeom>
          <a:noFill/>
          <a:ln/>
        </p:spPr>
        <p:txBody>
          <a:bodyPr wrap="square" lIns="0" tIns="0" rIns="0" bIns="0" rtlCol="0" anchor="ctr"/>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A Kubernetes Secret is base64-ENCODED.</a:t>
            </a:r>
            <a:endParaRPr lang="en-US" sz="3000" dirty="0"/>
          </a:p>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It is not encrypted.</a:t>
            </a:r>
            <a:endParaRPr lang="en-US" sz="3000" dirty="0"/>
          </a:p>
        </p:txBody>
      </p:sp>
      <p:sp>
        <p:nvSpPr>
          <p:cNvPr id="6" name="Text 4"/>
          <p:cNvSpPr/>
          <p:nvPr/>
        </p:nvSpPr>
        <p:spPr>
          <a:xfrm>
            <a:off x="1115568" y="3429000"/>
            <a:ext cx="9960559" cy="914400"/>
          </a:xfrm>
          <a:prstGeom prst="rect">
            <a:avLst/>
          </a:prstGeom>
          <a:noFill/>
          <a:ln/>
        </p:spPr>
        <p:txBody>
          <a:bodyPr wrap="square" lIns="0" tIns="0" rIns="0" bIns="0" rtlCol="0" anchor="ctr"/>
          <a:lstStyle/>
          <a:p>
            <a:pPr indent="0" marL="0">
              <a:lnSpc>
                <a:spcPts val="2100"/>
              </a:lnSpc>
              <a:buNone/>
            </a:pPr>
            <a:r>
              <a:rPr lang="en-US" sz="1500" dirty="0">
                <a:solidFill>
                  <a:srgbClr val="D8E6F2"/>
                </a:solidFill>
                <a:latin typeface="Calibri" pitchFamily="34" charset="0"/>
                <a:ea typeface="Calibri" pitchFamily="34" charset="-122"/>
                <a:cs typeface="Calibri" pitchFamily="34" charset="-120"/>
              </a:rPr>
              <a:t>There is no key, no algorithm, and nothing to break. `base64 -d` is a formatting change, not an attack. Anyone who can read the Secret object can read every value in it.</a:t>
            </a:r>
            <a:endParaRPr lang="en-US" sz="1500" dirty="0"/>
          </a:p>
        </p:txBody>
      </p:sp>
      <p:sp>
        <p:nvSpPr>
          <p:cNvPr id="7" name="Text 5"/>
          <p:cNvSpPr/>
          <p:nvPr/>
        </p:nvSpPr>
        <p:spPr>
          <a:xfrm>
            <a:off x="658368" y="4800600"/>
            <a:ext cx="11057839" cy="1188720"/>
          </a:xfrm>
          <a:prstGeom prst="rect">
            <a:avLst/>
          </a:prstGeom>
          <a:noFill/>
          <a:ln/>
        </p:spPr>
        <p:txBody>
          <a:bodyPr wrap="square" lIns="0" tIns="0" rIns="0" bIns="0" rtlCol="0" anchor="ctr"/>
          <a:lstStyle/>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In L3.2 step 3 you will decode the database password in ONE command.</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This is not a flaw you discovered. It is the documented design.</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What actually protects it: RBAC (who may `get secrets`), etcd encryption at rest, not mounting what you do not need, and an external secret manager.</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`kubectl describe secret` hides the values. That is a nicety, not a control.</a:t>
            </a:r>
            <a:endParaRPr lang="en-US" sz="1350" dirty="0"/>
          </a:p>
        </p:txBody>
      </p:sp>
      <p:sp>
        <p:nvSpPr>
          <p:cNvPr id="8" name="Text 6"/>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9" name="Text 7"/>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1856232"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1856232"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M3.2 · SECRETS</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Why a volume beats an environment variable</a:t>
            </a:r>
            <a:endParaRPr lang="en-US" sz="3200" dirty="0"/>
          </a:p>
        </p:txBody>
      </p:sp>
      <p:sp>
        <p:nvSpPr>
          <p:cNvPr id="5" name="Shape 3"/>
          <p:cNvSpPr/>
          <p:nvPr/>
        </p:nvSpPr>
        <p:spPr>
          <a:xfrm>
            <a:off x="566928" y="1737360"/>
            <a:ext cx="11057839" cy="566928"/>
          </a:xfrm>
          <a:prstGeom prst="roundRect">
            <a:avLst>
              <a:gd name="adj" fmla="val 12903"/>
            </a:avLst>
          </a:prstGeom>
          <a:solidFill>
            <a:srgbClr val="EAF1F8"/>
          </a:solidFill>
          <a:ln w="12700">
            <a:solidFill>
              <a:srgbClr val="1C7293"/>
            </a:solidFill>
            <a:prstDash val="solid"/>
          </a:ln>
        </p:spPr>
      </p:sp>
      <p:sp>
        <p:nvSpPr>
          <p:cNvPr id="6" name="Text 4"/>
          <p:cNvSpPr/>
          <p:nvPr/>
        </p:nvSpPr>
        <p:spPr>
          <a:xfrm>
            <a:off x="768096" y="1737360"/>
            <a:ext cx="10655503" cy="566928"/>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Both work. Why does AxisPay mount database credentials as a file?</a:t>
            </a:r>
            <a:endParaRPr lang="en-US" sz="1500" dirty="0"/>
          </a:p>
        </p:txBody>
      </p:sp>
      <p:sp>
        <p:nvSpPr>
          <p:cNvPr id="7" name="Shape 5"/>
          <p:cNvSpPr/>
          <p:nvPr/>
        </p:nvSpPr>
        <p:spPr>
          <a:xfrm>
            <a:off x="566928" y="2712339"/>
            <a:ext cx="402336" cy="402336"/>
          </a:xfrm>
          <a:prstGeom prst="ellipse">
            <a:avLst/>
          </a:prstGeom>
          <a:solidFill>
            <a:srgbClr val="D64545"/>
          </a:solidFill>
          <a:ln w="12700">
            <a:solidFill>
              <a:srgbClr val="D64545"/>
            </a:solidFill>
            <a:prstDash val="solid"/>
          </a:ln>
        </p:spPr>
      </p:sp>
      <p:sp>
        <p:nvSpPr>
          <p:cNvPr id="8" name="Text 6"/>
          <p:cNvSpPr/>
          <p:nvPr/>
        </p:nvSpPr>
        <p:spPr>
          <a:xfrm>
            <a:off x="566928" y="2712339"/>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9" name="Text 7"/>
          <p:cNvSpPr/>
          <p:nvPr/>
        </p:nvSpPr>
        <p:spPr>
          <a:xfrm>
            <a:off x="1133856" y="2487168"/>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Env vars are inherited</a:t>
            </a:r>
            <a:endParaRPr lang="en-US" sz="1400" dirty="0"/>
          </a:p>
        </p:txBody>
      </p:sp>
      <p:sp>
        <p:nvSpPr>
          <p:cNvPr id="10" name="Text 8"/>
          <p:cNvSpPr/>
          <p:nvPr/>
        </p:nvSpPr>
        <p:spPr>
          <a:xfrm>
            <a:off x="4407408" y="2487168"/>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Every child process the container spawns gets a copy. A shell-out, a subprocess, a debugging tool — all of them can read the credential without asking.</a:t>
            </a:r>
            <a:endParaRPr lang="en-US" sz="1250" dirty="0"/>
          </a:p>
        </p:txBody>
      </p:sp>
      <p:sp>
        <p:nvSpPr>
          <p:cNvPr id="11" name="Shape 9"/>
          <p:cNvSpPr/>
          <p:nvPr/>
        </p:nvSpPr>
        <p:spPr>
          <a:xfrm>
            <a:off x="566928" y="3565017"/>
            <a:ext cx="402336" cy="402336"/>
          </a:xfrm>
          <a:prstGeom prst="ellipse">
            <a:avLst/>
          </a:prstGeom>
          <a:solidFill>
            <a:srgbClr val="D64545"/>
          </a:solidFill>
          <a:ln w="12700">
            <a:solidFill>
              <a:srgbClr val="D64545"/>
            </a:solidFill>
            <a:prstDash val="solid"/>
          </a:ln>
        </p:spPr>
      </p:sp>
      <p:sp>
        <p:nvSpPr>
          <p:cNvPr id="12" name="Text 10"/>
          <p:cNvSpPr/>
          <p:nvPr/>
        </p:nvSpPr>
        <p:spPr>
          <a:xfrm>
            <a:off x="566928" y="3565017"/>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133856" y="3339846"/>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Env vars leak into diagnostics</a:t>
            </a:r>
            <a:endParaRPr lang="en-US" sz="1400" dirty="0"/>
          </a:p>
        </p:txBody>
      </p:sp>
      <p:sp>
        <p:nvSpPr>
          <p:cNvPr id="14" name="Text 12"/>
          <p:cNvSpPr/>
          <p:nvPr/>
        </p:nvSpPr>
        <p:spPr>
          <a:xfrm>
            <a:off x="4407408" y="3339846"/>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They appear in /proc/&lt;pid&gt;/environ, and crash handlers and error-tracking SDKs routinely capture the full environment and ship it off the machine. That is how credentials end up in a third-party bug tracker.</a:t>
            </a:r>
            <a:endParaRPr lang="en-US" sz="1250" dirty="0"/>
          </a:p>
        </p:txBody>
      </p:sp>
      <p:sp>
        <p:nvSpPr>
          <p:cNvPr id="15" name="Shape 13"/>
          <p:cNvSpPr/>
          <p:nvPr/>
        </p:nvSpPr>
        <p:spPr>
          <a:xfrm>
            <a:off x="566928" y="4417695"/>
            <a:ext cx="402336" cy="402336"/>
          </a:xfrm>
          <a:prstGeom prst="ellipse">
            <a:avLst/>
          </a:prstGeom>
          <a:solidFill>
            <a:srgbClr val="D64545"/>
          </a:solidFill>
          <a:ln w="12700">
            <a:solidFill>
              <a:srgbClr val="D64545"/>
            </a:solidFill>
            <a:prstDash val="solid"/>
          </a:ln>
        </p:spPr>
      </p:sp>
      <p:sp>
        <p:nvSpPr>
          <p:cNvPr id="16" name="Text 14"/>
          <p:cNvSpPr/>
          <p:nvPr/>
        </p:nvSpPr>
        <p:spPr>
          <a:xfrm>
            <a:off x="566928" y="4417695"/>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p:nvPr/>
        </p:nvSpPr>
        <p:spPr>
          <a:xfrm>
            <a:off x="1133856" y="4192524"/>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Env vars show up in describe</a:t>
            </a:r>
            <a:endParaRPr lang="en-US" sz="1400" dirty="0"/>
          </a:p>
        </p:txBody>
      </p:sp>
      <p:sp>
        <p:nvSpPr>
          <p:cNvPr id="18" name="Text 16"/>
          <p:cNvSpPr/>
          <p:nvPr/>
        </p:nvSpPr>
        <p:spPr>
          <a:xfrm>
            <a:off x="4407408" y="4192524"/>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If you use a plain `value:` rather than a `secretKeyRef`, `kubectl describe pod` prints it to anyone with `get pods`. That is the Day 1 mistake we are fixing today.</a:t>
            </a:r>
            <a:endParaRPr lang="en-US" sz="1250" dirty="0"/>
          </a:p>
        </p:txBody>
      </p:sp>
      <p:sp>
        <p:nvSpPr>
          <p:cNvPr id="19" name="Shape 17"/>
          <p:cNvSpPr/>
          <p:nvPr/>
        </p:nvSpPr>
        <p:spPr>
          <a:xfrm>
            <a:off x="566928" y="5270373"/>
            <a:ext cx="402336" cy="402336"/>
          </a:xfrm>
          <a:prstGeom prst="ellipse">
            <a:avLst/>
          </a:prstGeom>
          <a:solidFill>
            <a:srgbClr val="2E9E63"/>
          </a:solidFill>
          <a:ln w="12700">
            <a:solidFill>
              <a:srgbClr val="2E9E63"/>
            </a:solidFill>
            <a:prstDash val="solid"/>
          </a:ln>
        </p:spPr>
      </p:sp>
      <p:sp>
        <p:nvSpPr>
          <p:cNvPr id="20" name="Text 18"/>
          <p:cNvSpPr/>
          <p:nvPr/>
        </p:nvSpPr>
        <p:spPr>
          <a:xfrm>
            <a:off x="566928" y="5270373"/>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1" name="Text 19"/>
          <p:cNvSpPr/>
          <p:nvPr/>
        </p:nvSpPr>
        <p:spPr>
          <a:xfrm>
            <a:off x="1133856" y="5045202"/>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A file is read once, by the code that needs it</a:t>
            </a:r>
            <a:endParaRPr lang="en-US" sz="1400" dirty="0"/>
          </a:p>
        </p:txBody>
      </p:sp>
      <p:sp>
        <p:nvSpPr>
          <p:cNvPr id="22" name="Text 20"/>
          <p:cNvSpPr/>
          <p:nvPr/>
        </p:nvSpPr>
        <p:spPr>
          <a:xfrm>
            <a:off x="4407408" y="5045202"/>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No inheritance, no /proc exposure, no accidental capture. And Kubernetes mounts Secret volumes as tmpfs — in RAM, never written to the node's disk.</a:t>
            </a:r>
            <a:endParaRPr lang="en-US" sz="1250" dirty="0"/>
          </a:p>
        </p:txBody>
      </p:sp>
      <p:sp>
        <p:nvSpPr>
          <p:cNvPr id="23" name="Text 21"/>
          <p:cNvSpPr/>
          <p:nvPr/>
        </p:nvSpPr>
        <p:spPr>
          <a:xfrm>
            <a:off x="566928" y="5687568"/>
            <a:ext cx="11057839" cy="548640"/>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Mount mode 0400. Read-only, owner only. It still is not encrypted — but far fewer things can accidentally read it.</a:t>
            </a:r>
            <a:endParaRPr lang="en-US" sz="1400" dirty="0"/>
          </a:p>
        </p:txBody>
      </p:sp>
      <p:sp>
        <p:nvSpPr>
          <p:cNvPr id="24" name="Text 22"/>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25" name="Text 23"/>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435608" cy="292608"/>
          </a:xfrm>
          <a:prstGeom prst="roundRect">
            <a:avLst>
              <a:gd name="adj" fmla="val 50000"/>
            </a:avLst>
          </a:prstGeom>
          <a:solidFill>
            <a:srgbClr val="2E9E63"/>
          </a:solidFill>
          <a:ln w="12700">
            <a:solidFill>
              <a:srgbClr val="2E9E63"/>
            </a:solidFill>
            <a:prstDash val="solid"/>
          </a:ln>
        </p:spPr>
      </p:sp>
      <p:sp>
        <p:nvSpPr>
          <p:cNvPr id="3" name="Text 1"/>
          <p:cNvSpPr/>
          <p:nvPr/>
        </p:nvSpPr>
        <p:spPr>
          <a:xfrm>
            <a:off x="566928" y="384048"/>
            <a:ext cx="1435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GUIDED LAB</a:t>
            </a:r>
            <a:endParaRPr lang="en-US" sz="1100" dirty="0"/>
          </a:p>
        </p:txBody>
      </p:sp>
      <p:sp>
        <p:nvSpPr>
          <p:cNvPr id="4" name="Text 2"/>
          <p:cNvSpPr/>
          <p:nvPr/>
        </p:nvSpPr>
        <p:spPr>
          <a:xfrm>
            <a:off x="566928" y="914400"/>
            <a:ext cx="2743200" cy="777240"/>
          </a:xfrm>
          <a:prstGeom prst="rect">
            <a:avLst/>
          </a:prstGeom>
          <a:noFill/>
          <a:ln/>
        </p:spPr>
        <p:txBody>
          <a:bodyPr wrap="square" lIns="0" tIns="0" rIns="0" bIns="0" rtlCol="0" anchor="ctr"/>
          <a:lstStyle/>
          <a:p>
            <a:pPr indent="0" marL="0">
              <a:buNone/>
            </a:pPr>
            <a:r>
              <a:rPr lang="en-US" sz="4000" b="1" dirty="0">
                <a:solidFill>
                  <a:srgbClr val="2E9E63"/>
                </a:solidFill>
                <a:latin typeface="Cambria" pitchFamily="34" charset="0"/>
                <a:ea typeface="Cambria" pitchFamily="34" charset="-122"/>
                <a:cs typeface="Cambria" pitchFamily="34" charset="-120"/>
              </a:rPr>
              <a:t>L3.2</a:t>
            </a:r>
            <a:endParaRPr lang="en-US" sz="4000" dirty="0"/>
          </a:p>
        </p:txBody>
      </p:sp>
      <p:sp>
        <p:nvSpPr>
          <p:cNvPr id="5" name="Text 3"/>
          <p:cNvSpPr/>
          <p:nvPr/>
        </p:nvSpPr>
        <p:spPr>
          <a:xfrm>
            <a:off x="566928" y="1691640"/>
            <a:ext cx="11057839"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Secrets, honestly</a:t>
            </a:r>
            <a:endParaRPr lang="en-US" sz="3000" dirty="0"/>
          </a:p>
        </p:txBody>
      </p:sp>
      <p:sp>
        <p:nvSpPr>
          <p:cNvPr id="6" name="Shape 4"/>
          <p:cNvSpPr/>
          <p:nvPr/>
        </p:nvSpPr>
        <p:spPr>
          <a:xfrm>
            <a:off x="566928" y="2560320"/>
            <a:ext cx="5577840" cy="2834640"/>
          </a:xfrm>
          <a:prstGeom prst="roundRect">
            <a:avLst>
              <a:gd name="adj" fmla="val 3226"/>
            </a:avLst>
          </a:prstGeom>
          <a:solidFill>
            <a:srgbClr val="12314F"/>
          </a:solidFill>
          <a:ln w="12700">
            <a:solidFill>
              <a:srgbClr val="1B4066"/>
            </a:solidFill>
            <a:prstDash val="solid"/>
          </a:ln>
        </p:spPr>
      </p:sp>
      <p:sp>
        <p:nvSpPr>
          <p:cNvPr id="7" name="Text 5"/>
          <p:cNvSpPr/>
          <p:nvPr/>
        </p:nvSpPr>
        <p:spPr>
          <a:xfrm>
            <a:off x="841248" y="2724912"/>
            <a:ext cx="5029200" cy="274320"/>
          </a:xfrm>
          <a:prstGeom prst="rect">
            <a:avLst/>
          </a:prstGeom>
          <a:noFill/>
          <a:ln/>
        </p:spPr>
        <p:txBody>
          <a:bodyPr wrap="square" lIns="0" tIns="0" rIns="0" bIns="0" rtlCol="0" anchor="ctr"/>
          <a:lstStyle/>
          <a:p>
            <a:pPr indent="0" marL="0">
              <a:buNone/>
            </a:pPr>
            <a:r>
              <a:rPr lang="en-US" sz="1000" b="1" spc="100" kern="0" dirty="0">
                <a:solidFill>
                  <a:srgbClr val="F2A03D"/>
                </a:solidFill>
                <a:latin typeface="Calibri" pitchFamily="34" charset="0"/>
                <a:ea typeface="Calibri" pitchFamily="34" charset="-122"/>
                <a:cs typeface="Calibri" pitchFamily="34" charset="-120"/>
              </a:rPr>
              <a:t>YOU WILL</a:t>
            </a:r>
            <a:endParaRPr lang="en-US" sz="1000" dirty="0"/>
          </a:p>
        </p:txBody>
      </p:sp>
      <p:sp>
        <p:nvSpPr>
          <p:cNvPr id="8" name="Text 6"/>
          <p:cNvSpPr/>
          <p:nvPr/>
        </p:nvSpPr>
        <p:spPr>
          <a:xfrm>
            <a:off x="886968" y="3017520"/>
            <a:ext cx="5029200" cy="219456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Move the JWT signing key out of a plaintext env var</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DECODE a Secret in one command — the point of the lab</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Mount credentials as a read-only tmpfs volume</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Rotate a signing key and reason about the rotation window</a:t>
            </a:r>
            <a:endParaRPr lang="en-US" sz="1300" dirty="0"/>
          </a:p>
        </p:txBody>
      </p:sp>
      <p:sp>
        <p:nvSpPr>
          <p:cNvPr id="9" name="Shape 7"/>
          <p:cNvSpPr/>
          <p:nvPr/>
        </p:nvSpPr>
        <p:spPr>
          <a:xfrm>
            <a:off x="6464808" y="2560320"/>
            <a:ext cx="5120640" cy="2834640"/>
          </a:xfrm>
          <a:prstGeom prst="roundRect">
            <a:avLst>
              <a:gd name="adj" fmla="val 3226"/>
            </a:avLst>
          </a:prstGeom>
          <a:solidFill>
            <a:srgbClr val="12314F"/>
          </a:solidFill>
          <a:ln w="12700">
            <a:solidFill>
              <a:srgbClr val="1B4066"/>
            </a:solidFill>
            <a:prstDash val="solid"/>
          </a:ln>
        </p:spPr>
      </p:sp>
      <p:sp>
        <p:nvSpPr>
          <p:cNvPr id="10" name="Text 8"/>
          <p:cNvSpPr/>
          <p:nvPr/>
        </p:nvSpPr>
        <p:spPr>
          <a:xfrm>
            <a:off x="6739128" y="2724912"/>
            <a:ext cx="4572000" cy="274320"/>
          </a:xfrm>
          <a:prstGeom prst="rect">
            <a:avLst/>
          </a:prstGeom>
          <a:noFill/>
          <a:ln/>
        </p:spPr>
        <p:txBody>
          <a:bodyPr wrap="square" lIns="0" tIns="0" rIns="0" bIns="0" rtlCol="0" anchor="ctr"/>
          <a:lstStyle/>
          <a:p>
            <a:pPr indent="0" marL="0">
              <a:buNone/>
            </a:pPr>
            <a:r>
              <a:rPr lang="en-US" sz="1000" b="1" spc="100" kern="0" dirty="0">
                <a:solidFill>
                  <a:srgbClr val="2E9E63"/>
                </a:solidFill>
                <a:latin typeface="Calibri" pitchFamily="34" charset="0"/>
                <a:ea typeface="Calibri" pitchFamily="34" charset="-122"/>
                <a:cs typeface="Calibri" pitchFamily="34" charset="-120"/>
              </a:rPr>
              <a:t>DONE WHEN</a:t>
            </a:r>
            <a:endParaRPr lang="en-US" sz="1000" dirty="0"/>
          </a:p>
        </p:txBody>
      </p:sp>
      <p:sp>
        <p:nvSpPr>
          <p:cNvPr id="11" name="Text 9"/>
          <p:cNvSpPr/>
          <p:nvPr/>
        </p:nvSpPr>
        <p:spPr>
          <a:xfrm>
            <a:off x="6784848" y="3017520"/>
            <a:ext cx="4572000" cy="146304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JWT key no longer visible in describe</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You have decoded a Secret yourself</a:t>
            </a:r>
            <a:endParaRPr lang="en-US" sz="1300" dirty="0"/>
          </a:p>
        </p:txBody>
      </p:sp>
      <p:sp>
        <p:nvSpPr>
          <p:cNvPr id="12" name="Shape 10"/>
          <p:cNvSpPr/>
          <p:nvPr/>
        </p:nvSpPr>
        <p:spPr>
          <a:xfrm>
            <a:off x="6739128" y="4617720"/>
            <a:ext cx="4572000" cy="566928"/>
          </a:xfrm>
          <a:prstGeom prst="roundRect">
            <a:avLst>
              <a:gd name="adj" fmla="val 12903"/>
            </a:avLst>
          </a:prstGeom>
          <a:solidFill>
            <a:srgbClr val="0E2740"/>
          </a:solidFill>
          <a:ln w="12700">
            <a:solidFill>
              <a:srgbClr val="1C7293"/>
            </a:solidFill>
            <a:prstDash val="solid"/>
          </a:ln>
        </p:spPr>
      </p:sp>
      <p:sp>
        <p:nvSpPr>
          <p:cNvPr id="13" name="Text 11"/>
          <p:cNvSpPr/>
          <p:nvPr/>
        </p:nvSpPr>
        <p:spPr>
          <a:xfrm>
            <a:off x="6876288" y="4617720"/>
            <a:ext cx="4297680" cy="566928"/>
          </a:xfrm>
          <a:prstGeom prst="rect">
            <a:avLst/>
          </a:prstGeom>
          <a:noFill/>
          <a:ln/>
        </p:spPr>
        <p:txBody>
          <a:bodyPr wrap="square" lIns="0" tIns="0" rIns="0" bIns="0" rtlCol="0" anchor="ctr"/>
          <a:lstStyle/>
          <a:p>
            <a:pPr indent="0" marL="0">
              <a:buNone/>
            </a:pPr>
            <a:r>
              <a:rPr lang="en-US" sz="1150" dirty="0">
                <a:solidFill>
                  <a:srgbClr val="F2A03D"/>
                </a:solidFill>
                <a:latin typeface="Courier New" pitchFamily="34" charset="0"/>
                <a:ea typeface="Courier New" pitchFamily="34" charset="-122"/>
                <a:cs typeface="Courier New" pitchFamily="34" charset="-120"/>
              </a:rPr>
              <a:t>make validate-lab LAB=L3.2</a:t>
            </a:r>
            <a:endParaRPr lang="en-US" sz="1150" dirty="0"/>
          </a:p>
        </p:txBody>
      </p:sp>
      <p:sp>
        <p:nvSpPr>
          <p:cNvPr id="14" name="Text 12"/>
          <p:cNvSpPr/>
          <p:nvPr/>
        </p:nvSpPr>
        <p:spPr>
          <a:xfrm>
            <a:off x="566928" y="5577840"/>
            <a:ext cx="11057839" cy="365760"/>
          </a:xfrm>
          <a:prstGeom prst="rect">
            <a:avLst/>
          </a:prstGeom>
          <a:noFill/>
          <a:ln/>
        </p:spPr>
        <p:txBody>
          <a:bodyPr wrap="square" lIns="0" tIns="0" rIns="0" bIns="0" rtlCol="0" anchor="ctr"/>
          <a:lstStyle/>
          <a:p>
            <a:pPr indent="0" marL="0">
              <a:buNone/>
            </a:pPr>
            <a:r>
              <a:rPr lang="en-US" sz="1200" dirty="0">
                <a:solidFill>
                  <a:srgbClr val="63758B"/>
                </a:solidFill>
                <a:latin typeface="Calibri" pitchFamily="34" charset="0"/>
                <a:ea typeface="Calibri" pitchFamily="34" charset="-122"/>
                <a:cs typeface="Calibri" pitchFamily="34" charset="-120"/>
              </a:rPr>
              <a:t>40 minutes   ·   labs/day3/L3.2-secrets/</a:t>
            </a:r>
            <a:endParaRPr lang="en-US" sz="1200" dirty="0"/>
          </a:p>
        </p:txBody>
      </p:sp>
      <p:sp>
        <p:nvSpPr>
          <p:cNvPr id="15" name="Text 1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16" name="Text 1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8351215" y="-1097280"/>
            <a:ext cx="5120640" cy="5120640"/>
          </a:xfrm>
          <a:prstGeom prst="ellipse">
            <a:avLst/>
          </a:prstGeom>
          <a:solidFill>
            <a:srgbClr val="12314F"/>
          </a:solidFill>
          <a:ln w="12700">
            <a:solidFill>
              <a:srgbClr val="12314F"/>
            </a:solidFill>
            <a:prstDash val="solid"/>
          </a:ln>
        </p:spPr>
      </p:sp>
      <p:sp>
        <p:nvSpPr>
          <p:cNvPr id="3" name="Text 1"/>
          <p:cNvSpPr/>
          <p:nvPr/>
        </p:nvSpPr>
        <p:spPr>
          <a:xfrm>
            <a:off x="566928" y="1600200"/>
            <a:ext cx="5669280" cy="1463040"/>
          </a:xfrm>
          <a:prstGeom prst="rect">
            <a:avLst/>
          </a:prstGeom>
          <a:noFill/>
          <a:ln/>
        </p:spPr>
        <p:txBody>
          <a:bodyPr wrap="square" lIns="0" tIns="0" rIns="0" bIns="0" rtlCol="0" anchor="ctr"/>
          <a:lstStyle/>
          <a:p>
            <a:pPr indent="0" marL="0">
              <a:buNone/>
            </a:pPr>
            <a:r>
              <a:rPr lang="en-US" sz="4000" b="1" dirty="0">
                <a:solidFill>
                  <a:srgbClr val="F2A03D"/>
                </a:solidFill>
                <a:latin typeface="Cambria" pitchFamily="34" charset="0"/>
                <a:ea typeface="Cambria" pitchFamily="34" charset="-122"/>
                <a:cs typeface="Cambria" pitchFamily="34" charset="-120"/>
              </a:rPr>
              <a:t>M3.3 – M3.4</a:t>
            </a:r>
            <a:endParaRPr lang="en-US" sz="4000" dirty="0"/>
          </a:p>
        </p:txBody>
      </p:sp>
      <p:sp>
        <p:nvSpPr>
          <p:cNvPr id="4" name="Text 2"/>
          <p:cNvSpPr/>
          <p:nvPr/>
        </p:nvSpPr>
        <p:spPr>
          <a:xfrm>
            <a:off x="566928" y="2971800"/>
            <a:ext cx="786384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storage model</a:t>
            </a:r>
            <a:endParaRPr lang="en-US" sz="3800" dirty="0"/>
          </a:p>
        </p:txBody>
      </p:sp>
      <p:sp>
        <p:nvSpPr>
          <p:cNvPr id="5" name="Text 3"/>
          <p:cNvSpPr/>
          <p:nvPr/>
        </p:nvSpPr>
        <p:spPr>
          <a:xfrm>
            <a:off x="566928" y="3886200"/>
            <a:ext cx="7498080" cy="822960"/>
          </a:xfrm>
          <a:prstGeom prst="rect">
            <a:avLst/>
          </a:prstGeom>
          <a:noFill/>
          <a:ln/>
        </p:spPr>
        <p:txBody>
          <a:bodyPr wrap="square" lIns="0" tIns="0" rIns="0" bIns="0" rtlCol="0" anchor="ctr"/>
          <a:lstStyle/>
          <a:p>
            <a:pPr indent="0" marL="0">
              <a:buNone/>
            </a:pPr>
            <a:r>
              <a:rPr lang="en-US" sz="1500" dirty="0">
                <a:solidFill>
                  <a:srgbClr val="D8E6F2"/>
                </a:solidFill>
                <a:latin typeface="Calibri" pitchFamily="34" charset="0"/>
                <a:ea typeface="Calibri" pitchFamily="34" charset="-122"/>
                <a:cs typeface="Calibri" pitchFamily="34" charset="-120"/>
              </a:rPr>
              <a:t>Volumes, PersistentVolumes, Claims, StorageClasses and CSI</a:t>
            </a:r>
            <a:endParaRPr lang="en-US" sz="1500" dirty="0"/>
          </a:p>
        </p:txBody>
      </p:sp>
      <p:sp>
        <p:nvSpPr>
          <p:cNvPr id="6" name="Text 4"/>
          <p:cNvSpPr/>
          <p:nvPr/>
        </p:nvSpPr>
        <p:spPr>
          <a:xfrm>
            <a:off x="566928" y="4709160"/>
            <a:ext cx="7498080" cy="274320"/>
          </a:xfrm>
          <a:prstGeom prst="rect">
            <a:avLst/>
          </a:prstGeom>
          <a:noFill/>
          <a:ln/>
        </p:spPr>
        <p:txBody>
          <a:bodyPr wrap="square" lIns="0" tIns="0" rIns="0" bIns="0" rtlCol="0" anchor="ctr"/>
          <a:lstStyle/>
          <a:p>
            <a:pPr indent="0" marL="0">
              <a:buNone/>
            </a:pPr>
            <a:r>
              <a:rPr lang="en-US" sz="1100" b="1" dirty="0">
                <a:solidFill>
                  <a:srgbClr val="F2A03D"/>
                </a:solidFill>
                <a:latin typeface="Calibri" pitchFamily="34" charset="0"/>
                <a:ea typeface="Calibri" pitchFamily="34" charset="-122"/>
                <a:cs typeface="Calibri" pitchFamily="34" charset="-120"/>
              </a:rPr>
              <a:t>By the end of this module you will be able to:</a:t>
            </a:r>
            <a:endParaRPr lang="en-US" sz="1100" dirty="0"/>
          </a:p>
        </p:txBody>
      </p:sp>
      <p:sp>
        <p:nvSpPr>
          <p:cNvPr id="7" name="Text 5"/>
          <p:cNvSpPr/>
          <p:nvPr/>
        </p:nvSpPr>
        <p:spPr>
          <a:xfrm>
            <a:off x="658368" y="4983480"/>
            <a:ext cx="7498080" cy="10972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Distinguish ephemeral from persistent storage</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Explain the PV/PVC claim-binding contract</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Explain WaitForFirstConsumer by describing the failure it prevents</a:t>
            </a:r>
            <a:endParaRPr lang="en-US" sz="1200" dirty="0"/>
          </a:p>
        </p:txBody>
      </p:sp>
      <p:sp>
        <p:nvSpPr>
          <p:cNvPr id="8" name="Text 6"/>
          <p:cNvSpPr/>
          <p:nvPr/>
        </p:nvSpPr>
        <p:spPr>
          <a:xfrm>
            <a:off x="9814255" y="5989320"/>
            <a:ext cx="1828800" cy="320040"/>
          </a:xfrm>
          <a:prstGeom prst="rect">
            <a:avLst/>
          </a:prstGeom>
          <a:noFill/>
          <a:ln/>
        </p:spPr>
        <p:txBody>
          <a:bodyPr wrap="square" lIns="0" tIns="0" rIns="0" bIns="0" rtlCol="0" anchor="ctr"/>
          <a:lstStyle/>
          <a:p>
            <a:pPr algn="r" indent="0" marL="0">
              <a:buNone/>
            </a:pPr>
            <a:r>
              <a:rPr lang="en-US" sz="1100" dirty="0">
                <a:solidFill>
                  <a:srgbClr val="63758B"/>
                </a:solidFill>
                <a:latin typeface="Calibri" pitchFamily="34" charset="0"/>
                <a:ea typeface="Calibri" pitchFamily="34" charset="-122"/>
                <a:cs typeface="Calibri" pitchFamily="34" charset="-120"/>
              </a:rPr>
              <a:t>95 min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1856232"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1856232"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M3.3 · STORAGE</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Access modes — the most misread field in Kubernetes</a:t>
            </a:r>
            <a:endParaRPr lang="en-US" sz="3200" dirty="0"/>
          </a:p>
        </p:txBody>
      </p:sp>
      <p:sp>
        <p:nvSpPr>
          <p:cNvPr id="5" name="Shape 3"/>
          <p:cNvSpPr/>
          <p:nvPr/>
        </p:nvSpPr>
        <p:spPr>
          <a:xfrm>
            <a:off x="566928" y="1737360"/>
            <a:ext cx="11057839" cy="566928"/>
          </a:xfrm>
          <a:prstGeom prst="roundRect">
            <a:avLst>
              <a:gd name="adj" fmla="val 12903"/>
            </a:avLst>
          </a:prstGeom>
          <a:solidFill>
            <a:srgbClr val="EAF1F8"/>
          </a:solidFill>
          <a:ln w="12700">
            <a:solidFill>
              <a:srgbClr val="1C7293"/>
            </a:solidFill>
            <a:prstDash val="solid"/>
          </a:ln>
        </p:spPr>
      </p:sp>
      <p:sp>
        <p:nvSpPr>
          <p:cNvPr id="6" name="Text 4"/>
          <p:cNvSpPr/>
          <p:nvPr/>
        </p:nvSpPr>
        <p:spPr>
          <a:xfrm>
            <a:off x="768096" y="1737360"/>
            <a:ext cx="10655503" cy="566928"/>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ReadWriteOnce. Once what?</a:t>
            </a:r>
            <a:endParaRPr lang="en-US" sz="1500" dirty="0"/>
          </a:p>
        </p:txBody>
      </p:sp>
      <p:sp>
        <p:nvSpPr>
          <p:cNvPr id="7" name="Shape 5"/>
          <p:cNvSpPr/>
          <p:nvPr/>
        </p:nvSpPr>
        <p:spPr>
          <a:xfrm>
            <a:off x="566928" y="2712339"/>
            <a:ext cx="402336" cy="402336"/>
          </a:xfrm>
          <a:prstGeom prst="ellipse">
            <a:avLst/>
          </a:prstGeom>
          <a:solidFill>
            <a:srgbClr val="C97B1E"/>
          </a:solidFill>
          <a:ln w="12700">
            <a:solidFill>
              <a:srgbClr val="C97B1E"/>
            </a:solidFill>
            <a:prstDash val="solid"/>
          </a:ln>
        </p:spPr>
      </p:sp>
      <p:sp>
        <p:nvSpPr>
          <p:cNvPr id="8" name="Text 6"/>
          <p:cNvSpPr/>
          <p:nvPr/>
        </p:nvSpPr>
        <p:spPr>
          <a:xfrm>
            <a:off x="566928" y="2712339"/>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9" name="Text 7"/>
          <p:cNvSpPr/>
          <p:nvPr/>
        </p:nvSpPr>
        <p:spPr>
          <a:xfrm>
            <a:off x="1133856" y="2487168"/>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ReadWriteOnce (RWO)</a:t>
            </a:r>
            <a:endParaRPr lang="en-US" sz="1400" dirty="0"/>
          </a:p>
        </p:txBody>
      </p:sp>
      <p:sp>
        <p:nvSpPr>
          <p:cNvPr id="10" name="Text 8"/>
          <p:cNvSpPr/>
          <p:nvPr/>
        </p:nvSpPr>
        <p:spPr>
          <a:xfrm>
            <a:off x="4407408" y="2487168"/>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One NODE may mount it read-write. NOT one pod — several pods scheduled onto the SAME node can share an RWO volume quite happily. This surprises almost everyone.</a:t>
            </a:r>
            <a:endParaRPr lang="en-US" sz="1250" dirty="0"/>
          </a:p>
        </p:txBody>
      </p:sp>
      <p:sp>
        <p:nvSpPr>
          <p:cNvPr id="11" name="Shape 9"/>
          <p:cNvSpPr/>
          <p:nvPr/>
        </p:nvSpPr>
        <p:spPr>
          <a:xfrm>
            <a:off x="566928" y="3565017"/>
            <a:ext cx="402336" cy="402336"/>
          </a:xfrm>
          <a:prstGeom prst="ellipse">
            <a:avLst/>
          </a:prstGeom>
          <a:solidFill>
            <a:srgbClr val="1C7293"/>
          </a:solidFill>
          <a:ln w="12700">
            <a:solidFill>
              <a:srgbClr val="1C7293"/>
            </a:solidFill>
            <a:prstDash val="solid"/>
          </a:ln>
        </p:spPr>
      </p:sp>
      <p:sp>
        <p:nvSpPr>
          <p:cNvPr id="12" name="Text 10"/>
          <p:cNvSpPr/>
          <p:nvPr/>
        </p:nvSpPr>
        <p:spPr>
          <a:xfrm>
            <a:off x="566928" y="3565017"/>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133856" y="3339846"/>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ReadOnlyMany (ROX)</a:t>
            </a:r>
            <a:endParaRPr lang="en-US" sz="1400" dirty="0"/>
          </a:p>
        </p:txBody>
      </p:sp>
      <p:sp>
        <p:nvSpPr>
          <p:cNvPr id="14" name="Text 12"/>
          <p:cNvSpPr/>
          <p:nvPr/>
        </p:nvSpPr>
        <p:spPr>
          <a:xfrm>
            <a:off x="4407408" y="3339846"/>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Many nodes, read-only. Useful for shared static content; useless for a database.</a:t>
            </a:r>
            <a:endParaRPr lang="en-US" sz="1250" dirty="0"/>
          </a:p>
        </p:txBody>
      </p:sp>
      <p:sp>
        <p:nvSpPr>
          <p:cNvPr id="15" name="Shape 13"/>
          <p:cNvSpPr/>
          <p:nvPr/>
        </p:nvSpPr>
        <p:spPr>
          <a:xfrm>
            <a:off x="566928" y="4417695"/>
            <a:ext cx="402336" cy="402336"/>
          </a:xfrm>
          <a:prstGeom prst="ellipse">
            <a:avLst/>
          </a:prstGeom>
          <a:solidFill>
            <a:srgbClr val="D64545"/>
          </a:solidFill>
          <a:ln w="12700">
            <a:solidFill>
              <a:srgbClr val="D64545"/>
            </a:solidFill>
            <a:prstDash val="solid"/>
          </a:ln>
        </p:spPr>
      </p:sp>
      <p:sp>
        <p:nvSpPr>
          <p:cNvPr id="16" name="Text 14"/>
          <p:cNvSpPr/>
          <p:nvPr/>
        </p:nvSpPr>
        <p:spPr>
          <a:xfrm>
            <a:off x="566928" y="4417695"/>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p:nvPr/>
        </p:nvSpPr>
        <p:spPr>
          <a:xfrm>
            <a:off x="1133856" y="4192524"/>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ReadWriteMany (RWX)</a:t>
            </a:r>
            <a:endParaRPr lang="en-US" sz="1400" dirty="0"/>
          </a:p>
        </p:txBody>
      </p:sp>
      <p:sp>
        <p:nvSpPr>
          <p:cNvPr id="18" name="Text 16"/>
          <p:cNvSpPr/>
          <p:nvPr/>
        </p:nvSpPr>
        <p:spPr>
          <a:xfrm>
            <a:off x="4407408" y="4192524"/>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Many nodes, read-write. Requires a filesystem that supports it — NFS, CephFS, Azure Files. Most BLOCK storage (EBS, GCE PD) physically cannot do this, and asking for it just leaves the claim Pending.</a:t>
            </a:r>
            <a:endParaRPr lang="en-US" sz="1250" dirty="0"/>
          </a:p>
        </p:txBody>
      </p:sp>
      <p:sp>
        <p:nvSpPr>
          <p:cNvPr id="19" name="Shape 17"/>
          <p:cNvSpPr/>
          <p:nvPr/>
        </p:nvSpPr>
        <p:spPr>
          <a:xfrm>
            <a:off x="566928" y="5270373"/>
            <a:ext cx="402336" cy="402336"/>
          </a:xfrm>
          <a:prstGeom prst="ellipse">
            <a:avLst/>
          </a:prstGeom>
          <a:solidFill>
            <a:srgbClr val="2E9E63"/>
          </a:solidFill>
          <a:ln w="12700">
            <a:solidFill>
              <a:srgbClr val="2E9E63"/>
            </a:solidFill>
            <a:prstDash val="solid"/>
          </a:ln>
        </p:spPr>
      </p:sp>
      <p:sp>
        <p:nvSpPr>
          <p:cNvPr id="20" name="Text 18"/>
          <p:cNvSpPr/>
          <p:nvPr/>
        </p:nvSpPr>
        <p:spPr>
          <a:xfrm>
            <a:off x="566928" y="5270373"/>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1" name="Text 19"/>
          <p:cNvSpPr/>
          <p:nvPr/>
        </p:nvSpPr>
        <p:spPr>
          <a:xfrm>
            <a:off x="1133856" y="5045202"/>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ReadWriteOncePod</a:t>
            </a:r>
            <a:endParaRPr lang="en-US" sz="1400" dirty="0"/>
          </a:p>
        </p:txBody>
      </p:sp>
      <p:sp>
        <p:nvSpPr>
          <p:cNvPr id="22" name="Text 20"/>
          <p:cNvSpPr/>
          <p:nvPr/>
        </p:nvSpPr>
        <p:spPr>
          <a:xfrm>
            <a:off x="4407408" y="5045202"/>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Genuinely one pod. This is what people usually meant when they wrote RWO. Added because the misreading above was so common.</a:t>
            </a:r>
            <a:endParaRPr lang="en-US" sz="1250" dirty="0"/>
          </a:p>
        </p:txBody>
      </p:sp>
      <p:sp>
        <p:nvSpPr>
          <p:cNvPr id="23" name="Text 21"/>
          <p:cNvSpPr/>
          <p:nvPr/>
        </p:nvSpPr>
        <p:spPr>
          <a:xfrm>
            <a:off x="566928" y="5687568"/>
            <a:ext cx="11057839" cy="548640"/>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The mode is a property of the STORAGE, not a wish. Ask for RWX on block storage and your PVC stays Pending with no obvious reason.</a:t>
            </a:r>
            <a:endParaRPr lang="en-US" sz="1400" dirty="0"/>
          </a:p>
        </p:txBody>
      </p:sp>
      <p:sp>
        <p:nvSpPr>
          <p:cNvPr id="24" name="Text 22"/>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25" name="Text 23"/>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1856232"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1856232"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M3.4 · STORAGE</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WaitForFirstConsumer — explained by the failure it prevents</a:t>
            </a:r>
            <a:endParaRPr lang="en-US" sz="3200" dirty="0"/>
          </a:p>
        </p:txBody>
      </p:sp>
      <p:sp>
        <p:nvSpPr>
          <p:cNvPr id="5" name="Shape 3"/>
          <p:cNvSpPr/>
          <p:nvPr/>
        </p:nvSpPr>
        <p:spPr>
          <a:xfrm>
            <a:off x="566928" y="1737360"/>
            <a:ext cx="11057839" cy="566928"/>
          </a:xfrm>
          <a:prstGeom prst="roundRect">
            <a:avLst>
              <a:gd name="adj" fmla="val 12903"/>
            </a:avLst>
          </a:prstGeom>
          <a:solidFill>
            <a:srgbClr val="EAF1F8"/>
          </a:solidFill>
          <a:ln w="12700">
            <a:solidFill>
              <a:srgbClr val="1C7293"/>
            </a:solidFill>
            <a:prstDash val="solid"/>
          </a:ln>
        </p:spPr>
      </p:sp>
      <p:sp>
        <p:nvSpPr>
          <p:cNvPr id="6" name="Text 4"/>
          <p:cNvSpPr/>
          <p:nvPr/>
        </p:nvSpPr>
        <p:spPr>
          <a:xfrm>
            <a:off x="768096" y="1737360"/>
            <a:ext cx="10655503" cy="566928"/>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Why would you deliberately delay binding a volume?</a:t>
            </a:r>
            <a:endParaRPr lang="en-US" sz="1500" dirty="0"/>
          </a:p>
        </p:txBody>
      </p:sp>
      <p:sp>
        <p:nvSpPr>
          <p:cNvPr id="7" name="Shape 5"/>
          <p:cNvSpPr/>
          <p:nvPr/>
        </p:nvSpPr>
        <p:spPr>
          <a:xfrm>
            <a:off x="566928" y="2712339"/>
            <a:ext cx="402336" cy="402336"/>
          </a:xfrm>
          <a:prstGeom prst="ellipse">
            <a:avLst/>
          </a:prstGeom>
          <a:solidFill>
            <a:srgbClr val="C97B1E"/>
          </a:solidFill>
          <a:ln w="12700">
            <a:solidFill>
              <a:srgbClr val="C97B1E"/>
            </a:solidFill>
            <a:prstDash val="solid"/>
          </a:ln>
        </p:spPr>
      </p:sp>
      <p:sp>
        <p:nvSpPr>
          <p:cNvPr id="8" name="Text 6"/>
          <p:cNvSpPr/>
          <p:nvPr/>
        </p:nvSpPr>
        <p:spPr>
          <a:xfrm>
            <a:off x="566928" y="2712339"/>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9" name="Text 7"/>
          <p:cNvSpPr/>
          <p:nvPr/>
        </p:nvSpPr>
        <p:spPr>
          <a:xfrm>
            <a:off x="1133856" y="2487168"/>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With Immediate binding</a:t>
            </a:r>
            <a:endParaRPr lang="en-US" sz="1400" dirty="0"/>
          </a:p>
        </p:txBody>
      </p:sp>
      <p:sp>
        <p:nvSpPr>
          <p:cNvPr id="10" name="Text 8"/>
          <p:cNvSpPr/>
          <p:nvPr/>
        </p:nvSpPr>
        <p:spPr>
          <a:xfrm>
            <a:off x="4407408" y="2487168"/>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The PVC is created and the provisioner immediately makes a volume — on whichever node it chooses. Nothing has considered where the pod will run, because the pod does not exist yet.</a:t>
            </a:r>
            <a:endParaRPr lang="en-US" sz="1250" dirty="0"/>
          </a:p>
        </p:txBody>
      </p:sp>
      <p:sp>
        <p:nvSpPr>
          <p:cNvPr id="11" name="Shape 9"/>
          <p:cNvSpPr/>
          <p:nvPr/>
        </p:nvSpPr>
        <p:spPr>
          <a:xfrm>
            <a:off x="566928" y="3565017"/>
            <a:ext cx="402336" cy="402336"/>
          </a:xfrm>
          <a:prstGeom prst="ellipse">
            <a:avLst/>
          </a:prstGeom>
          <a:solidFill>
            <a:srgbClr val="C97B1E"/>
          </a:solidFill>
          <a:ln w="12700">
            <a:solidFill>
              <a:srgbClr val="C97B1E"/>
            </a:solidFill>
            <a:prstDash val="solid"/>
          </a:ln>
        </p:spPr>
      </p:sp>
      <p:sp>
        <p:nvSpPr>
          <p:cNvPr id="12" name="Text 10"/>
          <p:cNvSpPr/>
          <p:nvPr/>
        </p:nvSpPr>
        <p:spPr>
          <a:xfrm>
            <a:off x="566928" y="3565017"/>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133856" y="3339846"/>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The scheduler then decides separately</a:t>
            </a:r>
            <a:endParaRPr lang="en-US" sz="1400" dirty="0"/>
          </a:p>
        </p:txBody>
      </p:sp>
      <p:sp>
        <p:nvSpPr>
          <p:cNvPr id="14" name="Text 12"/>
          <p:cNvSpPr/>
          <p:nvPr/>
        </p:nvSpPr>
        <p:spPr>
          <a:xfrm>
            <a:off x="4407408" y="3339846"/>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Later the pod is created and the scheduler places it using CPU, memory, affinity, taints and spread constraints. It may well pick a different node.</a:t>
            </a:r>
            <a:endParaRPr lang="en-US" sz="1250" dirty="0"/>
          </a:p>
        </p:txBody>
      </p:sp>
      <p:sp>
        <p:nvSpPr>
          <p:cNvPr id="15" name="Shape 13"/>
          <p:cNvSpPr/>
          <p:nvPr/>
        </p:nvSpPr>
        <p:spPr>
          <a:xfrm>
            <a:off x="566928" y="4417695"/>
            <a:ext cx="402336" cy="402336"/>
          </a:xfrm>
          <a:prstGeom prst="ellipse">
            <a:avLst/>
          </a:prstGeom>
          <a:solidFill>
            <a:srgbClr val="D64545"/>
          </a:solidFill>
          <a:ln w="12700">
            <a:solidFill>
              <a:srgbClr val="D64545"/>
            </a:solidFill>
            <a:prstDash val="solid"/>
          </a:ln>
        </p:spPr>
      </p:sp>
      <p:sp>
        <p:nvSpPr>
          <p:cNvPr id="16" name="Text 14"/>
          <p:cNvSpPr/>
          <p:nvPr/>
        </p:nvSpPr>
        <p:spPr>
          <a:xfrm>
            <a:off x="566928" y="4417695"/>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p:nvPr/>
        </p:nvSpPr>
        <p:spPr>
          <a:xfrm>
            <a:off x="1133856" y="4192524"/>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The pod can never start</a:t>
            </a:r>
            <a:endParaRPr lang="en-US" sz="1400" dirty="0"/>
          </a:p>
        </p:txBody>
      </p:sp>
      <p:sp>
        <p:nvSpPr>
          <p:cNvPr id="18" name="Text 16"/>
          <p:cNvSpPr/>
          <p:nvPr/>
        </p:nvSpPr>
        <p:spPr>
          <a:xfrm>
            <a:off x="4407408" y="4192524"/>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0/3 nodes are available: 3 node(s) had volume node affinity conflict. The volume is on node A; the pod must run on node B; neither will move. It is stuck permanently.</a:t>
            </a:r>
            <a:endParaRPr lang="en-US" sz="1250" dirty="0"/>
          </a:p>
        </p:txBody>
      </p:sp>
      <p:sp>
        <p:nvSpPr>
          <p:cNvPr id="19" name="Shape 17"/>
          <p:cNvSpPr/>
          <p:nvPr/>
        </p:nvSpPr>
        <p:spPr>
          <a:xfrm>
            <a:off x="566928" y="5270373"/>
            <a:ext cx="402336" cy="402336"/>
          </a:xfrm>
          <a:prstGeom prst="ellipse">
            <a:avLst/>
          </a:prstGeom>
          <a:solidFill>
            <a:srgbClr val="2E9E63"/>
          </a:solidFill>
          <a:ln w="12700">
            <a:solidFill>
              <a:srgbClr val="2E9E63"/>
            </a:solidFill>
            <a:prstDash val="solid"/>
          </a:ln>
        </p:spPr>
      </p:sp>
      <p:sp>
        <p:nvSpPr>
          <p:cNvPr id="20" name="Text 18"/>
          <p:cNvSpPr/>
          <p:nvPr/>
        </p:nvSpPr>
        <p:spPr>
          <a:xfrm>
            <a:off x="566928" y="5270373"/>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1" name="Text 19"/>
          <p:cNvSpPr/>
          <p:nvPr/>
        </p:nvSpPr>
        <p:spPr>
          <a:xfrm>
            <a:off x="1133856" y="5045202"/>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WaitForFirstConsumer</a:t>
            </a:r>
            <a:endParaRPr lang="en-US" sz="1400" dirty="0"/>
          </a:p>
        </p:txBody>
      </p:sp>
      <p:sp>
        <p:nvSpPr>
          <p:cNvPr id="22" name="Text 20"/>
          <p:cNvSpPr/>
          <p:nvPr/>
        </p:nvSpPr>
        <p:spPr>
          <a:xfrm>
            <a:off x="4407408" y="5045202"/>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The PVC stays Pending until a pod actually needs it. The scheduler decides FIRST, then the volume is provisioned on the node that was chosen. Storage and scheduling agree by construction.</a:t>
            </a:r>
            <a:endParaRPr lang="en-US" sz="1250" dirty="0"/>
          </a:p>
        </p:txBody>
      </p:sp>
      <p:sp>
        <p:nvSpPr>
          <p:cNvPr id="23" name="Text 21"/>
          <p:cNvSpPr/>
          <p:nvPr/>
        </p:nvSpPr>
        <p:spPr>
          <a:xfrm>
            <a:off x="566928" y="5687568"/>
            <a:ext cx="11057839" cy="548640"/>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On a multi-node cluster with node-local storage this is not an optimisation. It is the difference between working and not.</a:t>
            </a:r>
            <a:endParaRPr lang="en-US" sz="1400" dirty="0"/>
          </a:p>
        </p:txBody>
      </p:sp>
      <p:sp>
        <p:nvSpPr>
          <p:cNvPr id="24" name="Text 22"/>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25" name="Text 23"/>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435608" cy="292608"/>
          </a:xfrm>
          <a:prstGeom prst="roundRect">
            <a:avLst>
              <a:gd name="adj" fmla="val 50000"/>
            </a:avLst>
          </a:prstGeom>
          <a:solidFill>
            <a:srgbClr val="2E9E63"/>
          </a:solidFill>
          <a:ln w="12700">
            <a:solidFill>
              <a:srgbClr val="2E9E63"/>
            </a:solidFill>
            <a:prstDash val="solid"/>
          </a:ln>
        </p:spPr>
      </p:sp>
      <p:sp>
        <p:nvSpPr>
          <p:cNvPr id="3" name="Text 1"/>
          <p:cNvSpPr/>
          <p:nvPr/>
        </p:nvSpPr>
        <p:spPr>
          <a:xfrm>
            <a:off x="566928" y="384048"/>
            <a:ext cx="1435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GUIDED LAB</a:t>
            </a:r>
            <a:endParaRPr lang="en-US" sz="1100" dirty="0"/>
          </a:p>
        </p:txBody>
      </p:sp>
      <p:sp>
        <p:nvSpPr>
          <p:cNvPr id="4" name="Text 2"/>
          <p:cNvSpPr/>
          <p:nvPr/>
        </p:nvSpPr>
        <p:spPr>
          <a:xfrm>
            <a:off x="566928" y="914400"/>
            <a:ext cx="2743200" cy="777240"/>
          </a:xfrm>
          <a:prstGeom prst="rect">
            <a:avLst/>
          </a:prstGeom>
          <a:noFill/>
          <a:ln/>
        </p:spPr>
        <p:txBody>
          <a:bodyPr wrap="square" lIns="0" tIns="0" rIns="0" bIns="0" rtlCol="0" anchor="ctr"/>
          <a:lstStyle/>
          <a:p>
            <a:pPr indent="0" marL="0">
              <a:buNone/>
            </a:pPr>
            <a:r>
              <a:rPr lang="en-US" sz="4000" b="1" dirty="0">
                <a:solidFill>
                  <a:srgbClr val="2E9E63"/>
                </a:solidFill>
                <a:latin typeface="Cambria" pitchFamily="34" charset="0"/>
                <a:ea typeface="Cambria" pitchFamily="34" charset="-122"/>
                <a:cs typeface="Cambria" pitchFamily="34" charset="-120"/>
              </a:rPr>
              <a:t>L3.3 + L3.4</a:t>
            </a:r>
            <a:endParaRPr lang="en-US" sz="4000" dirty="0"/>
          </a:p>
        </p:txBody>
      </p:sp>
      <p:sp>
        <p:nvSpPr>
          <p:cNvPr id="5" name="Text 3"/>
          <p:cNvSpPr/>
          <p:nvPr/>
        </p:nvSpPr>
        <p:spPr>
          <a:xfrm>
            <a:off x="566928" y="1691640"/>
            <a:ext cx="11057839"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Storage: claims, binding and dynamic provisioning</a:t>
            </a:r>
            <a:endParaRPr lang="en-US" sz="3000" dirty="0"/>
          </a:p>
        </p:txBody>
      </p:sp>
      <p:sp>
        <p:nvSpPr>
          <p:cNvPr id="6" name="Shape 4"/>
          <p:cNvSpPr/>
          <p:nvPr/>
        </p:nvSpPr>
        <p:spPr>
          <a:xfrm>
            <a:off x="566928" y="2560320"/>
            <a:ext cx="5577840" cy="2834640"/>
          </a:xfrm>
          <a:prstGeom prst="roundRect">
            <a:avLst>
              <a:gd name="adj" fmla="val 3226"/>
            </a:avLst>
          </a:prstGeom>
          <a:solidFill>
            <a:srgbClr val="12314F"/>
          </a:solidFill>
          <a:ln w="12700">
            <a:solidFill>
              <a:srgbClr val="1B4066"/>
            </a:solidFill>
            <a:prstDash val="solid"/>
          </a:ln>
        </p:spPr>
      </p:sp>
      <p:sp>
        <p:nvSpPr>
          <p:cNvPr id="7" name="Text 5"/>
          <p:cNvSpPr/>
          <p:nvPr/>
        </p:nvSpPr>
        <p:spPr>
          <a:xfrm>
            <a:off x="841248" y="2724912"/>
            <a:ext cx="5029200" cy="274320"/>
          </a:xfrm>
          <a:prstGeom prst="rect">
            <a:avLst/>
          </a:prstGeom>
          <a:noFill/>
          <a:ln/>
        </p:spPr>
        <p:txBody>
          <a:bodyPr wrap="square" lIns="0" tIns="0" rIns="0" bIns="0" rtlCol="0" anchor="ctr"/>
          <a:lstStyle/>
          <a:p>
            <a:pPr indent="0" marL="0">
              <a:buNone/>
            </a:pPr>
            <a:r>
              <a:rPr lang="en-US" sz="1000" b="1" spc="100" kern="0" dirty="0">
                <a:solidFill>
                  <a:srgbClr val="F2A03D"/>
                </a:solidFill>
                <a:latin typeface="Calibri" pitchFamily="34" charset="0"/>
                <a:ea typeface="Calibri" pitchFamily="34" charset="-122"/>
                <a:cs typeface="Calibri" pitchFamily="34" charset="-120"/>
              </a:rPr>
              <a:t>YOU WILL</a:t>
            </a:r>
            <a:endParaRPr lang="en-US" sz="1000" dirty="0"/>
          </a:p>
        </p:txBody>
      </p:sp>
      <p:sp>
        <p:nvSpPr>
          <p:cNvPr id="8" name="Text 6"/>
          <p:cNvSpPr/>
          <p:nvPr/>
        </p:nvSpPr>
        <p:spPr>
          <a:xfrm>
            <a:off x="886968" y="3017520"/>
            <a:ext cx="5029200" cy="219456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Watch ephemeral data vanish, then persist it</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Bind a static PV to a PVC and survive pod deletion</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Provision dynamically with no PV written by hand</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See WaitForFirstConsumer keep a PVC Pending — correctly</a:t>
            </a:r>
            <a:endParaRPr lang="en-US" sz="1300" dirty="0"/>
          </a:p>
        </p:txBody>
      </p:sp>
      <p:sp>
        <p:nvSpPr>
          <p:cNvPr id="9" name="Shape 7"/>
          <p:cNvSpPr/>
          <p:nvPr/>
        </p:nvSpPr>
        <p:spPr>
          <a:xfrm>
            <a:off x="6464808" y="2560320"/>
            <a:ext cx="5120640" cy="2834640"/>
          </a:xfrm>
          <a:prstGeom prst="roundRect">
            <a:avLst>
              <a:gd name="adj" fmla="val 3226"/>
            </a:avLst>
          </a:prstGeom>
          <a:solidFill>
            <a:srgbClr val="12314F"/>
          </a:solidFill>
          <a:ln w="12700">
            <a:solidFill>
              <a:srgbClr val="1B4066"/>
            </a:solidFill>
            <a:prstDash val="solid"/>
          </a:ln>
        </p:spPr>
      </p:sp>
      <p:sp>
        <p:nvSpPr>
          <p:cNvPr id="10" name="Text 8"/>
          <p:cNvSpPr/>
          <p:nvPr/>
        </p:nvSpPr>
        <p:spPr>
          <a:xfrm>
            <a:off x="6739128" y="2724912"/>
            <a:ext cx="4572000" cy="274320"/>
          </a:xfrm>
          <a:prstGeom prst="rect">
            <a:avLst/>
          </a:prstGeom>
          <a:noFill/>
          <a:ln/>
        </p:spPr>
        <p:txBody>
          <a:bodyPr wrap="square" lIns="0" tIns="0" rIns="0" bIns="0" rtlCol="0" anchor="ctr"/>
          <a:lstStyle/>
          <a:p>
            <a:pPr indent="0" marL="0">
              <a:buNone/>
            </a:pPr>
            <a:r>
              <a:rPr lang="en-US" sz="1000" b="1" spc="100" kern="0" dirty="0">
                <a:solidFill>
                  <a:srgbClr val="2E9E63"/>
                </a:solidFill>
                <a:latin typeface="Calibri" pitchFamily="34" charset="0"/>
                <a:ea typeface="Calibri" pitchFamily="34" charset="-122"/>
                <a:cs typeface="Calibri" pitchFamily="34" charset="-120"/>
              </a:rPr>
              <a:t>DONE WHEN</a:t>
            </a:r>
            <a:endParaRPr lang="en-US" sz="1000" dirty="0"/>
          </a:p>
        </p:txBody>
      </p:sp>
      <p:sp>
        <p:nvSpPr>
          <p:cNvPr id="11" name="Text 9"/>
          <p:cNvSpPr/>
          <p:nvPr/>
        </p:nvSpPr>
        <p:spPr>
          <a:xfrm>
            <a:off x="6784848" y="3017520"/>
            <a:ext cx="4572000" cy="146304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PVC Bound</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Data survives pod deletion</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A PV exists that nobody wrote</a:t>
            </a:r>
            <a:endParaRPr lang="en-US" sz="1300" dirty="0"/>
          </a:p>
        </p:txBody>
      </p:sp>
      <p:sp>
        <p:nvSpPr>
          <p:cNvPr id="12" name="Shape 10"/>
          <p:cNvSpPr/>
          <p:nvPr/>
        </p:nvSpPr>
        <p:spPr>
          <a:xfrm>
            <a:off x="6739128" y="4617720"/>
            <a:ext cx="4572000" cy="566928"/>
          </a:xfrm>
          <a:prstGeom prst="roundRect">
            <a:avLst>
              <a:gd name="adj" fmla="val 12903"/>
            </a:avLst>
          </a:prstGeom>
          <a:solidFill>
            <a:srgbClr val="0E2740"/>
          </a:solidFill>
          <a:ln w="12700">
            <a:solidFill>
              <a:srgbClr val="1C7293"/>
            </a:solidFill>
            <a:prstDash val="solid"/>
          </a:ln>
        </p:spPr>
      </p:sp>
      <p:sp>
        <p:nvSpPr>
          <p:cNvPr id="13" name="Text 11"/>
          <p:cNvSpPr/>
          <p:nvPr/>
        </p:nvSpPr>
        <p:spPr>
          <a:xfrm>
            <a:off x="6876288" y="4617720"/>
            <a:ext cx="4297680" cy="566928"/>
          </a:xfrm>
          <a:prstGeom prst="rect">
            <a:avLst/>
          </a:prstGeom>
          <a:noFill/>
          <a:ln/>
        </p:spPr>
        <p:txBody>
          <a:bodyPr wrap="square" lIns="0" tIns="0" rIns="0" bIns="0" rtlCol="0" anchor="ctr"/>
          <a:lstStyle/>
          <a:p>
            <a:pPr indent="0" marL="0">
              <a:buNone/>
            </a:pPr>
            <a:r>
              <a:rPr lang="en-US" sz="1150" dirty="0">
                <a:solidFill>
                  <a:srgbClr val="F2A03D"/>
                </a:solidFill>
                <a:latin typeface="Courier New" pitchFamily="34" charset="0"/>
                <a:ea typeface="Courier New" pitchFamily="34" charset="-122"/>
                <a:cs typeface="Courier New" pitchFamily="34" charset="-120"/>
              </a:rPr>
              <a:t>make validate-lab LAB=L3.3 &amp;&amp; make validate-lab LAB=L3.4</a:t>
            </a:r>
            <a:endParaRPr lang="en-US" sz="1150" dirty="0"/>
          </a:p>
        </p:txBody>
      </p:sp>
      <p:sp>
        <p:nvSpPr>
          <p:cNvPr id="14" name="Text 12"/>
          <p:cNvSpPr/>
          <p:nvPr/>
        </p:nvSpPr>
        <p:spPr>
          <a:xfrm>
            <a:off x="566928" y="5577840"/>
            <a:ext cx="11057839" cy="365760"/>
          </a:xfrm>
          <a:prstGeom prst="rect">
            <a:avLst/>
          </a:prstGeom>
          <a:noFill/>
          <a:ln/>
        </p:spPr>
        <p:txBody>
          <a:bodyPr wrap="square" lIns="0" tIns="0" rIns="0" bIns="0" rtlCol="0" anchor="ctr"/>
          <a:lstStyle/>
          <a:p>
            <a:pPr indent="0" marL="0">
              <a:buNone/>
            </a:pPr>
            <a:r>
              <a:rPr lang="en-US" sz="1200" dirty="0">
                <a:solidFill>
                  <a:srgbClr val="63758B"/>
                </a:solidFill>
                <a:latin typeface="Calibri" pitchFamily="34" charset="0"/>
                <a:ea typeface="Calibri" pitchFamily="34" charset="-122"/>
                <a:cs typeface="Calibri" pitchFamily="34" charset="-120"/>
              </a:rPr>
              <a:t>65 minutes   ·   labs/day3/L3.3-persistent-volumes/, L3.4-storageclass.md</a:t>
            </a:r>
            <a:endParaRPr lang="en-US" sz="1200" dirty="0"/>
          </a:p>
        </p:txBody>
      </p:sp>
      <p:sp>
        <p:nvSpPr>
          <p:cNvPr id="15" name="Text 1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16" name="Text 1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8351215" y="-1097280"/>
            <a:ext cx="5120640" cy="5120640"/>
          </a:xfrm>
          <a:prstGeom prst="ellipse">
            <a:avLst/>
          </a:prstGeom>
          <a:solidFill>
            <a:srgbClr val="12314F"/>
          </a:solidFill>
          <a:ln w="12700">
            <a:solidFill>
              <a:srgbClr val="12314F"/>
            </a:solidFill>
            <a:prstDash val="solid"/>
          </a:ln>
        </p:spPr>
      </p:sp>
      <p:sp>
        <p:nvSpPr>
          <p:cNvPr id="3" name="Text 1"/>
          <p:cNvSpPr/>
          <p:nvPr/>
        </p:nvSpPr>
        <p:spPr>
          <a:xfrm>
            <a:off x="566928" y="1600200"/>
            <a:ext cx="5669280" cy="1463040"/>
          </a:xfrm>
          <a:prstGeom prst="rect">
            <a:avLst/>
          </a:prstGeom>
          <a:noFill/>
          <a:ln/>
        </p:spPr>
        <p:txBody>
          <a:bodyPr wrap="square" lIns="0" tIns="0" rIns="0" bIns="0" rtlCol="0" anchor="ctr"/>
          <a:lstStyle/>
          <a:p>
            <a:pPr indent="0" marL="0">
              <a:buNone/>
            </a:pPr>
            <a:r>
              <a:rPr lang="en-US" sz="4000" b="1" dirty="0">
                <a:solidFill>
                  <a:srgbClr val="F2A03D"/>
                </a:solidFill>
                <a:latin typeface="Cambria" pitchFamily="34" charset="0"/>
                <a:ea typeface="Cambria" pitchFamily="34" charset="-122"/>
                <a:cs typeface="Cambria" pitchFamily="34" charset="-120"/>
              </a:rPr>
              <a:t>M3.5 – M3.6</a:t>
            </a:r>
            <a:endParaRPr lang="en-US" sz="4000" dirty="0"/>
          </a:p>
        </p:txBody>
      </p:sp>
      <p:sp>
        <p:nvSpPr>
          <p:cNvPr id="4" name="Text 2"/>
          <p:cNvSpPr/>
          <p:nvPr/>
        </p:nvSpPr>
        <p:spPr>
          <a:xfrm>
            <a:off x="566928" y="2971800"/>
            <a:ext cx="786384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data tier and StatefulSets</a:t>
            </a:r>
            <a:endParaRPr lang="en-US" sz="3800" dirty="0"/>
          </a:p>
        </p:txBody>
      </p:sp>
      <p:sp>
        <p:nvSpPr>
          <p:cNvPr id="5" name="Text 3"/>
          <p:cNvSpPr/>
          <p:nvPr/>
        </p:nvSpPr>
        <p:spPr>
          <a:xfrm>
            <a:off x="566928" y="3886200"/>
            <a:ext cx="7498080" cy="822960"/>
          </a:xfrm>
          <a:prstGeom prst="rect">
            <a:avLst/>
          </a:prstGeom>
          <a:noFill/>
          <a:ln/>
        </p:spPr>
        <p:txBody>
          <a:bodyPr wrap="square" lIns="0" tIns="0" rIns="0" bIns="0" rtlCol="0" anchor="ctr"/>
          <a:lstStyle/>
          <a:p>
            <a:pPr indent="0" marL="0">
              <a:buNone/>
            </a:pPr>
            <a:r>
              <a:rPr lang="en-US" sz="1500" dirty="0">
                <a:solidFill>
                  <a:srgbClr val="D8E6F2"/>
                </a:solidFill>
                <a:latin typeface="Calibri" pitchFamily="34" charset="0"/>
                <a:ea typeface="Calibri" pitchFamily="34" charset="-122"/>
                <a:cs typeface="Calibri" pitchFamily="34" charset="-120"/>
              </a:rPr>
              <a:t>PostgreSQL, Redis, RabbitMQ — and why a database cannot be a Deployment</a:t>
            </a:r>
            <a:endParaRPr lang="en-US" sz="1500" dirty="0"/>
          </a:p>
        </p:txBody>
      </p:sp>
      <p:sp>
        <p:nvSpPr>
          <p:cNvPr id="6" name="Text 4"/>
          <p:cNvSpPr/>
          <p:nvPr/>
        </p:nvSpPr>
        <p:spPr>
          <a:xfrm>
            <a:off x="566928" y="4709160"/>
            <a:ext cx="7498080" cy="274320"/>
          </a:xfrm>
          <a:prstGeom prst="rect">
            <a:avLst/>
          </a:prstGeom>
          <a:noFill/>
          <a:ln/>
        </p:spPr>
        <p:txBody>
          <a:bodyPr wrap="square" lIns="0" tIns="0" rIns="0" bIns="0" rtlCol="0" anchor="ctr"/>
          <a:lstStyle/>
          <a:p>
            <a:pPr indent="0" marL="0">
              <a:buNone/>
            </a:pPr>
            <a:r>
              <a:rPr lang="en-US" sz="1100" b="1" dirty="0">
                <a:solidFill>
                  <a:srgbClr val="F2A03D"/>
                </a:solidFill>
                <a:latin typeface="Calibri" pitchFamily="34" charset="0"/>
                <a:ea typeface="Calibri" pitchFamily="34" charset="-122"/>
                <a:cs typeface="Calibri" pitchFamily="34" charset="-120"/>
              </a:rPr>
              <a:t>By the end of this module you will be able to:</a:t>
            </a:r>
            <a:endParaRPr lang="en-US" sz="1100" dirty="0"/>
          </a:p>
        </p:txBody>
      </p:sp>
      <p:sp>
        <p:nvSpPr>
          <p:cNvPr id="7" name="Text 5"/>
          <p:cNvSpPr/>
          <p:nvPr/>
        </p:nvSpPr>
        <p:spPr>
          <a:xfrm>
            <a:off x="658368" y="4983480"/>
            <a:ext cx="7498080" cy="10972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Deploy the data tier with persistent storage and real seeded data</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Explain stable identity and stable storage from evidence</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Implement init containers for ordered startup</a:t>
            </a:r>
            <a:endParaRPr lang="en-US" sz="1200" dirty="0"/>
          </a:p>
        </p:txBody>
      </p:sp>
      <p:sp>
        <p:nvSpPr>
          <p:cNvPr id="8" name="Text 6"/>
          <p:cNvSpPr/>
          <p:nvPr/>
        </p:nvSpPr>
        <p:spPr>
          <a:xfrm>
            <a:off x="9814255" y="5989320"/>
            <a:ext cx="1828800" cy="320040"/>
          </a:xfrm>
          <a:prstGeom prst="rect">
            <a:avLst/>
          </a:prstGeom>
          <a:noFill/>
          <a:ln/>
        </p:spPr>
        <p:txBody>
          <a:bodyPr wrap="square" lIns="0" tIns="0" rIns="0" bIns="0" rtlCol="0" anchor="ctr"/>
          <a:lstStyle/>
          <a:p>
            <a:pPr algn="r" indent="0" marL="0">
              <a:buNone/>
            </a:pPr>
            <a:r>
              <a:rPr lang="en-US" sz="1100" dirty="0">
                <a:solidFill>
                  <a:srgbClr val="63758B"/>
                </a:solidFill>
                <a:latin typeface="Calibri" pitchFamily="34" charset="0"/>
                <a:ea typeface="Calibri" pitchFamily="34" charset="-122"/>
                <a:cs typeface="Calibri" pitchFamily="34" charset="-120"/>
              </a:rPr>
              <a:t>110 min</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2382012"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2382012"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M3.6 · STATEFULSETS</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Three guarantees a Deployment cannot give a database</a:t>
            </a:r>
            <a:endParaRPr lang="en-US" sz="3200" dirty="0"/>
          </a:p>
        </p:txBody>
      </p:sp>
      <p:sp>
        <p:nvSpPr>
          <p:cNvPr id="5" name="Shape 3"/>
          <p:cNvSpPr/>
          <p:nvPr/>
        </p:nvSpPr>
        <p:spPr>
          <a:xfrm>
            <a:off x="566928" y="1737360"/>
            <a:ext cx="11057839" cy="566928"/>
          </a:xfrm>
          <a:prstGeom prst="roundRect">
            <a:avLst>
              <a:gd name="adj" fmla="val 12903"/>
            </a:avLst>
          </a:prstGeom>
          <a:solidFill>
            <a:srgbClr val="EAF1F8"/>
          </a:solidFill>
          <a:ln w="12700">
            <a:solidFill>
              <a:srgbClr val="1C7293"/>
            </a:solidFill>
            <a:prstDash val="solid"/>
          </a:ln>
        </p:spPr>
      </p:sp>
      <p:sp>
        <p:nvSpPr>
          <p:cNvPr id="6" name="Text 4"/>
          <p:cNvSpPr/>
          <p:nvPr/>
        </p:nvSpPr>
        <p:spPr>
          <a:xfrm>
            <a:off x="768096" y="1737360"/>
            <a:ext cx="10655503" cy="566928"/>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In L3.6 step 1 you deploy PostgreSQL as a Deployment. Exactly what breaks?</a:t>
            </a:r>
            <a:endParaRPr lang="en-US" sz="1500" dirty="0"/>
          </a:p>
        </p:txBody>
      </p:sp>
      <p:sp>
        <p:nvSpPr>
          <p:cNvPr id="7" name="Shape 5"/>
          <p:cNvSpPr/>
          <p:nvPr/>
        </p:nvSpPr>
        <p:spPr>
          <a:xfrm>
            <a:off x="566928" y="2712339"/>
            <a:ext cx="402336" cy="402336"/>
          </a:xfrm>
          <a:prstGeom prst="ellipse">
            <a:avLst/>
          </a:prstGeom>
          <a:solidFill>
            <a:srgbClr val="C97B1E"/>
          </a:solidFill>
          <a:ln w="12700">
            <a:solidFill>
              <a:srgbClr val="C97B1E"/>
            </a:solidFill>
            <a:prstDash val="solid"/>
          </a:ln>
        </p:spPr>
      </p:sp>
      <p:sp>
        <p:nvSpPr>
          <p:cNvPr id="8" name="Text 6"/>
          <p:cNvSpPr/>
          <p:nvPr/>
        </p:nvSpPr>
        <p:spPr>
          <a:xfrm>
            <a:off x="566928" y="2712339"/>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9" name="Text 7"/>
          <p:cNvSpPr/>
          <p:nvPr/>
        </p:nvSpPr>
        <p:spPr>
          <a:xfrm>
            <a:off x="1133856" y="2487168"/>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Stable NAME</a:t>
            </a:r>
            <a:endParaRPr lang="en-US" sz="1400" dirty="0"/>
          </a:p>
        </p:txBody>
      </p:sp>
      <p:sp>
        <p:nvSpPr>
          <p:cNvPr id="10" name="Text 8"/>
          <p:cNvSpPr/>
          <p:nvPr/>
        </p:nvSpPr>
        <p:spPr>
          <a:xfrm>
            <a:off x="4407408" y="2487168"/>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A Deployment gives random suffixes: postgres-7d4f-x7k2p. Delete it and the replacement has a different name. A replica cannot be told 'your primary is X' because X changes. A StatefulSet gives postgres-0, forever.</a:t>
            </a:r>
            <a:endParaRPr lang="en-US" sz="1250" dirty="0"/>
          </a:p>
        </p:txBody>
      </p:sp>
      <p:sp>
        <p:nvSpPr>
          <p:cNvPr id="11" name="Shape 9"/>
          <p:cNvSpPr/>
          <p:nvPr/>
        </p:nvSpPr>
        <p:spPr>
          <a:xfrm>
            <a:off x="566928" y="3565017"/>
            <a:ext cx="402336" cy="402336"/>
          </a:xfrm>
          <a:prstGeom prst="ellipse">
            <a:avLst/>
          </a:prstGeom>
          <a:solidFill>
            <a:srgbClr val="2E9E63"/>
          </a:solidFill>
          <a:ln w="12700">
            <a:solidFill>
              <a:srgbClr val="2E9E63"/>
            </a:solidFill>
            <a:prstDash val="solid"/>
          </a:ln>
        </p:spPr>
      </p:sp>
      <p:sp>
        <p:nvSpPr>
          <p:cNvPr id="12" name="Text 10"/>
          <p:cNvSpPr/>
          <p:nvPr/>
        </p:nvSpPr>
        <p:spPr>
          <a:xfrm>
            <a:off x="566928" y="3565017"/>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133856" y="3339846"/>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Stable STORAGE</a:t>
            </a:r>
            <a:endParaRPr lang="en-US" sz="1400" dirty="0"/>
          </a:p>
        </p:txBody>
      </p:sp>
      <p:sp>
        <p:nvSpPr>
          <p:cNvPr id="14" name="Text 12"/>
          <p:cNvSpPr/>
          <p:nvPr/>
        </p:nvSpPr>
        <p:spPr>
          <a:xfrm>
            <a:off x="4407408" y="3339846"/>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volumeClaimTemplates create ONE PVC PER REPLICA — data-postgres-0, data-postgres-1 — and re-attach the same claim to the same ordinal on every reschedule. A Deployment's pods either share one volume or have none.</a:t>
            </a:r>
            <a:endParaRPr lang="en-US" sz="1250" dirty="0"/>
          </a:p>
        </p:txBody>
      </p:sp>
      <p:sp>
        <p:nvSpPr>
          <p:cNvPr id="15" name="Shape 13"/>
          <p:cNvSpPr/>
          <p:nvPr/>
        </p:nvSpPr>
        <p:spPr>
          <a:xfrm>
            <a:off x="566928" y="4417695"/>
            <a:ext cx="402336" cy="402336"/>
          </a:xfrm>
          <a:prstGeom prst="ellipse">
            <a:avLst/>
          </a:prstGeom>
          <a:solidFill>
            <a:srgbClr val="1C7293"/>
          </a:solidFill>
          <a:ln w="12700">
            <a:solidFill>
              <a:srgbClr val="1C7293"/>
            </a:solidFill>
            <a:prstDash val="solid"/>
          </a:ln>
        </p:spPr>
      </p:sp>
      <p:sp>
        <p:nvSpPr>
          <p:cNvPr id="16" name="Text 14"/>
          <p:cNvSpPr/>
          <p:nvPr/>
        </p:nvSpPr>
        <p:spPr>
          <a:xfrm>
            <a:off x="566928" y="4417695"/>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p:nvPr/>
        </p:nvSpPr>
        <p:spPr>
          <a:xfrm>
            <a:off x="1133856" y="4192524"/>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Stable ORDER</a:t>
            </a:r>
            <a:endParaRPr lang="en-US" sz="1400" dirty="0"/>
          </a:p>
        </p:txBody>
      </p:sp>
      <p:sp>
        <p:nvSpPr>
          <p:cNvPr id="18" name="Text 16"/>
          <p:cNvSpPr/>
          <p:nvPr/>
        </p:nvSpPr>
        <p:spPr>
          <a:xfrm>
            <a:off x="4407408" y="4192524"/>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OrderedReady starts 0, then 1, then 2, and terminates in reverse. A replica never starts before its primary. A Deployment replaces pods in any order it likes.</a:t>
            </a:r>
            <a:endParaRPr lang="en-US" sz="1250" dirty="0"/>
          </a:p>
        </p:txBody>
      </p:sp>
      <p:sp>
        <p:nvSpPr>
          <p:cNvPr id="19" name="Shape 17"/>
          <p:cNvSpPr/>
          <p:nvPr/>
        </p:nvSpPr>
        <p:spPr>
          <a:xfrm>
            <a:off x="566928" y="5270373"/>
            <a:ext cx="402336" cy="402336"/>
          </a:xfrm>
          <a:prstGeom prst="ellipse">
            <a:avLst/>
          </a:prstGeom>
          <a:solidFill>
            <a:srgbClr val="8E6FBF"/>
          </a:solidFill>
          <a:ln w="12700">
            <a:solidFill>
              <a:srgbClr val="8E6FBF"/>
            </a:solidFill>
            <a:prstDash val="solid"/>
          </a:ln>
        </p:spPr>
      </p:sp>
      <p:sp>
        <p:nvSpPr>
          <p:cNvPr id="20" name="Text 18"/>
          <p:cNvSpPr/>
          <p:nvPr/>
        </p:nvSpPr>
        <p:spPr>
          <a:xfrm>
            <a:off x="566928" y="5270373"/>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1" name="Text 19"/>
          <p:cNvSpPr/>
          <p:nvPr/>
        </p:nvSpPr>
        <p:spPr>
          <a:xfrm>
            <a:off x="1133856" y="5045202"/>
            <a:ext cx="3200400" cy="85267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The headless Service</a:t>
            </a:r>
            <a:endParaRPr lang="en-US" sz="1400" dirty="0"/>
          </a:p>
        </p:txBody>
      </p:sp>
      <p:sp>
        <p:nvSpPr>
          <p:cNvPr id="22" name="Text 20"/>
          <p:cNvSpPr/>
          <p:nvPr/>
        </p:nvSpPr>
        <p:spPr>
          <a:xfrm>
            <a:off x="4407408" y="5045202"/>
            <a:ext cx="7217359" cy="852678"/>
          </a:xfrm>
          <a:prstGeom prst="rect">
            <a:avLst/>
          </a:prstGeom>
          <a:noFill/>
          <a:ln/>
        </p:spPr>
        <p:txBody>
          <a:bodyPr wrap="square" lIns="0" tIns="0" rIns="0" bIns="0" rtlCol="0" anchor="ctr"/>
          <a:lstStyle/>
          <a:p>
            <a:pPr indent="0" marL="0">
              <a:lnSpc>
                <a:spcPts val="1600"/>
              </a:lnSpc>
              <a:buNone/>
            </a:pPr>
            <a:r>
              <a:rPr lang="en-US" sz="1250" dirty="0">
                <a:solidFill>
                  <a:srgbClr val="16232F"/>
                </a:solidFill>
                <a:latin typeface="Calibri" pitchFamily="34" charset="0"/>
                <a:ea typeface="Calibri" pitchFamily="34" charset="-122"/>
                <a:cs typeface="Calibri" pitchFamily="34" charset="-120"/>
              </a:rPr>
              <a:t>clusterIP: None makes DNS return POD IPs rather than one virtual IP — so postgres-0.postgres.axispay-data resolves to that specific pod. You cannot address a single replica through a normal Service.</a:t>
            </a:r>
            <a:endParaRPr lang="en-US" sz="1250" dirty="0"/>
          </a:p>
        </p:txBody>
      </p:sp>
      <p:sp>
        <p:nvSpPr>
          <p:cNvPr id="23" name="Text 21"/>
          <p:cNvSpPr/>
          <p:nvPr/>
        </p:nvSpPr>
        <p:spPr>
          <a:xfrm>
            <a:off x="566928" y="5687568"/>
            <a:ext cx="11057839" cy="548640"/>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In the lab you build the Deployment version first, watch it lose its data and its identity, then contrast. That contrast is the lesson.</a:t>
            </a:r>
            <a:endParaRPr lang="en-US" sz="1400" dirty="0"/>
          </a:p>
        </p:txBody>
      </p:sp>
      <p:sp>
        <p:nvSpPr>
          <p:cNvPr id="24" name="Text 22"/>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25" name="Text 23"/>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2592324"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2592324"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M3.5 · WORKED EXAMPLE</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invariant that matters</a:t>
            </a:r>
            <a:endParaRPr lang="en-US" sz="3200" dirty="0"/>
          </a:p>
        </p:txBody>
      </p:sp>
      <p:sp>
        <p:nvSpPr>
          <p:cNvPr id="5" name="Text 3"/>
          <p:cNvSpPr/>
          <p:nvPr/>
        </p:nvSpPr>
        <p:spPr>
          <a:xfrm>
            <a:off x="566928" y="1737360"/>
            <a:ext cx="11057839" cy="384048"/>
          </a:xfrm>
          <a:prstGeom prst="rect">
            <a:avLst/>
          </a:prstGeom>
          <a:noFill/>
          <a:ln/>
        </p:spPr>
        <p:txBody>
          <a:bodyPr wrap="square" lIns="0" tIns="0" rIns="0" bIns="0" rtlCol="0" anchor="ctr"/>
          <a:lstStyle/>
          <a:p>
            <a:pPr indent="0" marL="0">
              <a:buNone/>
            </a:pPr>
            <a:r>
              <a:rPr lang="en-US" sz="1400" i="1" dirty="0">
                <a:solidFill>
                  <a:srgbClr val="F2A03D"/>
                </a:solidFill>
                <a:latin typeface="Calibri" pitchFamily="34" charset="0"/>
                <a:ea typeface="Calibri" pitchFamily="34" charset="-122"/>
                <a:cs typeface="Calibri" pitchFamily="34" charset="-120"/>
              </a:rPr>
              <a:t>Real query against the seeded database. 5,000 payments, 14,865 ledger entries.</a:t>
            </a:r>
            <a:endParaRPr lang="en-US" sz="1400" dirty="0"/>
          </a:p>
        </p:txBody>
      </p:sp>
      <p:sp>
        <p:nvSpPr>
          <p:cNvPr id="6" name="Shape 4"/>
          <p:cNvSpPr/>
          <p:nvPr/>
        </p:nvSpPr>
        <p:spPr>
          <a:xfrm>
            <a:off x="566928" y="2249424"/>
            <a:ext cx="11057839" cy="3364230"/>
          </a:xfrm>
          <a:prstGeom prst="roundRect">
            <a:avLst>
              <a:gd name="adj" fmla="val 2174"/>
            </a:avLst>
          </a:prstGeom>
          <a:solidFill>
            <a:srgbClr val="0E2740"/>
          </a:solidFill>
          <a:ln w="12700">
            <a:solidFill>
              <a:srgbClr val="1B4066"/>
            </a:solidFill>
            <a:prstDash val="solid"/>
          </a:ln>
        </p:spPr>
      </p:sp>
      <p:sp>
        <p:nvSpPr>
          <p:cNvPr id="7" name="Shape 5"/>
          <p:cNvSpPr/>
          <p:nvPr/>
        </p:nvSpPr>
        <p:spPr>
          <a:xfrm>
            <a:off x="768096" y="2404872"/>
            <a:ext cx="118872" cy="118872"/>
          </a:xfrm>
          <a:prstGeom prst="ellipse">
            <a:avLst/>
          </a:prstGeom>
          <a:solidFill>
            <a:srgbClr val="D64545"/>
          </a:solidFill>
          <a:ln w="12700">
            <a:solidFill>
              <a:srgbClr val="D64545"/>
            </a:solidFill>
            <a:prstDash val="solid"/>
          </a:ln>
        </p:spPr>
      </p:sp>
      <p:sp>
        <p:nvSpPr>
          <p:cNvPr id="8" name="Shape 6"/>
          <p:cNvSpPr/>
          <p:nvPr/>
        </p:nvSpPr>
        <p:spPr>
          <a:xfrm>
            <a:off x="987552" y="2404872"/>
            <a:ext cx="118872" cy="118872"/>
          </a:xfrm>
          <a:prstGeom prst="ellipse">
            <a:avLst/>
          </a:prstGeom>
          <a:solidFill>
            <a:srgbClr val="F2A03D"/>
          </a:solidFill>
          <a:ln w="12700">
            <a:solidFill>
              <a:srgbClr val="F2A03D"/>
            </a:solidFill>
            <a:prstDash val="solid"/>
          </a:ln>
        </p:spPr>
      </p:sp>
      <p:sp>
        <p:nvSpPr>
          <p:cNvPr id="9" name="Shape 7"/>
          <p:cNvSpPr/>
          <p:nvPr/>
        </p:nvSpPr>
        <p:spPr>
          <a:xfrm>
            <a:off x="1207008" y="2404872"/>
            <a:ext cx="118872" cy="118872"/>
          </a:xfrm>
          <a:prstGeom prst="ellipse">
            <a:avLst/>
          </a:prstGeom>
          <a:solidFill>
            <a:srgbClr val="2E9E63"/>
          </a:solidFill>
          <a:ln w="12700">
            <a:solidFill>
              <a:srgbClr val="2E9E63"/>
            </a:solidFill>
            <a:prstDash val="solid"/>
          </a:ln>
        </p:spPr>
      </p:sp>
      <p:sp>
        <p:nvSpPr>
          <p:cNvPr id="10" name="Text 8"/>
          <p:cNvSpPr/>
          <p:nvPr/>
        </p:nvSpPr>
        <p:spPr>
          <a:xfrm>
            <a:off x="804672" y="2706624"/>
            <a:ext cx="10600639" cy="2724150"/>
          </a:xfrm>
          <a:prstGeom prst="rect">
            <a:avLst/>
          </a:prstGeom>
          <a:noFill/>
          <a:ln/>
        </p:spPr>
        <p:txBody>
          <a:bodyPr wrap="square" lIns="0" tIns="0" rIns="0" bIns="0" rtlCol="0" anchor="t"/>
          <a:lstStyle/>
          <a:p>
            <a:pPr indent="0" marL="0">
              <a:lnSpc>
                <a:spcPts val="1650"/>
              </a:lnSpc>
              <a:buNone/>
            </a:pPr>
            <a:r>
              <a:rPr lang="en-US" sz="1100" b="1" dirty="0">
                <a:solidFill>
                  <a:srgbClr val="F2A03D"/>
                </a:solidFill>
                <a:latin typeface="Courier New" pitchFamily="34" charset="0"/>
                <a:ea typeface="Courier New" pitchFamily="34" charset="-122"/>
                <a:cs typeface="Courier New" pitchFamily="34" charset="-120"/>
              </a:rPr>
              <a:t>axispay=&gt; SELECT * FROM v_ledger_balance;</a:t>
            </a:r>
            <a:endParaRPr lang="en-US" sz="1100" dirty="0"/>
          </a:p>
          <a:p>
            <a:pPr indent="0" marL="0">
              <a:lnSpc>
                <a:spcPts val="1650"/>
              </a:lnSpc>
              <a:buNone/>
            </a:pPr>
            <a:r>
              <a:rPr lang="en-US" sz="1100" dirty="0">
                <a:solidFill>
                  <a:srgbClr val="D8E6F2"/>
                </a:solidFill>
                <a:latin typeface="Courier New" pitchFamily="34" charset="0"/>
                <a:ea typeface="Courier New" pitchFamily="34" charset="-122"/>
                <a:cs typeface="Courier New" pitchFamily="34" charset="-120"/>
              </a:rPr>
              <a:t> </a:t>
            </a:r>
            <a:endParaRPr lang="en-US" sz="1100" dirty="0"/>
          </a:p>
          <a:p>
            <a:pPr indent="0" marL="0">
              <a:lnSpc>
                <a:spcPts val="1650"/>
              </a:lnSpc>
              <a:buNone/>
            </a:pPr>
            <a:r>
              <a:rPr lang="en-US" sz="1100" dirty="0">
                <a:solidFill>
                  <a:srgbClr val="63758B"/>
                </a:solidFill>
                <a:latin typeface="Courier New" pitchFamily="34" charset="0"/>
                <a:ea typeface="Courier New" pitchFamily="34" charset="-122"/>
                <a:cs typeface="Courier New" pitchFamily="34" charset="-120"/>
              </a:rPr>
              <a:t> currency | total_debits | total_credits | imbalance</a:t>
            </a:r>
            <a:endParaRPr lang="en-US" sz="1100" dirty="0"/>
          </a:p>
          <a:p>
            <a:pPr indent="0" marL="0">
              <a:lnSpc>
                <a:spcPts val="1650"/>
              </a:lnSpc>
              <a:buNone/>
            </a:pPr>
            <a:r>
              <a:rPr lang="en-US" sz="1100" dirty="0">
                <a:solidFill>
                  <a:srgbClr val="63758B"/>
                </a:solidFill>
                <a:latin typeface="Courier New" pitchFamily="34" charset="0"/>
                <a:ea typeface="Courier New" pitchFamily="34" charset="-122"/>
                <a:cs typeface="Courier New" pitchFamily="34" charset="-120"/>
              </a:rPr>
              <a:t>----------+--------------+---------------+-----------</a:t>
            </a:r>
            <a:endParaRPr lang="en-US" sz="1100" dirty="0"/>
          </a:p>
          <a:p>
            <a:pPr indent="0" marL="0">
              <a:lnSpc>
                <a:spcPts val="1650"/>
              </a:lnSpc>
              <a:buNone/>
            </a:pPr>
            <a:r>
              <a:rPr lang="en-US" sz="1100" dirty="0">
                <a:solidFill>
                  <a:srgbClr val="2E9E63"/>
                </a:solidFill>
                <a:latin typeface="Courier New" pitchFamily="34" charset="0"/>
                <a:ea typeface="Courier New" pitchFamily="34" charset="-122"/>
                <a:cs typeface="Courier New" pitchFamily="34" charset="-120"/>
              </a:rPr>
              <a:t> ZAR      |    855556745 |     855556745 |         0</a:t>
            </a:r>
            <a:endParaRPr lang="en-US" sz="1100" dirty="0"/>
          </a:p>
          <a:p>
            <a:pPr indent="0" marL="0">
              <a:lnSpc>
                <a:spcPts val="1650"/>
              </a:lnSpc>
              <a:buNone/>
            </a:pPr>
            <a:r>
              <a:rPr lang="en-US" sz="1100" dirty="0">
                <a:solidFill>
                  <a:srgbClr val="2E9E63"/>
                </a:solidFill>
                <a:latin typeface="Courier New" pitchFamily="34" charset="0"/>
                <a:ea typeface="Courier New" pitchFamily="34" charset="-122"/>
                <a:cs typeface="Courier New" pitchFamily="34" charset="-120"/>
              </a:rPr>
              <a:t> BWP      |     41203890 |      41203890 |         0</a:t>
            </a:r>
            <a:endParaRPr lang="en-US" sz="1100" dirty="0"/>
          </a:p>
          <a:p>
            <a:pPr indent="0" marL="0">
              <a:lnSpc>
                <a:spcPts val="1650"/>
              </a:lnSpc>
              <a:buNone/>
            </a:pPr>
            <a:r>
              <a:rPr lang="en-US" sz="1100" dirty="0">
                <a:solidFill>
                  <a:srgbClr val="2E9E63"/>
                </a:solidFill>
                <a:latin typeface="Courier New" pitchFamily="34" charset="0"/>
                <a:ea typeface="Courier New" pitchFamily="34" charset="-122"/>
                <a:cs typeface="Courier New" pitchFamily="34" charset="-120"/>
              </a:rPr>
              <a:t> KES      |    180445100 |     180445100 |         0</a:t>
            </a:r>
            <a:endParaRPr lang="en-US" sz="1100" dirty="0"/>
          </a:p>
          <a:p>
            <a:pPr indent="0" marL="0">
              <a:lnSpc>
                <a:spcPts val="1650"/>
              </a:lnSpc>
              <a:buNone/>
            </a:pPr>
            <a:r>
              <a:rPr lang="en-US" sz="1100" b="1" dirty="0">
                <a:solidFill>
                  <a:srgbClr val="FFFFFF"/>
                </a:solidFill>
                <a:latin typeface="Courier New" pitchFamily="34" charset="0"/>
                <a:ea typeface="Courier New" pitchFamily="34" charset="-122"/>
                <a:cs typeface="Courier New" pitchFamily="34" charset="-120"/>
              </a:rPr>
              <a:t> (7 rows — every currency, imbalance ZERO)</a:t>
            </a:r>
            <a:endParaRPr lang="en-US" sz="1100" dirty="0"/>
          </a:p>
          <a:p>
            <a:pPr indent="0" marL="0">
              <a:lnSpc>
                <a:spcPts val="1650"/>
              </a:lnSpc>
              <a:buNone/>
            </a:pPr>
            <a:r>
              <a:rPr lang="en-US" sz="1100" dirty="0">
                <a:solidFill>
                  <a:srgbClr val="D8E6F2"/>
                </a:solidFill>
                <a:latin typeface="Courier New" pitchFamily="34" charset="0"/>
                <a:ea typeface="Courier New" pitchFamily="34" charset="-122"/>
                <a:cs typeface="Courier New" pitchFamily="34" charset="-120"/>
              </a:rPr>
              <a:t> </a:t>
            </a:r>
            <a:endParaRPr lang="en-US" sz="1100" dirty="0"/>
          </a:p>
          <a:p>
            <a:pPr indent="0" marL="0">
              <a:lnSpc>
                <a:spcPts val="1650"/>
              </a:lnSpc>
              <a:buNone/>
            </a:pPr>
            <a:r>
              <a:rPr lang="en-US" sz="1100" b="1" dirty="0">
                <a:solidFill>
                  <a:srgbClr val="F2A03D"/>
                </a:solidFill>
                <a:latin typeface="Courier New" pitchFamily="34" charset="0"/>
                <a:ea typeface="Courier New" pitchFamily="34" charset="-122"/>
                <a:cs typeface="Courier New" pitchFamily="34" charset="-120"/>
              </a:rPr>
              <a:t>axispay=&gt; SELECT COUNT(*) FROM payments WHERE amount_minor &lt;&gt; fee_minor + net_minor;</a:t>
            </a:r>
            <a:endParaRPr lang="en-US" sz="1100" dirty="0"/>
          </a:p>
          <a:p>
            <a:pPr indent="0" marL="0">
              <a:lnSpc>
                <a:spcPts val="1650"/>
              </a:lnSpc>
              <a:buNone/>
            </a:pPr>
            <a:r>
              <a:rPr lang="en-US" sz="1100" dirty="0">
                <a:solidFill>
                  <a:srgbClr val="2E9E63"/>
                </a:solidFill>
                <a:latin typeface="Courier New" pitchFamily="34" charset="0"/>
                <a:ea typeface="Courier New" pitchFamily="34" charset="-122"/>
                <a:cs typeface="Courier New" pitchFamily="34" charset="-120"/>
              </a:rPr>
              <a:t> 0</a:t>
            </a:r>
            <a:endParaRPr lang="en-US" sz="1100" dirty="0"/>
          </a:p>
          <a:p>
            <a:pPr indent="0" marL="0">
              <a:lnSpc>
                <a:spcPts val="1650"/>
              </a:lnSpc>
              <a:buNone/>
            </a:pPr>
            <a:r>
              <a:rPr lang="en-US" sz="1100" dirty="0">
                <a:solidFill>
                  <a:srgbClr val="63758B"/>
                </a:solidFill>
                <a:latin typeface="Courier New" pitchFamily="34" charset="0"/>
                <a:ea typeface="Courier New" pitchFamily="34" charset="-122"/>
                <a:cs typeface="Courier New" pitchFamily="34" charset="-120"/>
              </a:rPr>
              <a:t> -- and it CANNOT be otherwise: CONSTRAINT payments_balance</a:t>
            </a:r>
            <a:endParaRPr lang="en-US" sz="1100" dirty="0"/>
          </a:p>
          <a:p>
            <a:pPr indent="0" marL="0">
              <a:lnSpc>
                <a:spcPts val="1650"/>
              </a:lnSpc>
              <a:buNone/>
            </a:pPr>
            <a:r>
              <a:rPr lang="en-US" sz="1100" dirty="0">
                <a:solidFill>
                  <a:srgbClr val="63758B"/>
                </a:solidFill>
                <a:latin typeface="Courier New" pitchFamily="34" charset="0"/>
                <a:ea typeface="Courier New" pitchFamily="34" charset="-122"/>
                <a:cs typeface="Courier New" pitchFamily="34" charset="-120"/>
              </a:rPr>
              <a:t> -- makes an unbalanced row impossible to insert.</a:t>
            </a:r>
            <a:endParaRPr lang="en-US" sz="1100" dirty="0"/>
          </a:p>
        </p:txBody>
      </p:sp>
      <p:sp>
        <p:nvSpPr>
          <p:cNvPr id="11" name="Text 9"/>
          <p:cNvSpPr/>
          <p:nvPr/>
        </p:nvSpPr>
        <p:spPr>
          <a:xfrm>
            <a:off x="566928" y="5778246"/>
            <a:ext cx="11057839" cy="457200"/>
          </a:xfrm>
          <a:prstGeom prst="rect">
            <a:avLst/>
          </a:prstGeom>
          <a:noFill/>
          <a:ln/>
        </p:spPr>
        <p:txBody>
          <a:bodyPr wrap="square" lIns="0" tIns="0" rIns="0" bIns="0" rtlCol="0" anchor="ctr"/>
          <a:lstStyle/>
          <a:p>
            <a:pPr indent="0" marL="0">
              <a:buNone/>
            </a:pPr>
            <a:r>
              <a:rPr lang="en-US" sz="1300" i="1" dirty="0">
                <a:solidFill>
                  <a:srgbClr val="D8E6F2"/>
                </a:solidFill>
                <a:latin typeface="Calibri" pitchFamily="34" charset="0"/>
                <a:ea typeface="Calibri" pitchFamily="34" charset="-122"/>
                <a:cs typeface="Calibri" pitchFamily="34" charset="-120"/>
              </a:rPr>
              <a:t>Debits equal credits across 4,955 journals. That is the double-entry invariant, and a non-zero value is something a human must explain before close of business.</a:t>
            </a:r>
            <a:endParaRPr lang="en-US" sz="1300" dirty="0"/>
          </a:p>
        </p:txBody>
      </p:sp>
      <p:sp>
        <p:nvSpPr>
          <p:cNvPr id="12" name="Text 10"/>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13" name="Text 11"/>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435608" cy="292608"/>
          </a:xfrm>
          <a:prstGeom prst="roundRect">
            <a:avLst>
              <a:gd name="adj" fmla="val 50000"/>
            </a:avLst>
          </a:prstGeom>
          <a:solidFill>
            <a:srgbClr val="2E9E63"/>
          </a:solidFill>
          <a:ln w="12700">
            <a:solidFill>
              <a:srgbClr val="2E9E63"/>
            </a:solidFill>
            <a:prstDash val="solid"/>
          </a:ln>
        </p:spPr>
      </p:sp>
      <p:sp>
        <p:nvSpPr>
          <p:cNvPr id="3" name="Text 1"/>
          <p:cNvSpPr/>
          <p:nvPr/>
        </p:nvSpPr>
        <p:spPr>
          <a:xfrm>
            <a:off x="566928" y="384048"/>
            <a:ext cx="1435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GUIDED LAB</a:t>
            </a:r>
            <a:endParaRPr lang="en-US" sz="1100" dirty="0"/>
          </a:p>
        </p:txBody>
      </p:sp>
      <p:sp>
        <p:nvSpPr>
          <p:cNvPr id="4" name="Text 2"/>
          <p:cNvSpPr/>
          <p:nvPr/>
        </p:nvSpPr>
        <p:spPr>
          <a:xfrm>
            <a:off x="566928" y="914400"/>
            <a:ext cx="2743200" cy="777240"/>
          </a:xfrm>
          <a:prstGeom prst="rect">
            <a:avLst/>
          </a:prstGeom>
          <a:noFill/>
          <a:ln/>
        </p:spPr>
        <p:txBody>
          <a:bodyPr wrap="square" lIns="0" tIns="0" rIns="0" bIns="0" rtlCol="0" anchor="ctr"/>
          <a:lstStyle/>
          <a:p>
            <a:pPr indent="0" marL="0">
              <a:buNone/>
            </a:pPr>
            <a:r>
              <a:rPr lang="en-US" sz="4000" b="1" dirty="0">
                <a:solidFill>
                  <a:srgbClr val="2E9E63"/>
                </a:solidFill>
                <a:latin typeface="Cambria" pitchFamily="34" charset="0"/>
                <a:ea typeface="Cambria" pitchFamily="34" charset="-122"/>
                <a:cs typeface="Cambria" pitchFamily="34" charset="-120"/>
              </a:rPr>
              <a:t>L3.5 + L3.6</a:t>
            </a:r>
            <a:endParaRPr lang="en-US" sz="4000" dirty="0"/>
          </a:p>
        </p:txBody>
      </p:sp>
      <p:sp>
        <p:nvSpPr>
          <p:cNvPr id="5" name="Text 3"/>
          <p:cNvSpPr/>
          <p:nvPr/>
        </p:nvSpPr>
        <p:spPr>
          <a:xfrm>
            <a:off x="566928" y="1691640"/>
            <a:ext cx="11057839"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Data tier and StatefulSets</a:t>
            </a:r>
            <a:endParaRPr lang="en-US" sz="3000" dirty="0"/>
          </a:p>
        </p:txBody>
      </p:sp>
      <p:sp>
        <p:nvSpPr>
          <p:cNvPr id="6" name="Shape 4"/>
          <p:cNvSpPr/>
          <p:nvPr/>
        </p:nvSpPr>
        <p:spPr>
          <a:xfrm>
            <a:off x="566928" y="2560320"/>
            <a:ext cx="5577840" cy="2834640"/>
          </a:xfrm>
          <a:prstGeom prst="roundRect">
            <a:avLst>
              <a:gd name="adj" fmla="val 3226"/>
            </a:avLst>
          </a:prstGeom>
          <a:solidFill>
            <a:srgbClr val="12314F"/>
          </a:solidFill>
          <a:ln w="12700">
            <a:solidFill>
              <a:srgbClr val="1B4066"/>
            </a:solidFill>
            <a:prstDash val="solid"/>
          </a:ln>
        </p:spPr>
      </p:sp>
      <p:sp>
        <p:nvSpPr>
          <p:cNvPr id="7" name="Text 5"/>
          <p:cNvSpPr/>
          <p:nvPr/>
        </p:nvSpPr>
        <p:spPr>
          <a:xfrm>
            <a:off x="841248" y="2724912"/>
            <a:ext cx="5029200" cy="274320"/>
          </a:xfrm>
          <a:prstGeom prst="rect">
            <a:avLst/>
          </a:prstGeom>
          <a:noFill/>
          <a:ln/>
        </p:spPr>
        <p:txBody>
          <a:bodyPr wrap="square" lIns="0" tIns="0" rIns="0" bIns="0" rtlCol="0" anchor="ctr"/>
          <a:lstStyle/>
          <a:p>
            <a:pPr indent="0" marL="0">
              <a:buNone/>
            </a:pPr>
            <a:r>
              <a:rPr lang="en-US" sz="1000" b="1" spc="100" kern="0" dirty="0">
                <a:solidFill>
                  <a:srgbClr val="F2A03D"/>
                </a:solidFill>
                <a:latin typeface="Calibri" pitchFamily="34" charset="0"/>
                <a:ea typeface="Calibri" pitchFamily="34" charset="-122"/>
                <a:cs typeface="Calibri" pitchFamily="34" charset="-120"/>
              </a:rPr>
              <a:t>YOU WILL</a:t>
            </a:r>
            <a:endParaRPr lang="en-US" sz="1000" dirty="0"/>
          </a:p>
        </p:txBody>
      </p:sp>
      <p:sp>
        <p:nvSpPr>
          <p:cNvPr id="8" name="Text 6"/>
          <p:cNvSpPr/>
          <p:nvPr/>
        </p:nvSpPr>
        <p:spPr>
          <a:xfrm>
            <a:off x="886968" y="3017520"/>
            <a:ext cx="5029200" cy="219456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Deploy PostgreSQL, Redis and RabbitMQ with persistent storage</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Load 5,000 payments and verify the ledger balances to ZERO</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Build a database as a Deployment and watch it fail</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Hit the node-local storage trap and recover from it</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Fix the fraud velocity bug with shared Redis counters</a:t>
            </a:r>
            <a:endParaRPr lang="en-US" sz="1300" dirty="0"/>
          </a:p>
        </p:txBody>
      </p:sp>
      <p:sp>
        <p:nvSpPr>
          <p:cNvPr id="9" name="Shape 7"/>
          <p:cNvSpPr/>
          <p:nvPr/>
        </p:nvSpPr>
        <p:spPr>
          <a:xfrm>
            <a:off x="6464808" y="2560320"/>
            <a:ext cx="5120640" cy="2834640"/>
          </a:xfrm>
          <a:prstGeom prst="roundRect">
            <a:avLst>
              <a:gd name="adj" fmla="val 3226"/>
            </a:avLst>
          </a:prstGeom>
          <a:solidFill>
            <a:srgbClr val="12314F"/>
          </a:solidFill>
          <a:ln w="12700">
            <a:solidFill>
              <a:srgbClr val="1B4066"/>
            </a:solidFill>
            <a:prstDash val="solid"/>
          </a:ln>
        </p:spPr>
      </p:sp>
      <p:sp>
        <p:nvSpPr>
          <p:cNvPr id="10" name="Text 8"/>
          <p:cNvSpPr/>
          <p:nvPr/>
        </p:nvSpPr>
        <p:spPr>
          <a:xfrm>
            <a:off x="6739128" y="2724912"/>
            <a:ext cx="4572000" cy="274320"/>
          </a:xfrm>
          <a:prstGeom prst="rect">
            <a:avLst/>
          </a:prstGeom>
          <a:noFill/>
          <a:ln/>
        </p:spPr>
        <p:txBody>
          <a:bodyPr wrap="square" lIns="0" tIns="0" rIns="0" bIns="0" rtlCol="0" anchor="ctr"/>
          <a:lstStyle/>
          <a:p>
            <a:pPr indent="0" marL="0">
              <a:buNone/>
            </a:pPr>
            <a:r>
              <a:rPr lang="en-US" sz="1000" b="1" spc="100" kern="0" dirty="0">
                <a:solidFill>
                  <a:srgbClr val="2E9E63"/>
                </a:solidFill>
                <a:latin typeface="Calibri" pitchFamily="34" charset="0"/>
                <a:ea typeface="Calibri" pitchFamily="34" charset="-122"/>
                <a:cs typeface="Calibri" pitchFamily="34" charset="-120"/>
              </a:rPr>
              <a:t>DONE WHEN</a:t>
            </a:r>
            <a:endParaRPr lang="en-US" sz="1000" dirty="0"/>
          </a:p>
        </p:txBody>
      </p:sp>
      <p:sp>
        <p:nvSpPr>
          <p:cNvPr id="11" name="Text 9"/>
          <p:cNvSpPr/>
          <p:nvPr/>
        </p:nvSpPr>
        <p:spPr>
          <a:xfrm>
            <a:off x="6784848" y="3017520"/>
            <a:ext cx="4572000" cy="146304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3 StatefulSets ready</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ledger imbalance = 0</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velocity counters shared across replicas</a:t>
            </a:r>
            <a:endParaRPr lang="en-US" sz="1300" dirty="0"/>
          </a:p>
        </p:txBody>
      </p:sp>
      <p:sp>
        <p:nvSpPr>
          <p:cNvPr id="12" name="Shape 10"/>
          <p:cNvSpPr/>
          <p:nvPr/>
        </p:nvSpPr>
        <p:spPr>
          <a:xfrm>
            <a:off x="6739128" y="4617720"/>
            <a:ext cx="4572000" cy="566928"/>
          </a:xfrm>
          <a:prstGeom prst="roundRect">
            <a:avLst>
              <a:gd name="adj" fmla="val 12903"/>
            </a:avLst>
          </a:prstGeom>
          <a:solidFill>
            <a:srgbClr val="0E2740"/>
          </a:solidFill>
          <a:ln w="12700">
            <a:solidFill>
              <a:srgbClr val="1C7293"/>
            </a:solidFill>
            <a:prstDash val="solid"/>
          </a:ln>
        </p:spPr>
      </p:sp>
      <p:sp>
        <p:nvSpPr>
          <p:cNvPr id="13" name="Text 11"/>
          <p:cNvSpPr/>
          <p:nvPr/>
        </p:nvSpPr>
        <p:spPr>
          <a:xfrm>
            <a:off x="6876288" y="4617720"/>
            <a:ext cx="4297680" cy="566928"/>
          </a:xfrm>
          <a:prstGeom prst="rect">
            <a:avLst/>
          </a:prstGeom>
          <a:noFill/>
          <a:ln/>
        </p:spPr>
        <p:txBody>
          <a:bodyPr wrap="square" lIns="0" tIns="0" rIns="0" bIns="0" rtlCol="0" anchor="ctr"/>
          <a:lstStyle/>
          <a:p>
            <a:pPr indent="0" marL="0">
              <a:buNone/>
            </a:pPr>
            <a:r>
              <a:rPr lang="en-US" sz="1150" dirty="0">
                <a:solidFill>
                  <a:srgbClr val="F2A03D"/>
                </a:solidFill>
                <a:latin typeface="Courier New" pitchFamily="34" charset="0"/>
                <a:ea typeface="Courier New" pitchFamily="34" charset="-122"/>
                <a:cs typeface="Courier New" pitchFamily="34" charset="-120"/>
              </a:rPr>
              <a:t>make validate-lab LAB=L3.5 &amp;&amp; make validate-lab LAB=L3.6</a:t>
            </a:r>
            <a:endParaRPr lang="en-US" sz="1150" dirty="0"/>
          </a:p>
        </p:txBody>
      </p:sp>
      <p:sp>
        <p:nvSpPr>
          <p:cNvPr id="14" name="Text 12"/>
          <p:cNvSpPr/>
          <p:nvPr/>
        </p:nvSpPr>
        <p:spPr>
          <a:xfrm>
            <a:off x="566928" y="5577840"/>
            <a:ext cx="11057839" cy="365760"/>
          </a:xfrm>
          <a:prstGeom prst="rect">
            <a:avLst/>
          </a:prstGeom>
          <a:noFill/>
          <a:ln/>
        </p:spPr>
        <p:txBody>
          <a:bodyPr wrap="square" lIns="0" tIns="0" rIns="0" bIns="0" rtlCol="0" anchor="ctr"/>
          <a:lstStyle/>
          <a:p>
            <a:pPr indent="0" marL="0">
              <a:buNone/>
            </a:pPr>
            <a:r>
              <a:rPr lang="en-US" sz="1200" dirty="0">
                <a:solidFill>
                  <a:srgbClr val="63758B"/>
                </a:solidFill>
                <a:latin typeface="Calibri" pitchFamily="34" charset="0"/>
                <a:ea typeface="Calibri" pitchFamily="34" charset="-122"/>
                <a:cs typeface="Calibri" pitchFamily="34" charset="-120"/>
              </a:rPr>
              <a:t>110 minutes   ·   labs/day3/L3.5-data-tier/, L3.6-statefulsets.md</a:t>
            </a:r>
            <a:endParaRPr lang="en-US" sz="1200" dirty="0"/>
          </a:p>
        </p:txBody>
      </p:sp>
      <p:sp>
        <p:nvSpPr>
          <p:cNvPr id="15" name="Text 1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16" name="Text 1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8351215" y="-1097280"/>
            <a:ext cx="5120640" cy="5120640"/>
          </a:xfrm>
          <a:prstGeom prst="ellipse">
            <a:avLst/>
          </a:prstGeom>
          <a:solidFill>
            <a:srgbClr val="12314F"/>
          </a:solidFill>
          <a:ln w="12700">
            <a:solidFill>
              <a:srgbClr val="12314F"/>
            </a:solidFill>
            <a:prstDash val="solid"/>
          </a:ln>
        </p:spPr>
      </p:sp>
      <p:sp>
        <p:nvSpPr>
          <p:cNvPr id="3" name="Text 1"/>
          <p:cNvSpPr/>
          <p:nvPr/>
        </p:nvSpPr>
        <p:spPr>
          <a:xfrm>
            <a:off x="566928" y="1600200"/>
            <a:ext cx="5669280" cy="1463040"/>
          </a:xfrm>
          <a:prstGeom prst="rect">
            <a:avLst/>
          </a:prstGeom>
          <a:noFill/>
          <a:ln/>
        </p:spPr>
        <p:txBody>
          <a:bodyPr wrap="square" lIns="0" tIns="0" rIns="0" bIns="0" rtlCol="0" anchor="ctr"/>
          <a:lstStyle/>
          <a:p>
            <a:pPr indent="0" marL="0">
              <a:buNone/>
            </a:pPr>
            <a:r>
              <a:rPr lang="en-US" sz="7600" b="1" dirty="0">
                <a:solidFill>
                  <a:srgbClr val="F2A03D"/>
                </a:solidFill>
                <a:latin typeface="Cambria" pitchFamily="34" charset="0"/>
                <a:ea typeface="Cambria" pitchFamily="34" charset="-122"/>
                <a:cs typeface="Cambria" pitchFamily="34" charset="-120"/>
              </a:rPr>
              <a:t>M3.7</a:t>
            </a:r>
            <a:endParaRPr lang="en-US" sz="7600" dirty="0"/>
          </a:p>
        </p:txBody>
      </p:sp>
      <p:sp>
        <p:nvSpPr>
          <p:cNvPr id="4" name="Text 2"/>
          <p:cNvSpPr/>
          <p:nvPr/>
        </p:nvSpPr>
        <p:spPr>
          <a:xfrm>
            <a:off x="566928" y="2971800"/>
            <a:ext cx="786384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securityContext</a:t>
            </a:r>
            <a:endParaRPr lang="en-US" sz="3800" dirty="0"/>
          </a:p>
        </p:txBody>
      </p:sp>
      <p:sp>
        <p:nvSpPr>
          <p:cNvPr id="5" name="Text 3"/>
          <p:cNvSpPr/>
          <p:nvPr/>
        </p:nvSpPr>
        <p:spPr>
          <a:xfrm>
            <a:off x="566928" y="3886200"/>
            <a:ext cx="7498080" cy="822960"/>
          </a:xfrm>
          <a:prstGeom prst="rect">
            <a:avLst/>
          </a:prstGeom>
          <a:noFill/>
          <a:ln/>
        </p:spPr>
        <p:txBody>
          <a:bodyPr wrap="square" lIns="0" tIns="0" rIns="0" bIns="0" rtlCol="0" anchor="ctr"/>
          <a:lstStyle/>
          <a:p>
            <a:pPr indent="0" marL="0">
              <a:buNone/>
            </a:pPr>
            <a:r>
              <a:rPr lang="en-US" sz="1500" dirty="0">
                <a:solidFill>
                  <a:srgbClr val="D8E6F2"/>
                </a:solidFill>
                <a:latin typeface="Calibri" pitchFamily="34" charset="0"/>
                <a:ea typeface="Calibri" pitchFamily="34" charset="-122"/>
                <a:cs typeface="Calibri" pitchFamily="34" charset="-120"/>
              </a:rPr>
              <a:t>Non-root, read-only, no capabilities</a:t>
            </a:r>
            <a:endParaRPr lang="en-US" sz="1500" dirty="0"/>
          </a:p>
        </p:txBody>
      </p:sp>
      <p:sp>
        <p:nvSpPr>
          <p:cNvPr id="6" name="Text 4"/>
          <p:cNvSpPr/>
          <p:nvPr/>
        </p:nvSpPr>
        <p:spPr>
          <a:xfrm>
            <a:off x="566928" y="4709160"/>
            <a:ext cx="7498080" cy="274320"/>
          </a:xfrm>
          <a:prstGeom prst="rect">
            <a:avLst/>
          </a:prstGeom>
          <a:noFill/>
          <a:ln/>
        </p:spPr>
        <p:txBody>
          <a:bodyPr wrap="square" lIns="0" tIns="0" rIns="0" bIns="0" rtlCol="0" anchor="ctr"/>
          <a:lstStyle/>
          <a:p>
            <a:pPr indent="0" marL="0">
              <a:buNone/>
            </a:pPr>
            <a:r>
              <a:rPr lang="en-US" sz="1100" b="1" dirty="0">
                <a:solidFill>
                  <a:srgbClr val="F2A03D"/>
                </a:solidFill>
                <a:latin typeface="Calibri" pitchFamily="34" charset="0"/>
                <a:ea typeface="Calibri" pitchFamily="34" charset="-122"/>
                <a:cs typeface="Calibri" pitchFamily="34" charset="-120"/>
              </a:rPr>
              <a:t>By the end of this module you will be able to:</a:t>
            </a:r>
            <a:endParaRPr lang="en-US" sz="1100" dirty="0"/>
          </a:p>
        </p:txBody>
      </p:sp>
      <p:sp>
        <p:nvSpPr>
          <p:cNvPr id="7" name="Text 5"/>
          <p:cNvSpPr/>
          <p:nvPr/>
        </p:nvSpPr>
        <p:spPr>
          <a:xfrm>
            <a:off x="658368" y="4983480"/>
            <a:ext cx="7498080" cy="10972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Apply runAsNonRoot, readOnlyRootFilesystem and dropped capabilities</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Explain fsGroup and diagnose a volume permission error</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Justify defence in depth: image AND pod spec</a:t>
            </a:r>
            <a:endParaRPr lang="en-US" sz="1200" dirty="0"/>
          </a:p>
        </p:txBody>
      </p:sp>
      <p:sp>
        <p:nvSpPr>
          <p:cNvPr id="8" name="Text 6"/>
          <p:cNvSpPr/>
          <p:nvPr/>
        </p:nvSpPr>
        <p:spPr>
          <a:xfrm>
            <a:off x="9814255" y="5989320"/>
            <a:ext cx="1828800" cy="320040"/>
          </a:xfrm>
          <a:prstGeom prst="rect">
            <a:avLst/>
          </a:prstGeom>
          <a:noFill/>
          <a:ln/>
        </p:spPr>
        <p:txBody>
          <a:bodyPr wrap="square" lIns="0" tIns="0" rIns="0" bIns="0" rtlCol="0" anchor="ctr"/>
          <a:lstStyle/>
          <a:p>
            <a:pPr algn="r" indent="0" marL="0">
              <a:buNone/>
            </a:pPr>
            <a:r>
              <a:rPr lang="en-US" sz="1100" dirty="0">
                <a:solidFill>
                  <a:srgbClr val="63758B"/>
                </a:solidFill>
                <a:latin typeface="Calibri" pitchFamily="34" charset="0"/>
                <a:ea typeface="Calibri" pitchFamily="34" charset="-122"/>
                <a:cs typeface="Calibri" pitchFamily="34" charset="-120"/>
              </a:rPr>
              <a:t>55 min</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1961388" cy="292608"/>
          </a:xfrm>
          <a:prstGeom prst="roundRect">
            <a:avLst>
              <a:gd name="adj" fmla="val 50000"/>
            </a:avLst>
          </a:prstGeom>
          <a:solidFill>
            <a:srgbClr val="D64545"/>
          </a:solidFill>
          <a:ln w="12700">
            <a:solidFill>
              <a:srgbClr val="D64545"/>
            </a:solidFill>
            <a:prstDash val="solid"/>
          </a:ln>
        </p:spPr>
      </p:sp>
      <p:sp>
        <p:nvSpPr>
          <p:cNvPr id="3" name="Text 1"/>
          <p:cNvSpPr/>
          <p:nvPr/>
        </p:nvSpPr>
        <p:spPr>
          <a:xfrm>
            <a:off x="566928" y="384048"/>
            <a:ext cx="196138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COMMON MISTAKES</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Storage, config and security mistakes</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7839" cy="914400"/>
        </p:xfrm>
        <a:graphic>
          <a:graphicData uri="http://schemas.openxmlformats.org/drawingml/2006/table">
            <a:tbl>
              <a:tblPr/>
              <a:tblGrid>
                <a:gridCol w="3108960"/>
                <a:gridCol w="3931920"/>
                <a:gridCol w="402336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MISTAKE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YOU SEE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 THIS INSTEAD</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r>
              <a:tr h="475488">
                <a:tc>
                  <a:txBody>
                    <a:bodyPr/>
                    <a:lstStyle/>
                    <a:p>
                      <a:pPr indent="0" marL="0">
                        <a:buNone/>
                      </a:pPr>
                      <a:r>
                        <a:rPr lang="en-US" sz="1200" b="1" dirty="0">
                          <a:solidFill>
                            <a:srgbClr val="D64545"/>
                          </a:solidFill>
                          <a:latin typeface="Calibri" pitchFamily="34" charset="0"/>
                          <a:ea typeface="Calibri" pitchFamily="34" charset="-122"/>
                          <a:cs typeface="Calibri" pitchFamily="34" charset="-120"/>
                        </a:rPr>
                        <a:t>PGDATA set to the mount root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initdb: directory not empty</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2E9E63"/>
                          </a:solidFill>
                          <a:latin typeface="Calibri" pitchFamily="34" charset="0"/>
                          <a:ea typeface="Calibri" pitchFamily="34" charset="-122"/>
                          <a:cs typeface="Calibri" pitchFamily="34" charset="-120"/>
                        </a:rPr>
                        <a:t>PGDATA must be a SUBdirectory of the mount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D64545"/>
                          </a:solidFill>
                          <a:latin typeface="Calibri" pitchFamily="34" charset="0"/>
                          <a:ea typeface="Calibri" pitchFamily="34" charset="-122"/>
                          <a:cs typeface="Calibri" pitchFamily="34" charset="-120"/>
                        </a:rPr>
                        <a:t>No fsGroup on a StatefulSet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permission denied on a fresh volume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2E9E63"/>
                          </a:solidFill>
                          <a:latin typeface="Calibri" pitchFamily="34" charset="0"/>
                          <a:ea typeface="Calibri" pitchFamily="34" charset="-122"/>
                          <a:cs typeface="Calibri" pitchFamily="34" charset="-120"/>
                        </a:rPr>
                        <a:t>fsGroup = the container's runtime GID</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75488">
                <a:tc>
                  <a:txBody>
                    <a:bodyPr/>
                    <a:lstStyle/>
                    <a:p>
                      <a:pPr indent="0" marL="0">
                        <a:buNone/>
                      </a:pPr>
                      <a:r>
                        <a:rPr lang="en-US" sz="1200" b="1" dirty="0">
                          <a:solidFill>
                            <a:srgbClr val="D64545"/>
                          </a:solidFill>
                          <a:latin typeface="Calibri" pitchFamily="34" charset="0"/>
                          <a:ea typeface="Calibri" pitchFamily="34" charset="-122"/>
                          <a:cs typeface="Calibri" pitchFamily="34" charset="-120"/>
                        </a:rPr>
                        <a:t>reclaimPolicy Delete on a ledger</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delete the PVC, lose the data</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2E9E63"/>
                          </a:solidFill>
                          <a:latin typeface="Calibri" pitchFamily="34" charset="0"/>
                          <a:ea typeface="Calibri" pitchFamily="34" charset="-122"/>
                          <a:cs typeface="Calibri" pitchFamily="34" charset="-120"/>
                        </a:rPr>
                        <a:t>Retain for anything you cannot recreate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D64545"/>
                          </a:solidFill>
                          <a:latin typeface="Calibri" pitchFamily="34" charset="0"/>
                          <a:ea typeface="Calibri" pitchFamily="34" charset="-122"/>
                          <a:cs typeface="Calibri" pitchFamily="34" charset="-120"/>
                        </a:rPr>
                        <a:t>Editing a ConfigMap and expecting live env</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Nothing changes, no error</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2E9E63"/>
                          </a:solidFill>
                          <a:latin typeface="Calibri" pitchFamily="34" charset="0"/>
                          <a:ea typeface="Calibri" pitchFamily="34" charset="-122"/>
                          <a:cs typeface="Calibri" pitchFamily="34" charset="-120"/>
                        </a:rPr>
                        <a:t>Restart, or mount as a volume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75488">
                <a:tc>
                  <a:txBody>
                    <a:bodyPr/>
                    <a:lstStyle/>
                    <a:p>
                      <a:pPr indent="0" marL="0">
                        <a:buNone/>
                      </a:pPr>
                      <a:r>
                        <a:rPr lang="en-US" sz="1200" b="1" dirty="0">
                          <a:solidFill>
                            <a:srgbClr val="D64545"/>
                          </a:solidFill>
                          <a:latin typeface="Calibri" pitchFamily="34" charset="0"/>
                          <a:ea typeface="Calibri" pitchFamily="34" charset="-122"/>
                          <a:cs typeface="Calibri" pitchFamily="34" charset="-120"/>
                        </a:rPr>
                        <a:t>Believing a Secret is encrypted</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Credentials exposed in an etcd backup</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2E9E63"/>
                          </a:solidFill>
                          <a:latin typeface="Calibri" pitchFamily="34" charset="0"/>
                          <a:ea typeface="Calibri" pitchFamily="34" charset="-122"/>
                          <a:cs typeface="Calibri" pitchFamily="34" charset="-120"/>
                        </a:rPr>
                        <a:t>base64 is encoding. RBAC + encryption at rest.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D64545"/>
                          </a:solidFill>
                          <a:latin typeface="Calibri" pitchFamily="34" charset="0"/>
                          <a:ea typeface="Calibri" pitchFamily="34" charset="-122"/>
                          <a:cs typeface="Calibri" pitchFamily="34" charset="-120"/>
                        </a:rPr>
                        <a:t>Database as a Deployment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Random names, lost data, no ordering</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2E9E63"/>
                          </a:solidFill>
                          <a:latin typeface="Calibri" pitchFamily="34" charset="0"/>
                          <a:ea typeface="Calibri" pitchFamily="34" charset="-122"/>
                          <a:cs typeface="Calibri" pitchFamily="34" charset="-120"/>
                        </a:rPr>
                        <a:t>StatefulSet + headless Service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75488">
                <a:tc>
                  <a:txBody>
                    <a:bodyPr/>
                    <a:lstStyle/>
                    <a:p>
                      <a:pPr indent="0" marL="0">
                        <a:buNone/>
                      </a:pPr>
                      <a:r>
                        <a:rPr lang="en-US" sz="1200" b="1" dirty="0">
                          <a:solidFill>
                            <a:srgbClr val="D64545"/>
                          </a:solidFill>
                          <a:latin typeface="Calibri" pitchFamily="34" charset="0"/>
                          <a:ea typeface="Calibri" pitchFamily="34" charset="-122"/>
                          <a:cs typeface="Calibri" pitchFamily="34" charset="-120"/>
                        </a:rPr>
                        <a:t>readOnlyRootFilesystem with no /tmp</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App crashes writing a temp file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2E9E63"/>
                          </a:solidFill>
                          <a:latin typeface="Calibri" pitchFamily="34" charset="0"/>
                          <a:ea typeface="Calibri" pitchFamily="34" charset="-122"/>
                          <a:cs typeface="Calibri" pitchFamily="34" charset="-120"/>
                        </a:rPr>
                        <a:t>Mount an emptyDir at /tmp</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7" name="Text 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961388" cy="292608"/>
          </a:xfrm>
          <a:prstGeom prst="roundRect">
            <a:avLst>
              <a:gd name="adj" fmla="val 50000"/>
            </a:avLst>
          </a:prstGeom>
          <a:solidFill>
            <a:srgbClr val="2E9E63"/>
          </a:solidFill>
          <a:ln w="12700">
            <a:solidFill>
              <a:srgbClr val="2E9E63"/>
            </a:solidFill>
            <a:prstDash val="solid"/>
          </a:ln>
        </p:spPr>
      </p:sp>
      <p:sp>
        <p:nvSpPr>
          <p:cNvPr id="3" name="Text 1"/>
          <p:cNvSpPr/>
          <p:nvPr/>
        </p:nvSpPr>
        <p:spPr>
          <a:xfrm>
            <a:off x="566928" y="384048"/>
            <a:ext cx="196138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INDEPENDENT LAB</a:t>
            </a:r>
            <a:endParaRPr lang="en-US" sz="1100" dirty="0"/>
          </a:p>
        </p:txBody>
      </p:sp>
      <p:sp>
        <p:nvSpPr>
          <p:cNvPr id="4" name="Text 2"/>
          <p:cNvSpPr/>
          <p:nvPr/>
        </p:nvSpPr>
        <p:spPr>
          <a:xfrm>
            <a:off x="566928" y="914400"/>
            <a:ext cx="2743200" cy="777240"/>
          </a:xfrm>
          <a:prstGeom prst="rect">
            <a:avLst/>
          </a:prstGeom>
          <a:noFill/>
          <a:ln/>
        </p:spPr>
        <p:txBody>
          <a:bodyPr wrap="square" lIns="0" tIns="0" rIns="0" bIns="0" rtlCol="0" anchor="ctr"/>
          <a:lstStyle/>
          <a:p>
            <a:pPr indent="0" marL="0">
              <a:buNone/>
            </a:pPr>
            <a:r>
              <a:rPr lang="en-US" sz="4000" b="1" dirty="0">
                <a:solidFill>
                  <a:srgbClr val="2E9E63"/>
                </a:solidFill>
                <a:latin typeface="Cambria" pitchFamily="34" charset="0"/>
                <a:ea typeface="Cambria" pitchFamily="34" charset="-122"/>
                <a:cs typeface="Cambria" pitchFamily="34" charset="-120"/>
              </a:rPr>
              <a:t>L3.7</a:t>
            </a:r>
            <a:endParaRPr lang="en-US" sz="4000" dirty="0"/>
          </a:p>
        </p:txBody>
      </p:sp>
      <p:sp>
        <p:nvSpPr>
          <p:cNvPr id="5" name="Text 3"/>
          <p:cNvSpPr/>
          <p:nvPr/>
        </p:nvSpPr>
        <p:spPr>
          <a:xfrm>
            <a:off x="566928" y="1691640"/>
            <a:ext cx="11057839"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Non-root, read-only, no capabilities</a:t>
            </a:r>
            <a:endParaRPr lang="en-US" sz="3000" dirty="0"/>
          </a:p>
        </p:txBody>
      </p:sp>
      <p:sp>
        <p:nvSpPr>
          <p:cNvPr id="6" name="Shape 4"/>
          <p:cNvSpPr/>
          <p:nvPr/>
        </p:nvSpPr>
        <p:spPr>
          <a:xfrm>
            <a:off x="566928" y="2560320"/>
            <a:ext cx="5577840" cy="2834640"/>
          </a:xfrm>
          <a:prstGeom prst="roundRect">
            <a:avLst>
              <a:gd name="adj" fmla="val 3226"/>
            </a:avLst>
          </a:prstGeom>
          <a:solidFill>
            <a:srgbClr val="12314F"/>
          </a:solidFill>
          <a:ln w="12700">
            <a:solidFill>
              <a:srgbClr val="1B4066"/>
            </a:solidFill>
            <a:prstDash val="solid"/>
          </a:ln>
        </p:spPr>
      </p:sp>
      <p:sp>
        <p:nvSpPr>
          <p:cNvPr id="7" name="Text 5"/>
          <p:cNvSpPr/>
          <p:nvPr/>
        </p:nvSpPr>
        <p:spPr>
          <a:xfrm>
            <a:off x="841248" y="2724912"/>
            <a:ext cx="5029200" cy="274320"/>
          </a:xfrm>
          <a:prstGeom prst="rect">
            <a:avLst/>
          </a:prstGeom>
          <a:noFill/>
          <a:ln/>
        </p:spPr>
        <p:txBody>
          <a:bodyPr wrap="square" lIns="0" tIns="0" rIns="0" bIns="0" rtlCol="0" anchor="ctr"/>
          <a:lstStyle/>
          <a:p>
            <a:pPr indent="0" marL="0">
              <a:buNone/>
            </a:pPr>
            <a:r>
              <a:rPr lang="en-US" sz="1000" b="1" spc="100" kern="0" dirty="0">
                <a:solidFill>
                  <a:srgbClr val="F2A03D"/>
                </a:solidFill>
                <a:latin typeface="Calibri" pitchFamily="34" charset="0"/>
                <a:ea typeface="Calibri" pitchFamily="34" charset="-122"/>
                <a:cs typeface="Calibri" pitchFamily="34" charset="-120"/>
              </a:rPr>
              <a:t>YOU WILL</a:t>
            </a:r>
            <a:endParaRPr lang="en-US" sz="1000" dirty="0"/>
          </a:p>
        </p:txBody>
      </p:sp>
      <p:sp>
        <p:nvSpPr>
          <p:cNvPr id="8" name="Text 6"/>
          <p:cNvSpPr/>
          <p:nvPr/>
        </p:nvSpPr>
        <p:spPr>
          <a:xfrm>
            <a:off x="886968" y="3017520"/>
            <a:ext cx="5029200" cy="219456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Find which pods still run as root</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Apply the hardening baseline across the platform</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Watch the kubelet REFUSE a root container</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Build the fsGroup permission failure, then fix it</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Decode CapEff and see what a default container could do</a:t>
            </a:r>
            <a:endParaRPr lang="en-US" sz="1300" dirty="0"/>
          </a:p>
        </p:txBody>
      </p:sp>
      <p:sp>
        <p:nvSpPr>
          <p:cNvPr id="9" name="Shape 7"/>
          <p:cNvSpPr/>
          <p:nvPr/>
        </p:nvSpPr>
        <p:spPr>
          <a:xfrm>
            <a:off x="6464808" y="2560320"/>
            <a:ext cx="5120640" cy="2834640"/>
          </a:xfrm>
          <a:prstGeom prst="roundRect">
            <a:avLst>
              <a:gd name="adj" fmla="val 3226"/>
            </a:avLst>
          </a:prstGeom>
          <a:solidFill>
            <a:srgbClr val="12314F"/>
          </a:solidFill>
          <a:ln w="12700">
            <a:solidFill>
              <a:srgbClr val="1B4066"/>
            </a:solidFill>
            <a:prstDash val="solid"/>
          </a:ln>
        </p:spPr>
      </p:sp>
      <p:sp>
        <p:nvSpPr>
          <p:cNvPr id="10" name="Text 8"/>
          <p:cNvSpPr/>
          <p:nvPr/>
        </p:nvSpPr>
        <p:spPr>
          <a:xfrm>
            <a:off x="6739128" y="2724912"/>
            <a:ext cx="4572000" cy="274320"/>
          </a:xfrm>
          <a:prstGeom prst="rect">
            <a:avLst/>
          </a:prstGeom>
          <a:noFill/>
          <a:ln/>
        </p:spPr>
        <p:txBody>
          <a:bodyPr wrap="square" lIns="0" tIns="0" rIns="0" bIns="0" rtlCol="0" anchor="ctr"/>
          <a:lstStyle/>
          <a:p>
            <a:pPr indent="0" marL="0">
              <a:buNone/>
            </a:pPr>
            <a:r>
              <a:rPr lang="en-US" sz="1000" b="1" spc="100" kern="0" dirty="0">
                <a:solidFill>
                  <a:srgbClr val="2E9E63"/>
                </a:solidFill>
                <a:latin typeface="Calibri" pitchFamily="34" charset="0"/>
                <a:ea typeface="Calibri" pitchFamily="34" charset="-122"/>
                <a:cs typeface="Calibri" pitchFamily="34" charset="-120"/>
              </a:rPr>
              <a:t>DONE WHEN</a:t>
            </a:r>
            <a:endParaRPr lang="en-US" sz="1000" dirty="0"/>
          </a:p>
        </p:txBody>
      </p:sp>
      <p:sp>
        <p:nvSpPr>
          <p:cNvPr id="11" name="Text 9"/>
          <p:cNvSpPr/>
          <p:nvPr/>
        </p:nvSpPr>
        <p:spPr>
          <a:xfrm>
            <a:off x="6784848" y="3017520"/>
            <a:ext cx="4572000" cy="146304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Every app pod runs as uid 10001</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CapEff = 0000000000000000</a:t>
            </a:r>
            <a:endParaRPr lang="en-US" sz="1300" dirty="0"/>
          </a:p>
          <a:p>
            <a:pPr marL="342900" indent="-342900">
              <a:spcAft>
                <a:spcPts val="700"/>
              </a:spcAft>
              <a:buSzPct val="100000"/>
              <a:buChar char="•"/>
            </a:pPr>
            <a:r>
              <a:rPr lang="en-US" sz="1300" dirty="0">
                <a:solidFill>
                  <a:srgbClr val="FFFFFF"/>
                </a:solidFill>
                <a:latin typeface="Calibri" pitchFamily="34" charset="0"/>
                <a:ea typeface="Calibri" pitchFamily="34" charset="-122"/>
                <a:cs typeface="Calibri" pitchFamily="34" charset="-120"/>
              </a:rPr>
              <a:t>read-only root filesystem</a:t>
            </a:r>
            <a:endParaRPr lang="en-US" sz="1300" dirty="0"/>
          </a:p>
        </p:txBody>
      </p:sp>
      <p:sp>
        <p:nvSpPr>
          <p:cNvPr id="12" name="Shape 10"/>
          <p:cNvSpPr/>
          <p:nvPr/>
        </p:nvSpPr>
        <p:spPr>
          <a:xfrm>
            <a:off x="6739128" y="4617720"/>
            <a:ext cx="4572000" cy="566928"/>
          </a:xfrm>
          <a:prstGeom prst="roundRect">
            <a:avLst>
              <a:gd name="adj" fmla="val 12903"/>
            </a:avLst>
          </a:prstGeom>
          <a:solidFill>
            <a:srgbClr val="0E2740"/>
          </a:solidFill>
          <a:ln w="12700">
            <a:solidFill>
              <a:srgbClr val="1C7293"/>
            </a:solidFill>
            <a:prstDash val="solid"/>
          </a:ln>
        </p:spPr>
      </p:sp>
      <p:sp>
        <p:nvSpPr>
          <p:cNvPr id="13" name="Text 11"/>
          <p:cNvSpPr/>
          <p:nvPr/>
        </p:nvSpPr>
        <p:spPr>
          <a:xfrm>
            <a:off x="6876288" y="4617720"/>
            <a:ext cx="4297680" cy="566928"/>
          </a:xfrm>
          <a:prstGeom prst="rect">
            <a:avLst/>
          </a:prstGeom>
          <a:noFill/>
          <a:ln/>
        </p:spPr>
        <p:txBody>
          <a:bodyPr wrap="square" lIns="0" tIns="0" rIns="0" bIns="0" rtlCol="0" anchor="ctr"/>
          <a:lstStyle/>
          <a:p>
            <a:pPr indent="0" marL="0">
              <a:buNone/>
            </a:pPr>
            <a:r>
              <a:rPr lang="en-US" sz="1150" dirty="0">
                <a:solidFill>
                  <a:srgbClr val="F2A03D"/>
                </a:solidFill>
                <a:latin typeface="Courier New" pitchFamily="34" charset="0"/>
                <a:ea typeface="Courier New" pitchFamily="34" charset="-122"/>
                <a:cs typeface="Courier New" pitchFamily="34" charset="-120"/>
              </a:rPr>
              <a:t>make validate-lab LAB=L3.7</a:t>
            </a:r>
            <a:endParaRPr lang="en-US" sz="1150" dirty="0"/>
          </a:p>
        </p:txBody>
      </p:sp>
      <p:sp>
        <p:nvSpPr>
          <p:cNvPr id="14" name="Text 12"/>
          <p:cNvSpPr/>
          <p:nvPr/>
        </p:nvSpPr>
        <p:spPr>
          <a:xfrm>
            <a:off x="566928" y="5577840"/>
            <a:ext cx="11057839" cy="365760"/>
          </a:xfrm>
          <a:prstGeom prst="rect">
            <a:avLst/>
          </a:prstGeom>
          <a:noFill/>
          <a:ln/>
        </p:spPr>
        <p:txBody>
          <a:bodyPr wrap="square" lIns="0" tIns="0" rIns="0" bIns="0" rtlCol="0" anchor="ctr"/>
          <a:lstStyle/>
          <a:p>
            <a:pPr indent="0" marL="0">
              <a:buNone/>
            </a:pPr>
            <a:r>
              <a:rPr lang="en-US" sz="1200" dirty="0">
                <a:solidFill>
                  <a:srgbClr val="63758B"/>
                </a:solidFill>
                <a:latin typeface="Calibri" pitchFamily="34" charset="0"/>
                <a:ea typeface="Calibri" pitchFamily="34" charset="-122"/>
                <a:cs typeface="Calibri" pitchFamily="34" charset="-120"/>
              </a:rPr>
              <a:t>30 minutes   ·   labs/day3/L3.7-security-context/</a:t>
            </a:r>
            <a:endParaRPr lang="en-US" sz="1200" dirty="0"/>
          </a:p>
        </p:txBody>
      </p:sp>
      <p:sp>
        <p:nvSpPr>
          <p:cNvPr id="15" name="Text 13"/>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16" name="Text 14"/>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225296" cy="292608"/>
          </a:xfrm>
          <a:prstGeom prst="roundRect">
            <a:avLst>
              <a:gd name="adj" fmla="val 50000"/>
            </a:avLst>
          </a:prstGeom>
          <a:solidFill>
            <a:srgbClr val="D64545"/>
          </a:solidFill>
          <a:ln w="12700">
            <a:solidFill>
              <a:srgbClr val="D64545"/>
            </a:solidFill>
            <a:prstDash val="solid"/>
          </a:ln>
        </p:spPr>
      </p:sp>
      <p:sp>
        <p:nvSpPr>
          <p:cNvPr id="3" name="Text 1"/>
          <p:cNvSpPr/>
          <p:nvPr/>
        </p:nvSpPr>
        <p:spPr>
          <a:xfrm>
            <a:off x="566928" y="384048"/>
            <a:ext cx="1225296"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INCIDENT</a:t>
            </a:r>
            <a:endParaRPr lang="en-US" sz="1100" dirty="0"/>
          </a:p>
        </p:txBody>
      </p:sp>
      <p:sp>
        <p:nvSpPr>
          <p:cNvPr id="4" name="Shape 2"/>
          <p:cNvSpPr/>
          <p:nvPr/>
        </p:nvSpPr>
        <p:spPr>
          <a:xfrm>
            <a:off x="566928" y="1554480"/>
            <a:ext cx="11057839" cy="3017520"/>
          </a:xfrm>
          <a:prstGeom prst="roundRect">
            <a:avLst>
              <a:gd name="adj" fmla="val 3636"/>
            </a:avLst>
          </a:prstGeom>
          <a:solidFill>
            <a:srgbClr val="12314F"/>
          </a:solidFill>
          <a:ln w="12700">
            <a:solidFill>
              <a:srgbClr val="D64545"/>
            </a:solidFill>
            <a:prstDash val="solid"/>
          </a:ln>
        </p:spPr>
      </p:sp>
      <p:sp>
        <p:nvSpPr>
          <p:cNvPr id="5" name="Text 3"/>
          <p:cNvSpPr/>
          <p:nvPr/>
        </p:nvSpPr>
        <p:spPr>
          <a:xfrm>
            <a:off x="1115568" y="1920240"/>
            <a:ext cx="9960559" cy="1463040"/>
          </a:xfrm>
          <a:prstGeom prst="rect">
            <a:avLst/>
          </a:prstGeom>
          <a:noFill/>
          <a:ln/>
        </p:spPr>
        <p:txBody>
          <a:bodyPr wrap="square" lIns="0" tIns="0" rIns="0" bIns="0" rtlCol="0" anchor="ctr"/>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SEV-1 · TWO alerts, 90 seconds apart.</a:t>
            </a:r>
            <a:endParaRPr lang="en-US" sz="3000" dirty="0"/>
          </a:p>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And they are NOT related.</a:t>
            </a:r>
            <a:endParaRPr lang="en-US" sz="3000" dirty="0"/>
          </a:p>
        </p:txBody>
      </p:sp>
      <p:sp>
        <p:nvSpPr>
          <p:cNvPr id="6" name="Text 4"/>
          <p:cNvSpPr/>
          <p:nvPr/>
        </p:nvSpPr>
        <p:spPr>
          <a:xfrm>
            <a:off x="1115568" y="3429000"/>
            <a:ext cx="9960559" cy="914400"/>
          </a:xfrm>
          <a:prstGeom prst="rect">
            <a:avLst/>
          </a:prstGeom>
          <a:noFill/>
          <a:ln/>
        </p:spPr>
        <p:txBody>
          <a:bodyPr wrap="square" lIns="0" tIns="0" rIns="0" bIns="0" rtlCol="0" anchor="ctr"/>
          <a:lstStyle/>
          <a:p>
            <a:pPr indent="0" marL="0">
              <a:lnSpc>
                <a:spcPts val="2100"/>
              </a:lnSpc>
              <a:buNone/>
            </a:pPr>
            <a:r>
              <a:rPr lang="en-US" sz="1500" dirty="0">
                <a:solidFill>
                  <a:srgbClr val="D8E6F2"/>
                </a:solidFill>
                <a:latin typeface="Calibri" pitchFamily="34" charset="0"/>
                <a:ea typeface="Calibri" pitchFamily="34" charset="-122"/>
                <a:cs typeface="Calibri" pitchFamily="34" charset="-120"/>
              </a:rPr>
              <a:t>ledger-service readiness failing, 0/2 endpoints. postgres-0 not Ready for 4 minutes. A storage change and a config change were both merged this afternoon, by different teams, and neither thinks it is theirs.</a:t>
            </a:r>
            <a:endParaRPr lang="en-US" sz="1500" dirty="0"/>
          </a:p>
        </p:txBody>
      </p:sp>
      <p:sp>
        <p:nvSpPr>
          <p:cNvPr id="7" name="Text 5"/>
          <p:cNvSpPr/>
          <p:nvPr/>
        </p:nvSpPr>
        <p:spPr>
          <a:xfrm>
            <a:off x="658368" y="4800600"/>
            <a:ext cx="11057839" cy="1188720"/>
          </a:xfrm>
          <a:prstGeom prst="rect">
            <a:avLst/>
          </a:prstGeom>
          <a:noFill/>
          <a:ln/>
        </p:spPr>
        <p:txBody>
          <a:bodyPr wrap="square" lIns="0" tIns="0" rIns="0" bIns="0" rtlCol="0" anchor="ctr"/>
          <a:lstStyle/>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Two faults. Fixing the loud one does not fix the quiet one.</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Before you type anything: which do you work FIRST, and why?</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One is LOUD — Pending, and the events name the cause exactly.</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One is QUIET — Running, valid object, wrong value. Only a readiness probe makes it visible.</a:t>
            </a:r>
            <a:endParaRPr lang="en-US" sz="1350" dirty="0"/>
          </a:p>
          <a:p>
            <a:pPr marL="342900" indent="-342900">
              <a:spcAft>
                <a:spcPts val="600"/>
              </a:spcAft>
              <a:buSzPct val="100000"/>
              <a:buChar char="•"/>
            </a:pPr>
            <a:r>
              <a:rPr lang="en-US" sz="1350" dirty="0">
                <a:solidFill>
                  <a:srgbClr val="D8E6F2"/>
                </a:solidFill>
                <a:latin typeface="Calibri" pitchFamily="34" charset="0"/>
                <a:ea typeface="Calibri" pitchFamily="34" charset="-122"/>
                <a:cs typeface="Calibri" pitchFamily="34" charset="-120"/>
              </a:rPr>
              <a:t>Scored on METHOD and on PRIORITISATION.</a:t>
            </a:r>
            <a:endParaRPr lang="en-US" sz="1350" dirty="0"/>
          </a:p>
        </p:txBody>
      </p:sp>
      <p:sp>
        <p:nvSpPr>
          <p:cNvPr id="8" name="Text 6"/>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9" name="Text 7"/>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961388" cy="292608"/>
          </a:xfrm>
          <a:prstGeom prst="roundRect">
            <a:avLst>
              <a:gd name="adj" fmla="val 50000"/>
            </a:avLst>
          </a:prstGeom>
          <a:solidFill>
            <a:srgbClr val="C97B1E"/>
          </a:solidFill>
          <a:ln w="12700">
            <a:solidFill>
              <a:srgbClr val="C97B1E"/>
            </a:solidFill>
            <a:prstDash val="solid"/>
          </a:ln>
        </p:spPr>
      </p:sp>
      <p:sp>
        <p:nvSpPr>
          <p:cNvPr id="3" name="Text 1"/>
          <p:cNvSpPr/>
          <p:nvPr/>
        </p:nvSpPr>
        <p:spPr>
          <a:xfrm>
            <a:off x="566928" y="384048"/>
            <a:ext cx="196138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4" name="Shape 2"/>
          <p:cNvSpPr/>
          <p:nvPr/>
        </p:nvSpPr>
        <p:spPr>
          <a:xfrm>
            <a:off x="566928" y="1143000"/>
            <a:ext cx="11057839" cy="1371600"/>
          </a:xfrm>
          <a:prstGeom prst="roundRect">
            <a:avLst>
              <a:gd name="adj" fmla="val 8000"/>
            </a:avLst>
          </a:prstGeom>
          <a:solidFill>
            <a:srgbClr val="12314F"/>
          </a:solidFill>
          <a:ln w="12700">
            <a:solidFill>
              <a:srgbClr val="F2A03D"/>
            </a:solidFill>
            <a:prstDash val="solid"/>
          </a:ln>
        </p:spPr>
      </p:sp>
      <p:sp>
        <p:nvSpPr>
          <p:cNvPr id="5" name="Text 3"/>
          <p:cNvSpPr/>
          <p:nvPr/>
        </p:nvSpPr>
        <p:spPr>
          <a:xfrm>
            <a:off x="841248" y="1143000"/>
            <a:ext cx="914400" cy="1371600"/>
          </a:xfrm>
          <a:prstGeom prst="rect">
            <a:avLst/>
          </a:prstGeom>
          <a:noFill/>
          <a:ln/>
        </p:spPr>
        <p:txBody>
          <a:bodyPr wrap="square" lIns="0" tIns="0" rIns="0" bIns="0" rtlCol="0" anchor="ctr"/>
          <a:lstStyle/>
          <a:p>
            <a:pPr algn="ctr" indent="0" marL="0">
              <a:buNone/>
            </a:pPr>
            <a:r>
              <a:rPr lang="en-US" sz="4600" b="1" dirty="0">
                <a:solidFill>
                  <a:srgbClr val="F2A03D"/>
                </a:solidFill>
                <a:latin typeface="Cambria" pitchFamily="34" charset="0"/>
                <a:ea typeface="Cambria" pitchFamily="34" charset="-122"/>
                <a:cs typeface="Cambria" pitchFamily="34" charset="-120"/>
              </a:rPr>
              <a:t>?</a:t>
            </a:r>
            <a:endParaRPr lang="en-US" sz="4600" dirty="0"/>
          </a:p>
        </p:txBody>
      </p:sp>
      <p:sp>
        <p:nvSpPr>
          <p:cNvPr id="6" name="Text 4"/>
          <p:cNvSpPr/>
          <p:nvPr/>
        </p:nvSpPr>
        <p:spPr>
          <a:xfrm>
            <a:off x="1892808" y="1143000"/>
            <a:ext cx="9320479" cy="1371600"/>
          </a:xfrm>
          <a:prstGeom prst="rect">
            <a:avLst/>
          </a:prstGeom>
          <a:noFill/>
          <a:ln/>
        </p:spPr>
        <p:txBody>
          <a:bodyPr wrap="square" lIns="0" tIns="0" rIns="0" bIns="0" rtlCol="0" anchor="ctr"/>
          <a:lstStyle/>
          <a:p>
            <a:pPr indent="0" marL="0">
              <a:lnSpc>
                <a:spcPts val="2600"/>
              </a:lnSpc>
              <a:buNone/>
            </a:pPr>
            <a:r>
              <a:rPr lang="en-US" sz="2000" b="1" dirty="0">
                <a:solidFill>
                  <a:srgbClr val="FFFFFF"/>
                </a:solidFill>
                <a:latin typeface="Cambria" pitchFamily="34" charset="0"/>
                <a:ea typeface="Cambria" pitchFamily="34" charset="-122"/>
                <a:cs typeface="Cambria" pitchFamily="34" charset="-120"/>
              </a:rPr>
              <a:t>Eight questions. Answer out loud. Not scored.</a:t>
            </a:r>
            <a:endParaRPr lang="en-US" sz="2000" dirty="0"/>
          </a:p>
        </p:txBody>
      </p:sp>
      <p:sp>
        <p:nvSpPr>
          <p:cNvPr id="7" name="Text 5"/>
          <p:cNvSpPr/>
          <p:nvPr/>
        </p:nvSpPr>
        <p:spPr>
          <a:xfrm>
            <a:off x="566928" y="2715768"/>
            <a:ext cx="6400800" cy="274320"/>
          </a:xfrm>
          <a:prstGeom prst="rect">
            <a:avLst/>
          </a:prstGeom>
          <a:noFill/>
          <a:ln/>
        </p:spPr>
        <p:txBody>
          <a:bodyPr wrap="square" lIns="0" tIns="0" rIns="0" bIns="0" rtlCol="0" anchor="ctr"/>
          <a:lstStyle/>
          <a:p>
            <a:pPr indent="0" marL="0">
              <a:buNone/>
            </a:pPr>
            <a:r>
              <a:rPr lang="en-US" sz="1100" b="1" spc="100" kern="0" dirty="0">
                <a:solidFill>
                  <a:srgbClr val="F2A03D"/>
                </a:solidFill>
                <a:latin typeface="Calibri" pitchFamily="34" charset="0"/>
                <a:ea typeface="Calibri" pitchFamily="34" charset="-122"/>
                <a:cs typeface="Calibri" pitchFamily="34" charset="-120"/>
              </a:rPr>
              <a:t>Answers</a:t>
            </a:r>
            <a:endParaRPr lang="en-US" sz="1100" dirty="0"/>
          </a:p>
        </p:txBody>
      </p:sp>
      <p:sp>
        <p:nvSpPr>
          <p:cNvPr id="8" name="Text 6"/>
          <p:cNvSpPr/>
          <p:nvPr/>
        </p:nvSpPr>
        <p:spPr>
          <a:xfrm>
            <a:off x="640080" y="3008376"/>
            <a:ext cx="10966399" cy="336499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1. Change a ConfigMap — do running pods see it?  →  env: no. volume: yes, ~60s.</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2. Is a Secret encrypted?  →  No. base64-encoded. RBAC + etcd encryption protect it.</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3. ReadWriteOnce — once what?  →  one NODE, not one pod</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4. Why WaitForFirstConsumer?  →  so storage is provisioned where the scheduler put the pod</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5. Retain vs Delete?  →  Retain keeps the volume when the PVC goes. Use it for data you cannot recreate.</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6. Three things a StatefulSet gives that a Deployment cannot?  →  stable name, stable storage, ordering</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7. What does fsGroup do?  →  chowns the mounted volume so a non-root process can write to it</a:t>
            </a:r>
            <a:endParaRPr lang="en-US" sz="1200" dirty="0"/>
          </a:p>
          <a:p>
            <a:pPr marL="342900" indent="-342900">
              <a:spcAft>
                <a:spcPts val="500"/>
              </a:spcAft>
              <a:buSzPct val="100000"/>
              <a:buChar char="•"/>
            </a:pPr>
            <a:r>
              <a:rPr lang="en-US" sz="1200" dirty="0">
                <a:solidFill>
                  <a:srgbClr val="D8E6F2"/>
                </a:solidFill>
                <a:latin typeface="Calibri" pitchFamily="34" charset="0"/>
                <a:ea typeface="Calibri" pitchFamily="34" charset="-122"/>
                <a:cs typeface="Calibri" pitchFamily="34" charset="-120"/>
              </a:rPr>
              <a:t>8. Scale postgres to 3 — do you have a cluster?  →  No. Three independent empty databases.</a:t>
            </a:r>
            <a:endParaRPr lang="en-US" sz="1200" dirty="0"/>
          </a:p>
        </p:txBody>
      </p:sp>
      <p:sp>
        <p:nvSpPr>
          <p:cNvPr id="9" name="Text 7"/>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10" name="Text 8"/>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66928" y="384048"/>
            <a:ext cx="1645920"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164592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 OF DAY 3</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you built today</a:t>
            </a:r>
            <a:endParaRPr lang="en-US" sz="3200" dirty="0"/>
          </a:p>
        </p:txBody>
      </p:sp>
      <p:sp>
        <p:nvSpPr>
          <p:cNvPr id="5" name="Text 3"/>
          <p:cNvSpPr/>
          <p:nvPr/>
        </p:nvSpPr>
        <p:spPr>
          <a:xfrm>
            <a:off x="566928" y="2103120"/>
            <a:ext cx="2524430" cy="1234440"/>
          </a:xfrm>
          <a:prstGeom prst="rect">
            <a:avLst/>
          </a:prstGeom>
          <a:noFill/>
          <a:ln/>
        </p:spPr>
        <p:txBody>
          <a:bodyPr wrap="square" lIns="0" tIns="0" rIns="0" bIns="0" rtlCol="0" anchor="ctr"/>
          <a:lstStyle/>
          <a:p>
            <a:pPr algn="ctr" indent="0" marL="0">
              <a:buNone/>
            </a:pPr>
            <a:r>
              <a:rPr lang="en-US" sz="5800" b="1" dirty="0">
                <a:solidFill>
                  <a:srgbClr val="2E9E63"/>
                </a:solidFill>
                <a:latin typeface="Cambria" pitchFamily="34" charset="0"/>
                <a:ea typeface="Cambria" pitchFamily="34" charset="-122"/>
                <a:cs typeface="Cambria" pitchFamily="34" charset="-120"/>
              </a:rPr>
              <a:t>5,000</a:t>
            </a:r>
            <a:endParaRPr lang="en-US" sz="5800" dirty="0"/>
          </a:p>
        </p:txBody>
      </p:sp>
      <p:sp>
        <p:nvSpPr>
          <p:cNvPr id="6" name="Text 4"/>
          <p:cNvSpPr/>
          <p:nvPr/>
        </p:nvSpPr>
        <p:spPr>
          <a:xfrm>
            <a:off x="566928" y="3364992"/>
            <a:ext cx="2524430" cy="868680"/>
          </a:xfrm>
          <a:prstGeom prst="rect">
            <a:avLst/>
          </a:prstGeom>
          <a:noFill/>
          <a:ln/>
        </p:spPr>
        <p:txBody>
          <a:bodyPr wrap="square" lIns="0" tIns="0" rIns="0" bIns="0" rtlCol="0" anchor="ctr"/>
          <a:lstStyle/>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payments in PostgreSQL,</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surviving pod deletion,</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queryable by you</a:t>
            </a:r>
            <a:endParaRPr lang="en-US" sz="1300" dirty="0"/>
          </a:p>
        </p:txBody>
      </p:sp>
      <p:sp>
        <p:nvSpPr>
          <p:cNvPr id="7" name="Text 5"/>
          <p:cNvSpPr/>
          <p:nvPr/>
        </p:nvSpPr>
        <p:spPr>
          <a:xfrm>
            <a:off x="3411398" y="2103120"/>
            <a:ext cx="2524430" cy="1234440"/>
          </a:xfrm>
          <a:prstGeom prst="rect">
            <a:avLst/>
          </a:prstGeom>
          <a:noFill/>
          <a:ln/>
        </p:spPr>
        <p:txBody>
          <a:bodyPr wrap="square" lIns="0" tIns="0" rIns="0" bIns="0" rtlCol="0" anchor="ctr"/>
          <a:lstStyle/>
          <a:p>
            <a:pPr algn="ctr" indent="0" marL="0">
              <a:buNone/>
            </a:pPr>
            <a:r>
              <a:rPr lang="en-US" sz="5800" b="1" dirty="0">
                <a:solidFill>
                  <a:srgbClr val="2E9E63"/>
                </a:solidFill>
                <a:latin typeface="Cambria" pitchFamily="34" charset="0"/>
                <a:ea typeface="Cambria" pitchFamily="34" charset="-122"/>
                <a:cs typeface="Cambria" pitchFamily="34" charset="-120"/>
              </a:rPr>
              <a:t>0</a:t>
            </a:r>
            <a:endParaRPr lang="en-US" sz="5800" dirty="0"/>
          </a:p>
        </p:txBody>
      </p:sp>
      <p:sp>
        <p:nvSpPr>
          <p:cNvPr id="8" name="Text 6"/>
          <p:cNvSpPr/>
          <p:nvPr/>
        </p:nvSpPr>
        <p:spPr>
          <a:xfrm>
            <a:off x="3411398" y="3364992"/>
            <a:ext cx="2524430" cy="868680"/>
          </a:xfrm>
          <a:prstGeom prst="rect">
            <a:avLst/>
          </a:prstGeom>
          <a:noFill/>
          <a:ln/>
        </p:spPr>
        <p:txBody>
          <a:bodyPr wrap="square" lIns="0" tIns="0" rIns="0" bIns="0" rtlCol="0" anchor="ctr"/>
          <a:lstStyle/>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ledger imbalance across</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4,955 journals and</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seven currencies</a:t>
            </a:r>
            <a:endParaRPr lang="en-US" sz="1300" dirty="0"/>
          </a:p>
        </p:txBody>
      </p:sp>
      <p:sp>
        <p:nvSpPr>
          <p:cNvPr id="9" name="Text 7"/>
          <p:cNvSpPr/>
          <p:nvPr/>
        </p:nvSpPr>
        <p:spPr>
          <a:xfrm>
            <a:off x="6255868" y="2103120"/>
            <a:ext cx="2524430" cy="1234440"/>
          </a:xfrm>
          <a:prstGeom prst="rect">
            <a:avLst/>
          </a:prstGeom>
          <a:noFill/>
          <a:ln/>
        </p:spPr>
        <p:txBody>
          <a:bodyPr wrap="square" lIns="0" tIns="0" rIns="0" bIns="0" rtlCol="0" anchor="ctr"/>
          <a:lstStyle/>
          <a:p>
            <a:pPr algn="ctr" indent="0" marL="0">
              <a:buNone/>
            </a:pPr>
            <a:r>
              <a:rPr lang="en-US" sz="5800" b="1" dirty="0">
                <a:solidFill>
                  <a:srgbClr val="F2A03D"/>
                </a:solidFill>
                <a:latin typeface="Cambria" pitchFamily="34" charset="0"/>
                <a:ea typeface="Cambria" pitchFamily="34" charset="-122"/>
                <a:cs typeface="Cambria" pitchFamily="34" charset="-120"/>
              </a:rPr>
              <a:t>3</a:t>
            </a:r>
            <a:endParaRPr lang="en-US" sz="5800" dirty="0"/>
          </a:p>
        </p:txBody>
      </p:sp>
      <p:sp>
        <p:nvSpPr>
          <p:cNvPr id="10" name="Text 8"/>
          <p:cNvSpPr/>
          <p:nvPr/>
        </p:nvSpPr>
        <p:spPr>
          <a:xfrm>
            <a:off x="6255868" y="3364992"/>
            <a:ext cx="2524430" cy="868680"/>
          </a:xfrm>
          <a:prstGeom prst="rect">
            <a:avLst/>
          </a:prstGeom>
          <a:noFill/>
          <a:ln/>
        </p:spPr>
        <p:txBody>
          <a:bodyPr wrap="square" lIns="0" tIns="0" rIns="0" bIns="0" rtlCol="0" anchor="ctr"/>
          <a:lstStyle/>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StatefulSets with stable</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identity and their own</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persistent volumes</a:t>
            </a:r>
            <a:endParaRPr lang="en-US" sz="1300" dirty="0"/>
          </a:p>
        </p:txBody>
      </p:sp>
      <p:sp>
        <p:nvSpPr>
          <p:cNvPr id="11" name="Text 9"/>
          <p:cNvSpPr/>
          <p:nvPr/>
        </p:nvSpPr>
        <p:spPr>
          <a:xfrm>
            <a:off x="9100337" y="2103120"/>
            <a:ext cx="2524430" cy="1234440"/>
          </a:xfrm>
          <a:prstGeom prst="rect">
            <a:avLst/>
          </a:prstGeom>
          <a:noFill/>
          <a:ln/>
        </p:spPr>
        <p:txBody>
          <a:bodyPr wrap="square" lIns="0" tIns="0" rIns="0" bIns="0" rtlCol="0" anchor="ctr"/>
          <a:lstStyle/>
          <a:p>
            <a:pPr algn="ctr" indent="0" marL="0">
              <a:buNone/>
            </a:pPr>
            <a:r>
              <a:rPr lang="en-US" sz="5800" b="1" dirty="0">
                <a:solidFill>
                  <a:srgbClr val="1C7293"/>
                </a:solidFill>
                <a:latin typeface="Cambria" pitchFamily="34" charset="0"/>
                <a:ea typeface="Cambria" pitchFamily="34" charset="-122"/>
                <a:cs typeface="Cambria" pitchFamily="34" charset="-120"/>
              </a:rPr>
              <a:t>10001</a:t>
            </a:r>
            <a:endParaRPr lang="en-US" sz="5800" dirty="0"/>
          </a:p>
        </p:txBody>
      </p:sp>
      <p:sp>
        <p:nvSpPr>
          <p:cNvPr id="12" name="Text 10"/>
          <p:cNvSpPr/>
          <p:nvPr/>
        </p:nvSpPr>
        <p:spPr>
          <a:xfrm>
            <a:off x="9100337" y="3364992"/>
            <a:ext cx="2524430" cy="868680"/>
          </a:xfrm>
          <a:prstGeom prst="rect">
            <a:avLst/>
          </a:prstGeom>
          <a:noFill/>
          <a:ln/>
        </p:spPr>
        <p:txBody>
          <a:bodyPr wrap="square" lIns="0" tIns="0" rIns="0" bIns="0" rtlCol="0" anchor="ctr"/>
          <a:lstStyle/>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the UID every application</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pod now runs as —</a:t>
            </a:r>
            <a:endParaRPr lang="en-US" sz="1300" dirty="0"/>
          </a:p>
          <a:p>
            <a:pPr algn="ctr" indent="0" marL="0">
              <a:lnSpc>
                <a:spcPts val="1700"/>
              </a:lnSpc>
              <a:buNone/>
            </a:pPr>
            <a:r>
              <a:rPr lang="en-US" sz="1300" dirty="0">
                <a:solidFill>
                  <a:srgbClr val="D8E6F2"/>
                </a:solidFill>
                <a:latin typeface="Calibri" pitchFamily="34" charset="0"/>
                <a:ea typeface="Calibri" pitchFamily="34" charset="-122"/>
                <a:cs typeface="Calibri" pitchFamily="34" charset="-120"/>
              </a:rPr>
              <a:t>zero capabilities</a:t>
            </a:r>
            <a:endParaRPr lang="en-US" sz="1300" dirty="0"/>
          </a:p>
        </p:txBody>
      </p:sp>
      <p:sp>
        <p:nvSpPr>
          <p:cNvPr id="13" name="Text 11"/>
          <p:cNvSpPr/>
          <p:nvPr/>
        </p:nvSpPr>
        <p:spPr>
          <a:xfrm>
            <a:off x="566928" y="5486400"/>
            <a:ext cx="11057839" cy="548640"/>
          </a:xfrm>
          <a:prstGeom prst="rect">
            <a:avLst/>
          </a:prstGeom>
          <a:noFill/>
          <a:ln/>
        </p:spPr>
        <p:txBody>
          <a:bodyPr wrap="square" lIns="0" tIns="0" rIns="0" bIns="0" rtlCol="0" anchor="ctr"/>
          <a:lstStyle/>
          <a:p>
            <a:pPr algn="ctr" indent="0" marL="0">
              <a:buNone/>
            </a:pPr>
            <a:r>
              <a:rPr lang="en-US" sz="1400" i="1" dirty="0">
                <a:solidFill>
                  <a:srgbClr val="FFFFFF"/>
                </a:solidFill>
                <a:latin typeface="Calibri" pitchFamily="34" charset="0"/>
                <a:ea typeface="Calibri" pitchFamily="34" charset="-122"/>
                <a:cs typeface="Calibri" pitchFamily="34" charset="-120"/>
              </a:rPr>
              <a:t>The platform has a memory, a system of record, and no credentials in its manifests. It is still unreachable from outside the cluster.</a:t>
            </a:r>
            <a:endParaRPr lang="en-US" sz="1400" dirty="0"/>
          </a:p>
        </p:txBody>
      </p:sp>
      <p:sp>
        <p:nvSpPr>
          <p:cNvPr id="14" name="Text 12"/>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15" name="Text 13"/>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66928" y="384048"/>
            <a:ext cx="1225296" cy="292608"/>
          </a:xfrm>
          <a:prstGeom prst="roundRect">
            <a:avLst>
              <a:gd name="adj" fmla="val 50000"/>
            </a:avLst>
          </a:prstGeom>
          <a:solidFill>
            <a:srgbClr val="1C7293"/>
          </a:solidFill>
          <a:ln w="12700">
            <a:solidFill>
              <a:srgbClr val="1C7293"/>
            </a:solidFill>
            <a:prstDash val="solid"/>
          </a:ln>
        </p:spPr>
      </p:sp>
      <p:sp>
        <p:nvSpPr>
          <p:cNvPr id="3" name="Text 1"/>
          <p:cNvSpPr/>
          <p:nvPr/>
        </p:nvSpPr>
        <p:spPr>
          <a:xfrm>
            <a:off x="566928" y="384048"/>
            <a:ext cx="1225296"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TOMORROW</a:t>
            </a:r>
            <a:endParaRPr lang="en-US" sz="1100" dirty="0"/>
          </a:p>
        </p:txBody>
      </p:sp>
      <p:sp>
        <p:nvSpPr>
          <p:cNvPr id="4" name="Text 2"/>
          <p:cNvSpPr/>
          <p:nvPr/>
        </p:nvSpPr>
        <p:spPr>
          <a:xfrm>
            <a:off x="566928" y="841248"/>
            <a:ext cx="11057839" cy="777240"/>
          </a:xfrm>
          <a:prstGeom prst="rect">
            <a:avLst/>
          </a:prstGeom>
          <a:noFill/>
          <a:ln/>
        </p:spPr>
        <p:txBody>
          <a:bodyPr wrap="square" lIns="0" tIns="0" rIns="0" bIns="0" rtlCol="0" anchor="ctr"/>
          <a:lstStyle/>
          <a:p>
            <a:pPr indent="0" marL="0">
              <a:buNone/>
            </a:pPr>
            <a:r>
              <a:rPr lang="en-US" sz="3200" b="1" dirty="0">
                <a:solidFill>
                  <a:srgbClr val="0B1F3A"/>
                </a:solidFill>
                <a:latin typeface="Cambria" pitchFamily="34" charset="0"/>
                <a:ea typeface="Cambria" pitchFamily="34" charset="-122"/>
                <a:cs typeface="Cambria" pitchFamily="34" charset="-120"/>
              </a:rPr>
              <a:t>Day 4 — let the world in, and keep it out of the vault</a:t>
            </a:r>
            <a:endParaRPr lang="en-US" sz="3200" dirty="0"/>
          </a:p>
        </p:txBody>
      </p:sp>
      <p:sp>
        <p:nvSpPr>
          <p:cNvPr id="5" name="Text 3"/>
          <p:cNvSpPr/>
          <p:nvPr/>
        </p:nvSpPr>
        <p:spPr>
          <a:xfrm>
            <a:off x="566928" y="1737360"/>
            <a:ext cx="11057839" cy="384048"/>
          </a:xfrm>
          <a:prstGeom prst="rect">
            <a:avLst/>
          </a:prstGeom>
          <a:noFill/>
          <a:ln/>
        </p:spPr>
        <p:txBody>
          <a:bodyPr wrap="square" lIns="0" tIns="0" rIns="0" bIns="0" rtlCol="0" anchor="ctr"/>
          <a:lstStyle/>
          <a:p>
            <a:pPr indent="0" marL="0">
              <a:buNone/>
            </a:pPr>
            <a:r>
              <a:rPr lang="en-US" sz="1400" i="1" dirty="0">
                <a:solidFill>
                  <a:srgbClr val="1C7293"/>
                </a:solidFill>
                <a:latin typeface="Calibri" pitchFamily="34" charset="0"/>
                <a:ea typeface="Calibri" pitchFamily="34" charset="-122"/>
                <a:cs typeface="Calibri" pitchFamily="34" charset="-120"/>
              </a:rPr>
              <a:t>The platform works. No merchant can reach it, and the DMZ can reach the database.</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840480"/>
                <a:gridCol w="5120640"/>
                <a:gridCol w="2103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is missing</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costs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Fixed in</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0B1F3A"/>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route in from outside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 merchant can integrate. port-forward is not a product.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L4.3</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TLS</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Card data over plaintext HTTP</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L4.3</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Flat pod network</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axispay-edge can reach PostgreSQL directly — a PCI finding</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L4.4</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control over placement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All three payment replicas can land on one node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L4.5</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No disruption budget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 node drain takes every replica at once</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L4.6</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0B1F3A"/>
                          </a:solidFill>
                          <a:latin typeface="Calibri" pitchFamily="34" charset="0"/>
                          <a:ea typeface="Calibri" pitchFamily="34" charset="-122"/>
                          <a:cs typeface="Calibri" pitchFamily="34" charset="-120"/>
                        </a:rPr>
                        <a:t>DNS is still a black box</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You have used it for three days without opening it</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L4.2</a:t>
                      </a:r>
                      <a:endParaRPr lang="en-US" sz="1200" dirty="0">
                        <a:latin typeface="Calibri" charset="0"/>
                        <a:ea typeface="Calibri" charset="0"/>
                        <a:cs typeface="Calibri" charset="0"/>
                      </a:endParaRPr>
                    </a:p>
                  </a:txBody>
                  <a:tcPr marL="91440" marR="91440" marT="45720" marB="45720" anchor="ctr">
                    <a:lnL w="12700" cap="flat" cmpd="sng" algn="ctr">
                      <a:solidFill>
                        <a:srgbClr val="DCE4EE"/>
                      </a:solidFill>
                      <a:prstDash val="solid"/>
                      <a:round/>
                      <a:headEnd type="none" w="med" len="med"/>
                      <a:tailEnd type="none" w="med" len="med"/>
                    </a:lnL>
                    <a:lnR w="12700" cap="flat" cmpd="sng" algn="ctr">
                      <a:solidFill>
                        <a:srgbClr val="DCE4EE"/>
                      </a:solidFill>
                      <a:prstDash val="solid"/>
                      <a:round/>
                      <a:headEnd type="none" w="med" len="med"/>
                      <a:tailEnd type="none" w="med" len="med"/>
                    </a:lnR>
                    <a:lnT w="12700" cap="flat" cmpd="sng" algn="ctr">
                      <a:solidFill>
                        <a:srgbClr val="DCE4EE"/>
                      </a:solidFill>
                      <a:prstDash val="solid"/>
                      <a:round/>
                      <a:headEnd type="none" w="med" len="med"/>
                      <a:tailEnd type="none" w="med" len="med"/>
                    </a:lnT>
                    <a:lnB w="12700" cap="flat" cmpd="sng" algn="ctr">
                      <a:solidFill>
                        <a:srgbClr val="DCE4EE"/>
                      </a:solidFill>
                      <a:prstDash val="solid"/>
                      <a:round/>
                      <a:headEnd type="none" w="med" len="med"/>
                      <a:tailEnd type="none" w="med" len="med"/>
                    </a:lnB>
                    <a:solidFill>
                      <a:srgbClr val="EEF2F8"/>
                    </a:solidFill>
                  </a:tcPr>
                </a:tc>
              </a:tr>
            </a:tbl>
          </a:graphicData>
        </a:graphic>
      </p:graphicFrame>
      <p:sp>
        <p:nvSpPr>
          <p:cNvPr id="7" name="Text 4"/>
          <p:cNvSpPr/>
          <p:nvPr/>
        </p:nvSpPr>
        <p:spPr>
          <a:xfrm>
            <a:off x="566928" y="6437376"/>
            <a:ext cx="7315200" cy="274320"/>
          </a:xfrm>
          <a:prstGeom prst="rect">
            <a:avLst/>
          </a:prstGeom>
          <a:noFill/>
          <a:ln/>
        </p:spPr>
        <p:txBody>
          <a:bodyPr wrap="square" lIns="0" tIns="0" rIns="0" bIns="0" rtlCol="0" anchor="ctr"/>
          <a:lstStyle/>
          <a:p>
            <a:pPr indent="0" marL="0">
              <a:buNone/>
            </a:pPr>
            <a:r>
              <a:rPr lang="en-US" sz="900" dirty="0">
                <a:solidFill>
                  <a:srgbClr val="63758B"/>
                </a:solidFill>
                <a:latin typeface="Calibri" pitchFamily="34" charset="0"/>
                <a:ea typeface="Calibri" pitchFamily="34" charset="-122"/>
                <a:cs typeface="Calibri" pitchFamily="34" charset="-120"/>
              </a:rPr>
              <a:t>AxisPay · Kubernetes Comprehensive · Day 3</a:t>
            </a:r>
            <a:endParaRPr lang="en-US" sz="900" dirty="0"/>
          </a:p>
        </p:txBody>
      </p:sp>
      <p:sp>
        <p:nvSpPr>
          <p:cNvPr id="8" name="Text 5"/>
          <p:cNvSpPr/>
          <p:nvPr/>
        </p:nvSpPr>
        <p:spPr>
          <a:xfrm>
            <a:off x="10984687" y="6437376"/>
            <a:ext cx="640080" cy="274320"/>
          </a:xfrm>
          <a:prstGeom prst="rect">
            <a:avLst/>
          </a:prstGeom>
          <a:noFill/>
          <a:ln/>
        </p:spPr>
        <p:txBody>
          <a:bodyPr wrap="square" lIns="0" tIns="0" rIns="0" bIns="0" rtlCol="0" anchor="ctr"/>
          <a:lstStyle/>
          <a:p>
            <a:pPr algn="r" indent="0" marL="0">
              <a:buNone/>
            </a:pPr>
            <a:r>
              <a:rPr lang="en-US" sz="900" dirty="0">
                <a:solidFill>
                  <a:srgbClr val="63758B"/>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Axis Financial Services (fictional)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AxisPay Kubernetes Comprehensive — Day 3</dc:title>
  <dc:subject>State, Configuration and Data</dc:subject>
  <dc:creator>AxisPay Curriculum Team</dc:creator>
  <cp:lastModifiedBy>AxisPay Curriculum Team</cp:lastModifiedBy>
  <cp:revision>1</cp:revision>
  <dcterms:created xsi:type="dcterms:W3CDTF">2026-08-10T23:31:05Z</dcterms:created>
  <dcterms:modified xsi:type="dcterms:W3CDTF">2026-08-10T23:31:05Z</dcterms:modified>
</cp:coreProperties>
</file>