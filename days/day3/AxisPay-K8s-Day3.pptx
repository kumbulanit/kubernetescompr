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Open on the gap the students felt at the end of Day 2.
TIMING: 2 min
SPEAKER NOTES
Open by doing it, not describing it. Delete a payment-service pod, then try to fetch a payment created this morning. It is gone.\n\nThat fifteen-second demo sells the whole day. Everything today exists because a Python dictionary is not a system of record.
&gt;&gt; LIVE DEMO: kubectl delete pod -n axispay-core -l app.kubernetes.io/name=payment-service --wait=false, then curl for an earlier payment_id. 404.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Retrieval practice on the load-bearing Day 2 concepts.
TIMING: 20 min
SPEAKER NOTES
Question 3 matters most today — StatefulSet readiness probes check a real query, not just a port, and students who blurred liveness and readiness yesterday will struggle in L3.5.\n\nThen everyone runs `make validate-day2` before anything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Derive today's agenda from yesterday's felt gaps.
TIMING: 5 min
SPEAKER NOTES
Row 5 is the callback that lands: several of them found the velocity bug themselves in L2.4's challenge, and today they fix it.\n\nRow 3 is the one to demo rather than describe.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Separate configuration from the workload.
TIMING: 70 min
SPEAKER NOTES
Short module, but the env-vs-volume distinction causes real confusion later, so make it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Make the propagation difference concrete before students meet it in the lab.
TIMING: 8 min
SPEAKER NOTES
In L3.1 step 5 students patch the ConfigMap, wait twenty seconds, and find the env var unchanged. Several will assume something is broken. This slide is what stops that becoming twenty minutes of confusion.\n\nThe subPath exception in step 4 is worth stating explicitly — it is the single most common 'why is my mounted config not updating' question.
ASK THE ROOM: Which mode would you use for a database connection string, and which for a feature flag operations must toggle at 2am?
EXPECTED ANSWER: Connection string: env — it is read once when the pool is built, and changing it mid-flight would be worse than a restart. Feature flag: volume — you want it live without a rollout. The choice is about WHEN the value is read, not about preference.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Turn the two consumption paths into one visual comparison.
TIMING: 3 min
SPEAKER NOTES
Walk left to right once. Same ConfigMap object at the top, two pod consumption modes beneath it. Left path is env/envFrom: resolved at pod start, then frozen. Right path is a mounted directory: kubelet refreshes files later.
Stress that Kubernetes only refreshes files, not application memory. The app must re-read or watch the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Show the snapshot behaviour before students hit it.
TIMING: 5 min
SPEAKER NOTES
Then show the fix: a checksum annotation on the pod template containing a hash of the ConfigMap. Any config change alters the template, which creates a new ReplicaSet, which rolls the pods.\n\nThat turns config changes into proper releases — visible in rollout history, and rollback-able. Helm does this for you on Day 5.
&gt;&gt; LIVE DEMO: Run it live. The twenty-second pause with nothing happening is the point — let it sit.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Externalise configuration and prove both consumption modes.
TIMING: 40 minutes
SPEAKER NOTES
Step 5 is the one that matters. Do not let anyone skip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Teach Secrets without overclaiming.
TIMING: 75 min
SPEAKER NOTES
The single most important thing today: nobody leaves this room believing a Kubernetes Secret is encrypted. Overclaiming here is how people build insecure platforms while believing they are secure.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Kill the most dangerous misconception in Kubernetes security.
TIMING: 6 min
SPEAKER NOTES
Say this slowly and let it land. A large fraction of engineers using Kubernetes in production believe Secrets are encrypted.\n\nThen make it concrete: if someone takes a backup of etcd and encryption at rest is not configured, they have every credential in your cluster in plaintext. Ask how many of them know whether their production cluster has it enabled. Usually nobody does — which is the point.
ASK THE ROOM: So what IS the security boundary for a Secret?
EXPECTED ANSWER: RBAC — who is allowed to `get` the Secret object — plus encryption at rest so an etcd backup is not a credential dump. Both are Day 5. Today's improvement is real but modest: moving the JWT key from a plain env var into a Secret means someone now needs `get secrets` as well as `get pods`.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Give a concrete reason to prefer volumes, rather than a style rule.
TIMING: 7 min
SPEAKER NOTES
Point 2 is the one that surprises people. Error-tracking tools capturing the environment is an extremely common real-world credential leak, and it has nothing to do with Kubernetes — but the env-var pattern is what exposes you to it.\n\nIn L3.2 step 6 students run `mount | grep secrets` and see tmpfs. That is worth doing: it means a compromised node's disk does not contain the credential.
ASK THE ROOM: You mount a Secret as a volume. The pod is compromised. What has the attacker got?
EXPECTED ANSWER: That credential, from that file — the same as with an env var. A volume reduces the ways it leaks ACCIDENTALLY; it does not stop a deliberate attacker inside the container. Only short-lived, rotatable credentials from an external manager meaningfully limit that, which is why production platforms use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Show the structural similarity without hiding the security difference.
TIMING: 3 min
SPEAKER NOTES
Both objects feel the same to a workload: Kubernetes can inject them as env vars or files. The important difference is not the mount mechanism but the risk class. ConfigMap holds ordinary settings. Secret holds credentials and therefore needs tighter RBAC and encryption at rest for etcd backups.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Teach Secrets with their limitations demonstrated rather than described.
TIMING: 40 minutes
SPEAKER NOTES
Challenge C1 — enumerate every way the password could leak — is the best discussion of the day. Aim for six or more: etcd without encryption, get secret, describe with a plain env var, a crash dump, a child process, kubectl exec, node compromise reading tmpfs, and a manifest committed to Git.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Deliver the storage model that StatefulSets depend on.
TIMING: 95 min
SPEAKER NOTES
This is the module StatefulSets are impossible without, which is exactly why the source syllabus's ordering (StatefulSets on day one) does not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Correct a misconception that causes real production incidents.
TIMING: 6 min
SPEAKER NOTES
The existence of ReadWriteOncePod is the giveaway — it was added because so many people read ReadWriteOnce as 'one pod' and built on that assumption.\n\nThe practical consequence: if you need several pods writing to one volume, check whether your storage class can actually do RWX before you design around it. On most cloud block storage it cannot, and you will find out via a Pending PVC with a terse 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Visualise the claim-binding contract before dynamic storage details.
TIMING: 3 min
SPEAKER NOTES
A pod does not ask a disk for capacity directly. The workload asks through a claim. Kubernetes binds that claim to a volume, and the pod eventually just sees a mounted filesystem.\n\nSay the nouns clearly: claim is demand, volume is supply, StorageClass is the provisioning recipe.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Teach a setting by the incident it prevents rather than by its definition.
TIMING: 8 min
SPEAKER NOTES
Students see a Pending PVC in L3.4 step 3 and several will think it is broken. This slide is what makes them read the event rather than panic.\n\nChallenge C1 has them deliberately construct the Immediate-binding failure and capture the error. Doing it once means they recognise 'volume node affinity conflict' instantly for the rest of their careers.
ASK THE ROOM: Your PVC has been Pending for five minutes. Broken or working as intended?
EXPECTED ANSWER: Read the event. 'waiting for first consumer to be created before binding' is WaitForFirstConsumer working correctly — create a pod. 'storageclass not found' or 'no persistent volumes available' is genuinely broken. The status is identical; the event is everything. That distinction is INC-3.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Contrast Immediate and WaitForFirstConsumer in one topology sketch.
TIMING: 3 min
SPEAKER NOTES
Read the slide as two timelines. Immediate creates the volume first and risks a mismatch. WaitForFirstConsumer lets the scheduler choose the node first, then provisions storage that matches that choice.\n\nThat is why a Pending claim is sometimes the success state, not the failure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Make reclaimPolicy a deliberate platform decision rather than a forgotten default.
TIMING: 7 min
SPEAKER NOTES
Students often think deleting a PVC only removes the Kubernetes object. The important correction is that with Delete on a dynamically provisioned class, Kubernetes is being obedient: the storage asset itself is torn down as part of normal cleanup.\n\nRetain is not magical restore. It preserves the bytes, but also intentionally blocks casual rebinding so a different workload does not quietly mount someone else's old data. That forced human step is the safety barrier. Tie it back to M3.5 and M3.6: if this is your system of record, convenience is not the priority.
ASK THE ROOM: A PVC was deleted by mistake, but the StorageClass used Retain. Why is the replacement PVC still not binding automatically?
EXPECTED ANSWER: Because Retain preserved the old PV and left it in Released with the previous claimRef. Kubernetes is preventing accidental reuse of someone else's data. An administrator must inspect the PV, deliberately reclaim it, then allow a new claim to bind. That friction is the protection.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Make the post-delete outcomes visually obvious.
TIMING: 2 min
SPEAKER NOTES
This is the shortest but most important storage decision on the day. Delete tears down both the PV object and the backing disk. Retain preserves bytes but forces a human back into the loop before reuse.
Say it plainly: Retain adds toil. Delete removes recovery options.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Introduce projected volumes as both an operational convenience and the mechanism behind modern service account tokens.
TIMING: 6 min
SPEAKER NOTES
Give the room the concrete AxisPay picture: mount one projected volume at /etc/axispay/ containing jwt.key from a Secret, app.yaml from a ConfigMap and a token file for calls to the Kubernetes API or another audience-aware service. The process reads one directory and does not care which backing object supplied each file.\n\nThat convenience matters, but the security point matters more: serviceAccountToken as a projected source is how you get audience-scoped, short-lived, automatically rotated credentials. It is the replacement for the old static token model that Day 5 criticises.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Show how four Kubernetes sources become one mounted tree.
TIMING: 3 min
SPEAKER NOTES
Point at the left column first: Secret, ConfigMap, downwardAPI and serviceAccountToken are independent sources. Then show the merge point in the middle: Kubernetes materialises them under one directory tree. The pod on the right just opens files under one mount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Build both static and dynamic storage.
TIMING: 65 minutes
SPEAKER NOTES
Emphasise the reclaim policy discussion. Retain versus Delete is a decision a platform team makes ONCE in the StorageClass, and it is the difference between a recoverable mistake and a destroyed ledger.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Give the platform a system of record.
TIMING: 110 min
SPEAKER NOTES
The biggest block of the day. The payoff is a database students can actually query with 5,000 of their own transactions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Justify StatefulSets from a failure students produce themselves.
TIMING: 9 min
SPEAKER NOTES
Do not just assert this. In L3.6 step 1 they create bad-postgres as a Deployment with two replicas and an emptyDir, insert a row, delete the pod, and find a new name and no data.\n\nThen ask the three questions on the slide: which one is the primary, how do you address one specific replica, what happened to the data. Nobody can answer them for a Deployment, and that is the point.\n\nAlso flag: the PVCs are NOT deleted when a StatefulSet is deleted. Deliberate — deleting a workload must never silently destroy its data.
ASK THE ROOM: You scale postgres to 3 replicas. Do you now have a PostgreSQL cluster?
EXPECTED ANSWER: No. You have three independent empty databases that happen to share a name prefix. Kubernetes gives identity, storage and ordering — it knows nothing about replication, leader election or WAL shipping. A real cluster needs an Operator that understands PostgreSQL. This is challenge C1 and it is the most important misconception to clear.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Put stable identity, stable storage and direct DNS on one slide.
TIMING: 4 min
SPEAKER NOTES
This diagram is the stateful contract in one picture: the StatefulSet creates ordinal pods, each ordinal gets its own PVC, and the headless Service exposes per-pod DNS instead of one virtual IP.\n\nIf students remember only one picture from the module, make it this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Show that the seeded data is real, not decorative.
TIMING: 7 min
SPEAKER NOTES
Two things worth pausing on.\n\nFirst, the constraint is in the SCHEMA, not in the application. Several services write to this table; enforcing the invariant in code means enforcing it in several places and hoping. Enforcing it in the database means an unbalanced row cannot exist, whoever writes it.\n\nSecond, this is why money is an integer in minor units. Floating point cannot represent 0.1 exactly; across ten thousand entries that is not a rounding curiosity, it is an audit finding.
&gt;&gt; LIVE DEMO: Run it live against the students' own databases. They will get identical numbers — the generator is deterministic, which is deliberate so a lab can say 'you should see exactly this'.
ASK THE ROOM: Why enforce amount = fee + net in the database rather than in payment-service?
EXPECTED ANSWER: Because payment-service is not the only writer — settlement, recon and any future service touch this data, plus a human with psql during an incident. A CHECK constraint holds for all of them. Application-level validation only holds for the applications that remember to do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Build the system of record.
TIMING: 110 minutes
SPEAKER NOTES
L3.6 step 5 — the node-local storage trap — is scripted and expected. Students cordon the node, delete the pod, and get 'volume node affinity conflict'. Do NOT rescue them quickly; the failure IS the lesson, and Kubernetes refusing to start the database somewhere its data is not is the CORRECT behaviour.
WARNING: L3.5 seeding takes 30-60 seconds and pipes ~28,000 statements. If a student's psql fails midway, re-run with --regenerate rather than debugging partial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Harden every workload before Day 5 makes it mandatory.
TIMING: 55 min
SPEAKER NOTES
Short module; the lab is independent. The key idea is defence in depth.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Pre-empt the seven errors students are about to make today.
TIMING: 6 min
SPEAKER NOTES
Row 1 and row 2 are the two that will actually bite them in L3.5, within the hour. Row 2 in particular — fsGroup — is the single most common cause of a failed first StatefulSet, and the error message points at a directory that looks perfectly fine.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Harden the platform independently.
TIMING: 30 minutes
SPEAKER NOTES
Task 5 — the table of what each control prevents — is the debrief question. Make them write it in their own words rather than copying the manual.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Run the third incident, with prioritisation as the graded skill.
TIMING: 35 min triage + 10 min debrief
SPEAKER NOTES
Inject with `make incident N=3` during the break, before this slide.\n\nThe trap: almost everyone fixes the LOUD fault first because it looks worse. Let them. In the debrief ask what a merchant experienced during the extra four minutes.\n\nThe correct order is the quiet one first — ledger-service is on the payment path, so while it is unready payments fail outright. And it is a one-line fix. Fix the cheap thing on the customer path first, then the expensive one.
ASK THE ROOM: DEBRIEF — why was fault B silent when it was applied?
EXPECTED ANSWER: A ConfigMap has no schema. Kubernetes cannot know which keys an application reads, so renaming one produces a perfectly valid object that happens to break a consumer. Nothing could have errored at apply time. What made it VISIBLE was the readiness probe they wrote yesterday — without it the pod would have stayed in the Service and silently failed every payment.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Formative check across Day 3.
TIMING: 15 min
SPEAKER NOTES
Questions 2 and 6 are the load-bearing ones. If a third of the room gets 2 wrong, re-teach it — believing Secrets are encrypted is actively dangerous.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Consolidate and hand over to Day 4.
TIMING: 3 min
SPEAKER NOTES
Have them run the ledger balance query one more time and look at it. On day three of a Kubernetes course they have a payments database with a double-entry ledger that balances. That is worth thirty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Create demand for Day 4.
TIMING: 4 min
SPEAKER NOTES
Row 3 is the one to dwell on. Have someone exec into an edge-gateway pod and connect to postgres directly. It works — and in a PCI audit that single fact would put the DMZ inside the cardholder data environment.\n\nThat demo takes thirty seconds and it sells Thursday completely.
TRANSITION: Assessment now — ten items, fifteen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Shape 0"/>
          <p:cNvSpPr/>
          <p:nvPr/>
        </p:nvSpPr>
        <p:spPr>
          <a:xfrm rot="1080000">
            <a:off x="7711135" y="-1463040"/>
            <a:ext cx="5852160" cy="5852160"/>
          </a:xfrm>
          <a:prstGeom prst="roundRect">
            <a:avLst>
              <a:gd name="adj" fmla="val 15625"/>
            </a:avLst>
          </a:prstGeom>
          <a:solidFill>
            <a:srgbClr val="12314F"/>
          </a:solidFill>
          <a:ln w="12700">
            <a:solidFill>
              <a:srgbClr val="12314F"/>
            </a:solidFill>
            <a:prstDash val="solid"/>
          </a:ln>
        </p:spPr>
      </p:sp>
      <p:sp>
        <p:nvSpPr>
          <p:cNvPr id="3" name="Shape 1"/>
          <p:cNvSpPr/>
          <p:nvPr/>
        </p:nvSpPr>
        <p:spPr>
          <a:xfrm>
            <a:off x="9357055" y="4114800"/>
            <a:ext cx="2011680" cy="2011680"/>
          </a:xfrm>
          <a:prstGeom prst="ellipse">
            <a:avLst/>
          </a:prstGeom>
          <a:solidFill>
            <a:srgbClr val="1C7293">
              <a:alpha val="45000"/>
            </a:srgbClr>
          </a:solidFill>
          <a:ln w="12700">
            <a:solidFill>
              <a:srgbClr val="1C7293">
                <a:alpha val="60000"/>
              </a:srgbClr>
            </a:solidFill>
            <a:prstDash val="solid"/>
          </a:ln>
        </p:spPr>
      </p:sp>
      <p:sp>
        <p:nvSpPr>
          <p:cNvPr id="4" name="Text 2"/>
          <p:cNvSpPr/>
          <p:nvPr/>
        </p:nvSpPr>
        <p:spPr>
          <a:xfrm>
            <a:off x="566928" y="1234440"/>
            <a:ext cx="7680960" cy="365760"/>
          </a:xfrm>
          <a:prstGeom prst="rect">
            <a:avLst/>
          </a:prstGeom>
          <a:noFill/>
          <a:ln/>
        </p:spPr>
        <p:txBody>
          <a:bodyPr wrap="square" lIns="0" tIns="0" rIns="0" bIns="0" rtlCol="0" anchor="ctr"/>
          <a:lstStyle/>
          <a:p>
            <a:pPr indent="0" marL="0">
              <a:buNone/>
            </a:pPr>
            <a:r>
              <a:rPr lang="en-US" sz="1400" b="1" spc="200" kern="0" dirty="0">
                <a:solidFill>
                  <a:srgbClr val="F2A03D"/>
                </a:solidFill>
                <a:latin typeface="Calibri" pitchFamily="34" charset="0"/>
                <a:ea typeface="Calibri" pitchFamily="34" charset="-122"/>
                <a:cs typeface="Calibri" pitchFamily="34" charset="-120"/>
              </a:rPr>
              <a:t>KUBERNETES COMPREHENSIVE · AXP-K8S-5D</a:t>
            </a:r>
            <a:endParaRPr lang="en-US" sz="1400" dirty="0"/>
          </a:p>
        </p:txBody>
      </p:sp>
      <p:sp>
        <p:nvSpPr>
          <p:cNvPr id="5" name="Text 3"/>
          <p:cNvSpPr/>
          <p:nvPr/>
        </p:nvSpPr>
        <p:spPr>
          <a:xfrm>
            <a:off x="566928" y="1737360"/>
            <a:ext cx="7680960" cy="1737360"/>
          </a:xfrm>
          <a:prstGeom prst="rect">
            <a:avLst/>
          </a:prstGeom>
          <a:noFill/>
          <a:ln/>
        </p:spPr>
        <p:txBody>
          <a:bodyPr wrap="square" lIns="0" tIns="0" rIns="0" bIns="0" rtlCol="0" anchor="ctr"/>
          <a:lstStyle/>
          <a:p>
            <a:pPr indent="0" marL="0">
              <a:lnSpc>
                <a:spcPts val="5000"/>
              </a:lnSpc>
              <a:buNone/>
            </a:pPr>
            <a:r>
              <a:rPr lang="en-US" sz="5000" b="1" dirty="0">
                <a:solidFill>
                  <a:srgbClr val="FFFFFF"/>
                </a:solidFill>
                <a:latin typeface="Cambria" pitchFamily="34" charset="0"/>
                <a:ea typeface="Cambria" pitchFamily="34" charset="-122"/>
                <a:cs typeface="Cambria" pitchFamily="34" charset="-120"/>
              </a:rPr>
              <a:t>Day 3</a:t>
            </a:r>
            <a:endParaRPr lang="en-US" sz="5000" dirty="0"/>
          </a:p>
          <a:p>
            <a:pPr indent="0" marL="0">
              <a:lnSpc>
                <a:spcPts val="5000"/>
              </a:lnSpc>
              <a:buNone/>
            </a:pPr>
            <a:r>
              <a:rPr lang="en-US" sz="5000" b="1" dirty="0">
                <a:solidFill>
                  <a:srgbClr val="FFFFFF"/>
                </a:solidFill>
                <a:latin typeface="Cambria" pitchFamily="34" charset="0"/>
                <a:ea typeface="Cambria" pitchFamily="34" charset="-122"/>
                <a:cs typeface="Cambria" pitchFamily="34" charset="-120"/>
              </a:rPr>
              <a:t>State, Configuration &amp; Data</a:t>
            </a:r>
            <a:endParaRPr lang="en-US" sz="5000" dirty="0"/>
          </a:p>
        </p:txBody>
      </p:sp>
      <p:sp>
        <p:nvSpPr>
          <p:cNvPr id="6" name="Text 4"/>
          <p:cNvSpPr/>
          <p:nvPr/>
        </p:nvSpPr>
        <p:spPr>
          <a:xfrm>
            <a:off x="566928" y="3520440"/>
            <a:ext cx="7315200" cy="868680"/>
          </a:xfrm>
          <a:prstGeom prst="rect">
            <a:avLst/>
          </a:prstGeom>
          <a:noFill/>
          <a:ln/>
        </p:spPr>
        <p:txBody>
          <a:bodyPr wrap="square" lIns="0" tIns="0" rIns="0" bIns="0" rtlCol="0" anchor="ctr"/>
          <a:lstStyle/>
          <a:p>
            <a:pPr indent="0" marL="0">
              <a:buNone/>
            </a:pPr>
            <a:r>
              <a:rPr lang="en-US" sz="1700" dirty="0">
                <a:solidFill>
                  <a:srgbClr val="D8E6F2"/>
                </a:solidFill>
                <a:latin typeface="Calibri" pitchFamily="34" charset="0"/>
                <a:ea typeface="Calibri" pitchFamily="34" charset="-122"/>
                <a:cs typeface="Calibri" pitchFamily="34" charset="-120"/>
              </a:rPr>
              <a:t>Give it a memory. By 17:00 the platform has a real database with 5,000 transactions, a ledger that balances to zero, and every credential out of your manifests.</a:t>
            </a:r>
            <a:endParaRPr lang="en-US" sz="1700" dirty="0"/>
          </a:p>
        </p:txBody>
      </p:sp>
      <p:sp>
        <p:nvSpPr>
          <p:cNvPr id="7" name="Shape 5"/>
          <p:cNvSpPr/>
          <p:nvPr/>
        </p:nvSpPr>
        <p:spPr>
          <a:xfrm>
            <a:off x="566928" y="4709160"/>
            <a:ext cx="2148840" cy="749808"/>
          </a:xfrm>
          <a:prstGeom prst="roundRect">
            <a:avLst>
              <a:gd name="adj" fmla="val 12195"/>
            </a:avLst>
          </a:prstGeom>
          <a:solidFill>
            <a:srgbClr val="12314F"/>
          </a:solidFill>
          <a:ln w="12700">
            <a:solidFill>
              <a:srgbClr val="1B4066"/>
            </a:solidFill>
            <a:prstDash val="solid"/>
          </a:ln>
        </p:spPr>
      </p:sp>
      <p:sp>
        <p:nvSpPr>
          <p:cNvPr id="8" name="Text 6"/>
          <p:cNvSpPr/>
          <p:nvPr/>
        </p:nvSpPr>
        <p:spPr>
          <a:xfrm>
            <a:off x="566928" y="4773168"/>
            <a:ext cx="2148840" cy="274320"/>
          </a:xfrm>
          <a:prstGeom prst="rect">
            <a:avLst/>
          </a:prstGeom>
          <a:noFill/>
          <a:ln/>
        </p:spPr>
        <p:txBody>
          <a:bodyPr wrap="square" lIns="0" tIns="0" rIns="0" bIns="0" rtlCol="0" anchor="ctr"/>
          <a:lstStyle/>
          <a:p>
            <a:pPr algn="ctr" indent="0" marL="0">
              <a:buNone/>
            </a:pPr>
            <a:r>
              <a:rPr lang="en-US" sz="900" b="1" spc="100" kern="0" dirty="0">
                <a:solidFill>
                  <a:srgbClr val="F2A03D"/>
                </a:solidFill>
                <a:latin typeface="Calibri" pitchFamily="34" charset="0"/>
                <a:ea typeface="Calibri" pitchFamily="34" charset="-122"/>
                <a:cs typeface="Calibri" pitchFamily="34" charset="-120"/>
              </a:rPr>
              <a:t>DURATION</a:t>
            </a:r>
            <a:endParaRPr lang="en-US" sz="900" dirty="0"/>
          </a:p>
        </p:txBody>
      </p:sp>
      <p:sp>
        <p:nvSpPr>
          <p:cNvPr id="9" name="Text 7"/>
          <p:cNvSpPr/>
          <p:nvPr/>
        </p:nvSpPr>
        <p:spPr>
          <a:xfrm>
            <a:off x="566928" y="5029200"/>
            <a:ext cx="214884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 hours</a:t>
            </a:r>
            <a:endParaRPr lang="en-US" sz="1300" dirty="0"/>
          </a:p>
        </p:txBody>
      </p:sp>
      <p:sp>
        <p:nvSpPr>
          <p:cNvPr id="10" name="Shape 8"/>
          <p:cNvSpPr/>
          <p:nvPr/>
        </p:nvSpPr>
        <p:spPr>
          <a:xfrm>
            <a:off x="2898648" y="4709160"/>
            <a:ext cx="2148840" cy="749808"/>
          </a:xfrm>
          <a:prstGeom prst="roundRect">
            <a:avLst>
              <a:gd name="adj" fmla="val 12195"/>
            </a:avLst>
          </a:prstGeom>
          <a:solidFill>
            <a:srgbClr val="12314F"/>
          </a:solidFill>
          <a:ln w="12700">
            <a:solidFill>
              <a:srgbClr val="1B4066"/>
            </a:solidFill>
            <a:prstDash val="solid"/>
          </a:ln>
        </p:spPr>
      </p:sp>
      <p:sp>
        <p:nvSpPr>
          <p:cNvPr id="11" name="Text 9"/>
          <p:cNvSpPr/>
          <p:nvPr/>
        </p:nvSpPr>
        <p:spPr>
          <a:xfrm>
            <a:off x="2898648" y="4773168"/>
            <a:ext cx="2148840" cy="274320"/>
          </a:xfrm>
          <a:prstGeom prst="rect">
            <a:avLst/>
          </a:prstGeom>
          <a:noFill/>
          <a:ln/>
        </p:spPr>
        <p:txBody>
          <a:bodyPr wrap="square" lIns="0" tIns="0" rIns="0" bIns="0" rtlCol="0" anchor="ctr"/>
          <a:lstStyle/>
          <a:p>
            <a:pPr algn="ctr" indent="0" marL="0">
              <a:buNone/>
            </a:pPr>
            <a:r>
              <a:rPr lang="en-US" sz="900" b="1" spc="100" kern="0" dirty="0">
                <a:solidFill>
                  <a:srgbClr val="F2A03D"/>
                </a:solidFill>
                <a:latin typeface="Calibri" pitchFamily="34" charset="0"/>
                <a:ea typeface="Calibri" pitchFamily="34" charset="-122"/>
                <a:cs typeface="Calibri" pitchFamily="34" charset="-120"/>
              </a:rPr>
              <a:t>THEORY</a:t>
            </a:r>
            <a:endParaRPr lang="en-US" sz="900" dirty="0"/>
          </a:p>
        </p:txBody>
      </p:sp>
      <p:sp>
        <p:nvSpPr>
          <p:cNvPr id="12" name="Text 10"/>
          <p:cNvSpPr/>
          <p:nvPr/>
        </p:nvSpPr>
        <p:spPr>
          <a:xfrm>
            <a:off x="2898648" y="5029200"/>
            <a:ext cx="214884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240 min</a:t>
            </a:r>
            <a:endParaRPr lang="en-US" sz="1300" dirty="0"/>
          </a:p>
        </p:txBody>
      </p:sp>
      <p:sp>
        <p:nvSpPr>
          <p:cNvPr id="13" name="Shape 11"/>
          <p:cNvSpPr/>
          <p:nvPr/>
        </p:nvSpPr>
        <p:spPr>
          <a:xfrm>
            <a:off x="5230368" y="4709160"/>
            <a:ext cx="2148840" cy="749808"/>
          </a:xfrm>
          <a:prstGeom prst="roundRect">
            <a:avLst>
              <a:gd name="adj" fmla="val 12195"/>
            </a:avLst>
          </a:prstGeom>
          <a:solidFill>
            <a:srgbClr val="12314F"/>
          </a:solidFill>
          <a:ln w="12700">
            <a:solidFill>
              <a:srgbClr val="1B4066"/>
            </a:solidFill>
            <a:prstDash val="solid"/>
          </a:ln>
        </p:spPr>
      </p:sp>
      <p:sp>
        <p:nvSpPr>
          <p:cNvPr id="14" name="Text 12"/>
          <p:cNvSpPr/>
          <p:nvPr/>
        </p:nvSpPr>
        <p:spPr>
          <a:xfrm>
            <a:off x="5230368" y="4773168"/>
            <a:ext cx="2148840" cy="274320"/>
          </a:xfrm>
          <a:prstGeom prst="rect">
            <a:avLst/>
          </a:prstGeom>
          <a:noFill/>
          <a:ln/>
        </p:spPr>
        <p:txBody>
          <a:bodyPr wrap="square" lIns="0" tIns="0" rIns="0" bIns="0" rtlCol="0" anchor="ctr"/>
          <a:lstStyle/>
          <a:p>
            <a:pPr algn="ctr" indent="0" marL="0">
              <a:buNone/>
            </a:pPr>
            <a:r>
              <a:rPr lang="en-US" sz="900" b="1" spc="100" kern="0" dirty="0">
                <a:solidFill>
                  <a:srgbClr val="F2A03D"/>
                </a:solidFill>
                <a:latin typeface="Calibri" pitchFamily="34" charset="0"/>
                <a:ea typeface="Calibri" pitchFamily="34" charset="-122"/>
                <a:cs typeface="Calibri" pitchFamily="34" charset="-120"/>
              </a:rPr>
              <a:t>HANDS-ON</a:t>
            </a:r>
            <a:endParaRPr lang="en-US" sz="900" dirty="0"/>
          </a:p>
        </p:txBody>
      </p:sp>
      <p:sp>
        <p:nvSpPr>
          <p:cNvPr id="15" name="Text 13"/>
          <p:cNvSpPr/>
          <p:nvPr/>
        </p:nvSpPr>
        <p:spPr>
          <a:xfrm>
            <a:off x="5230368" y="5029200"/>
            <a:ext cx="214884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345 min</a:t>
            </a:r>
            <a:endParaRPr lang="en-US" sz="1300" dirty="0"/>
          </a:p>
        </p:txBody>
      </p:sp>
      <p:sp>
        <p:nvSpPr>
          <p:cNvPr id="16" name="Shape 14"/>
          <p:cNvSpPr/>
          <p:nvPr/>
        </p:nvSpPr>
        <p:spPr>
          <a:xfrm>
            <a:off x="7562088" y="4709160"/>
            <a:ext cx="2148840" cy="749808"/>
          </a:xfrm>
          <a:prstGeom prst="roundRect">
            <a:avLst>
              <a:gd name="adj" fmla="val 12195"/>
            </a:avLst>
          </a:prstGeom>
          <a:solidFill>
            <a:srgbClr val="12314F"/>
          </a:solidFill>
          <a:ln w="12700">
            <a:solidFill>
              <a:srgbClr val="1B4066"/>
            </a:solidFill>
            <a:prstDash val="solid"/>
          </a:ln>
        </p:spPr>
      </p:sp>
      <p:sp>
        <p:nvSpPr>
          <p:cNvPr id="17" name="Text 15"/>
          <p:cNvSpPr/>
          <p:nvPr/>
        </p:nvSpPr>
        <p:spPr>
          <a:xfrm>
            <a:off x="7562088" y="4773168"/>
            <a:ext cx="2148840" cy="274320"/>
          </a:xfrm>
          <a:prstGeom prst="rect">
            <a:avLst/>
          </a:prstGeom>
          <a:noFill/>
          <a:ln/>
        </p:spPr>
        <p:txBody>
          <a:bodyPr wrap="square" lIns="0" tIns="0" rIns="0" bIns="0" rtlCol="0" anchor="ctr"/>
          <a:lstStyle/>
          <a:p>
            <a:pPr algn="ctr" indent="0" marL="0">
              <a:buNone/>
            </a:pPr>
            <a:r>
              <a:rPr lang="en-US" sz="900" b="1" spc="100" kern="0" dirty="0">
                <a:solidFill>
                  <a:srgbClr val="F2A03D"/>
                </a:solidFill>
                <a:latin typeface="Calibri" pitchFamily="34" charset="0"/>
                <a:ea typeface="Calibri" pitchFamily="34" charset="-122"/>
                <a:cs typeface="Calibri" pitchFamily="34" charset="-120"/>
              </a:rPr>
              <a:t>LABS</a:t>
            </a:r>
            <a:endParaRPr lang="en-US" sz="900" dirty="0"/>
          </a:p>
        </p:txBody>
      </p:sp>
      <p:sp>
        <p:nvSpPr>
          <p:cNvPr id="18" name="Text 16"/>
          <p:cNvSpPr/>
          <p:nvPr/>
        </p:nvSpPr>
        <p:spPr>
          <a:xfrm>
            <a:off x="7562088" y="5029200"/>
            <a:ext cx="214884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 + 1 incident</a:t>
            </a:r>
            <a:endParaRPr lang="en-US" sz="1300" dirty="0"/>
          </a:p>
        </p:txBody>
      </p:sp>
      <p:sp>
        <p:nvSpPr>
          <p:cNvPr id="19" name="Text 17"/>
          <p:cNvSpPr/>
          <p:nvPr/>
        </p:nvSpPr>
        <p:spPr>
          <a:xfrm>
            <a:off x="566928" y="5943600"/>
            <a:ext cx="8229600" cy="274320"/>
          </a:xfrm>
          <a:prstGeom prst="rect">
            <a:avLst/>
          </a:prstGeom>
          <a:noFill/>
          <a:ln/>
        </p:spPr>
        <p:txBody>
          <a:bodyPr wrap="square" lIns="0" tIns="0" rIns="0" bIns="0" rtlCol="0" anchor="ctr"/>
          <a:lstStyle/>
          <a:p>
            <a:pPr indent="0" marL="0">
              <a:buNone/>
            </a:pPr>
            <a:r>
              <a:rPr lang="en-US" sz="1000" dirty="0">
                <a:solidFill>
                  <a:srgbClr val="63758B"/>
                </a:solidFill>
                <a:latin typeface="Calibri" pitchFamily="34" charset="0"/>
                <a:ea typeface="Calibri" pitchFamily="34" charset="-122"/>
                <a:cs typeface="Calibri" pitchFamily="34" charset="-120"/>
              </a:rPr>
              <a:t>Everything you processed yesterday vanished when a pod restarted. Today that stops.</a:t>
            </a:r>
            <a:endParaRPr lang="en-US" sz="1000" dirty="0"/>
          </a:p>
        </p:txBody>
      </p:sp>
      <p:pic>
        <p:nvPicPr>
          <p:cNvPr id="20"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21" name="NobleProg Wordmark"/>
          <p:cNvSpPr txBox="1"/>
          <p:nvPr/>
        </p:nvSpPr>
        <p:spPr>
          <a:xfrm>
            <a:off x="479376" y="332656"/>
            <a:ext cx="2733441" cy="830997"/>
          </a:xfrm>
          <a:prstGeom prst="rect">
            <a:avLst/>
          </a:prstGeom>
          <a:noFill/>
        </p:spPr>
        <p:txBody>
          <a:bodyPr wrap="none">
            <a:spAutoFit/>
          </a:bodyPr>
          <a:lstStyle/>
          <a:p>
            <a:r>
              <a:rPr sz="4800" b="1" i="1">
                <a:solidFill>
                  <a:srgbClr val="006EBE"/>
                </a:solidFill>
                <a:latin typeface="Arial Narrow"/>
              </a:rPr>
              <a:t>NobleProg</a:t>
            </a:r>
          </a:p>
        </p:txBody>
      </p:sp>
      <p:pic>
        <p:nvPicPr>
          <p:cNvPr id="22" name="NobleProg Logo" descr="nobleprog_logo.png"/>
          <p:cNvPicPr>
            <a:picLocks noChangeAspect="1"/>
          </p:cNvPicPr>
          <p:nvPr/>
        </p:nvPicPr>
        <p:blipFill>
          <a:blip r:embed="rId4"/>
          <a:stretch>
            <a:fillRect/>
          </a:stretch>
        </p:blipFill>
        <p:spPr>
          <a:xfrm>
            <a:off x="9201482" y="-3240"/>
            <a:ext cx="2946216" cy="1112760"/>
          </a:xfrm>
          <a:prstGeom prst="rect">
            <a:avLst/>
          </a:prstGeom>
        </p:spPr>
      </p:pic>
      <p:sp>
        <p:nvSpPr>
          <p:cNvPr id="23"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751076" cy="292608"/>
          </a:xfrm>
          <a:prstGeom prst="roundRect">
            <a:avLst>
              <a:gd name="adj" fmla="val 50000"/>
            </a:avLst>
          </a:prstGeom>
          <a:solidFill>
            <a:srgbClr val="C97B1E"/>
          </a:solidFill>
          <a:ln w="12700">
            <a:solidFill>
              <a:srgbClr val="C97B1E"/>
            </a:solidFill>
            <a:prstDash val="solid"/>
          </a:ln>
        </p:spPr>
      </p:sp>
      <p:sp>
        <p:nvSpPr>
          <p:cNvPr id="3" name="Text 1"/>
          <p:cNvSpPr/>
          <p:nvPr/>
        </p:nvSpPr>
        <p:spPr>
          <a:xfrm>
            <a:off x="566928" y="384048"/>
            <a:ext cx="1751076"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MORNING RECAP</a:t>
            </a:r>
            <a:endParaRPr lang="en-US" sz="1100" dirty="0"/>
          </a:p>
        </p:txBody>
      </p:sp>
      <p:sp>
        <p:nvSpPr>
          <p:cNvPr id="4" name="Shape 2"/>
          <p:cNvSpPr/>
          <p:nvPr/>
        </p:nvSpPr>
        <p:spPr>
          <a:xfrm>
            <a:off x="566928" y="1143000"/>
            <a:ext cx="11057839" cy="2286000"/>
          </a:xfrm>
          <a:prstGeom prst="roundRect">
            <a:avLst>
              <a:gd name="adj" fmla="val 4800"/>
            </a:avLst>
          </a:prstGeom>
          <a:solidFill>
            <a:srgbClr val="12314F"/>
          </a:solidFill>
          <a:ln w="12700">
            <a:solidFill>
              <a:srgbClr val="F2A03D"/>
            </a:solidFill>
            <a:prstDash val="solid"/>
          </a:ln>
        </p:spPr>
      </p:sp>
      <p:sp>
        <p:nvSpPr>
          <p:cNvPr id="5" name="Text 3"/>
          <p:cNvSpPr/>
          <p:nvPr/>
        </p:nvSpPr>
        <p:spPr>
          <a:xfrm>
            <a:off x="841248" y="1143000"/>
            <a:ext cx="914400" cy="2286000"/>
          </a:xfrm>
          <a:prstGeom prst="rect">
            <a:avLst/>
          </a:prstGeom>
          <a:noFill/>
          <a:ln/>
        </p:spPr>
        <p:txBody>
          <a:bodyPr wrap="square" lIns="0" tIns="0" rIns="0" bIns="0" rtlCol="0" anchor="ctr"/>
          <a:lstStyle/>
          <a:p>
            <a:pPr algn="ctr" indent="0" marL="0">
              <a:buNone/>
            </a:pPr>
            <a:r>
              <a:rPr lang="en-US" sz="7400" b="1" dirty="0">
                <a:solidFill>
                  <a:srgbClr val="F2A03D"/>
                </a:solidFill>
                <a:latin typeface="Cambria" pitchFamily="34" charset="0"/>
                <a:ea typeface="Cambria" pitchFamily="34" charset="-122"/>
                <a:cs typeface="Cambria" pitchFamily="34" charset="-120"/>
              </a:rPr>
              <a:t>?</a:t>
            </a:r>
            <a:endParaRPr lang="en-US" sz="7400" dirty="0"/>
          </a:p>
        </p:txBody>
      </p:sp>
      <p:sp>
        <p:nvSpPr>
          <p:cNvPr id="6" name="Text 4"/>
          <p:cNvSpPr/>
          <p:nvPr/>
        </p:nvSpPr>
        <p:spPr>
          <a:xfrm>
            <a:off x="1892808" y="1143000"/>
            <a:ext cx="9320479" cy="2286000"/>
          </a:xfrm>
          <a:prstGeom prst="rect">
            <a:avLst/>
          </a:prstGeom>
          <a:noFill/>
          <a:ln/>
        </p:spPr>
        <p:txBody>
          <a:bodyPr wrap="square" lIns="0" tIns="0" rIns="0" bIns="0" rtlCol="0" anchor="ctr"/>
          <a:lstStyle/>
          <a:p>
            <a:pPr indent="0" marL="0">
              <a:lnSpc>
                <a:spcPts val="3200"/>
              </a:lnSpc>
              <a:buNone/>
            </a:pPr>
            <a:r>
              <a:rPr lang="en-US" sz="2500" b="1" dirty="0">
                <a:solidFill>
                  <a:srgbClr val="FFFFFF"/>
                </a:solidFill>
                <a:latin typeface="Cambria" pitchFamily="34" charset="0"/>
                <a:ea typeface="Cambria" pitchFamily="34" charset="-122"/>
                <a:cs typeface="Cambria" pitchFamily="34" charset="-120"/>
              </a:rPr>
              <a:t>Five from yesterday. Answer out loud.</a:t>
            </a:r>
            <a:endParaRPr lang="en-US" sz="2500" dirty="0"/>
          </a:p>
        </p:txBody>
      </p:sp>
      <p:sp>
        <p:nvSpPr>
          <p:cNvPr id="7" name="Text 5"/>
          <p:cNvSpPr/>
          <p:nvPr/>
        </p:nvSpPr>
        <p:spPr>
          <a:xfrm>
            <a:off x="566928" y="3630168"/>
            <a:ext cx="6400800" cy="274320"/>
          </a:xfrm>
          <a:prstGeom prst="rect">
            <a:avLst/>
          </a:prstGeom>
          <a:noFill/>
          <a:ln/>
        </p:spPr>
        <p:txBody>
          <a:bodyPr wrap="square" lIns="0" tIns="0" rIns="0" bIns="0" rtlCol="0" anchor="ctr"/>
          <a:lstStyle/>
          <a:p>
            <a:pPr indent="0" marL="0">
              <a:buNone/>
            </a:pPr>
            <a:r>
              <a:rPr lang="en-US" sz="1100" b="1" spc="100" kern="0" dirty="0">
                <a:solidFill>
                  <a:srgbClr val="F2A03D"/>
                </a:solidFill>
                <a:latin typeface="Calibri" pitchFamily="34" charset="0"/>
                <a:ea typeface="Calibri" pitchFamily="34" charset="-122"/>
                <a:cs typeface="Calibri" pitchFamily="34" charset="-120"/>
              </a:rPr>
              <a:t>Answers</a:t>
            </a:r>
            <a:endParaRPr lang="en-US" sz="1100" dirty="0"/>
          </a:p>
        </p:txBody>
      </p:sp>
      <p:sp>
        <p:nvSpPr>
          <p:cNvPr id="8" name="Text 6"/>
          <p:cNvSpPr/>
          <p:nvPr/>
        </p:nvSpPr>
        <p:spPr>
          <a:xfrm>
            <a:off x="640080" y="3922776"/>
            <a:ext cx="10966399" cy="2450592"/>
          </a:xfrm>
          <a:prstGeom prst="rect">
            <a:avLst/>
          </a:prstGeom>
          <a:noFill/>
          <a:ln/>
        </p:spPr>
        <p:txBody>
          <a:bodyPr wrap="square" lIns="0" tIns="0" rIns="0" bIns="0" rtlCol="0" anchor="t"/>
          <a:lstStyle/>
          <a:p>
            <a:pPr marL="342900" indent="-342900">
              <a:spcAft>
                <a:spcPts val="700"/>
              </a:spcAft>
              <a:buSzPct val="100000"/>
              <a:buChar char="•"/>
            </a:pPr>
            <a:r>
              <a:rPr lang="en-US" sz="1350" dirty="0">
                <a:solidFill>
                  <a:srgbClr val="D8E6F2"/>
                </a:solidFill>
                <a:latin typeface="Calibri" pitchFamily="34" charset="0"/>
                <a:ea typeface="Calibri" pitchFamily="34" charset="-122"/>
                <a:cs typeface="Calibri" pitchFamily="34" charset="-120"/>
              </a:rPr>
              <a:t>Which does the scheduler use — requests or limits?  →  requests only</a:t>
            </a:r>
            <a:endParaRPr lang="en-US" sz="1350" dirty="0"/>
          </a:p>
          <a:p>
            <a:pPr marL="342900" indent="-342900">
              <a:spcAft>
                <a:spcPts val="700"/>
              </a:spcAft>
              <a:buSzPct val="100000"/>
              <a:buChar char="•"/>
            </a:pPr>
            <a:r>
              <a:rPr lang="en-US" sz="1350" dirty="0">
                <a:solidFill>
                  <a:srgbClr val="D8E6F2"/>
                </a:solidFill>
                <a:latin typeface="Calibri" pitchFamily="34" charset="0"/>
                <a:ea typeface="Calibri" pitchFamily="34" charset="-122"/>
                <a:cs typeface="Calibri" pitchFamily="34" charset="-120"/>
              </a:rPr>
              <a:t>CPU over limit vs memory over limit?  →  throttled (silent) vs OOMKilled (137)</a:t>
            </a:r>
            <a:endParaRPr lang="en-US" sz="1350" dirty="0"/>
          </a:p>
          <a:p>
            <a:pPr marL="342900" indent="-342900">
              <a:spcAft>
                <a:spcPts val="700"/>
              </a:spcAft>
              <a:buSzPct val="100000"/>
              <a:buChar char="•"/>
            </a:pPr>
            <a:r>
              <a:rPr lang="en-US" sz="1350" dirty="0">
                <a:solidFill>
                  <a:srgbClr val="D8E6F2"/>
                </a:solidFill>
                <a:latin typeface="Calibri" pitchFamily="34" charset="0"/>
                <a:ea typeface="Calibri" pitchFamily="34" charset="-122"/>
                <a:cs typeface="Calibri" pitchFamily="34" charset="-120"/>
              </a:rPr>
              <a:t>Which probe restarts the container?  →  liveness. Readiness only removes it from endpoints.</a:t>
            </a:r>
            <a:endParaRPr lang="en-US" sz="1350" dirty="0"/>
          </a:p>
          <a:p>
            <a:pPr marL="342900" indent="-342900">
              <a:spcAft>
                <a:spcPts val="700"/>
              </a:spcAft>
              <a:buSzPct val="100000"/>
              <a:buChar char="•"/>
            </a:pPr>
            <a:r>
              <a:rPr lang="en-US" sz="1350" dirty="0">
                <a:solidFill>
                  <a:srgbClr val="D8E6F2"/>
                </a:solidFill>
                <a:latin typeface="Calibri" pitchFamily="34" charset="0"/>
                <a:ea typeface="Calibri" pitchFamily="34" charset="-122"/>
                <a:cs typeface="Calibri" pitchFamily="34" charset="-120"/>
              </a:rPr>
              <a:t>HPA shows TARGETS &lt;unknown&gt;. Why?  →  no CPU request, so no denominator</a:t>
            </a:r>
            <a:endParaRPr lang="en-US" sz="1350" dirty="0"/>
          </a:p>
          <a:p>
            <a:pPr marL="342900" indent="-342900">
              <a:spcAft>
                <a:spcPts val="700"/>
              </a:spcAft>
              <a:buSzPct val="100000"/>
              <a:buChar char="•"/>
            </a:pPr>
            <a:r>
              <a:rPr lang="en-US" sz="1350" dirty="0">
                <a:solidFill>
                  <a:srgbClr val="D8E6F2"/>
                </a:solidFill>
                <a:latin typeface="Calibri" pitchFamily="34" charset="0"/>
                <a:ea typeface="Calibri" pitchFamily="34" charset="-122"/>
                <a:cs typeface="Calibri" pitchFamily="34" charset="-120"/>
              </a:rPr>
              <a:t>What makes a rolling update zero-downtime?  →  readiness probe + maxUnavailable: 0</a:t>
            </a:r>
            <a:endParaRPr lang="en-US" sz="1350" dirty="0"/>
          </a:p>
        </p:txBody>
      </p:sp>
      <p:sp>
        <p:nvSpPr>
          <p:cNvPr id="9" name="Text 7"/>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3</a:t>
            </a:r>
            <a:endParaRPr lang="en-US" sz="900" dirty="0"/>
          </a:p>
        </p:txBody>
      </p:sp>
      <p:sp>
        <p:nvSpPr>
          <p:cNvPr id="10" name="Text 8"/>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2</a:t>
            </a:r>
            <a:endParaRPr lang="en-US" sz="900" dirty="0"/>
          </a:p>
        </p:txBody>
      </p:sp>
      <p:pic>
        <p:nvPicPr>
          <p:cNvPr id="11"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2"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3"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1005840"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100584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TODAY</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What is missing, and what it costs</a:t>
            </a:r>
            <a:endParaRPr lang="en-US" sz="3200" dirty="0"/>
          </a:p>
        </p:txBody>
      </p:sp>
      <p:sp>
        <p:nvSpPr>
          <p:cNvPr id="5" name="Text 3"/>
          <p:cNvSpPr/>
          <p:nvPr/>
        </p:nvSpPr>
        <p:spPr>
          <a:xfrm>
            <a:off x="566928" y="1737360"/>
            <a:ext cx="11057839" cy="384048"/>
          </a:xfrm>
          <a:prstGeom prst="rect">
            <a:avLst/>
          </a:prstGeom>
          <a:noFill/>
          <a:ln/>
        </p:spPr>
        <p:txBody>
          <a:bodyPr wrap="square" lIns="0" tIns="0" rIns="0" bIns="0" rtlCol="0" anchor="ctr"/>
          <a:lstStyle/>
          <a:p>
            <a:pPr indent="0" marL="0">
              <a:buNone/>
            </a:pPr>
            <a:r>
              <a:rPr lang="en-US" sz="1400" i="1" dirty="0">
                <a:solidFill>
                  <a:srgbClr val="1C7293"/>
                </a:solidFill>
                <a:latin typeface="Calibri" pitchFamily="34" charset="0"/>
                <a:ea typeface="Calibri" pitchFamily="34" charset="-122"/>
                <a:cs typeface="Calibri" pitchFamily="34" charset="-120"/>
              </a:rPr>
              <a:t>A Kubernetes platform can run stateless pods quickly, but production operation also needs external configuration, secret handling, persistent storage, stable stateful identity and runtime hardening.</a:t>
            </a: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66928" y="2240280"/>
          <a:ext cx="11057839" cy="914400"/>
        </p:xfrm>
        <a:graphic>
          <a:graphicData uri="http://schemas.openxmlformats.org/drawingml/2006/table">
            <a:tbl>
              <a:tblPr/>
              <a:tblGrid>
                <a:gridCol w="3657600"/>
                <a:gridCol w="5303520"/>
                <a:gridCol w="2103120"/>
              </a:tblGrid>
              <a:tr h="43891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Missing right now</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costs you</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Fixed in</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Config baked into 11 manifests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A log-level change at 03:00 means eleven edits under pressure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L3.1</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JWT signing key in a plain env var</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Anyone with `get pods` can mint tokens for any merchant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L3.2</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No persistent storage at all</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Delete a pod and every payment is gone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L3.3, L3.4</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No database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Nothing to reconcile against. No seven-year retention.</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L3.5</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Fraud counters in memory</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The control weakens as you scale — you found this yourself</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L3.5</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A database would be a Deployment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Random names, no stable storage, no ordering</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L3.6</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Containers run as root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A container escape becomes a host compromise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L3.7</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bl>
          </a:graphicData>
        </a:graphic>
      </p:graphicFrame>
      <p:sp>
        <p:nvSpPr>
          <p:cNvPr id="7" name="Text 4"/>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3</a:t>
            </a:r>
            <a:endParaRPr lang="en-US" sz="900" dirty="0"/>
          </a:p>
        </p:txBody>
      </p:sp>
      <p:sp>
        <p:nvSpPr>
          <p:cNvPr id="8" name="Text 5"/>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3</a:t>
            </a:r>
            <a:endParaRPr lang="en-US" sz="900" dirty="0"/>
          </a:p>
        </p:txBody>
      </p:sp>
      <p:pic>
        <p:nvPicPr>
          <p:cNvPr id="9"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0"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1"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8351215" y="-1097280"/>
            <a:ext cx="5120640" cy="5120640"/>
          </a:xfrm>
          <a:prstGeom prst="ellipse">
            <a:avLst/>
          </a:prstGeom>
          <a:solidFill>
            <a:srgbClr val="12314F"/>
          </a:solidFill>
          <a:ln w="12700">
            <a:solidFill>
              <a:srgbClr val="12314F"/>
            </a:solidFill>
            <a:prstDash val="solid"/>
          </a:ln>
        </p:spPr>
      </p:sp>
      <p:sp>
        <p:nvSpPr>
          <p:cNvPr id="3" name="Text 1"/>
          <p:cNvSpPr/>
          <p:nvPr/>
        </p:nvSpPr>
        <p:spPr>
          <a:xfrm>
            <a:off x="566928" y="1600200"/>
            <a:ext cx="5669280" cy="1463040"/>
          </a:xfrm>
          <a:prstGeom prst="rect">
            <a:avLst/>
          </a:prstGeom>
          <a:noFill/>
          <a:ln/>
        </p:spPr>
        <p:txBody>
          <a:bodyPr wrap="square" lIns="0" tIns="0" rIns="0" bIns="0" rtlCol="0" anchor="ctr"/>
          <a:lstStyle/>
          <a:p>
            <a:pPr indent="0" marL="0">
              <a:buNone/>
            </a:pPr>
            <a:r>
              <a:rPr lang="en-US" sz="7600" b="1" dirty="0">
                <a:solidFill>
                  <a:srgbClr val="F2A03D"/>
                </a:solidFill>
                <a:latin typeface="Cambria" pitchFamily="34" charset="0"/>
                <a:ea typeface="Cambria" pitchFamily="34" charset="-122"/>
                <a:cs typeface="Cambria" pitchFamily="34" charset="-120"/>
              </a:rPr>
              <a:t>M3.1</a:t>
            </a:r>
            <a:endParaRPr lang="en-US" sz="7600" dirty="0"/>
          </a:p>
        </p:txBody>
      </p:sp>
      <p:sp>
        <p:nvSpPr>
          <p:cNvPr id="4" name="Text 2"/>
          <p:cNvSpPr/>
          <p:nvPr/>
        </p:nvSpPr>
        <p:spPr>
          <a:xfrm>
            <a:off x="566928" y="2971800"/>
            <a:ext cx="786384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ConfigMaps</a:t>
            </a:r>
            <a:endParaRPr lang="en-US" sz="3800" dirty="0"/>
          </a:p>
        </p:txBody>
      </p:sp>
      <p:sp>
        <p:nvSpPr>
          <p:cNvPr id="5" name="Text 3"/>
          <p:cNvSpPr/>
          <p:nvPr/>
        </p:nvSpPr>
        <p:spPr>
          <a:xfrm>
            <a:off x="566928" y="3886200"/>
            <a:ext cx="7498080" cy="822960"/>
          </a:xfrm>
          <a:prstGeom prst="rect">
            <a:avLst/>
          </a:prstGeom>
          <a:noFill/>
          <a:ln/>
        </p:spPr>
        <p:txBody>
          <a:bodyPr wrap="square" lIns="0" tIns="0" rIns="0" bIns="0" rtlCol="0" anchor="ctr"/>
          <a:lstStyle/>
          <a:p>
            <a:pPr indent="0" marL="0">
              <a:buNone/>
            </a:pPr>
            <a:r>
              <a:rPr lang="en-US" sz="1500" dirty="0">
                <a:solidFill>
                  <a:srgbClr val="D8E6F2"/>
                </a:solidFill>
                <a:latin typeface="Calibri" pitchFamily="34" charset="0"/>
                <a:ea typeface="Calibri" pitchFamily="34" charset="-122"/>
                <a:cs typeface="Calibri" pitchFamily="34" charset="-120"/>
              </a:rPr>
              <a:t>Configuration does not belong in a workload definition</a:t>
            </a:r>
            <a:endParaRPr lang="en-US" sz="1500" dirty="0"/>
          </a:p>
        </p:txBody>
      </p:sp>
      <p:sp>
        <p:nvSpPr>
          <p:cNvPr id="6" name="Text 4"/>
          <p:cNvSpPr/>
          <p:nvPr/>
        </p:nvSpPr>
        <p:spPr>
          <a:xfrm>
            <a:off x="566928" y="4709160"/>
            <a:ext cx="7498080" cy="274320"/>
          </a:xfrm>
          <a:prstGeom prst="rect">
            <a:avLst/>
          </a:prstGeom>
          <a:noFill/>
          <a:ln/>
        </p:spPr>
        <p:txBody>
          <a:bodyPr wrap="square" lIns="0" tIns="0" rIns="0" bIns="0" rtlCol="0" anchor="ctr"/>
          <a:lstStyle/>
          <a:p>
            <a:pPr indent="0" marL="0">
              <a:buNone/>
            </a:pPr>
            <a:r>
              <a:rPr lang="en-US" sz="1100" b="1" dirty="0">
                <a:solidFill>
                  <a:srgbClr val="F2A03D"/>
                </a:solidFill>
                <a:latin typeface="Calibri" pitchFamily="34" charset="0"/>
                <a:ea typeface="Calibri" pitchFamily="34" charset="-122"/>
                <a:cs typeface="Calibri" pitchFamily="34" charset="-120"/>
              </a:rPr>
              <a:t>By the end of this module you will be able to:</a:t>
            </a:r>
            <a:endParaRPr lang="en-US" sz="1100" dirty="0"/>
          </a:p>
        </p:txBody>
      </p:sp>
      <p:sp>
        <p:nvSpPr>
          <p:cNvPr id="7" name="Text 5"/>
          <p:cNvSpPr/>
          <p:nvPr/>
        </p:nvSpPr>
        <p:spPr>
          <a:xfrm>
            <a:off x="658368" y="4983480"/>
            <a:ext cx="7498080" cy="10972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Externalise configuration from manifests</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Consume config as env vars AND as volumes — and know the difference</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Trigger a rollout on config change with a checksum annotation</a:t>
            </a:r>
            <a:endParaRPr lang="en-US" sz="1200" dirty="0"/>
          </a:p>
        </p:txBody>
      </p:sp>
      <p:sp>
        <p:nvSpPr>
          <p:cNvPr id="8" name="Text 6"/>
          <p:cNvSpPr/>
          <p:nvPr/>
        </p:nvSpPr>
        <p:spPr>
          <a:xfrm>
            <a:off x="9814255" y="5989320"/>
            <a:ext cx="1828800" cy="320040"/>
          </a:xfrm>
          <a:prstGeom prst="rect">
            <a:avLst/>
          </a:prstGeom>
          <a:noFill/>
          <a:ln/>
        </p:spPr>
        <p:txBody>
          <a:bodyPr wrap="square" lIns="0" tIns="0" rIns="0" bIns="0" rtlCol="0" anchor="ctr"/>
          <a:lstStyle/>
          <a:p>
            <a:pPr algn="r" indent="0" marL="0">
              <a:buNone/>
            </a:pPr>
            <a:r>
              <a:rPr lang="en-US" sz="1100" dirty="0">
                <a:solidFill>
                  <a:srgbClr val="63758B"/>
                </a:solidFill>
                <a:latin typeface="Calibri" pitchFamily="34" charset="0"/>
                <a:ea typeface="Calibri" pitchFamily="34" charset="-122"/>
                <a:cs typeface="Calibri" pitchFamily="34" charset="-120"/>
              </a:rPr>
              <a:t>70 min</a:t>
            </a:r>
            <a:endParaRPr lang="en-US" sz="1100" dirty="0"/>
          </a:p>
        </p:txBody>
      </p:sp>
      <p:pic>
        <p:nvPicPr>
          <p:cNvPr id="9"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0"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1"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2171700"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217170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M3.1 · CONFIGMAPS</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Two ways to consume a ConfigMap — and they behave completely differently</a:t>
            </a:r>
            <a:endParaRPr lang="en-US" sz="3200" dirty="0"/>
          </a:p>
        </p:txBody>
      </p:sp>
      <p:sp>
        <p:nvSpPr>
          <p:cNvPr id="5" name="Text 3"/>
          <p:cNvSpPr/>
          <p:nvPr/>
        </p:nvSpPr>
        <p:spPr>
          <a:xfrm>
            <a:off x="566928" y="1737360"/>
            <a:ext cx="11057839" cy="457200"/>
          </a:xfrm>
          <a:prstGeom prst="rect">
            <a:avLst/>
          </a:prstGeom>
          <a:noFill/>
          <a:ln/>
        </p:spPr>
        <p:txBody>
          <a:bodyPr wrap="square" lIns="0" tIns="0" rIns="0" bIns="0" rtlCol="0" anchor="ctr"/>
          <a:lstStyle/>
          <a:p>
            <a:pPr indent="0" marL="0">
              <a:lnSpc>
                <a:spcPts val="1700"/>
              </a:lnSpc>
              <a:buNone/>
            </a:pPr>
            <a:r>
              <a:rPr lang="en-US" sz="1350" i="1" dirty="0">
                <a:solidFill>
                  <a:srgbClr val="1C7293"/>
                </a:solidFill>
                <a:latin typeface="Calibri" pitchFamily="34" charset="0"/>
                <a:ea typeface="Calibri" pitchFamily="34" charset="-122"/>
                <a:cs typeface="Calibri" pitchFamily="34" charset="-120"/>
              </a:rPr>
              <a:t>A ConfigMap is a Kubernetes API object for non-sensitive key-value or file-style configuration. It separates runtime settings from the image so the same container can move between environments by changing data, not code.</a:t>
            </a:r>
            <a:endParaRPr lang="en-US" sz="1350" dirty="0"/>
          </a:p>
        </p:txBody>
      </p:sp>
      <p:sp>
        <p:nvSpPr>
          <p:cNvPr id="6" name="Shape 4"/>
          <p:cNvSpPr/>
          <p:nvPr/>
        </p:nvSpPr>
        <p:spPr>
          <a:xfrm>
            <a:off x="566928" y="2249424"/>
            <a:ext cx="11057839" cy="566928"/>
          </a:xfrm>
          <a:prstGeom prst="roundRect">
            <a:avLst>
              <a:gd name="adj" fmla="val 12903"/>
            </a:avLst>
          </a:prstGeom>
          <a:solidFill>
            <a:srgbClr val="EAF1F8"/>
          </a:solidFill>
          <a:ln w="12700">
            <a:solidFill>
              <a:srgbClr val="1C7293"/>
            </a:solidFill>
            <a:prstDash val="solid"/>
          </a:ln>
        </p:spPr>
      </p:sp>
      <p:sp>
        <p:nvSpPr>
          <p:cNvPr id="7" name="Text 5"/>
          <p:cNvSpPr/>
          <p:nvPr/>
        </p:nvSpPr>
        <p:spPr>
          <a:xfrm>
            <a:off x="768096" y="2249424"/>
            <a:ext cx="10655503" cy="566928"/>
          </a:xfrm>
          <a:prstGeom prst="rect">
            <a:avLst/>
          </a:prstGeom>
          <a:noFill/>
          <a:ln/>
        </p:spPr>
        <p:txBody>
          <a:bodyPr wrap="square" lIns="0" tIns="0" rIns="0" bIns="0" rtlCol="0" anchor="ctr"/>
          <a:lstStyle/>
          <a:p>
            <a:pPr indent="0" marL="0">
              <a:buNone/>
            </a:pPr>
            <a:r>
              <a:rPr lang="en-US" sz="1500" b="1" dirty="0">
                <a:solidFill>
                  <a:srgbClr val="0B1F3A"/>
                </a:solidFill>
                <a:latin typeface="Cambria" pitchFamily="34" charset="0"/>
                <a:ea typeface="Cambria" pitchFamily="34" charset="-122"/>
                <a:cs typeface="Cambria" pitchFamily="34" charset="-120"/>
              </a:rPr>
              <a:t>You change a ConfigMap. What happens to the pods already running?</a:t>
            </a:r>
            <a:endParaRPr lang="en-US" sz="1500" dirty="0"/>
          </a:p>
        </p:txBody>
      </p:sp>
      <p:sp>
        <p:nvSpPr>
          <p:cNvPr id="8" name="Shape 6"/>
          <p:cNvSpPr/>
          <p:nvPr/>
        </p:nvSpPr>
        <p:spPr>
          <a:xfrm>
            <a:off x="566928" y="3160395"/>
            <a:ext cx="402336" cy="402336"/>
          </a:xfrm>
          <a:prstGeom prst="ellipse">
            <a:avLst/>
          </a:prstGeom>
          <a:solidFill>
            <a:srgbClr val="C97B1E"/>
          </a:solidFill>
          <a:ln w="12700">
            <a:solidFill>
              <a:srgbClr val="C97B1E"/>
            </a:solidFill>
            <a:prstDash val="solid"/>
          </a:ln>
        </p:spPr>
      </p:sp>
      <p:sp>
        <p:nvSpPr>
          <p:cNvPr id="9" name="Text 7"/>
          <p:cNvSpPr/>
          <p:nvPr/>
        </p:nvSpPr>
        <p:spPr>
          <a:xfrm>
            <a:off x="566928" y="3160395"/>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0" name="Text 8"/>
          <p:cNvSpPr/>
          <p:nvPr/>
        </p:nvSpPr>
        <p:spPr>
          <a:xfrm>
            <a:off x="1133856" y="2999232"/>
            <a:ext cx="3200400" cy="724662"/>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Generic env snapshot</a:t>
            </a:r>
            <a:endParaRPr lang="en-US" sz="1400" dirty="0"/>
          </a:p>
        </p:txBody>
      </p:sp>
      <p:sp>
        <p:nvSpPr>
          <p:cNvPr id="11" name="Text 9"/>
          <p:cNvSpPr/>
          <p:nvPr/>
        </p:nvSpPr>
        <p:spPr>
          <a:xfrm>
            <a:off x="4407408" y="2999232"/>
            <a:ext cx="7217359" cy="724662"/>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A vanilla web-app can import DB_HOST and LOG_LEVEL with env or envFrom. The kubelet resolves those keys once at container start and copies them into the process environment. That snapshot never changes under a running process.</a:t>
            </a:r>
            <a:endParaRPr lang="en-US" sz="1250" dirty="0"/>
          </a:p>
        </p:txBody>
      </p:sp>
      <p:sp>
        <p:nvSpPr>
          <p:cNvPr id="12" name="Shape 10"/>
          <p:cNvSpPr/>
          <p:nvPr/>
        </p:nvSpPr>
        <p:spPr>
          <a:xfrm>
            <a:off x="566928" y="3885057"/>
            <a:ext cx="402336" cy="402336"/>
          </a:xfrm>
          <a:prstGeom prst="ellipse">
            <a:avLst/>
          </a:prstGeom>
          <a:solidFill>
            <a:srgbClr val="1C7293"/>
          </a:solidFill>
          <a:ln w="12700">
            <a:solidFill>
              <a:srgbClr val="1C7293"/>
            </a:solidFill>
            <a:prstDash val="solid"/>
          </a:ln>
        </p:spPr>
      </p:sp>
      <p:sp>
        <p:nvSpPr>
          <p:cNvPr id="13" name="Text 11"/>
          <p:cNvSpPr/>
          <p:nvPr/>
        </p:nvSpPr>
        <p:spPr>
          <a:xfrm>
            <a:off x="566928" y="3885057"/>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4" name="Text 12"/>
          <p:cNvSpPr/>
          <p:nvPr/>
        </p:nvSpPr>
        <p:spPr>
          <a:xfrm>
            <a:off x="1133856" y="3723894"/>
            <a:ext cx="3200400" cy="724662"/>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Generic mounted files</a:t>
            </a:r>
            <a:endParaRPr lang="en-US" sz="1400" dirty="0"/>
          </a:p>
        </p:txBody>
      </p:sp>
      <p:sp>
        <p:nvSpPr>
          <p:cNvPr id="15" name="Text 13"/>
          <p:cNvSpPr/>
          <p:nvPr/>
        </p:nvSpPr>
        <p:spPr>
          <a:xfrm>
            <a:off x="4407408" y="3723894"/>
            <a:ext cx="7217359" cy="724662"/>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The same ConfigMap can be mounted as files such as /etc/web-app/config/app.yaml. Kubelet refreshes that directory when the object changes, usually within about a minute, but only the files change automatically.</a:t>
            </a:r>
            <a:endParaRPr lang="en-US" sz="1250" dirty="0"/>
          </a:p>
        </p:txBody>
      </p:sp>
      <p:sp>
        <p:nvSpPr>
          <p:cNvPr id="16" name="Shape 14"/>
          <p:cNvSpPr/>
          <p:nvPr/>
        </p:nvSpPr>
        <p:spPr>
          <a:xfrm>
            <a:off x="566928" y="4609719"/>
            <a:ext cx="402336" cy="402336"/>
          </a:xfrm>
          <a:prstGeom prst="ellipse">
            <a:avLst/>
          </a:prstGeom>
          <a:solidFill>
            <a:srgbClr val="2E9E63"/>
          </a:solidFill>
          <a:ln w="12700">
            <a:solidFill>
              <a:srgbClr val="2E9E63"/>
            </a:solidFill>
            <a:prstDash val="solid"/>
          </a:ln>
        </p:spPr>
      </p:sp>
      <p:sp>
        <p:nvSpPr>
          <p:cNvPr id="17" name="Text 15"/>
          <p:cNvSpPr/>
          <p:nvPr/>
        </p:nvSpPr>
        <p:spPr>
          <a:xfrm>
            <a:off x="566928" y="4609719"/>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8" name="Text 16"/>
          <p:cNvSpPr/>
          <p:nvPr/>
        </p:nvSpPr>
        <p:spPr>
          <a:xfrm>
            <a:off x="1133856" y="4448556"/>
            <a:ext cx="3200400" cy="724662"/>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AxisPay startup config</a:t>
            </a:r>
            <a:endParaRPr lang="en-US" sz="1400" dirty="0"/>
          </a:p>
        </p:txBody>
      </p:sp>
      <p:sp>
        <p:nvSpPr>
          <p:cNvPr id="19" name="Text 17"/>
          <p:cNvSpPr/>
          <p:nvPr/>
        </p:nvSpPr>
        <p:spPr>
          <a:xfrm>
            <a:off x="4407408" y="4448556"/>
            <a:ext cx="7217359" cy="724662"/>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AxisPay uses env for payment-service startup values such as issuer URLs and database endpoints. Those are read while clients and pools are built, so a change should arrive through a rollout, not halfway through live traffic.</a:t>
            </a:r>
            <a:endParaRPr lang="en-US" sz="1250" dirty="0"/>
          </a:p>
        </p:txBody>
      </p:sp>
      <p:sp>
        <p:nvSpPr>
          <p:cNvPr id="20" name="Shape 18"/>
          <p:cNvSpPr/>
          <p:nvPr/>
        </p:nvSpPr>
        <p:spPr>
          <a:xfrm>
            <a:off x="566928" y="5334381"/>
            <a:ext cx="402336" cy="402336"/>
          </a:xfrm>
          <a:prstGeom prst="ellipse">
            <a:avLst/>
          </a:prstGeom>
          <a:solidFill>
            <a:srgbClr val="D64545"/>
          </a:solidFill>
          <a:ln w="12700">
            <a:solidFill>
              <a:srgbClr val="D64545"/>
            </a:solidFill>
            <a:prstDash val="solid"/>
          </a:ln>
        </p:spPr>
      </p:sp>
      <p:sp>
        <p:nvSpPr>
          <p:cNvPr id="21" name="Text 19"/>
          <p:cNvSpPr/>
          <p:nvPr/>
        </p:nvSpPr>
        <p:spPr>
          <a:xfrm>
            <a:off x="566928" y="5334381"/>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2" name="Text 20"/>
          <p:cNvSpPr/>
          <p:nvPr/>
        </p:nvSpPr>
        <p:spPr>
          <a:xfrm>
            <a:off x="1133856" y="5173218"/>
            <a:ext cx="3200400" cy="724662"/>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AxisPay live tuning</a:t>
            </a:r>
            <a:endParaRPr lang="en-US" sz="1400" dirty="0"/>
          </a:p>
        </p:txBody>
      </p:sp>
      <p:sp>
        <p:nvSpPr>
          <p:cNvPr id="23" name="Text 21"/>
          <p:cNvSpPr/>
          <p:nvPr/>
        </p:nvSpPr>
        <p:spPr>
          <a:xfrm>
            <a:off x="4407408" y="5173218"/>
            <a:ext cx="7217359" cy="724662"/>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AxisPay mounts fraud thresholds as files for fraud-service. Operations can adjust a limit, kubelet refreshes the file and the service can re-read it with no redeploy. A subPath mount would silently defeat that pattern.</a:t>
            </a:r>
            <a:endParaRPr lang="en-US" sz="1250" dirty="0"/>
          </a:p>
        </p:txBody>
      </p:sp>
      <p:sp>
        <p:nvSpPr>
          <p:cNvPr id="24" name="Text 22"/>
          <p:cNvSpPr/>
          <p:nvPr/>
        </p:nvSpPr>
        <p:spPr>
          <a:xfrm>
            <a:off x="566928" y="5687568"/>
            <a:ext cx="11057839" cy="548640"/>
          </a:xfrm>
          <a:prstGeom prst="rect">
            <a:avLst/>
          </a:prstGeom>
          <a:noFill/>
          <a:ln/>
        </p:spPr>
        <p:txBody>
          <a:bodyPr wrap="square" lIns="0" tIns="0" rIns="0" bIns="0" rtlCol="0" anchor="ctr"/>
          <a:lstStyle/>
          <a:p>
            <a:pPr algn="ctr" indent="0" marL="0">
              <a:buNone/>
            </a:pPr>
            <a:r>
              <a:rPr lang="en-US" sz="1400" b="1" dirty="0">
                <a:solidFill>
                  <a:srgbClr val="1C7293"/>
                </a:solidFill>
                <a:latin typeface="Calibri" pitchFamily="34" charset="0"/>
                <a:ea typeface="Calibri" pitchFamily="34" charset="-122"/>
                <a:cs typeface="Calibri" pitchFamily="34" charset="-120"/>
              </a:rPr>
              <a:t>AxisPay uses env for startup values and a volume for fraud thresholds — so operations can retune risk without redeploying the payment path.</a:t>
            </a:r>
            <a:endParaRPr lang="en-US" sz="1400" dirty="0"/>
          </a:p>
        </p:txBody>
      </p:sp>
      <p:sp>
        <p:nvSpPr>
          <p:cNvPr id="25" name="Text 23"/>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3</a:t>
            </a:r>
            <a:endParaRPr lang="en-US" sz="900" dirty="0"/>
          </a:p>
        </p:txBody>
      </p:sp>
      <p:sp>
        <p:nvSpPr>
          <p:cNvPr id="26" name="Text 24"/>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5</a:t>
            </a:r>
            <a:endParaRPr lang="en-US" sz="900" dirty="0"/>
          </a:p>
        </p:txBody>
      </p:sp>
      <p:pic>
        <p:nvPicPr>
          <p:cNvPr id="27"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28"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29"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856232" cy="292608"/>
          </a:xfrm>
          <a:prstGeom prst="roundRect">
            <a:avLst>
              <a:gd name="adj" fmla="val 50000"/>
            </a:avLst>
          </a:prstGeom>
          <a:solidFill>
            <a:srgbClr val="C97B1E"/>
          </a:solidFill>
          <a:ln w="12700">
            <a:solidFill>
              <a:srgbClr val="C97B1E"/>
            </a:solidFill>
            <a:prstDash val="solid"/>
          </a:ln>
        </p:spPr>
      </p:sp>
      <p:sp>
        <p:nvSpPr>
          <p:cNvPr id="3" name="Text 1"/>
          <p:cNvSpPr/>
          <p:nvPr/>
        </p:nvSpPr>
        <p:spPr>
          <a:xfrm>
            <a:off x="566928" y="384048"/>
            <a:ext cx="1856232"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M3.1 · DIAGRAM</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ConfigMap consumption — snapshot env vs refreshed files</a:t>
            </a:r>
            <a:endParaRPr lang="en-US" sz="3200" dirty="0"/>
          </a:p>
        </p:txBody>
      </p:sp>
      <p:sp>
        <p:nvSpPr>
          <p:cNvPr id="5" name="Shape 3"/>
          <p:cNvSpPr/>
          <p:nvPr/>
        </p:nvSpPr>
        <p:spPr>
          <a:xfrm>
            <a:off x="4526280" y="1783080"/>
            <a:ext cx="3063240" cy="841248"/>
          </a:xfrm>
          <a:prstGeom prst="roundRect">
            <a:avLst>
              <a:gd name="adj" fmla="val 8696"/>
            </a:avLst>
          </a:prstGeom>
          <a:solidFill>
            <a:srgbClr val="1C7293"/>
          </a:solidFill>
          <a:ln w="12700">
            <a:solidFill>
              <a:srgbClr val="1C7293"/>
            </a:solidFill>
            <a:prstDash val="solid"/>
          </a:ln>
        </p:spPr>
      </p:sp>
      <p:sp>
        <p:nvSpPr>
          <p:cNvPr id="6" name="Text 4"/>
          <p:cNvSpPr/>
          <p:nvPr/>
        </p:nvSpPr>
        <p:spPr>
          <a:xfrm>
            <a:off x="4599432" y="1892808"/>
            <a:ext cx="2916936" cy="38697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ConfigMap</a:t>
            </a:r>
            <a:endParaRPr lang="en-US" sz="1400" dirty="0"/>
          </a:p>
        </p:txBody>
      </p:sp>
      <p:sp>
        <p:nvSpPr>
          <p:cNvPr id="7" name="Text 5"/>
          <p:cNvSpPr/>
          <p:nvPr/>
        </p:nvSpPr>
        <p:spPr>
          <a:xfrm>
            <a:off x="4599432" y="2203704"/>
            <a:ext cx="2916936" cy="370149"/>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config-data</a:t>
            </a:r>
            <a:endParaRPr lang="en-US" sz="1050" dirty="0"/>
          </a:p>
        </p:txBody>
      </p:sp>
      <p:sp>
        <p:nvSpPr>
          <p:cNvPr id="8" name="Shape 6"/>
          <p:cNvSpPr/>
          <p:nvPr/>
        </p:nvSpPr>
        <p:spPr>
          <a:xfrm>
            <a:off x="685800" y="2834640"/>
            <a:ext cx="3703320" cy="1874520"/>
          </a:xfrm>
          <a:prstGeom prst="roundRect">
            <a:avLst>
              <a:gd name="adj" fmla="val 3902"/>
            </a:avLst>
          </a:prstGeom>
          <a:solidFill>
            <a:srgbClr val="12314F"/>
          </a:solidFill>
          <a:ln w="12700">
            <a:solidFill>
              <a:srgbClr val="12314F"/>
            </a:solidFill>
            <a:prstDash val="solid"/>
          </a:ln>
        </p:spPr>
      </p:sp>
      <p:sp>
        <p:nvSpPr>
          <p:cNvPr id="9" name="Text 7"/>
          <p:cNvSpPr/>
          <p:nvPr/>
        </p:nvSpPr>
        <p:spPr>
          <a:xfrm>
            <a:off x="758952" y="2889504"/>
            <a:ext cx="3557016"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Pod A</a:t>
            </a:r>
            <a:endParaRPr lang="en-US" sz="1400" dirty="0"/>
          </a:p>
        </p:txBody>
      </p:sp>
      <p:sp>
        <p:nvSpPr>
          <p:cNvPr id="10" name="Text 8"/>
          <p:cNvSpPr/>
          <p:nvPr/>
        </p:nvSpPr>
        <p:spPr>
          <a:xfrm>
            <a:off x="758952" y="3145536"/>
            <a:ext cx="3557016" cy="237744"/>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web-app · env/envFrom</a:t>
            </a:r>
            <a:endParaRPr lang="en-US" sz="1050" dirty="0"/>
          </a:p>
        </p:txBody>
      </p:sp>
      <p:sp>
        <p:nvSpPr>
          <p:cNvPr id="11" name="Shape 9"/>
          <p:cNvSpPr/>
          <p:nvPr/>
        </p:nvSpPr>
        <p:spPr>
          <a:xfrm>
            <a:off x="7818120" y="2834640"/>
            <a:ext cx="3703320" cy="1874520"/>
          </a:xfrm>
          <a:prstGeom prst="roundRect">
            <a:avLst>
              <a:gd name="adj" fmla="val 3902"/>
            </a:avLst>
          </a:prstGeom>
          <a:solidFill>
            <a:srgbClr val="12314F"/>
          </a:solidFill>
          <a:ln w="12700">
            <a:solidFill>
              <a:srgbClr val="12314F"/>
            </a:solidFill>
            <a:prstDash val="solid"/>
          </a:ln>
        </p:spPr>
      </p:sp>
      <p:sp>
        <p:nvSpPr>
          <p:cNvPr id="12" name="Text 10"/>
          <p:cNvSpPr/>
          <p:nvPr/>
        </p:nvSpPr>
        <p:spPr>
          <a:xfrm>
            <a:off x="7891272" y="2889504"/>
            <a:ext cx="3557016"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Pod B</a:t>
            </a:r>
            <a:endParaRPr lang="en-US" sz="1400" dirty="0"/>
          </a:p>
        </p:txBody>
      </p:sp>
      <p:sp>
        <p:nvSpPr>
          <p:cNvPr id="13" name="Text 11"/>
          <p:cNvSpPr/>
          <p:nvPr/>
        </p:nvSpPr>
        <p:spPr>
          <a:xfrm>
            <a:off x="7891272" y="3145536"/>
            <a:ext cx="3557016" cy="237744"/>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web-app · volumeMount</a:t>
            </a:r>
            <a:endParaRPr lang="en-US" sz="1050" dirty="0"/>
          </a:p>
        </p:txBody>
      </p:sp>
      <p:sp>
        <p:nvSpPr>
          <p:cNvPr id="14" name="Shape 12"/>
          <p:cNvSpPr/>
          <p:nvPr/>
        </p:nvSpPr>
        <p:spPr>
          <a:xfrm>
            <a:off x="1051560" y="3520440"/>
            <a:ext cx="1325880" cy="658368"/>
          </a:xfrm>
          <a:prstGeom prst="roundRect">
            <a:avLst>
              <a:gd name="adj" fmla="val 11111"/>
            </a:avLst>
          </a:prstGeom>
          <a:solidFill>
            <a:srgbClr val="C97B1E"/>
          </a:solidFill>
          <a:ln w="12700">
            <a:solidFill>
              <a:srgbClr val="C97B1E"/>
            </a:solidFill>
            <a:prstDash val="solid"/>
          </a:ln>
        </p:spPr>
      </p:sp>
      <p:sp>
        <p:nvSpPr>
          <p:cNvPr id="15" name="Text 13"/>
          <p:cNvSpPr/>
          <p:nvPr/>
        </p:nvSpPr>
        <p:spPr>
          <a:xfrm>
            <a:off x="1124712" y="3630168"/>
            <a:ext cx="1179576" cy="302849"/>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ENV</a:t>
            </a:r>
            <a:endParaRPr lang="en-US" sz="1400" dirty="0"/>
          </a:p>
        </p:txBody>
      </p:sp>
      <p:sp>
        <p:nvSpPr>
          <p:cNvPr id="16" name="Text 14"/>
          <p:cNvSpPr/>
          <p:nvPr/>
        </p:nvSpPr>
        <p:spPr>
          <a:xfrm>
            <a:off x="1124712" y="3849624"/>
            <a:ext cx="1179576" cy="289682"/>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LOG_LEVEL</a:t>
            </a:r>
            <a:endParaRPr lang="en-US" sz="1050" dirty="0"/>
          </a:p>
        </p:txBody>
      </p:sp>
      <p:sp>
        <p:nvSpPr>
          <p:cNvPr id="17" name="Shape 15"/>
          <p:cNvSpPr/>
          <p:nvPr/>
        </p:nvSpPr>
        <p:spPr>
          <a:xfrm>
            <a:off x="2697480" y="3520440"/>
            <a:ext cx="1325880" cy="658368"/>
          </a:xfrm>
          <a:prstGeom prst="roundRect">
            <a:avLst>
              <a:gd name="adj" fmla="val 11111"/>
            </a:avLst>
          </a:prstGeom>
          <a:solidFill>
            <a:srgbClr val="C97B1E"/>
          </a:solidFill>
          <a:ln w="12700">
            <a:solidFill>
              <a:srgbClr val="C97B1E"/>
            </a:solidFill>
            <a:prstDash val="solid"/>
          </a:ln>
        </p:spPr>
      </p:sp>
      <p:sp>
        <p:nvSpPr>
          <p:cNvPr id="18" name="Text 16"/>
          <p:cNvSpPr/>
          <p:nvPr/>
        </p:nvSpPr>
        <p:spPr>
          <a:xfrm>
            <a:off x="2770632" y="3630168"/>
            <a:ext cx="1179576" cy="302849"/>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ENV</a:t>
            </a:r>
            <a:endParaRPr lang="en-US" sz="1400" dirty="0"/>
          </a:p>
        </p:txBody>
      </p:sp>
      <p:sp>
        <p:nvSpPr>
          <p:cNvPr id="19" name="Text 17"/>
          <p:cNvSpPr/>
          <p:nvPr/>
        </p:nvSpPr>
        <p:spPr>
          <a:xfrm>
            <a:off x="2770632" y="3849624"/>
            <a:ext cx="1179576" cy="289682"/>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DB_HOST</a:t>
            </a:r>
            <a:endParaRPr lang="en-US" sz="1050" dirty="0"/>
          </a:p>
        </p:txBody>
      </p:sp>
      <p:sp>
        <p:nvSpPr>
          <p:cNvPr id="20" name="Shape 18"/>
          <p:cNvSpPr/>
          <p:nvPr/>
        </p:nvSpPr>
        <p:spPr>
          <a:xfrm>
            <a:off x="8183880" y="3520440"/>
            <a:ext cx="1188720" cy="777240"/>
          </a:xfrm>
          <a:prstGeom prst="roundRect">
            <a:avLst>
              <a:gd name="adj" fmla="val 9412"/>
            </a:avLst>
          </a:prstGeom>
          <a:solidFill>
            <a:srgbClr val="2E9E63"/>
          </a:solidFill>
          <a:ln w="12700">
            <a:solidFill>
              <a:srgbClr val="2E9E63"/>
            </a:solidFill>
            <a:prstDash val="solid"/>
          </a:ln>
        </p:spPr>
      </p:sp>
      <p:sp>
        <p:nvSpPr>
          <p:cNvPr id="21" name="Text 19"/>
          <p:cNvSpPr/>
          <p:nvPr/>
        </p:nvSpPr>
        <p:spPr>
          <a:xfrm>
            <a:off x="8257032" y="3630168"/>
            <a:ext cx="1042416" cy="35753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FILE</a:t>
            </a:r>
            <a:endParaRPr lang="en-US" sz="1400" dirty="0"/>
          </a:p>
        </p:txBody>
      </p:sp>
      <p:sp>
        <p:nvSpPr>
          <p:cNvPr id="22" name="Text 20"/>
          <p:cNvSpPr/>
          <p:nvPr/>
        </p:nvSpPr>
        <p:spPr>
          <a:xfrm>
            <a:off x="8257032" y="3909060"/>
            <a:ext cx="1042416" cy="341986"/>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app.yaml</a:t>
            </a:r>
            <a:endParaRPr lang="en-US" sz="1050" dirty="0"/>
          </a:p>
        </p:txBody>
      </p:sp>
      <p:sp>
        <p:nvSpPr>
          <p:cNvPr id="23" name="Shape 21"/>
          <p:cNvSpPr/>
          <p:nvPr/>
        </p:nvSpPr>
        <p:spPr>
          <a:xfrm>
            <a:off x="9555480" y="3520440"/>
            <a:ext cx="1554480" cy="777240"/>
          </a:xfrm>
          <a:prstGeom prst="roundRect">
            <a:avLst>
              <a:gd name="adj" fmla="val 9412"/>
            </a:avLst>
          </a:prstGeom>
          <a:solidFill>
            <a:srgbClr val="2E9E63"/>
          </a:solidFill>
          <a:ln w="12700">
            <a:solidFill>
              <a:srgbClr val="2E9E63"/>
            </a:solidFill>
            <a:prstDash val="solid"/>
          </a:ln>
        </p:spPr>
      </p:sp>
      <p:sp>
        <p:nvSpPr>
          <p:cNvPr id="24" name="Text 22"/>
          <p:cNvSpPr/>
          <p:nvPr/>
        </p:nvSpPr>
        <p:spPr>
          <a:xfrm>
            <a:off x="9628632" y="3630168"/>
            <a:ext cx="1408176" cy="35753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FILE</a:t>
            </a:r>
            <a:endParaRPr lang="en-US" sz="1400" dirty="0"/>
          </a:p>
        </p:txBody>
      </p:sp>
      <p:sp>
        <p:nvSpPr>
          <p:cNvPr id="25" name="Text 23"/>
          <p:cNvSpPr/>
          <p:nvPr/>
        </p:nvSpPr>
        <p:spPr>
          <a:xfrm>
            <a:off x="9628632" y="3909060"/>
            <a:ext cx="1408176" cy="341986"/>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feature.flag</a:t>
            </a:r>
            <a:endParaRPr lang="en-US" sz="1050" dirty="0"/>
          </a:p>
        </p:txBody>
      </p:sp>
      <p:sp>
        <p:nvSpPr>
          <p:cNvPr id="26" name="Shape 24"/>
          <p:cNvSpPr/>
          <p:nvPr/>
        </p:nvSpPr>
        <p:spPr>
          <a:xfrm>
            <a:off x="5532120" y="2670048"/>
            <a:ext cx="-2468880" cy="502920"/>
          </a:xfrm>
          <a:prstGeom prst="line">
            <a:avLst/>
          </a:prstGeom>
          <a:noFill/>
          <a:ln w="25400">
            <a:solidFill>
              <a:srgbClr val="F2A03D"/>
            </a:solidFill>
            <a:prstDash val="solid"/>
            <a:tailEnd type="triangle"/>
          </a:ln>
        </p:spPr>
      </p:sp>
      <p:sp>
        <p:nvSpPr>
          <p:cNvPr id="27" name="Shape 25"/>
          <p:cNvSpPr/>
          <p:nvPr/>
        </p:nvSpPr>
        <p:spPr>
          <a:xfrm>
            <a:off x="6583680" y="2670048"/>
            <a:ext cx="2377440" cy="502920"/>
          </a:xfrm>
          <a:prstGeom prst="line">
            <a:avLst/>
          </a:prstGeom>
          <a:noFill/>
          <a:ln w="25400">
            <a:solidFill>
              <a:srgbClr val="2E9E63"/>
            </a:solidFill>
            <a:prstDash val="solid"/>
            <a:tailEnd type="triangle"/>
          </a:ln>
        </p:spPr>
      </p:sp>
      <p:sp>
        <p:nvSpPr>
          <p:cNvPr id="28" name="Text 26"/>
          <p:cNvSpPr/>
          <p:nvPr/>
        </p:nvSpPr>
        <p:spPr>
          <a:xfrm>
            <a:off x="2377440" y="2331720"/>
            <a:ext cx="2743200" cy="274320"/>
          </a:xfrm>
          <a:prstGeom prst="rect">
            <a:avLst/>
          </a:prstGeom>
          <a:noFill/>
          <a:ln/>
        </p:spPr>
        <p:txBody>
          <a:bodyPr wrap="square" lIns="0" tIns="0" rIns="0" bIns="0" rtlCol="0" anchor="ctr"/>
          <a:lstStyle/>
          <a:p>
            <a:pPr algn="ctr" indent="0" marL="0">
              <a:buNone/>
            </a:pPr>
            <a:r>
              <a:rPr lang="en-US" sz="1000" b="1" dirty="0">
                <a:solidFill>
                  <a:srgbClr val="F2A03D"/>
                </a:solidFill>
                <a:latin typeface="Calibri" pitchFamily="34" charset="0"/>
                <a:ea typeface="Calibri" pitchFamily="34" charset="-122"/>
                <a:cs typeface="Calibri" pitchFamily="34" charset="-120"/>
              </a:rPr>
              <a:t>resolved at pod start</a:t>
            </a:r>
            <a:endParaRPr lang="en-US" sz="1000" dirty="0"/>
          </a:p>
        </p:txBody>
      </p:sp>
      <p:sp>
        <p:nvSpPr>
          <p:cNvPr id="29" name="Text 27"/>
          <p:cNvSpPr/>
          <p:nvPr/>
        </p:nvSpPr>
        <p:spPr>
          <a:xfrm>
            <a:off x="7040880" y="2331720"/>
            <a:ext cx="2743200" cy="274320"/>
          </a:xfrm>
          <a:prstGeom prst="rect">
            <a:avLst/>
          </a:prstGeom>
          <a:noFill/>
          <a:ln/>
        </p:spPr>
        <p:txBody>
          <a:bodyPr wrap="square" lIns="0" tIns="0" rIns="0" bIns="0" rtlCol="0" anchor="ctr"/>
          <a:lstStyle/>
          <a:p>
            <a:pPr algn="ctr" indent="0" marL="0">
              <a:buNone/>
            </a:pPr>
            <a:r>
              <a:rPr lang="en-US" sz="1000" b="1" dirty="0">
                <a:solidFill>
                  <a:srgbClr val="2E9E63"/>
                </a:solidFill>
                <a:latin typeface="Calibri" pitchFamily="34" charset="0"/>
                <a:ea typeface="Calibri" pitchFamily="34" charset="-122"/>
                <a:cs typeface="Calibri" pitchFamily="34" charset="-120"/>
              </a:rPr>
              <a:t>files refreshed later</a:t>
            </a:r>
            <a:endParaRPr lang="en-US" sz="1000" dirty="0"/>
          </a:p>
        </p:txBody>
      </p:sp>
      <p:sp>
        <p:nvSpPr>
          <p:cNvPr id="30" name="Shape 28"/>
          <p:cNvSpPr/>
          <p:nvPr/>
        </p:nvSpPr>
        <p:spPr>
          <a:xfrm>
            <a:off x="914400" y="4919472"/>
            <a:ext cx="3246120" cy="566928"/>
          </a:xfrm>
          <a:prstGeom prst="roundRect">
            <a:avLst>
              <a:gd name="adj" fmla="val 12903"/>
            </a:avLst>
          </a:prstGeom>
          <a:solidFill>
            <a:srgbClr val="5A2A2A"/>
          </a:solidFill>
          <a:ln w="12700">
            <a:solidFill>
              <a:srgbClr val="D64545"/>
            </a:solidFill>
            <a:prstDash val="solid"/>
          </a:ln>
        </p:spPr>
      </p:sp>
      <p:sp>
        <p:nvSpPr>
          <p:cNvPr id="31" name="Text 29"/>
          <p:cNvSpPr/>
          <p:nvPr/>
        </p:nvSpPr>
        <p:spPr>
          <a:xfrm>
            <a:off x="914400" y="4919472"/>
            <a:ext cx="3246120" cy="566928"/>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change ConfigMap → env stays stale</a:t>
            </a:r>
            <a:endParaRPr lang="en-US" sz="1050" dirty="0"/>
          </a:p>
        </p:txBody>
      </p:sp>
      <p:sp>
        <p:nvSpPr>
          <p:cNvPr id="32" name="Shape 30"/>
          <p:cNvSpPr/>
          <p:nvPr/>
        </p:nvSpPr>
        <p:spPr>
          <a:xfrm>
            <a:off x="8046720" y="4919472"/>
            <a:ext cx="3246120" cy="566928"/>
          </a:xfrm>
          <a:prstGeom prst="roundRect">
            <a:avLst>
              <a:gd name="adj" fmla="val 12903"/>
            </a:avLst>
          </a:prstGeom>
          <a:solidFill>
            <a:srgbClr val="2E9E63"/>
          </a:solidFill>
          <a:ln w="12700">
            <a:solidFill>
              <a:srgbClr val="2E9E63"/>
            </a:solidFill>
            <a:prstDash val="solid"/>
          </a:ln>
        </p:spPr>
      </p:sp>
      <p:sp>
        <p:nvSpPr>
          <p:cNvPr id="33" name="Text 31"/>
          <p:cNvSpPr/>
          <p:nvPr/>
        </p:nvSpPr>
        <p:spPr>
          <a:xfrm>
            <a:off x="8046720" y="4919472"/>
            <a:ext cx="3246120" cy="566928"/>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change ConfigMap → files update</a:t>
            </a:r>
            <a:endParaRPr lang="en-US" sz="1050" dirty="0"/>
          </a:p>
        </p:txBody>
      </p:sp>
      <p:sp>
        <p:nvSpPr>
          <p:cNvPr id="34" name="Text 32"/>
          <p:cNvSpPr/>
          <p:nvPr/>
        </p:nvSpPr>
        <p:spPr>
          <a:xfrm>
            <a:off x="566928" y="5806440"/>
            <a:ext cx="11057839" cy="365760"/>
          </a:xfrm>
          <a:prstGeom prst="rect">
            <a:avLst/>
          </a:prstGeom>
          <a:noFill/>
          <a:ln/>
        </p:spPr>
        <p:txBody>
          <a:bodyPr wrap="square" lIns="0" tIns="0" rIns="0" bIns="0" rtlCol="0" anchor="ctr"/>
          <a:lstStyle/>
          <a:p>
            <a:pPr algn="ctr" indent="0" marL="0">
              <a:buNone/>
            </a:pPr>
            <a:r>
              <a:rPr lang="en-US" sz="1450" b="1" dirty="0">
                <a:solidFill>
                  <a:srgbClr val="F2A03D"/>
                </a:solidFill>
                <a:latin typeface="Calibri" pitchFamily="34" charset="0"/>
                <a:ea typeface="Calibri" pitchFamily="34" charset="-122"/>
                <a:cs typeface="Calibri" pitchFamily="34" charset="-120"/>
              </a:rPr>
              <a:t>Same source object. Two delivery paths. Only the mounted-files path changes under a running pod.</a:t>
            </a:r>
            <a:endParaRPr lang="en-US" sz="1450" dirty="0"/>
          </a:p>
        </p:txBody>
      </p:sp>
      <p:sp>
        <p:nvSpPr>
          <p:cNvPr id="35" name="Text 33"/>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3</a:t>
            </a:r>
            <a:endParaRPr lang="en-US" sz="900" dirty="0"/>
          </a:p>
        </p:txBody>
      </p:sp>
      <p:sp>
        <p:nvSpPr>
          <p:cNvPr id="36" name="Text 34"/>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6</a:t>
            </a:r>
            <a:endParaRPr lang="en-US" sz="900" dirty="0"/>
          </a:p>
        </p:txBody>
      </p:sp>
      <p:pic>
        <p:nvPicPr>
          <p:cNvPr id="37"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38"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39"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2592324"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259232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M3.1 · WORKED EXAMPLE</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env-var snapshot, demonstrated</a:t>
            </a:r>
            <a:endParaRPr lang="en-US" sz="3200" dirty="0"/>
          </a:p>
        </p:txBody>
      </p:sp>
      <p:sp>
        <p:nvSpPr>
          <p:cNvPr id="5" name="Text 3"/>
          <p:cNvSpPr/>
          <p:nvPr/>
        </p:nvSpPr>
        <p:spPr>
          <a:xfrm>
            <a:off x="566928" y="1737360"/>
            <a:ext cx="11057839" cy="384048"/>
          </a:xfrm>
          <a:prstGeom prst="rect">
            <a:avLst/>
          </a:prstGeom>
          <a:noFill/>
          <a:ln/>
        </p:spPr>
        <p:txBody>
          <a:bodyPr wrap="square" lIns="0" tIns="0" rIns="0" bIns="0" rtlCol="0" anchor="ctr"/>
          <a:lstStyle/>
          <a:p>
            <a:pPr indent="0" marL="0">
              <a:buNone/>
            </a:pPr>
            <a:r>
              <a:rPr lang="en-US" sz="1400" i="1" dirty="0">
                <a:solidFill>
                  <a:srgbClr val="F2A03D"/>
                </a:solidFill>
                <a:latin typeface="Calibri" pitchFamily="34" charset="0"/>
                <a:ea typeface="Calibri" pitchFamily="34" charset="-122"/>
                <a:cs typeface="Calibri" pitchFamily="34" charset="-120"/>
              </a:rPr>
              <a:t>Real sequence from L3.1 step 5. Nothing is broken — this is the design.</a:t>
            </a:r>
            <a:endParaRPr lang="en-US" sz="1400" dirty="0"/>
          </a:p>
        </p:txBody>
      </p:sp>
      <p:sp>
        <p:nvSpPr>
          <p:cNvPr id="6" name="Shape 4"/>
          <p:cNvSpPr/>
          <p:nvPr/>
        </p:nvSpPr>
        <p:spPr>
          <a:xfrm>
            <a:off x="566928" y="2249424"/>
            <a:ext cx="11057839" cy="3021330"/>
          </a:xfrm>
          <a:prstGeom prst="roundRect">
            <a:avLst>
              <a:gd name="adj" fmla="val 2421"/>
            </a:avLst>
          </a:prstGeom>
          <a:solidFill>
            <a:srgbClr val="0E2740"/>
          </a:solidFill>
          <a:ln w="12700">
            <a:solidFill>
              <a:srgbClr val="1B4066"/>
            </a:solidFill>
            <a:prstDash val="solid"/>
          </a:ln>
        </p:spPr>
      </p:sp>
      <p:sp>
        <p:nvSpPr>
          <p:cNvPr id="7" name="Shape 5"/>
          <p:cNvSpPr/>
          <p:nvPr/>
        </p:nvSpPr>
        <p:spPr>
          <a:xfrm>
            <a:off x="768096" y="2404872"/>
            <a:ext cx="118872" cy="118872"/>
          </a:xfrm>
          <a:prstGeom prst="ellipse">
            <a:avLst/>
          </a:prstGeom>
          <a:solidFill>
            <a:srgbClr val="D64545"/>
          </a:solidFill>
          <a:ln w="12700">
            <a:solidFill>
              <a:srgbClr val="D64545"/>
            </a:solidFill>
            <a:prstDash val="solid"/>
          </a:ln>
        </p:spPr>
      </p:sp>
      <p:sp>
        <p:nvSpPr>
          <p:cNvPr id="8" name="Shape 6"/>
          <p:cNvSpPr/>
          <p:nvPr/>
        </p:nvSpPr>
        <p:spPr>
          <a:xfrm>
            <a:off x="987552" y="2404872"/>
            <a:ext cx="118872" cy="118872"/>
          </a:xfrm>
          <a:prstGeom prst="ellipse">
            <a:avLst/>
          </a:prstGeom>
          <a:solidFill>
            <a:srgbClr val="F2A03D"/>
          </a:solidFill>
          <a:ln w="12700">
            <a:solidFill>
              <a:srgbClr val="F2A03D"/>
            </a:solidFill>
            <a:prstDash val="solid"/>
          </a:ln>
        </p:spPr>
      </p:sp>
      <p:sp>
        <p:nvSpPr>
          <p:cNvPr id="9" name="Shape 7"/>
          <p:cNvSpPr/>
          <p:nvPr/>
        </p:nvSpPr>
        <p:spPr>
          <a:xfrm>
            <a:off x="1207008" y="2404872"/>
            <a:ext cx="118872" cy="118872"/>
          </a:xfrm>
          <a:prstGeom prst="ellipse">
            <a:avLst/>
          </a:prstGeom>
          <a:solidFill>
            <a:srgbClr val="2E9E63"/>
          </a:solidFill>
          <a:ln w="12700">
            <a:solidFill>
              <a:srgbClr val="2E9E63"/>
            </a:solidFill>
            <a:prstDash val="solid"/>
          </a:ln>
        </p:spPr>
      </p:sp>
      <p:sp>
        <p:nvSpPr>
          <p:cNvPr id="10" name="Text 8"/>
          <p:cNvSpPr/>
          <p:nvPr/>
        </p:nvSpPr>
        <p:spPr>
          <a:xfrm>
            <a:off x="804672" y="2706624"/>
            <a:ext cx="10600639" cy="2381250"/>
          </a:xfrm>
          <a:prstGeom prst="rect">
            <a:avLst/>
          </a:prstGeom>
          <a:noFill/>
          <a:ln/>
        </p:spPr>
        <p:txBody>
          <a:bodyPr wrap="square" lIns="0" tIns="0" rIns="0" bIns="0" rtlCol="0" anchor="t"/>
          <a:lstStyle/>
          <a:p>
            <a:pPr indent="0" marL="0">
              <a:lnSpc>
                <a:spcPts val="1875"/>
              </a:lnSpc>
              <a:buNone/>
            </a:pPr>
            <a:r>
              <a:rPr lang="en-US" sz="1250" b="1" dirty="0">
                <a:solidFill>
                  <a:srgbClr val="F2A03D"/>
                </a:solidFill>
                <a:latin typeface="Courier New" pitchFamily="34" charset="0"/>
                <a:ea typeface="Courier New" pitchFamily="34" charset="-122"/>
                <a:cs typeface="Courier New" pitchFamily="34" charset="-120"/>
              </a:rPr>
              <a:t>$ kubectl patch configmap axispay-platform-config -n axispay-core \\</a:t>
            </a:r>
            <a:endParaRPr lang="en-US" sz="1250" dirty="0"/>
          </a:p>
          <a:p>
            <a:pPr indent="0" marL="0">
              <a:lnSpc>
                <a:spcPts val="1875"/>
              </a:lnSpc>
              <a:buNone/>
            </a:pPr>
            <a:r>
              <a:rPr lang="en-US" sz="1250" b="1" dirty="0">
                <a:solidFill>
                  <a:srgbClr val="F2A03D"/>
                </a:solidFill>
                <a:latin typeface="Courier New" pitchFamily="34" charset="0"/>
                <a:ea typeface="Courier New" pitchFamily="34" charset="-122"/>
                <a:cs typeface="Courier New" pitchFamily="34" charset="-120"/>
              </a:rPr>
              <a:t>    --type merge -p '{"data":{"LOG_LEVEL":"debug"}}'</a:t>
            </a:r>
            <a:endParaRPr lang="en-US" sz="1250" dirty="0"/>
          </a:p>
          <a:p>
            <a:pPr indent="0" marL="0">
              <a:lnSpc>
                <a:spcPts val="1875"/>
              </a:lnSpc>
              <a:buNone/>
            </a:pPr>
            <a:r>
              <a:rPr lang="en-US" sz="1250" dirty="0">
                <a:solidFill>
                  <a:srgbClr val="2E9E63"/>
                </a:solidFill>
                <a:latin typeface="Courier New" pitchFamily="34" charset="0"/>
                <a:ea typeface="Courier New" pitchFamily="34" charset="-122"/>
                <a:cs typeface="Courier New" pitchFamily="34" charset="-120"/>
              </a:rPr>
              <a:t>configmap/axispay-platform-config patched</a:t>
            </a:r>
            <a:endParaRPr lang="en-US" sz="1250" dirty="0"/>
          </a:p>
          <a:p>
            <a:pPr indent="0" marL="0">
              <a:lnSpc>
                <a:spcPts val="1875"/>
              </a:lnSpc>
              <a:buNone/>
            </a:pPr>
            <a:r>
              <a:rPr lang="en-US" sz="1250" dirty="0">
                <a:solidFill>
                  <a:srgbClr val="D8E6F2"/>
                </a:solidFill>
                <a:latin typeface="Courier New" pitchFamily="34" charset="0"/>
                <a:ea typeface="Courier New" pitchFamily="34" charset="-122"/>
                <a:cs typeface="Courier New" pitchFamily="34" charset="-120"/>
              </a:rPr>
              <a:t> </a:t>
            </a:r>
            <a:endParaRPr lang="en-US" sz="1250" dirty="0"/>
          </a:p>
          <a:p>
            <a:pPr indent="0" marL="0">
              <a:lnSpc>
                <a:spcPts val="1875"/>
              </a:lnSpc>
              <a:buNone/>
            </a:pPr>
            <a:r>
              <a:rPr lang="en-US" sz="1250" b="1" dirty="0">
                <a:solidFill>
                  <a:srgbClr val="F2A03D"/>
                </a:solidFill>
                <a:latin typeface="Courier New" pitchFamily="34" charset="0"/>
                <a:ea typeface="Courier New" pitchFamily="34" charset="-122"/>
                <a:cs typeface="Courier New" pitchFamily="34" charset="-120"/>
              </a:rPr>
              <a:t>$ sleep 20 &amp;&amp; kubectl exec -n axispay-core $POD -- printenv | grep LOG_LEVEL</a:t>
            </a:r>
            <a:endParaRPr lang="en-US" sz="1250" dirty="0"/>
          </a:p>
          <a:p>
            <a:pPr indent="0" marL="0">
              <a:lnSpc>
                <a:spcPts val="1875"/>
              </a:lnSpc>
              <a:buNone/>
            </a:pPr>
            <a:r>
              <a:rPr lang="en-US" sz="1250" dirty="0">
                <a:solidFill>
                  <a:srgbClr val="D64545"/>
                </a:solidFill>
                <a:latin typeface="Courier New" pitchFamily="34" charset="0"/>
                <a:ea typeface="Courier New" pitchFamily="34" charset="-122"/>
                <a:cs typeface="Courier New" pitchFamily="34" charset="-120"/>
              </a:rPr>
              <a:t>LOG_LEVEL=info                     &lt;- STILL info. No error. No warning.</a:t>
            </a:r>
            <a:endParaRPr lang="en-US" sz="1250" dirty="0"/>
          </a:p>
          <a:p>
            <a:pPr indent="0" marL="0">
              <a:lnSpc>
                <a:spcPts val="1875"/>
              </a:lnSpc>
              <a:buNone/>
            </a:pPr>
            <a:r>
              <a:rPr lang="en-US" sz="1250" dirty="0">
                <a:solidFill>
                  <a:srgbClr val="D8E6F2"/>
                </a:solidFill>
                <a:latin typeface="Courier New" pitchFamily="34" charset="0"/>
                <a:ea typeface="Courier New" pitchFamily="34" charset="-122"/>
                <a:cs typeface="Courier New" pitchFamily="34" charset="-120"/>
              </a:rPr>
              <a:t> </a:t>
            </a:r>
            <a:endParaRPr lang="en-US" sz="1250" dirty="0"/>
          </a:p>
          <a:p>
            <a:pPr indent="0" marL="0">
              <a:lnSpc>
                <a:spcPts val="1875"/>
              </a:lnSpc>
              <a:buNone/>
            </a:pPr>
            <a:r>
              <a:rPr lang="en-US" sz="1250" b="1" dirty="0">
                <a:solidFill>
                  <a:srgbClr val="F2A03D"/>
                </a:solidFill>
                <a:latin typeface="Courier New" pitchFamily="34" charset="0"/>
                <a:ea typeface="Courier New" pitchFamily="34" charset="-122"/>
                <a:cs typeface="Courier New" pitchFamily="34" charset="-120"/>
              </a:rPr>
              <a:t>$ kubectl rollout restart deployment/payment-service -n axispay-core</a:t>
            </a:r>
            <a:endParaRPr lang="en-US" sz="1250" dirty="0"/>
          </a:p>
          <a:p>
            <a:pPr indent="0" marL="0">
              <a:lnSpc>
                <a:spcPts val="1875"/>
              </a:lnSpc>
              <a:buNone/>
            </a:pPr>
            <a:r>
              <a:rPr lang="en-US" sz="1250" b="1" dirty="0">
                <a:solidFill>
                  <a:srgbClr val="F2A03D"/>
                </a:solidFill>
                <a:latin typeface="Courier New" pitchFamily="34" charset="0"/>
                <a:ea typeface="Courier New" pitchFamily="34" charset="-122"/>
                <a:cs typeface="Courier New" pitchFamily="34" charset="-120"/>
              </a:rPr>
              <a:t>$ kubectl exec -n axispay-core $POD -- printenv | grep LOG_LEVEL</a:t>
            </a:r>
            <a:endParaRPr lang="en-US" sz="1250" dirty="0"/>
          </a:p>
          <a:p>
            <a:pPr indent="0" marL="0">
              <a:lnSpc>
                <a:spcPts val="1875"/>
              </a:lnSpc>
              <a:buNone/>
            </a:pPr>
            <a:r>
              <a:rPr lang="en-US" sz="1250" dirty="0">
                <a:solidFill>
                  <a:srgbClr val="2E9E63"/>
                </a:solidFill>
                <a:latin typeface="Courier New" pitchFamily="34" charset="0"/>
                <a:ea typeface="Courier New" pitchFamily="34" charset="-122"/>
                <a:cs typeface="Courier New" pitchFamily="34" charset="-120"/>
              </a:rPr>
              <a:t>LOG_LEVEL=debug</a:t>
            </a:r>
            <a:endParaRPr lang="en-US" sz="1250" dirty="0"/>
          </a:p>
        </p:txBody>
      </p:sp>
      <p:sp>
        <p:nvSpPr>
          <p:cNvPr id="11" name="Text 9"/>
          <p:cNvSpPr/>
          <p:nvPr/>
        </p:nvSpPr>
        <p:spPr>
          <a:xfrm>
            <a:off x="566928" y="5435346"/>
            <a:ext cx="11057839" cy="457200"/>
          </a:xfrm>
          <a:prstGeom prst="rect">
            <a:avLst/>
          </a:prstGeom>
          <a:noFill/>
          <a:ln/>
        </p:spPr>
        <p:txBody>
          <a:bodyPr wrap="square" lIns="0" tIns="0" rIns="0" bIns="0" rtlCol="0" anchor="ctr"/>
          <a:lstStyle/>
          <a:p>
            <a:pPr indent="0" marL="0">
              <a:buNone/>
            </a:pPr>
            <a:r>
              <a:rPr lang="en-US" sz="1300" i="1" dirty="0">
                <a:solidFill>
                  <a:srgbClr val="D8E6F2"/>
                </a:solidFill>
                <a:latin typeface="Calibri" pitchFamily="34" charset="0"/>
                <a:ea typeface="Calibri" pitchFamily="34" charset="-122"/>
                <a:cs typeface="Calibri" pitchFamily="34" charset="-120"/>
              </a:rPr>
              <a:t>The env var was copied into the process when the container started. Changing the source afterwards changes nothing — and nothing tells you so.</a:t>
            </a:r>
            <a:endParaRPr lang="en-US" sz="1300" dirty="0"/>
          </a:p>
        </p:txBody>
      </p:sp>
      <p:sp>
        <p:nvSpPr>
          <p:cNvPr id="12" name="Text 10"/>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3</a:t>
            </a:r>
            <a:endParaRPr lang="en-US" sz="900" dirty="0"/>
          </a:p>
        </p:txBody>
      </p:sp>
      <p:sp>
        <p:nvSpPr>
          <p:cNvPr id="13" name="Text 11"/>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7</a:t>
            </a:r>
            <a:endParaRPr lang="en-US" sz="900" dirty="0"/>
          </a:p>
        </p:txBody>
      </p:sp>
      <p:pic>
        <p:nvPicPr>
          <p:cNvPr id="14"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5"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6"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435608" cy="292608"/>
          </a:xfrm>
          <a:prstGeom prst="roundRect">
            <a:avLst>
              <a:gd name="adj" fmla="val 50000"/>
            </a:avLst>
          </a:prstGeom>
          <a:solidFill>
            <a:srgbClr val="2E9E63"/>
          </a:solidFill>
          <a:ln w="12700">
            <a:solidFill>
              <a:srgbClr val="2E9E63"/>
            </a:solidFill>
            <a:prstDash val="solid"/>
          </a:ln>
        </p:spPr>
      </p:sp>
      <p:sp>
        <p:nvSpPr>
          <p:cNvPr id="3" name="Text 1"/>
          <p:cNvSpPr/>
          <p:nvPr/>
        </p:nvSpPr>
        <p:spPr>
          <a:xfrm>
            <a:off x="566928" y="384048"/>
            <a:ext cx="1435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GUIDED LAB</a:t>
            </a:r>
            <a:endParaRPr lang="en-US" sz="1100" dirty="0"/>
          </a:p>
        </p:txBody>
      </p:sp>
      <p:sp>
        <p:nvSpPr>
          <p:cNvPr id="4" name="Text 2"/>
          <p:cNvSpPr/>
          <p:nvPr/>
        </p:nvSpPr>
        <p:spPr>
          <a:xfrm>
            <a:off x="566928" y="914400"/>
            <a:ext cx="2743200" cy="777240"/>
          </a:xfrm>
          <a:prstGeom prst="rect">
            <a:avLst/>
          </a:prstGeom>
          <a:noFill/>
          <a:ln/>
        </p:spPr>
        <p:txBody>
          <a:bodyPr wrap="square" lIns="0" tIns="0" rIns="0" bIns="0" rtlCol="0" anchor="ctr"/>
          <a:lstStyle/>
          <a:p>
            <a:pPr indent="0" marL="0">
              <a:buNone/>
            </a:pPr>
            <a:r>
              <a:rPr lang="en-US" sz="4000" b="1" dirty="0">
                <a:solidFill>
                  <a:srgbClr val="2E9E63"/>
                </a:solidFill>
                <a:latin typeface="Cambria" pitchFamily="34" charset="0"/>
                <a:ea typeface="Cambria" pitchFamily="34" charset="-122"/>
                <a:cs typeface="Cambria" pitchFamily="34" charset="-120"/>
              </a:rPr>
              <a:t>L3.1</a:t>
            </a:r>
            <a:endParaRPr lang="en-US" sz="4000" dirty="0"/>
          </a:p>
        </p:txBody>
      </p:sp>
      <p:sp>
        <p:nvSpPr>
          <p:cNvPr id="5" name="Text 3"/>
          <p:cNvSpPr/>
          <p:nvPr/>
        </p:nvSpPr>
        <p:spPr>
          <a:xfrm>
            <a:off x="566928" y="1691640"/>
            <a:ext cx="11057839"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Externalising configuration</a:t>
            </a:r>
            <a:endParaRPr lang="en-US" sz="3000" dirty="0"/>
          </a:p>
        </p:txBody>
      </p:sp>
      <p:sp>
        <p:nvSpPr>
          <p:cNvPr id="6" name="Shape 4"/>
          <p:cNvSpPr/>
          <p:nvPr/>
        </p:nvSpPr>
        <p:spPr>
          <a:xfrm>
            <a:off x="566928" y="2560320"/>
            <a:ext cx="5577840" cy="2834640"/>
          </a:xfrm>
          <a:prstGeom prst="roundRect">
            <a:avLst>
              <a:gd name="adj" fmla="val 3226"/>
            </a:avLst>
          </a:prstGeom>
          <a:solidFill>
            <a:srgbClr val="12314F"/>
          </a:solidFill>
          <a:ln w="12700">
            <a:solidFill>
              <a:srgbClr val="1B4066"/>
            </a:solidFill>
            <a:prstDash val="solid"/>
          </a:ln>
        </p:spPr>
      </p:sp>
      <p:sp>
        <p:nvSpPr>
          <p:cNvPr id="7" name="Text 5"/>
          <p:cNvSpPr/>
          <p:nvPr/>
        </p:nvSpPr>
        <p:spPr>
          <a:xfrm>
            <a:off x="841248" y="2724912"/>
            <a:ext cx="5029200" cy="274320"/>
          </a:xfrm>
          <a:prstGeom prst="rect">
            <a:avLst/>
          </a:prstGeom>
          <a:noFill/>
          <a:ln/>
        </p:spPr>
        <p:txBody>
          <a:bodyPr wrap="square" lIns="0" tIns="0" rIns="0" bIns="0" rtlCol="0" anchor="ctr"/>
          <a:lstStyle/>
          <a:p>
            <a:pPr indent="0" marL="0">
              <a:buNone/>
            </a:pPr>
            <a:r>
              <a:rPr lang="en-US" sz="1000" b="1" spc="100" kern="0" dirty="0">
                <a:solidFill>
                  <a:srgbClr val="F2A03D"/>
                </a:solidFill>
                <a:latin typeface="Calibri" pitchFamily="34" charset="0"/>
                <a:ea typeface="Calibri" pitchFamily="34" charset="-122"/>
                <a:cs typeface="Calibri" pitchFamily="34" charset="-120"/>
              </a:rPr>
              <a:t>YOU WILL</a:t>
            </a:r>
            <a:endParaRPr lang="en-US" sz="1000" dirty="0"/>
          </a:p>
        </p:txBody>
      </p:sp>
      <p:sp>
        <p:nvSpPr>
          <p:cNvPr id="8" name="Text 6"/>
          <p:cNvSpPr/>
          <p:nvPr/>
        </p:nvSpPr>
        <p:spPr>
          <a:xfrm>
            <a:off x="886968" y="3017520"/>
            <a:ext cx="5029200" cy="219456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Move config out of eleven manifests into two ConfigMaps</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Consume as env vars, then prove they do NOT update live</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Mount as a volume and watch the file change with no restart</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Wire a checksum annotation so config changes become releases</a:t>
            </a:r>
            <a:endParaRPr lang="en-US" sz="1300" dirty="0"/>
          </a:p>
        </p:txBody>
      </p:sp>
      <p:sp>
        <p:nvSpPr>
          <p:cNvPr id="9" name="Shape 7"/>
          <p:cNvSpPr/>
          <p:nvPr/>
        </p:nvSpPr>
        <p:spPr>
          <a:xfrm>
            <a:off x="6464808" y="2560320"/>
            <a:ext cx="5120640" cy="2834640"/>
          </a:xfrm>
          <a:prstGeom prst="roundRect">
            <a:avLst>
              <a:gd name="adj" fmla="val 3226"/>
            </a:avLst>
          </a:prstGeom>
          <a:solidFill>
            <a:srgbClr val="12314F"/>
          </a:solidFill>
          <a:ln w="12700">
            <a:solidFill>
              <a:srgbClr val="1B4066"/>
            </a:solidFill>
            <a:prstDash val="solid"/>
          </a:ln>
        </p:spPr>
      </p:sp>
      <p:sp>
        <p:nvSpPr>
          <p:cNvPr id="10" name="Text 8"/>
          <p:cNvSpPr/>
          <p:nvPr/>
        </p:nvSpPr>
        <p:spPr>
          <a:xfrm>
            <a:off x="6739128" y="2724912"/>
            <a:ext cx="4572000" cy="274320"/>
          </a:xfrm>
          <a:prstGeom prst="rect">
            <a:avLst/>
          </a:prstGeom>
          <a:noFill/>
          <a:ln/>
        </p:spPr>
        <p:txBody>
          <a:bodyPr wrap="square" lIns="0" tIns="0" rIns="0" bIns="0" rtlCol="0" anchor="ctr"/>
          <a:lstStyle/>
          <a:p>
            <a:pPr indent="0" marL="0">
              <a:buNone/>
            </a:pPr>
            <a:r>
              <a:rPr lang="en-US" sz="1000" b="1" spc="100" kern="0" dirty="0">
                <a:solidFill>
                  <a:srgbClr val="2E9E63"/>
                </a:solidFill>
                <a:latin typeface="Calibri" pitchFamily="34" charset="0"/>
                <a:ea typeface="Calibri" pitchFamily="34" charset="-122"/>
                <a:cs typeface="Calibri" pitchFamily="34" charset="-120"/>
              </a:rPr>
              <a:t>DONE WHEN</a:t>
            </a:r>
            <a:endParaRPr lang="en-US" sz="1000" dirty="0"/>
          </a:p>
        </p:txBody>
      </p:sp>
      <p:sp>
        <p:nvSpPr>
          <p:cNvPr id="11" name="Text 9"/>
          <p:cNvSpPr/>
          <p:nvPr/>
        </p:nvSpPr>
        <p:spPr>
          <a:xfrm>
            <a:off x="6784848" y="3017520"/>
            <a:ext cx="4572000" cy="146304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Both ConfigMaps applied</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You can explain env vs volume propagation</a:t>
            </a:r>
            <a:endParaRPr lang="en-US" sz="1300" dirty="0"/>
          </a:p>
        </p:txBody>
      </p:sp>
      <p:sp>
        <p:nvSpPr>
          <p:cNvPr id="12" name="Shape 10"/>
          <p:cNvSpPr/>
          <p:nvPr/>
        </p:nvSpPr>
        <p:spPr>
          <a:xfrm>
            <a:off x="6739128" y="4617720"/>
            <a:ext cx="4572000" cy="566928"/>
          </a:xfrm>
          <a:prstGeom prst="roundRect">
            <a:avLst>
              <a:gd name="adj" fmla="val 12903"/>
            </a:avLst>
          </a:prstGeom>
          <a:solidFill>
            <a:srgbClr val="0E2740"/>
          </a:solidFill>
          <a:ln w="12700">
            <a:solidFill>
              <a:srgbClr val="1C7293"/>
            </a:solidFill>
            <a:prstDash val="solid"/>
          </a:ln>
        </p:spPr>
      </p:sp>
      <p:sp>
        <p:nvSpPr>
          <p:cNvPr id="13" name="Text 11"/>
          <p:cNvSpPr/>
          <p:nvPr/>
        </p:nvSpPr>
        <p:spPr>
          <a:xfrm>
            <a:off x="6876288" y="4617720"/>
            <a:ext cx="4297680" cy="566928"/>
          </a:xfrm>
          <a:prstGeom prst="rect">
            <a:avLst/>
          </a:prstGeom>
          <a:noFill/>
          <a:ln/>
        </p:spPr>
        <p:txBody>
          <a:bodyPr wrap="square" lIns="0" tIns="0" rIns="0" bIns="0" rtlCol="0" anchor="ctr"/>
          <a:lstStyle/>
          <a:p>
            <a:pPr indent="0" marL="0">
              <a:buNone/>
            </a:pPr>
            <a:r>
              <a:rPr lang="en-US" sz="1150" dirty="0">
                <a:solidFill>
                  <a:srgbClr val="F2A03D"/>
                </a:solidFill>
                <a:latin typeface="Courier New" pitchFamily="34" charset="0"/>
                <a:ea typeface="Courier New" pitchFamily="34" charset="-122"/>
                <a:cs typeface="Courier New" pitchFamily="34" charset="-120"/>
              </a:rPr>
              <a:t>make validate-lab LAB=L3.1</a:t>
            </a:r>
            <a:endParaRPr lang="en-US" sz="1150" dirty="0"/>
          </a:p>
        </p:txBody>
      </p:sp>
      <p:sp>
        <p:nvSpPr>
          <p:cNvPr id="14" name="Text 12"/>
          <p:cNvSpPr/>
          <p:nvPr/>
        </p:nvSpPr>
        <p:spPr>
          <a:xfrm>
            <a:off x="566928" y="5577840"/>
            <a:ext cx="11057839" cy="365760"/>
          </a:xfrm>
          <a:prstGeom prst="rect">
            <a:avLst/>
          </a:prstGeom>
          <a:noFill/>
          <a:ln/>
        </p:spPr>
        <p:txBody>
          <a:bodyPr wrap="square" lIns="0" tIns="0" rIns="0" bIns="0" rtlCol="0" anchor="ctr"/>
          <a:lstStyle/>
          <a:p>
            <a:pPr indent="0" marL="0">
              <a:buNone/>
            </a:pPr>
            <a:r>
              <a:rPr lang="en-US" sz="1200" dirty="0">
                <a:solidFill>
                  <a:srgbClr val="63758B"/>
                </a:solidFill>
                <a:latin typeface="Calibri" pitchFamily="34" charset="0"/>
                <a:ea typeface="Calibri" pitchFamily="34" charset="-122"/>
                <a:cs typeface="Calibri" pitchFamily="34" charset="-120"/>
              </a:rPr>
              <a:t>40 minutes   ·   labs/day3/L3.1-configmaps/</a:t>
            </a:r>
            <a:endParaRPr lang="en-US" sz="1200" dirty="0"/>
          </a:p>
        </p:txBody>
      </p:sp>
      <p:sp>
        <p:nvSpPr>
          <p:cNvPr id="15" name="Text 13"/>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3</a:t>
            </a:r>
            <a:endParaRPr lang="en-US" sz="900" dirty="0"/>
          </a:p>
        </p:txBody>
      </p:sp>
      <p:sp>
        <p:nvSpPr>
          <p:cNvPr id="16" name="Text 14"/>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8</a:t>
            </a:r>
            <a:endParaRPr lang="en-US" sz="900" dirty="0"/>
          </a:p>
        </p:txBody>
      </p:sp>
      <p:pic>
        <p:nvPicPr>
          <p:cNvPr id="17"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8"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9"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8351215" y="-1097280"/>
            <a:ext cx="5120640" cy="5120640"/>
          </a:xfrm>
          <a:prstGeom prst="ellipse">
            <a:avLst/>
          </a:prstGeom>
          <a:solidFill>
            <a:srgbClr val="12314F"/>
          </a:solidFill>
          <a:ln w="12700">
            <a:solidFill>
              <a:srgbClr val="12314F"/>
            </a:solidFill>
            <a:prstDash val="solid"/>
          </a:ln>
        </p:spPr>
      </p:sp>
      <p:sp>
        <p:nvSpPr>
          <p:cNvPr id="3" name="Text 1"/>
          <p:cNvSpPr/>
          <p:nvPr/>
        </p:nvSpPr>
        <p:spPr>
          <a:xfrm>
            <a:off x="566928" y="1600200"/>
            <a:ext cx="5669280" cy="1463040"/>
          </a:xfrm>
          <a:prstGeom prst="rect">
            <a:avLst/>
          </a:prstGeom>
          <a:noFill/>
          <a:ln/>
        </p:spPr>
        <p:txBody>
          <a:bodyPr wrap="square" lIns="0" tIns="0" rIns="0" bIns="0" rtlCol="0" anchor="ctr"/>
          <a:lstStyle/>
          <a:p>
            <a:pPr indent="0" marL="0">
              <a:buNone/>
            </a:pPr>
            <a:r>
              <a:rPr lang="en-US" sz="7600" b="1" dirty="0">
                <a:solidFill>
                  <a:srgbClr val="F2A03D"/>
                </a:solidFill>
                <a:latin typeface="Cambria" pitchFamily="34" charset="0"/>
                <a:ea typeface="Cambria" pitchFamily="34" charset="-122"/>
                <a:cs typeface="Cambria" pitchFamily="34" charset="-120"/>
              </a:rPr>
              <a:t>M3.2</a:t>
            </a:r>
            <a:endParaRPr lang="en-US" sz="7600" dirty="0"/>
          </a:p>
        </p:txBody>
      </p:sp>
      <p:sp>
        <p:nvSpPr>
          <p:cNvPr id="4" name="Text 2"/>
          <p:cNvSpPr/>
          <p:nvPr/>
        </p:nvSpPr>
        <p:spPr>
          <a:xfrm>
            <a:off x="566928" y="2971800"/>
            <a:ext cx="786384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Secrets</a:t>
            </a:r>
            <a:endParaRPr lang="en-US" sz="3800" dirty="0"/>
          </a:p>
        </p:txBody>
      </p:sp>
      <p:sp>
        <p:nvSpPr>
          <p:cNvPr id="5" name="Text 3"/>
          <p:cNvSpPr/>
          <p:nvPr/>
        </p:nvSpPr>
        <p:spPr>
          <a:xfrm>
            <a:off x="566928" y="3886200"/>
            <a:ext cx="7498080" cy="822960"/>
          </a:xfrm>
          <a:prstGeom prst="rect">
            <a:avLst/>
          </a:prstGeom>
          <a:noFill/>
          <a:ln/>
        </p:spPr>
        <p:txBody>
          <a:bodyPr wrap="square" lIns="0" tIns="0" rIns="0" bIns="0" rtlCol="0" anchor="ctr"/>
          <a:lstStyle/>
          <a:p>
            <a:pPr indent="0" marL="0">
              <a:buNone/>
            </a:pPr>
            <a:r>
              <a:rPr lang="en-US" sz="1500" dirty="0">
                <a:solidFill>
                  <a:srgbClr val="D8E6F2"/>
                </a:solidFill>
                <a:latin typeface="Calibri" pitchFamily="34" charset="0"/>
                <a:ea typeface="Calibri" pitchFamily="34" charset="-122"/>
                <a:cs typeface="Calibri" pitchFamily="34" charset="-120"/>
              </a:rPr>
              <a:t>And an honest account of what they do not protect</a:t>
            </a:r>
            <a:endParaRPr lang="en-US" sz="1500" dirty="0"/>
          </a:p>
        </p:txBody>
      </p:sp>
      <p:sp>
        <p:nvSpPr>
          <p:cNvPr id="6" name="Text 4"/>
          <p:cNvSpPr/>
          <p:nvPr/>
        </p:nvSpPr>
        <p:spPr>
          <a:xfrm>
            <a:off x="566928" y="4709160"/>
            <a:ext cx="7498080" cy="274320"/>
          </a:xfrm>
          <a:prstGeom prst="rect">
            <a:avLst/>
          </a:prstGeom>
          <a:noFill/>
          <a:ln/>
        </p:spPr>
        <p:txBody>
          <a:bodyPr wrap="square" lIns="0" tIns="0" rIns="0" bIns="0" rtlCol="0" anchor="ctr"/>
          <a:lstStyle/>
          <a:p>
            <a:pPr indent="0" marL="0">
              <a:buNone/>
            </a:pPr>
            <a:r>
              <a:rPr lang="en-US" sz="1100" b="1" dirty="0">
                <a:solidFill>
                  <a:srgbClr val="F2A03D"/>
                </a:solidFill>
                <a:latin typeface="Calibri" pitchFamily="34" charset="0"/>
                <a:ea typeface="Calibri" pitchFamily="34" charset="-122"/>
                <a:cs typeface="Calibri" pitchFamily="34" charset="-120"/>
              </a:rPr>
              <a:t>By the end of this module you will be able to:</a:t>
            </a:r>
            <a:endParaRPr lang="en-US" sz="1100" dirty="0"/>
          </a:p>
        </p:txBody>
      </p:sp>
      <p:sp>
        <p:nvSpPr>
          <p:cNvPr id="7" name="Text 5"/>
          <p:cNvSpPr/>
          <p:nvPr/>
        </p:nvSpPr>
        <p:spPr>
          <a:xfrm>
            <a:off x="658368" y="4983480"/>
            <a:ext cx="7498080" cy="10972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Create and consume Secrets as env vars and volumes</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State plainly that base64 is not encryption — having decoded one</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Name what actually protects a Secret</a:t>
            </a:r>
            <a:endParaRPr lang="en-US" sz="1200" dirty="0"/>
          </a:p>
        </p:txBody>
      </p:sp>
      <p:sp>
        <p:nvSpPr>
          <p:cNvPr id="8" name="Text 6"/>
          <p:cNvSpPr/>
          <p:nvPr/>
        </p:nvSpPr>
        <p:spPr>
          <a:xfrm>
            <a:off x="9814255" y="5989320"/>
            <a:ext cx="1828800" cy="320040"/>
          </a:xfrm>
          <a:prstGeom prst="rect">
            <a:avLst/>
          </a:prstGeom>
          <a:noFill/>
          <a:ln/>
        </p:spPr>
        <p:txBody>
          <a:bodyPr wrap="square" lIns="0" tIns="0" rIns="0" bIns="0" rtlCol="0" anchor="ctr"/>
          <a:lstStyle/>
          <a:p>
            <a:pPr algn="r" indent="0" marL="0">
              <a:buNone/>
            </a:pPr>
            <a:r>
              <a:rPr lang="en-US" sz="1100" dirty="0">
                <a:solidFill>
                  <a:srgbClr val="63758B"/>
                </a:solidFill>
                <a:latin typeface="Calibri" pitchFamily="34" charset="0"/>
                <a:ea typeface="Calibri" pitchFamily="34" charset="-122"/>
                <a:cs typeface="Calibri" pitchFamily="34" charset="-120"/>
              </a:rPr>
              <a:t>75 min</a:t>
            </a:r>
            <a:endParaRPr lang="en-US" sz="1100" dirty="0"/>
          </a:p>
        </p:txBody>
      </p:sp>
      <p:pic>
        <p:nvPicPr>
          <p:cNvPr id="9"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0"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1"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120140" cy="292608"/>
          </a:xfrm>
          <a:prstGeom prst="roundRect">
            <a:avLst>
              <a:gd name="adj" fmla="val 50000"/>
            </a:avLst>
          </a:prstGeom>
          <a:solidFill>
            <a:srgbClr val="D64545"/>
          </a:solidFill>
          <a:ln w="12700">
            <a:solidFill>
              <a:srgbClr val="D64545"/>
            </a:solidFill>
            <a:prstDash val="solid"/>
          </a:ln>
        </p:spPr>
      </p:sp>
      <p:sp>
        <p:nvSpPr>
          <p:cNvPr id="3" name="Text 1"/>
          <p:cNvSpPr/>
          <p:nvPr/>
        </p:nvSpPr>
        <p:spPr>
          <a:xfrm>
            <a:off x="566928" y="384048"/>
            <a:ext cx="112014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WARNING</a:t>
            </a:r>
            <a:endParaRPr lang="en-US" sz="1100" dirty="0"/>
          </a:p>
        </p:txBody>
      </p:sp>
      <p:sp>
        <p:nvSpPr>
          <p:cNvPr id="4" name="Shape 2"/>
          <p:cNvSpPr/>
          <p:nvPr/>
        </p:nvSpPr>
        <p:spPr>
          <a:xfrm>
            <a:off x="566928" y="1554480"/>
            <a:ext cx="11057839" cy="3017520"/>
          </a:xfrm>
          <a:prstGeom prst="roundRect">
            <a:avLst>
              <a:gd name="adj" fmla="val 3636"/>
            </a:avLst>
          </a:prstGeom>
          <a:solidFill>
            <a:srgbClr val="12314F"/>
          </a:solidFill>
          <a:ln w="12700">
            <a:solidFill>
              <a:srgbClr val="D64545"/>
            </a:solidFill>
            <a:prstDash val="solid"/>
          </a:ln>
        </p:spPr>
      </p:sp>
      <p:sp>
        <p:nvSpPr>
          <p:cNvPr id="5" name="Text 3"/>
          <p:cNvSpPr/>
          <p:nvPr/>
        </p:nvSpPr>
        <p:spPr>
          <a:xfrm>
            <a:off x="1115568" y="1920240"/>
            <a:ext cx="9960559" cy="1463040"/>
          </a:xfrm>
          <a:prstGeom prst="rect">
            <a:avLst/>
          </a:prstGeom>
          <a:noFill/>
          <a:ln/>
        </p:spPr>
        <p:txBody>
          <a:bodyPr wrap="square" lIns="0" tIns="0" rIns="0" bIns="0" rtlCol="0" anchor="ctr"/>
          <a:lstStyle/>
          <a:p>
            <a:pPr indent="0" marL="0">
              <a:lnSpc>
                <a:spcPts val="3800"/>
              </a:lnSpc>
              <a:buNone/>
            </a:pPr>
            <a:r>
              <a:rPr lang="en-US" sz="3000" b="1" dirty="0">
                <a:solidFill>
                  <a:srgbClr val="FFFFFF"/>
                </a:solidFill>
                <a:latin typeface="Cambria" pitchFamily="34" charset="0"/>
                <a:ea typeface="Cambria" pitchFamily="34" charset="-122"/>
                <a:cs typeface="Cambria" pitchFamily="34" charset="-120"/>
              </a:rPr>
              <a:t>A Kubernetes Secret is base64-ENCODED.</a:t>
            </a:r>
            <a:endParaRPr lang="en-US" sz="3000" dirty="0"/>
          </a:p>
          <a:p>
            <a:pPr indent="0" marL="0">
              <a:lnSpc>
                <a:spcPts val="3800"/>
              </a:lnSpc>
              <a:buNone/>
            </a:pPr>
            <a:r>
              <a:rPr lang="en-US" sz="3000" b="1" dirty="0">
                <a:solidFill>
                  <a:srgbClr val="FFFFFF"/>
                </a:solidFill>
                <a:latin typeface="Cambria" pitchFamily="34" charset="0"/>
                <a:ea typeface="Cambria" pitchFamily="34" charset="-122"/>
                <a:cs typeface="Cambria" pitchFamily="34" charset="-120"/>
              </a:rPr>
              <a:t>It is not encrypted.</a:t>
            </a:r>
            <a:endParaRPr lang="en-US" sz="3000" dirty="0"/>
          </a:p>
        </p:txBody>
      </p:sp>
      <p:sp>
        <p:nvSpPr>
          <p:cNvPr id="6" name="Text 4"/>
          <p:cNvSpPr/>
          <p:nvPr/>
        </p:nvSpPr>
        <p:spPr>
          <a:xfrm>
            <a:off x="1115568" y="3429000"/>
            <a:ext cx="9960559" cy="914400"/>
          </a:xfrm>
          <a:prstGeom prst="rect">
            <a:avLst/>
          </a:prstGeom>
          <a:noFill/>
          <a:ln/>
        </p:spPr>
        <p:txBody>
          <a:bodyPr wrap="square" lIns="0" tIns="0" rIns="0" bIns="0" rtlCol="0" anchor="ctr"/>
          <a:lstStyle/>
          <a:p>
            <a:pPr indent="0" marL="0">
              <a:lnSpc>
                <a:spcPts val="2100"/>
              </a:lnSpc>
              <a:buNone/>
            </a:pPr>
            <a:r>
              <a:rPr lang="en-US" sz="1500" dirty="0">
                <a:solidFill>
                  <a:srgbClr val="D8E6F2"/>
                </a:solidFill>
                <a:latin typeface="Calibri" pitchFamily="34" charset="0"/>
                <a:ea typeface="Calibri" pitchFamily="34" charset="-122"/>
                <a:cs typeface="Calibri" pitchFamily="34" charset="-120"/>
              </a:rPr>
              <a:t>There is no key, no algorithm, and nothing to break. `base64 -d` is a formatting change, not an attack. Anyone who can read the Secret object can read every value in it.</a:t>
            </a:r>
            <a:endParaRPr lang="en-US" sz="1500" dirty="0"/>
          </a:p>
        </p:txBody>
      </p:sp>
      <p:sp>
        <p:nvSpPr>
          <p:cNvPr id="7" name="Text 5"/>
          <p:cNvSpPr/>
          <p:nvPr/>
        </p:nvSpPr>
        <p:spPr>
          <a:xfrm>
            <a:off x="658368" y="4800600"/>
            <a:ext cx="11057839" cy="1188720"/>
          </a:xfrm>
          <a:prstGeom prst="rect">
            <a:avLst/>
          </a:prstGeom>
          <a:noFill/>
          <a:ln/>
        </p:spPr>
        <p:txBody>
          <a:bodyPr wrap="square" lIns="0" tIns="0" rIns="0" bIns="0" rtlCol="0" anchor="ctr"/>
          <a:lstStyle/>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In L3.2 step 3 you will decode the database password in ONE command.</a:t>
            </a:r>
            <a:endParaRPr lang="en-US" sz="1350" dirty="0"/>
          </a:p>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This is not a flaw you discovered. It is the documented design.</a:t>
            </a:r>
            <a:endParaRPr lang="en-US" sz="1350" dirty="0"/>
          </a:p>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What actually protects it: RBAC (who may `get secrets`), etcd encryption at rest, not mounting what you do not need, and an external secret manager.</a:t>
            </a:r>
            <a:endParaRPr lang="en-US" sz="1350" dirty="0"/>
          </a:p>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`kubectl describe secret` hides the values. That is a nicety, not a control.</a:t>
            </a:r>
            <a:endParaRPr lang="en-US" sz="1350" dirty="0"/>
          </a:p>
        </p:txBody>
      </p:sp>
      <p:sp>
        <p:nvSpPr>
          <p:cNvPr id="8" name="Text 6"/>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3</a:t>
            </a:r>
            <a:endParaRPr lang="en-US" sz="900" dirty="0"/>
          </a:p>
        </p:txBody>
      </p:sp>
      <p:sp>
        <p:nvSpPr>
          <p:cNvPr id="9" name="Text 7"/>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10</a:t>
            </a:r>
            <a:endParaRPr lang="en-US" sz="900" dirty="0"/>
          </a:p>
        </p:txBody>
      </p:sp>
      <p:pic>
        <p:nvPicPr>
          <p:cNvPr id="10"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1"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2"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1856232"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1856232"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M3.2 · SECRETS</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Why a volume beats an environment variable</a:t>
            </a:r>
            <a:endParaRPr lang="en-US" sz="3200" dirty="0"/>
          </a:p>
        </p:txBody>
      </p:sp>
      <p:sp>
        <p:nvSpPr>
          <p:cNvPr id="5" name="Text 3"/>
          <p:cNvSpPr/>
          <p:nvPr/>
        </p:nvSpPr>
        <p:spPr>
          <a:xfrm>
            <a:off x="566928" y="1737360"/>
            <a:ext cx="11057839" cy="457200"/>
          </a:xfrm>
          <a:prstGeom prst="rect">
            <a:avLst/>
          </a:prstGeom>
          <a:noFill/>
          <a:ln/>
        </p:spPr>
        <p:txBody>
          <a:bodyPr wrap="square" lIns="0" tIns="0" rIns="0" bIns="0" rtlCol="0" anchor="ctr"/>
          <a:lstStyle/>
          <a:p>
            <a:pPr indent="0" marL="0">
              <a:lnSpc>
                <a:spcPts val="1700"/>
              </a:lnSpc>
              <a:buNone/>
            </a:pPr>
            <a:r>
              <a:rPr lang="en-US" sz="1350" i="1" dirty="0">
                <a:solidFill>
                  <a:srgbClr val="1C7293"/>
                </a:solidFill>
                <a:latin typeface="Calibri" pitchFamily="34" charset="0"/>
                <a:ea typeface="Calibri" pitchFamily="34" charset="-122"/>
                <a:cs typeface="Calibri" pitchFamily="34" charset="-120"/>
              </a:rPr>
              <a:t>A Secret is a Kubernetes API object for sensitive string or binary data such as passwords, keys and certificates. It keeps credentials out of images and plain manifests, but real protection still comes from RBAC, careful mounting and etcd encryption at rest.</a:t>
            </a:r>
            <a:endParaRPr lang="en-US" sz="1350" dirty="0"/>
          </a:p>
        </p:txBody>
      </p:sp>
      <p:sp>
        <p:nvSpPr>
          <p:cNvPr id="6" name="Shape 4"/>
          <p:cNvSpPr/>
          <p:nvPr/>
        </p:nvSpPr>
        <p:spPr>
          <a:xfrm>
            <a:off x="566928" y="2249424"/>
            <a:ext cx="11057839" cy="566928"/>
          </a:xfrm>
          <a:prstGeom prst="roundRect">
            <a:avLst>
              <a:gd name="adj" fmla="val 12903"/>
            </a:avLst>
          </a:prstGeom>
          <a:solidFill>
            <a:srgbClr val="EAF1F8"/>
          </a:solidFill>
          <a:ln w="12700">
            <a:solidFill>
              <a:srgbClr val="1C7293"/>
            </a:solidFill>
            <a:prstDash val="solid"/>
          </a:ln>
        </p:spPr>
      </p:sp>
      <p:sp>
        <p:nvSpPr>
          <p:cNvPr id="7" name="Text 5"/>
          <p:cNvSpPr/>
          <p:nvPr/>
        </p:nvSpPr>
        <p:spPr>
          <a:xfrm>
            <a:off x="768096" y="2249424"/>
            <a:ext cx="10655503" cy="566928"/>
          </a:xfrm>
          <a:prstGeom prst="rect">
            <a:avLst/>
          </a:prstGeom>
          <a:noFill/>
          <a:ln/>
        </p:spPr>
        <p:txBody>
          <a:bodyPr wrap="square" lIns="0" tIns="0" rIns="0" bIns="0" rtlCol="0" anchor="ctr"/>
          <a:lstStyle/>
          <a:p>
            <a:pPr indent="0" marL="0">
              <a:buNone/>
            </a:pPr>
            <a:r>
              <a:rPr lang="en-US" sz="1500" b="1" dirty="0">
                <a:solidFill>
                  <a:srgbClr val="0B1F3A"/>
                </a:solidFill>
                <a:latin typeface="Cambria" pitchFamily="34" charset="0"/>
                <a:ea typeface="Cambria" pitchFamily="34" charset="-122"/>
                <a:cs typeface="Cambria" pitchFamily="34" charset="-120"/>
              </a:rPr>
              <a:t>Both work. Why does AxisPay mount database credentials as a file?</a:t>
            </a:r>
            <a:endParaRPr lang="en-US" sz="1500" dirty="0"/>
          </a:p>
        </p:txBody>
      </p:sp>
      <p:sp>
        <p:nvSpPr>
          <p:cNvPr id="8" name="Shape 6"/>
          <p:cNvSpPr/>
          <p:nvPr/>
        </p:nvSpPr>
        <p:spPr>
          <a:xfrm>
            <a:off x="566928" y="3160395"/>
            <a:ext cx="402336" cy="402336"/>
          </a:xfrm>
          <a:prstGeom prst="ellipse">
            <a:avLst/>
          </a:prstGeom>
          <a:solidFill>
            <a:srgbClr val="D64545"/>
          </a:solidFill>
          <a:ln w="12700">
            <a:solidFill>
              <a:srgbClr val="D64545"/>
            </a:solidFill>
            <a:prstDash val="solid"/>
          </a:ln>
        </p:spPr>
      </p:sp>
      <p:sp>
        <p:nvSpPr>
          <p:cNvPr id="9" name="Text 7"/>
          <p:cNvSpPr/>
          <p:nvPr/>
        </p:nvSpPr>
        <p:spPr>
          <a:xfrm>
            <a:off x="566928" y="3160395"/>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0" name="Text 8"/>
          <p:cNvSpPr/>
          <p:nvPr/>
        </p:nvSpPr>
        <p:spPr>
          <a:xfrm>
            <a:off x="1133856" y="2999232"/>
            <a:ext cx="3200400" cy="724662"/>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Generic env inheritance</a:t>
            </a:r>
            <a:endParaRPr lang="en-US" sz="1400" dirty="0"/>
          </a:p>
        </p:txBody>
      </p:sp>
      <p:sp>
        <p:nvSpPr>
          <p:cNvPr id="11" name="Text 9"/>
          <p:cNvSpPr/>
          <p:nvPr/>
        </p:nvSpPr>
        <p:spPr>
          <a:xfrm>
            <a:off x="4407408" y="2999232"/>
            <a:ext cx="7217359" cy="724662"/>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A generic app that receives DATABASE_PASSWORD as an env var also gives it to child processes. Shell-outs, helper tools and debuggers can all read the credential because the process environment is part of their startup state.</a:t>
            </a:r>
            <a:endParaRPr lang="en-US" sz="1250" dirty="0"/>
          </a:p>
        </p:txBody>
      </p:sp>
      <p:sp>
        <p:nvSpPr>
          <p:cNvPr id="12" name="Shape 10"/>
          <p:cNvSpPr/>
          <p:nvPr/>
        </p:nvSpPr>
        <p:spPr>
          <a:xfrm>
            <a:off x="566928" y="3885057"/>
            <a:ext cx="402336" cy="402336"/>
          </a:xfrm>
          <a:prstGeom prst="ellipse">
            <a:avLst/>
          </a:prstGeom>
          <a:solidFill>
            <a:srgbClr val="1C7293"/>
          </a:solidFill>
          <a:ln w="12700">
            <a:solidFill>
              <a:srgbClr val="1C7293"/>
            </a:solidFill>
            <a:prstDash val="solid"/>
          </a:ln>
        </p:spPr>
      </p:sp>
      <p:sp>
        <p:nvSpPr>
          <p:cNvPr id="13" name="Text 11"/>
          <p:cNvSpPr/>
          <p:nvPr/>
        </p:nvSpPr>
        <p:spPr>
          <a:xfrm>
            <a:off x="566928" y="3885057"/>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4" name="Text 12"/>
          <p:cNvSpPr/>
          <p:nvPr/>
        </p:nvSpPr>
        <p:spPr>
          <a:xfrm>
            <a:off x="1133856" y="3723894"/>
            <a:ext cx="3200400" cy="724662"/>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Generic file mount</a:t>
            </a:r>
            <a:endParaRPr lang="en-US" sz="1400" dirty="0"/>
          </a:p>
        </p:txBody>
      </p:sp>
      <p:sp>
        <p:nvSpPr>
          <p:cNvPr id="15" name="Text 13"/>
          <p:cNvSpPr/>
          <p:nvPr/>
        </p:nvSpPr>
        <p:spPr>
          <a:xfrm>
            <a:off x="4407408" y="3723894"/>
            <a:ext cx="7217359" cy="724662"/>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A Secret volume narrows exposure to code that actually opens the file. There is no inherited environment block, less accidental capture in diagnostics, and Kubernetes mounts Secret volumes from tmpfs rather than the node's disk.</a:t>
            </a:r>
            <a:endParaRPr lang="en-US" sz="1250" dirty="0"/>
          </a:p>
        </p:txBody>
      </p:sp>
      <p:sp>
        <p:nvSpPr>
          <p:cNvPr id="16" name="Shape 14"/>
          <p:cNvSpPr/>
          <p:nvPr/>
        </p:nvSpPr>
        <p:spPr>
          <a:xfrm>
            <a:off x="566928" y="4609719"/>
            <a:ext cx="402336" cy="402336"/>
          </a:xfrm>
          <a:prstGeom prst="ellipse">
            <a:avLst/>
          </a:prstGeom>
          <a:solidFill>
            <a:srgbClr val="D64545"/>
          </a:solidFill>
          <a:ln w="12700">
            <a:solidFill>
              <a:srgbClr val="D64545"/>
            </a:solidFill>
            <a:prstDash val="solid"/>
          </a:ln>
        </p:spPr>
      </p:sp>
      <p:sp>
        <p:nvSpPr>
          <p:cNvPr id="17" name="Text 15"/>
          <p:cNvSpPr/>
          <p:nvPr/>
        </p:nvSpPr>
        <p:spPr>
          <a:xfrm>
            <a:off x="566928" y="4609719"/>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8" name="Text 16"/>
          <p:cNvSpPr/>
          <p:nvPr/>
        </p:nvSpPr>
        <p:spPr>
          <a:xfrm>
            <a:off x="1133856" y="4448556"/>
            <a:ext cx="3200400" cy="724662"/>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AxisPay Day 1 mistake</a:t>
            </a:r>
            <a:endParaRPr lang="en-US" sz="1400" dirty="0"/>
          </a:p>
        </p:txBody>
      </p:sp>
      <p:sp>
        <p:nvSpPr>
          <p:cNvPr id="19" name="Text 17"/>
          <p:cNvSpPr/>
          <p:nvPr/>
        </p:nvSpPr>
        <p:spPr>
          <a:xfrm>
            <a:off x="4407408" y="4448556"/>
            <a:ext cx="7217359" cy="724662"/>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AxisPay used to place the JWT signing key in a plain env var. With `value:` that leaks straight into `kubectl describe pod` for anyone who can read pods, which is exactly the platform smell this module removes.</a:t>
            </a:r>
            <a:endParaRPr lang="en-US" sz="1250" dirty="0"/>
          </a:p>
        </p:txBody>
      </p:sp>
      <p:sp>
        <p:nvSpPr>
          <p:cNvPr id="20" name="Shape 18"/>
          <p:cNvSpPr/>
          <p:nvPr/>
        </p:nvSpPr>
        <p:spPr>
          <a:xfrm>
            <a:off x="566928" y="5334381"/>
            <a:ext cx="402336" cy="402336"/>
          </a:xfrm>
          <a:prstGeom prst="ellipse">
            <a:avLst/>
          </a:prstGeom>
          <a:solidFill>
            <a:srgbClr val="2E9E63"/>
          </a:solidFill>
          <a:ln w="12700">
            <a:solidFill>
              <a:srgbClr val="2E9E63"/>
            </a:solidFill>
            <a:prstDash val="solid"/>
          </a:ln>
        </p:spPr>
      </p:sp>
      <p:sp>
        <p:nvSpPr>
          <p:cNvPr id="21" name="Text 19"/>
          <p:cNvSpPr/>
          <p:nvPr/>
        </p:nvSpPr>
        <p:spPr>
          <a:xfrm>
            <a:off x="566928" y="5334381"/>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2" name="Text 20"/>
          <p:cNvSpPr/>
          <p:nvPr/>
        </p:nvSpPr>
        <p:spPr>
          <a:xfrm>
            <a:off x="1133856" y="5173218"/>
            <a:ext cx="3200400" cy="724662"/>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AxisPay preferred path</a:t>
            </a:r>
            <a:endParaRPr lang="en-US" sz="1400" dirty="0"/>
          </a:p>
        </p:txBody>
      </p:sp>
      <p:sp>
        <p:nvSpPr>
          <p:cNvPr id="23" name="Text 21"/>
          <p:cNvSpPr/>
          <p:nvPr/>
        </p:nvSpPr>
        <p:spPr>
          <a:xfrm>
            <a:off x="4407408" y="5173218"/>
            <a:ext cx="7217359" cy="724662"/>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AxisPay now mounts database credentials and signing material as read-only files, typically mode 0400. The app reads them once, fewer tools can leak them accidentally and a crash dump is far less likely to spray secrets everywhere.</a:t>
            </a:r>
            <a:endParaRPr lang="en-US" sz="1250" dirty="0"/>
          </a:p>
        </p:txBody>
      </p:sp>
      <p:sp>
        <p:nvSpPr>
          <p:cNvPr id="24" name="Text 22"/>
          <p:cNvSpPr/>
          <p:nvPr/>
        </p:nvSpPr>
        <p:spPr>
          <a:xfrm>
            <a:off x="566928" y="5687568"/>
            <a:ext cx="11057839" cy="548640"/>
          </a:xfrm>
          <a:prstGeom prst="rect">
            <a:avLst/>
          </a:prstGeom>
          <a:noFill/>
          <a:ln/>
        </p:spPr>
        <p:txBody>
          <a:bodyPr wrap="square" lIns="0" tIns="0" rIns="0" bIns="0" rtlCol="0" anchor="ctr"/>
          <a:lstStyle/>
          <a:p>
            <a:pPr algn="ctr" indent="0" marL="0">
              <a:buNone/>
            </a:pPr>
            <a:r>
              <a:rPr lang="en-US" sz="1400" b="1" dirty="0">
                <a:solidFill>
                  <a:srgbClr val="1C7293"/>
                </a:solidFill>
                <a:latin typeface="Calibri" pitchFamily="34" charset="0"/>
                <a:ea typeface="Calibri" pitchFamily="34" charset="-122"/>
                <a:cs typeface="Calibri" pitchFamily="34" charset="-120"/>
              </a:rPr>
              <a:t>Mount mode 0400. Read-only, owner only. It still is not encrypted — but far fewer things can accidentally read it.</a:t>
            </a:r>
            <a:endParaRPr lang="en-US" sz="1400" dirty="0"/>
          </a:p>
        </p:txBody>
      </p:sp>
      <p:sp>
        <p:nvSpPr>
          <p:cNvPr id="25" name="Text 23"/>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3</a:t>
            </a:r>
            <a:endParaRPr lang="en-US" sz="900" dirty="0"/>
          </a:p>
        </p:txBody>
      </p:sp>
      <p:sp>
        <p:nvSpPr>
          <p:cNvPr id="26" name="Text 24"/>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11</a:t>
            </a:r>
            <a:endParaRPr lang="en-US" sz="900" dirty="0"/>
          </a:p>
        </p:txBody>
      </p:sp>
      <p:pic>
        <p:nvPicPr>
          <p:cNvPr id="27"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28"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29"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856232" cy="292608"/>
          </a:xfrm>
          <a:prstGeom prst="roundRect">
            <a:avLst>
              <a:gd name="adj" fmla="val 50000"/>
            </a:avLst>
          </a:prstGeom>
          <a:solidFill>
            <a:srgbClr val="C97B1E"/>
          </a:solidFill>
          <a:ln w="12700">
            <a:solidFill>
              <a:srgbClr val="C97B1E"/>
            </a:solidFill>
            <a:prstDash val="solid"/>
          </a:ln>
        </p:spPr>
      </p:sp>
      <p:sp>
        <p:nvSpPr>
          <p:cNvPr id="3" name="Text 1"/>
          <p:cNvSpPr/>
          <p:nvPr/>
        </p:nvSpPr>
        <p:spPr>
          <a:xfrm>
            <a:off x="566928" y="384048"/>
            <a:ext cx="1856232"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M3.2 · DIAGRAM</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ConfigMap and Secret — same API pattern, different risk</a:t>
            </a:r>
            <a:endParaRPr lang="en-US" sz="3200" dirty="0"/>
          </a:p>
        </p:txBody>
      </p:sp>
      <p:sp>
        <p:nvSpPr>
          <p:cNvPr id="5" name="Shape 3"/>
          <p:cNvSpPr/>
          <p:nvPr/>
        </p:nvSpPr>
        <p:spPr>
          <a:xfrm>
            <a:off x="914400" y="1828800"/>
            <a:ext cx="3749040" cy="1051560"/>
          </a:xfrm>
          <a:prstGeom prst="roundRect">
            <a:avLst>
              <a:gd name="adj" fmla="val 6957"/>
            </a:avLst>
          </a:prstGeom>
          <a:solidFill>
            <a:srgbClr val="1C7293"/>
          </a:solidFill>
          <a:ln w="12700">
            <a:solidFill>
              <a:srgbClr val="1C7293"/>
            </a:solidFill>
            <a:prstDash val="solid"/>
          </a:ln>
        </p:spPr>
      </p:sp>
      <p:sp>
        <p:nvSpPr>
          <p:cNvPr id="6" name="Text 4"/>
          <p:cNvSpPr/>
          <p:nvPr/>
        </p:nvSpPr>
        <p:spPr>
          <a:xfrm>
            <a:off x="987552" y="1938528"/>
            <a:ext cx="3602736" cy="48371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ConfigMap</a:t>
            </a:r>
            <a:endParaRPr lang="en-US" sz="1400" dirty="0"/>
          </a:p>
        </p:txBody>
      </p:sp>
      <p:sp>
        <p:nvSpPr>
          <p:cNvPr id="7" name="Text 5"/>
          <p:cNvSpPr/>
          <p:nvPr/>
        </p:nvSpPr>
        <p:spPr>
          <a:xfrm>
            <a:off x="987552" y="2354580"/>
            <a:ext cx="3602736" cy="462686"/>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web-config</a:t>
            </a:r>
            <a:endParaRPr lang="en-US" sz="1050" dirty="0"/>
          </a:p>
        </p:txBody>
      </p:sp>
      <p:sp>
        <p:nvSpPr>
          <p:cNvPr id="8" name="Shape 6"/>
          <p:cNvSpPr/>
          <p:nvPr/>
        </p:nvSpPr>
        <p:spPr>
          <a:xfrm>
            <a:off x="7498080" y="1828800"/>
            <a:ext cx="3749040" cy="1051560"/>
          </a:xfrm>
          <a:prstGeom prst="roundRect">
            <a:avLst>
              <a:gd name="adj" fmla="val 6957"/>
            </a:avLst>
          </a:prstGeom>
          <a:solidFill>
            <a:srgbClr val="D64545"/>
          </a:solidFill>
          <a:ln w="12700">
            <a:solidFill>
              <a:srgbClr val="D64545"/>
            </a:solidFill>
            <a:prstDash val="solid"/>
          </a:ln>
        </p:spPr>
      </p:sp>
      <p:sp>
        <p:nvSpPr>
          <p:cNvPr id="9" name="Text 7"/>
          <p:cNvSpPr/>
          <p:nvPr/>
        </p:nvSpPr>
        <p:spPr>
          <a:xfrm>
            <a:off x="7571232" y="1938528"/>
            <a:ext cx="3602736" cy="48371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Secret</a:t>
            </a:r>
            <a:endParaRPr lang="en-US" sz="1400" dirty="0"/>
          </a:p>
        </p:txBody>
      </p:sp>
      <p:sp>
        <p:nvSpPr>
          <p:cNvPr id="10" name="Text 8"/>
          <p:cNvSpPr/>
          <p:nvPr/>
        </p:nvSpPr>
        <p:spPr>
          <a:xfrm>
            <a:off x="7571232" y="2354580"/>
            <a:ext cx="3602736" cy="462686"/>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db-secret</a:t>
            </a:r>
            <a:endParaRPr lang="en-US" sz="1050" dirty="0"/>
          </a:p>
        </p:txBody>
      </p:sp>
      <p:sp>
        <p:nvSpPr>
          <p:cNvPr id="11" name="Shape 9"/>
          <p:cNvSpPr/>
          <p:nvPr/>
        </p:nvSpPr>
        <p:spPr>
          <a:xfrm>
            <a:off x="914400" y="3154680"/>
            <a:ext cx="3749040" cy="1234440"/>
          </a:xfrm>
          <a:prstGeom prst="roundRect">
            <a:avLst>
              <a:gd name="adj" fmla="val 5926"/>
            </a:avLst>
          </a:prstGeom>
          <a:solidFill>
            <a:srgbClr val="1B4066"/>
          </a:solidFill>
          <a:ln w="12700">
            <a:solidFill>
              <a:srgbClr val="1B4066"/>
            </a:solidFill>
            <a:prstDash val="solid"/>
          </a:ln>
        </p:spPr>
      </p:sp>
      <p:sp>
        <p:nvSpPr>
          <p:cNvPr id="12" name="Text 10"/>
          <p:cNvSpPr/>
          <p:nvPr/>
        </p:nvSpPr>
        <p:spPr>
          <a:xfrm>
            <a:off x="987552" y="3264408"/>
            <a:ext cx="3602736" cy="56784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plain data keys</a:t>
            </a:r>
            <a:endParaRPr lang="en-US" sz="1400" dirty="0"/>
          </a:p>
        </p:txBody>
      </p:sp>
      <p:sp>
        <p:nvSpPr>
          <p:cNvPr id="13" name="Text 11"/>
          <p:cNvSpPr/>
          <p:nvPr/>
        </p:nvSpPr>
        <p:spPr>
          <a:xfrm>
            <a:off x="987552" y="3771900"/>
            <a:ext cx="3602736" cy="543154"/>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HOST · PORT · FEATURE_FLAG</a:t>
            </a:r>
            <a:endParaRPr lang="en-US" sz="1050" dirty="0"/>
          </a:p>
        </p:txBody>
      </p:sp>
      <p:sp>
        <p:nvSpPr>
          <p:cNvPr id="14" name="Shape 12"/>
          <p:cNvSpPr/>
          <p:nvPr/>
        </p:nvSpPr>
        <p:spPr>
          <a:xfrm>
            <a:off x="7498080" y="3154680"/>
            <a:ext cx="3749040" cy="1234440"/>
          </a:xfrm>
          <a:prstGeom prst="roundRect">
            <a:avLst>
              <a:gd name="adj" fmla="val 5926"/>
            </a:avLst>
          </a:prstGeom>
          <a:solidFill>
            <a:srgbClr val="1B4066"/>
          </a:solidFill>
          <a:ln w="12700">
            <a:solidFill>
              <a:srgbClr val="1B4066"/>
            </a:solidFill>
            <a:prstDash val="solid"/>
          </a:ln>
        </p:spPr>
      </p:sp>
      <p:sp>
        <p:nvSpPr>
          <p:cNvPr id="15" name="Text 13"/>
          <p:cNvSpPr/>
          <p:nvPr/>
        </p:nvSpPr>
        <p:spPr>
          <a:xfrm>
            <a:off x="7571232" y="3264408"/>
            <a:ext cx="3602736" cy="56784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sensitive keys</a:t>
            </a:r>
            <a:endParaRPr lang="en-US" sz="1400" dirty="0"/>
          </a:p>
        </p:txBody>
      </p:sp>
      <p:sp>
        <p:nvSpPr>
          <p:cNvPr id="16" name="Text 14"/>
          <p:cNvSpPr/>
          <p:nvPr/>
        </p:nvSpPr>
        <p:spPr>
          <a:xfrm>
            <a:off x="7571232" y="3771900"/>
            <a:ext cx="3602736" cy="543154"/>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username · password · tls.key</a:t>
            </a:r>
            <a:endParaRPr lang="en-US" sz="1050" dirty="0"/>
          </a:p>
        </p:txBody>
      </p:sp>
      <p:sp>
        <p:nvSpPr>
          <p:cNvPr id="17" name="Shape 15"/>
          <p:cNvSpPr/>
          <p:nvPr/>
        </p:nvSpPr>
        <p:spPr>
          <a:xfrm>
            <a:off x="4526280" y="4572000"/>
            <a:ext cx="3017520" cy="749808"/>
          </a:xfrm>
          <a:prstGeom prst="roundRect">
            <a:avLst>
              <a:gd name="adj" fmla="val 9756"/>
            </a:avLst>
          </a:prstGeom>
          <a:solidFill>
            <a:srgbClr val="2E9E63"/>
          </a:solidFill>
          <a:ln w="12700">
            <a:solidFill>
              <a:srgbClr val="2E9E63"/>
            </a:solidFill>
            <a:prstDash val="solid"/>
          </a:ln>
        </p:spPr>
      </p:sp>
      <p:sp>
        <p:nvSpPr>
          <p:cNvPr id="18" name="Text 16"/>
          <p:cNvSpPr/>
          <p:nvPr/>
        </p:nvSpPr>
        <p:spPr>
          <a:xfrm>
            <a:off x="4599432" y="4681728"/>
            <a:ext cx="2871216" cy="34491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Pod</a:t>
            </a:r>
            <a:endParaRPr lang="en-US" sz="1400" dirty="0"/>
          </a:p>
        </p:txBody>
      </p:sp>
      <p:sp>
        <p:nvSpPr>
          <p:cNvPr id="19" name="Text 17"/>
          <p:cNvSpPr/>
          <p:nvPr/>
        </p:nvSpPr>
        <p:spPr>
          <a:xfrm>
            <a:off x="4599432" y="4946904"/>
            <a:ext cx="2871216" cy="329916"/>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mount or inject selectively</a:t>
            </a:r>
            <a:endParaRPr lang="en-US" sz="1050" dirty="0"/>
          </a:p>
        </p:txBody>
      </p:sp>
      <p:sp>
        <p:nvSpPr>
          <p:cNvPr id="20" name="Shape 18"/>
          <p:cNvSpPr/>
          <p:nvPr/>
        </p:nvSpPr>
        <p:spPr>
          <a:xfrm>
            <a:off x="2788920" y="4498848"/>
            <a:ext cx="1828800" cy="73152"/>
          </a:xfrm>
          <a:prstGeom prst="line">
            <a:avLst/>
          </a:prstGeom>
          <a:noFill/>
          <a:ln w="25400">
            <a:solidFill>
              <a:srgbClr val="1C7293"/>
            </a:solidFill>
            <a:prstDash val="solid"/>
            <a:tailEnd type="triangle"/>
          </a:ln>
        </p:spPr>
      </p:sp>
      <p:sp>
        <p:nvSpPr>
          <p:cNvPr id="21" name="Text 19"/>
          <p:cNvSpPr/>
          <p:nvPr/>
        </p:nvSpPr>
        <p:spPr>
          <a:xfrm>
            <a:off x="2331720" y="4151376"/>
            <a:ext cx="2743200" cy="310896"/>
          </a:xfrm>
          <a:prstGeom prst="rect">
            <a:avLst/>
          </a:prstGeom>
          <a:noFill/>
          <a:ln/>
        </p:spPr>
        <p:txBody>
          <a:bodyPr wrap="square" lIns="0" tIns="0" rIns="0" bIns="0" rtlCol="0" anchor="ctr"/>
          <a:lstStyle/>
          <a:p>
            <a:pPr algn="ctr" indent="0" marL="0">
              <a:buNone/>
            </a:pPr>
            <a:r>
              <a:rPr lang="en-US" sz="1000" b="1" dirty="0">
                <a:solidFill>
                  <a:srgbClr val="1C7293"/>
                </a:solidFill>
                <a:latin typeface="Calibri" pitchFamily="34" charset="0"/>
                <a:ea typeface="Calibri" pitchFamily="34" charset="-122"/>
                <a:cs typeface="Calibri" pitchFamily="34" charset="-120"/>
              </a:rPr>
              <a:t>non-confidential</a:t>
            </a:r>
            <a:endParaRPr lang="en-US" sz="1000" dirty="0"/>
          </a:p>
        </p:txBody>
      </p:sp>
      <p:sp>
        <p:nvSpPr>
          <p:cNvPr id="22" name="Shape 20"/>
          <p:cNvSpPr/>
          <p:nvPr/>
        </p:nvSpPr>
        <p:spPr>
          <a:xfrm>
            <a:off x="9372600" y="4498848"/>
            <a:ext cx="-1828800" cy="73152"/>
          </a:xfrm>
          <a:prstGeom prst="line">
            <a:avLst/>
          </a:prstGeom>
          <a:noFill/>
          <a:ln w="25400">
            <a:solidFill>
              <a:srgbClr val="D64545"/>
            </a:solidFill>
            <a:prstDash val="solid"/>
            <a:tailEnd type="triangle"/>
          </a:ln>
        </p:spPr>
      </p:sp>
      <p:sp>
        <p:nvSpPr>
          <p:cNvPr id="23" name="Text 21"/>
          <p:cNvSpPr/>
          <p:nvPr/>
        </p:nvSpPr>
        <p:spPr>
          <a:xfrm>
            <a:off x="8915400" y="4151376"/>
            <a:ext cx="2743200" cy="310896"/>
          </a:xfrm>
          <a:prstGeom prst="rect">
            <a:avLst/>
          </a:prstGeom>
          <a:noFill/>
          <a:ln/>
        </p:spPr>
        <p:txBody>
          <a:bodyPr wrap="square" lIns="0" tIns="0" rIns="0" bIns="0" rtlCol="0" anchor="ctr"/>
          <a:lstStyle/>
          <a:p>
            <a:pPr algn="ctr" indent="0" marL="0">
              <a:buNone/>
            </a:pPr>
            <a:r>
              <a:rPr lang="en-US" sz="1000" b="1" dirty="0">
                <a:solidFill>
                  <a:srgbClr val="D64545"/>
                </a:solidFill>
                <a:latin typeface="Calibri" pitchFamily="34" charset="0"/>
                <a:ea typeface="Calibri" pitchFamily="34" charset="-122"/>
                <a:cs typeface="Calibri" pitchFamily="34" charset="-120"/>
              </a:rPr>
              <a:t>sensitive</a:t>
            </a:r>
            <a:endParaRPr lang="en-US" sz="1000" dirty="0"/>
          </a:p>
        </p:txBody>
      </p:sp>
      <p:sp>
        <p:nvSpPr>
          <p:cNvPr id="24" name="Text 22"/>
          <p:cNvSpPr/>
          <p:nvPr/>
        </p:nvSpPr>
        <p:spPr>
          <a:xfrm>
            <a:off x="1143000" y="4526280"/>
            <a:ext cx="3291840" cy="274320"/>
          </a:xfrm>
          <a:prstGeom prst="rect">
            <a:avLst/>
          </a:prstGeom>
          <a:noFill/>
          <a:ln/>
        </p:spPr>
        <p:txBody>
          <a:bodyPr wrap="square" lIns="0" tIns="0" rIns="0" bIns="0" rtlCol="0" anchor="ctr"/>
          <a:lstStyle/>
          <a:p>
            <a:pPr algn="ctr" indent="0" marL="0">
              <a:buNone/>
            </a:pPr>
            <a:r>
              <a:rPr lang="en-US" sz="1050" b="1" dirty="0">
                <a:solidFill>
                  <a:srgbClr val="1C7293"/>
                </a:solidFill>
                <a:latin typeface="Calibri" pitchFamily="34" charset="0"/>
                <a:ea typeface="Calibri" pitchFamily="34" charset="-122"/>
                <a:cs typeface="Calibri" pitchFamily="34" charset="-120"/>
              </a:rPr>
              <a:t>ConfigMap: readable config</a:t>
            </a:r>
            <a:endParaRPr lang="en-US" sz="1050" dirty="0"/>
          </a:p>
        </p:txBody>
      </p:sp>
      <p:sp>
        <p:nvSpPr>
          <p:cNvPr id="25" name="Text 23"/>
          <p:cNvSpPr/>
          <p:nvPr/>
        </p:nvSpPr>
        <p:spPr>
          <a:xfrm>
            <a:off x="7635240" y="4526280"/>
            <a:ext cx="3474720" cy="274320"/>
          </a:xfrm>
          <a:prstGeom prst="rect">
            <a:avLst/>
          </a:prstGeom>
          <a:noFill/>
          <a:ln/>
        </p:spPr>
        <p:txBody>
          <a:bodyPr wrap="square" lIns="0" tIns="0" rIns="0" bIns="0" rtlCol="0" anchor="ctr"/>
          <a:lstStyle/>
          <a:p>
            <a:pPr algn="ctr" indent="0" marL="0">
              <a:buNone/>
            </a:pPr>
            <a:r>
              <a:rPr lang="en-US" sz="1020" b="1" dirty="0">
                <a:solidFill>
                  <a:srgbClr val="D64545"/>
                </a:solidFill>
                <a:latin typeface="Calibri" pitchFamily="34" charset="0"/>
                <a:ea typeface="Calibri" pitchFamily="34" charset="-122"/>
                <a:cs typeface="Calibri" pitchFamily="34" charset="-120"/>
              </a:rPr>
              <a:t>Secret: base64 data, tighter RBAC, encrypt etcd</a:t>
            </a:r>
            <a:endParaRPr lang="en-US" sz="1020" dirty="0"/>
          </a:p>
        </p:txBody>
      </p:sp>
      <p:sp>
        <p:nvSpPr>
          <p:cNvPr id="26" name="Text 24"/>
          <p:cNvSpPr/>
          <p:nvPr/>
        </p:nvSpPr>
        <p:spPr>
          <a:xfrm>
            <a:off x="566928" y="5760720"/>
            <a:ext cx="11057839" cy="411480"/>
          </a:xfrm>
          <a:prstGeom prst="rect">
            <a:avLst/>
          </a:prstGeom>
          <a:noFill/>
          <a:ln/>
        </p:spPr>
        <p:txBody>
          <a:bodyPr wrap="square" lIns="0" tIns="0" rIns="0" bIns="0" rtlCol="0" anchor="ctr"/>
          <a:lstStyle/>
          <a:p>
            <a:pPr algn="ctr" indent="0" marL="0">
              <a:buNone/>
            </a:pPr>
            <a:r>
              <a:rPr lang="en-US" sz="1430" b="1" dirty="0">
                <a:solidFill>
                  <a:srgbClr val="F2A03D"/>
                </a:solidFill>
                <a:latin typeface="Calibri" pitchFamily="34" charset="0"/>
                <a:ea typeface="Calibri" pitchFamily="34" charset="-122"/>
                <a:cs typeface="Calibri" pitchFamily="34" charset="-120"/>
              </a:rPr>
              <a:t>Same API pattern. Different risk class. Secret changes WHO may read it; encryption at rest changes what a backup reveals.</a:t>
            </a:r>
            <a:endParaRPr lang="en-US" sz="1430" dirty="0"/>
          </a:p>
        </p:txBody>
      </p:sp>
      <p:sp>
        <p:nvSpPr>
          <p:cNvPr id="27" name="Text 25"/>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3</a:t>
            </a:r>
            <a:endParaRPr lang="en-US" sz="900" dirty="0"/>
          </a:p>
        </p:txBody>
      </p:sp>
      <p:sp>
        <p:nvSpPr>
          <p:cNvPr id="28" name="Text 26"/>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12</a:t>
            </a:r>
            <a:endParaRPr lang="en-US" sz="900" dirty="0"/>
          </a:p>
        </p:txBody>
      </p:sp>
      <p:pic>
        <p:nvPicPr>
          <p:cNvPr id="29"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30"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31"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435608" cy="292608"/>
          </a:xfrm>
          <a:prstGeom prst="roundRect">
            <a:avLst>
              <a:gd name="adj" fmla="val 50000"/>
            </a:avLst>
          </a:prstGeom>
          <a:solidFill>
            <a:srgbClr val="2E9E63"/>
          </a:solidFill>
          <a:ln w="12700">
            <a:solidFill>
              <a:srgbClr val="2E9E63"/>
            </a:solidFill>
            <a:prstDash val="solid"/>
          </a:ln>
        </p:spPr>
      </p:sp>
      <p:sp>
        <p:nvSpPr>
          <p:cNvPr id="3" name="Text 1"/>
          <p:cNvSpPr/>
          <p:nvPr/>
        </p:nvSpPr>
        <p:spPr>
          <a:xfrm>
            <a:off x="566928" y="384048"/>
            <a:ext cx="1435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GUIDED LAB</a:t>
            </a:r>
            <a:endParaRPr lang="en-US" sz="1100" dirty="0"/>
          </a:p>
        </p:txBody>
      </p:sp>
      <p:sp>
        <p:nvSpPr>
          <p:cNvPr id="4" name="Text 2"/>
          <p:cNvSpPr/>
          <p:nvPr/>
        </p:nvSpPr>
        <p:spPr>
          <a:xfrm>
            <a:off x="566928" y="914400"/>
            <a:ext cx="2743200" cy="777240"/>
          </a:xfrm>
          <a:prstGeom prst="rect">
            <a:avLst/>
          </a:prstGeom>
          <a:noFill/>
          <a:ln/>
        </p:spPr>
        <p:txBody>
          <a:bodyPr wrap="square" lIns="0" tIns="0" rIns="0" bIns="0" rtlCol="0" anchor="ctr"/>
          <a:lstStyle/>
          <a:p>
            <a:pPr indent="0" marL="0">
              <a:buNone/>
            </a:pPr>
            <a:r>
              <a:rPr lang="en-US" sz="4000" b="1" dirty="0">
                <a:solidFill>
                  <a:srgbClr val="2E9E63"/>
                </a:solidFill>
                <a:latin typeface="Cambria" pitchFamily="34" charset="0"/>
                <a:ea typeface="Cambria" pitchFamily="34" charset="-122"/>
                <a:cs typeface="Cambria" pitchFamily="34" charset="-120"/>
              </a:rPr>
              <a:t>L3.2</a:t>
            </a:r>
            <a:endParaRPr lang="en-US" sz="4000" dirty="0"/>
          </a:p>
        </p:txBody>
      </p:sp>
      <p:sp>
        <p:nvSpPr>
          <p:cNvPr id="5" name="Text 3"/>
          <p:cNvSpPr/>
          <p:nvPr/>
        </p:nvSpPr>
        <p:spPr>
          <a:xfrm>
            <a:off x="566928" y="1691640"/>
            <a:ext cx="11057839"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Secrets, honestly</a:t>
            </a:r>
            <a:endParaRPr lang="en-US" sz="3000" dirty="0"/>
          </a:p>
        </p:txBody>
      </p:sp>
      <p:sp>
        <p:nvSpPr>
          <p:cNvPr id="6" name="Shape 4"/>
          <p:cNvSpPr/>
          <p:nvPr/>
        </p:nvSpPr>
        <p:spPr>
          <a:xfrm>
            <a:off x="566928" y="2560320"/>
            <a:ext cx="5577840" cy="2834640"/>
          </a:xfrm>
          <a:prstGeom prst="roundRect">
            <a:avLst>
              <a:gd name="adj" fmla="val 3226"/>
            </a:avLst>
          </a:prstGeom>
          <a:solidFill>
            <a:srgbClr val="12314F"/>
          </a:solidFill>
          <a:ln w="12700">
            <a:solidFill>
              <a:srgbClr val="1B4066"/>
            </a:solidFill>
            <a:prstDash val="solid"/>
          </a:ln>
        </p:spPr>
      </p:sp>
      <p:sp>
        <p:nvSpPr>
          <p:cNvPr id="7" name="Text 5"/>
          <p:cNvSpPr/>
          <p:nvPr/>
        </p:nvSpPr>
        <p:spPr>
          <a:xfrm>
            <a:off x="841248" y="2724912"/>
            <a:ext cx="5029200" cy="274320"/>
          </a:xfrm>
          <a:prstGeom prst="rect">
            <a:avLst/>
          </a:prstGeom>
          <a:noFill/>
          <a:ln/>
        </p:spPr>
        <p:txBody>
          <a:bodyPr wrap="square" lIns="0" tIns="0" rIns="0" bIns="0" rtlCol="0" anchor="ctr"/>
          <a:lstStyle/>
          <a:p>
            <a:pPr indent="0" marL="0">
              <a:buNone/>
            </a:pPr>
            <a:r>
              <a:rPr lang="en-US" sz="1000" b="1" spc="100" kern="0" dirty="0">
                <a:solidFill>
                  <a:srgbClr val="F2A03D"/>
                </a:solidFill>
                <a:latin typeface="Calibri" pitchFamily="34" charset="0"/>
                <a:ea typeface="Calibri" pitchFamily="34" charset="-122"/>
                <a:cs typeface="Calibri" pitchFamily="34" charset="-120"/>
              </a:rPr>
              <a:t>YOU WILL</a:t>
            </a:r>
            <a:endParaRPr lang="en-US" sz="1000" dirty="0"/>
          </a:p>
        </p:txBody>
      </p:sp>
      <p:sp>
        <p:nvSpPr>
          <p:cNvPr id="8" name="Text 6"/>
          <p:cNvSpPr/>
          <p:nvPr/>
        </p:nvSpPr>
        <p:spPr>
          <a:xfrm>
            <a:off x="886968" y="3017520"/>
            <a:ext cx="5029200" cy="219456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Move the JWT signing key out of a plaintext env var</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DECODE a Secret in one command — the point of the lab</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Mount credentials as a read-only tmpfs volume</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Rotate a signing key and reason about the rotation window</a:t>
            </a:r>
            <a:endParaRPr lang="en-US" sz="1300" dirty="0"/>
          </a:p>
        </p:txBody>
      </p:sp>
      <p:sp>
        <p:nvSpPr>
          <p:cNvPr id="9" name="Shape 7"/>
          <p:cNvSpPr/>
          <p:nvPr/>
        </p:nvSpPr>
        <p:spPr>
          <a:xfrm>
            <a:off x="6464808" y="2560320"/>
            <a:ext cx="5120640" cy="2834640"/>
          </a:xfrm>
          <a:prstGeom prst="roundRect">
            <a:avLst>
              <a:gd name="adj" fmla="val 3226"/>
            </a:avLst>
          </a:prstGeom>
          <a:solidFill>
            <a:srgbClr val="12314F"/>
          </a:solidFill>
          <a:ln w="12700">
            <a:solidFill>
              <a:srgbClr val="1B4066"/>
            </a:solidFill>
            <a:prstDash val="solid"/>
          </a:ln>
        </p:spPr>
      </p:sp>
      <p:sp>
        <p:nvSpPr>
          <p:cNvPr id="10" name="Text 8"/>
          <p:cNvSpPr/>
          <p:nvPr/>
        </p:nvSpPr>
        <p:spPr>
          <a:xfrm>
            <a:off x="6739128" y="2724912"/>
            <a:ext cx="4572000" cy="274320"/>
          </a:xfrm>
          <a:prstGeom prst="rect">
            <a:avLst/>
          </a:prstGeom>
          <a:noFill/>
          <a:ln/>
        </p:spPr>
        <p:txBody>
          <a:bodyPr wrap="square" lIns="0" tIns="0" rIns="0" bIns="0" rtlCol="0" anchor="ctr"/>
          <a:lstStyle/>
          <a:p>
            <a:pPr indent="0" marL="0">
              <a:buNone/>
            </a:pPr>
            <a:r>
              <a:rPr lang="en-US" sz="1000" b="1" spc="100" kern="0" dirty="0">
                <a:solidFill>
                  <a:srgbClr val="2E9E63"/>
                </a:solidFill>
                <a:latin typeface="Calibri" pitchFamily="34" charset="0"/>
                <a:ea typeface="Calibri" pitchFamily="34" charset="-122"/>
                <a:cs typeface="Calibri" pitchFamily="34" charset="-120"/>
              </a:rPr>
              <a:t>DONE WHEN</a:t>
            </a:r>
            <a:endParaRPr lang="en-US" sz="1000" dirty="0"/>
          </a:p>
        </p:txBody>
      </p:sp>
      <p:sp>
        <p:nvSpPr>
          <p:cNvPr id="11" name="Text 9"/>
          <p:cNvSpPr/>
          <p:nvPr/>
        </p:nvSpPr>
        <p:spPr>
          <a:xfrm>
            <a:off x="6784848" y="3017520"/>
            <a:ext cx="4572000" cy="146304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JWT key no longer visible in describe</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You have decoded a Secret yourself</a:t>
            </a:r>
            <a:endParaRPr lang="en-US" sz="1300" dirty="0"/>
          </a:p>
        </p:txBody>
      </p:sp>
      <p:sp>
        <p:nvSpPr>
          <p:cNvPr id="12" name="Shape 10"/>
          <p:cNvSpPr/>
          <p:nvPr/>
        </p:nvSpPr>
        <p:spPr>
          <a:xfrm>
            <a:off x="6739128" y="4617720"/>
            <a:ext cx="4572000" cy="566928"/>
          </a:xfrm>
          <a:prstGeom prst="roundRect">
            <a:avLst>
              <a:gd name="adj" fmla="val 12903"/>
            </a:avLst>
          </a:prstGeom>
          <a:solidFill>
            <a:srgbClr val="0E2740"/>
          </a:solidFill>
          <a:ln w="12700">
            <a:solidFill>
              <a:srgbClr val="1C7293"/>
            </a:solidFill>
            <a:prstDash val="solid"/>
          </a:ln>
        </p:spPr>
      </p:sp>
      <p:sp>
        <p:nvSpPr>
          <p:cNvPr id="13" name="Text 11"/>
          <p:cNvSpPr/>
          <p:nvPr/>
        </p:nvSpPr>
        <p:spPr>
          <a:xfrm>
            <a:off x="6876288" y="4617720"/>
            <a:ext cx="4297680" cy="566928"/>
          </a:xfrm>
          <a:prstGeom prst="rect">
            <a:avLst/>
          </a:prstGeom>
          <a:noFill/>
          <a:ln/>
        </p:spPr>
        <p:txBody>
          <a:bodyPr wrap="square" lIns="0" tIns="0" rIns="0" bIns="0" rtlCol="0" anchor="ctr"/>
          <a:lstStyle/>
          <a:p>
            <a:pPr indent="0" marL="0">
              <a:buNone/>
            </a:pPr>
            <a:r>
              <a:rPr lang="en-US" sz="1150" dirty="0">
                <a:solidFill>
                  <a:srgbClr val="F2A03D"/>
                </a:solidFill>
                <a:latin typeface="Courier New" pitchFamily="34" charset="0"/>
                <a:ea typeface="Courier New" pitchFamily="34" charset="-122"/>
                <a:cs typeface="Courier New" pitchFamily="34" charset="-120"/>
              </a:rPr>
              <a:t>make validate-lab LAB=L3.2</a:t>
            </a:r>
            <a:endParaRPr lang="en-US" sz="1150" dirty="0"/>
          </a:p>
        </p:txBody>
      </p:sp>
      <p:sp>
        <p:nvSpPr>
          <p:cNvPr id="14" name="Text 12"/>
          <p:cNvSpPr/>
          <p:nvPr/>
        </p:nvSpPr>
        <p:spPr>
          <a:xfrm>
            <a:off x="566928" y="5577840"/>
            <a:ext cx="11057839" cy="365760"/>
          </a:xfrm>
          <a:prstGeom prst="rect">
            <a:avLst/>
          </a:prstGeom>
          <a:noFill/>
          <a:ln/>
        </p:spPr>
        <p:txBody>
          <a:bodyPr wrap="square" lIns="0" tIns="0" rIns="0" bIns="0" rtlCol="0" anchor="ctr"/>
          <a:lstStyle/>
          <a:p>
            <a:pPr indent="0" marL="0">
              <a:buNone/>
            </a:pPr>
            <a:r>
              <a:rPr lang="en-US" sz="1200" dirty="0">
                <a:solidFill>
                  <a:srgbClr val="63758B"/>
                </a:solidFill>
                <a:latin typeface="Calibri" pitchFamily="34" charset="0"/>
                <a:ea typeface="Calibri" pitchFamily="34" charset="-122"/>
                <a:cs typeface="Calibri" pitchFamily="34" charset="-120"/>
              </a:rPr>
              <a:t>40 minutes   ·   labs/day3/L3.2-secrets/</a:t>
            </a:r>
            <a:endParaRPr lang="en-US" sz="1200" dirty="0"/>
          </a:p>
        </p:txBody>
      </p:sp>
      <p:sp>
        <p:nvSpPr>
          <p:cNvPr id="15" name="Text 13"/>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3</a:t>
            </a:r>
            <a:endParaRPr lang="en-US" sz="900" dirty="0"/>
          </a:p>
        </p:txBody>
      </p:sp>
      <p:sp>
        <p:nvSpPr>
          <p:cNvPr id="16" name="Text 14"/>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13</a:t>
            </a:r>
            <a:endParaRPr lang="en-US" sz="900" dirty="0"/>
          </a:p>
        </p:txBody>
      </p:sp>
      <p:pic>
        <p:nvPicPr>
          <p:cNvPr id="17"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8"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9"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8351215" y="-1097280"/>
            <a:ext cx="5120640" cy="5120640"/>
          </a:xfrm>
          <a:prstGeom prst="ellipse">
            <a:avLst/>
          </a:prstGeom>
          <a:solidFill>
            <a:srgbClr val="12314F"/>
          </a:solidFill>
          <a:ln w="12700">
            <a:solidFill>
              <a:srgbClr val="12314F"/>
            </a:solidFill>
            <a:prstDash val="solid"/>
          </a:ln>
        </p:spPr>
      </p:sp>
      <p:sp>
        <p:nvSpPr>
          <p:cNvPr id="3" name="Text 1"/>
          <p:cNvSpPr/>
          <p:nvPr/>
        </p:nvSpPr>
        <p:spPr>
          <a:xfrm>
            <a:off x="566928" y="1600200"/>
            <a:ext cx="5669280" cy="1463040"/>
          </a:xfrm>
          <a:prstGeom prst="rect">
            <a:avLst/>
          </a:prstGeom>
          <a:noFill/>
          <a:ln/>
        </p:spPr>
        <p:txBody>
          <a:bodyPr wrap="square" lIns="0" tIns="0" rIns="0" bIns="0" rtlCol="0" anchor="ctr"/>
          <a:lstStyle/>
          <a:p>
            <a:pPr indent="0" marL="0">
              <a:buNone/>
            </a:pPr>
            <a:r>
              <a:rPr lang="en-US" sz="4000" b="1" dirty="0">
                <a:solidFill>
                  <a:srgbClr val="F2A03D"/>
                </a:solidFill>
                <a:latin typeface="Cambria" pitchFamily="34" charset="0"/>
                <a:ea typeface="Cambria" pitchFamily="34" charset="-122"/>
                <a:cs typeface="Cambria" pitchFamily="34" charset="-120"/>
              </a:rPr>
              <a:t>M3.3 – M3.4</a:t>
            </a:r>
            <a:endParaRPr lang="en-US" sz="4000" dirty="0"/>
          </a:p>
        </p:txBody>
      </p:sp>
      <p:sp>
        <p:nvSpPr>
          <p:cNvPr id="4" name="Text 2"/>
          <p:cNvSpPr/>
          <p:nvPr/>
        </p:nvSpPr>
        <p:spPr>
          <a:xfrm>
            <a:off x="566928" y="2971800"/>
            <a:ext cx="786384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The storage model</a:t>
            </a:r>
            <a:endParaRPr lang="en-US" sz="3800" dirty="0"/>
          </a:p>
        </p:txBody>
      </p:sp>
      <p:sp>
        <p:nvSpPr>
          <p:cNvPr id="5" name="Text 3"/>
          <p:cNvSpPr/>
          <p:nvPr/>
        </p:nvSpPr>
        <p:spPr>
          <a:xfrm>
            <a:off x="566928" y="3886200"/>
            <a:ext cx="7498080" cy="822960"/>
          </a:xfrm>
          <a:prstGeom prst="rect">
            <a:avLst/>
          </a:prstGeom>
          <a:noFill/>
          <a:ln/>
        </p:spPr>
        <p:txBody>
          <a:bodyPr wrap="square" lIns="0" tIns="0" rIns="0" bIns="0" rtlCol="0" anchor="ctr"/>
          <a:lstStyle/>
          <a:p>
            <a:pPr indent="0" marL="0">
              <a:buNone/>
            </a:pPr>
            <a:r>
              <a:rPr lang="en-US" sz="1500" dirty="0">
                <a:solidFill>
                  <a:srgbClr val="D8E6F2"/>
                </a:solidFill>
                <a:latin typeface="Calibri" pitchFamily="34" charset="0"/>
                <a:ea typeface="Calibri" pitchFamily="34" charset="-122"/>
                <a:cs typeface="Calibri" pitchFamily="34" charset="-120"/>
              </a:rPr>
              <a:t>Volumes, PersistentVolumes, Claims, StorageClasses and CSI</a:t>
            </a:r>
            <a:endParaRPr lang="en-US" sz="1500" dirty="0"/>
          </a:p>
        </p:txBody>
      </p:sp>
      <p:sp>
        <p:nvSpPr>
          <p:cNvPr id="6" name="Text 4"/>
          <p:cNvSpPr/>
          <p:nvPr/>
        </p:nvSpPr>
        <p:spPr>
          <a:xfrm>
            <a:off x="566928" y="4709160"/>
            <a:ext cx="7498080" cy="274320"/>
          </a:xfrm>
          <a:prstGeom prst="rect">
            <a:avLst/>
          </a:prstGeom>
          <a:noFill/>
          <a:ln/>
        </p:spPr>
        <p:txBody>
          <a:bodyPr wrap="square" lIns="0" tIns="0" rIns="0" bIns="0" rtlCol="0" anchor="ctr"/>
          <a:lstStyle/>
          <a:p>
            <a:pPr indent="0" marL="0">
              <a:buNone/>
            </a:pPr>
            <a:r>
              <a:rPr lang="en-US" sz="1100" b="1" dirty="0">
                <a:solidFill>
                  <a:srgbClr val="F2A03D"/>
                </a:solidFill>
                <a:latin typeface="Calibri" pitchFamily="34" charset="0"/>
                <a:ea typeface="Calibri" pitchFamily="34" charset="-122"/>
                <a:cs typeface="Calibri" pitchFamily="34" charset="-120"/>
              </a:rPr>
              <a:t>By the end of this module you will be able to:</a:t>
            </a:r>
            <a:endParaRPr lang="en-US" sz="1100" dirty="0"/>
          </a:p>
        </p:txBody>
      </p:sp>
      <p:sp>
        <p:nvSpPr>
          <p:cNvPr id="7" name="Text 5"/>
          <p:cNvSpPr/>
          <p:nvPr/>
        </p:nvSpPr>
        <p:spPr>
          <a:xfrm>
            <a:off x="658368" y="4983480"/>
            <a:ext cx="7498080" cy="10972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Distinguish ephemeral from persistent storage</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Explain the PV/PVC claim-binding contract</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Explain WaitForFirstConsumer by describing the failure it prevents</a:t>
            </a:r>
            <a:endParaRPr lang="en-US" sz="1200" dirty="0"/>
          </a:p>
        </p:txBody>
      </p:sp>
      <p:sp>
        <p:nvSpPr>
          <p:cNvPr id="8" name="Text 6"/>
          <p:cNvSpPr/>
          <p:nvPr/>
        </p:nvSpPr>
        <p:spPr>
          <a:xfrm>
            <a:off x="9814255" y="5989320"/>
            <a:ext cx="1828800" cy="320040"/>
          </a:xfrm>
          <a:prstGeom prst="rect">
            <a:avLst/>
          </a:prstGeom>
          <a:noFill/>
          <a:ln/>
        </p:spPr>
        <p:txBody>
          <a:bodyPr wrap="square" lIns="0" tIns="0" rIns="0" bIns="0" rtlCol="0" anchor="ctr"/>
          <a:lstStyle/>
          <a:p>
            <a:pPr algn="r" indent="0" marL="0">
              <a:buNone/>
            </a:pPr>
            <a:r>
              <a:rPr lang="en-US" sz="1100" dirty="0">
                <a:solidFill>
                  <a:srgbClr val="63758B"/>
                </a:solidFill>
                <a:latin typeface="Calibri" pitchFamily="34" charset="0"/>
                <a:ea typeface="Calibri" pitchFamily="34" charset="-122"/>
                <a:cs typeface="Calibri" pitchFamily="34" charset="-120"/>
              </a:rPr>
              <a:t>95 min</a:t>
            </a:r>
            <a:endParaRPr lang="en-US" sz="1100" dirty="0"/>
          </a:p>
        </p:txBody>
      </p:sp>
      <p:pic>
        <p:nvPicPr>
          <p:cNvPr id="9"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0"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1"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1856232"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1856232"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M3.3 · STORAGE</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Access modes — the most misread field in Kubernetes</a:t>
            </a:r>
            <a:endParaRPr lang="en-US" sz="3200" dirty="0"/>
          </a:p>
        </p:txBody>
      </p:sp>
      <p:sp>
        <p:nvSpPr>
          <p:cNvPr id="5" name="Text 3"/>
          <p:cNvSpPr/>
          <p:nvPr/>
        </p:nvSpPr>
        <p:spPr>
          <a:xfrm>
            <a:off x="566928" y="1737360"/>
            <a:ext cx="11057839" cy="457200"/>
          </a:xfrm>
          <a:prstGeom prst="rect">
            <a:avLst/>
          </a:prstGeom>
          <a:noFill/>
          <a:ln/>
        </p:spPr>
        <p:txBody>
          <a:bodyPr wrap="square" lIns="0" tIns="0" rIns="0" bIns="0" rtlCol="0" anchor="ctr"/>
          <a:lstStyle/>
          <a:p>
            <a:pPr indent="0" marL="0">
              <a:lnSpc>
                <a:spcPts val="1700"/>
              </a:lnSpc>
              <a:buNone/>
            </a:pPr>
            <a:r>
              <a:rPr lang="en-US" sz="1350" i="1" dirty="0">
                <a:solidFill>
                  <a:srgbClr val="1C7293"/>
                </a:solidFill>
                <a:latin typeface="Calibri" pitchFamily="34" charset="0"/>
                <a:ea typeface="Calibri" pitchFamily="34" charset="-122"/>
                <a:cs typeface="Calibri" pitchFamily="34" charset="-120"/>
              </a:rPr>
              <a:t>Access mode declares how a persistent volume may be mounted by the nodes and pods that use it. It describes storage-attachment capability, not application-level locking, replication or whether the data is safe to share.</a:t>
            </a:r>
            <a:endParaRPr lang="en-US" sz="1350" dirty="0"/>
          </a:p>
        </p:txBody>
      </p:sp>
      <p:sp>
        <p:nvSpPr>
          <p:cNvPr id="6" name="Shape 4"/>
          <p:cNvSpPr/>
          <p:nvPr/>
        </p:nvSpPr>
        <p:spPr>
          <a:xfrm>
            <a:off x="566928" y="2249424"/>
            <a:ext cx="11057839" cy="566928"/>
          </a:xfrm>
          <a:prstGeom prst="roundRect">
            <a:avLst>
              <a:gd name="adj" fmla="val 12903"/>
            </a:avLst>
          </a:prstGeom>
          <a:solidFill>
            <a:srgbClr val="EAF1F8"/>
          </a:solidFill>
          <a:ln w="12700">
            <a:solidFill>
              <a:srgbClr val="1C7293"/>
            </a:solidFill>
            <a:prstDash val="solid"/>
          </a:ln>
        </p:spPr>
      </p:sp>
      <p:sp>
        <p:nvSpPr>
          <p:cNvPr id="7" name="Text 5"/>
          <p:cNvSpPr/>
          <p:nvPr/>
        </p:nvSpPr>
        <p:spPr>
          <a:xfrm>
            <a:off x="768096" y="2249424"/>
            <a:ext cx="10655503" cy="566928"/>
          </a:xfrm>
          <a:prstGeom prst="rect">
            <a:avLst/>
          </a:prstGeom>
          <a:noFill/>
          <a:ln/>
        </p:spPr>
        <p:txBody>
          <a:bodyPr wrap="square" lIns="0" tIns="0" rIns="0" bIns="0" rtlCol="0" anchor="ctr"/>
          <a:lstStyle/>
          <a:p>
            <a:pPr indent="0" marL="0">
              <a:buNone/>
            </a:pPr>
            <a:r>
              <a:rPr lang="en-US" sz="1500" b="1" dirty="0">
                <a:solidFill>
                  <a:srgbClr val="0B1F3A"/>
                </a:solidFill>
                <a:latin typeface="Cambria" pitchFamily="34" charset="0"/>
                <a:ea typeface="Cambria" pitchFamily="34" charset="-122"/>
                <a:cs typeface="Cambria" pitchFamily="34" charset="-120"/>
              </a:rPr>
              <a:t>ReadWriteOnce. Once what?</a:t>
            </a:r>
            <a:endParaRPr lang="en-US" sz="1500" dirty="0"/>
          </a:p>
        </p:txBody>
      </p:sp>
      <p:sp>
        <p:nvSpPr>
          <p:cNvPr id="8" name="Shape 6"/>
          <p:cNvSpPr/>
          <p:nvPr/>
        </p:nvSpPr>
        <p:spPr>
          <a:xfrm>
            <a:off x="566928" y="3160395"/>
            <a:ext cx="402336" cy="402336"/>
          </a:xfrm>
          <a:prstGeom prst="ellipse">
            <a:avLst/>
          </a:prstGeom>
          <a:solidFill>
            <a:srgbClr val="C97B1E"/>
          </a:solidFill>
          <a:ln w="12700">
            <a:solidFill>
              <a:srgbClr val="C97B1E"/>
            </a:solidFill>
            <a:prstDash val="solid"/>
          </a:ln>
        </p:spPr>
      </p:sp>
      <p:sp>
        <p:nvSpPr>
          <p:cNvPr id="9" name="Text 7"/>
          <p:cNvSpPr/>
          <p:nvPr/>
        </p:nvSpPr>
        <p:spPr>
          <a:xfrm>
            <a:off x="566928" y="3160395"/>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0" name="Text 8"/>
          <p:cNvSpPr/>
          <p:nvPr/>
        </p:nvSpPr>
        <p:spPr>
          <a:xfrm>
            <a:off x="1133856" y="2999232"/>
            <a:ext cx="3200400" cy="724662"/>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ReadWriteOnce (RWO)</a:t>
            </a:r>
            <a:endParaRPr lang="en-US" sz="1400" dirty="0"/>
          </a:p>
        </p:txBody>
      </p:sp>
      <p:sp>
        <p:nvSpPr>
          <p:cNvPr id="11" name="Text 9"/>
          <p:cNvSpPr/>
          <p:nvPr/>
        </p:nvSpPr>
        <p:spPr>
          <a:xfrm>
            <a:off x="4407408" y="2999232"/>
            <a:ext cx="7217359" cy="724662"/>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For a generic database pod, RWO means one NODE may attach the volume read-write. Several pods on that same node could still mount it; the backend is limiting attachment to a machine, not counting containers.</a:t>
            </a:r>
            <a:endParaRPr lang="en-US" sz="1250" dirty="0"/>
          </a:p>
        </p:txBody>
      </p:sp>
      <p:sp>
        <p:nvSpPr>
          <p:cNvPr id="12" name="Shape 10"/>
          <p:cNvSpPr/>
          <p:nvPr/>
        </p:nvSpPr>
        <p:spPr>
          <a:xfrm>
            <a:off x="566928" y="3885057"/>
            <a:ext cx="402336" cy="402336"/>
          </a:xfrm>
          <a:prstGeom prst="ellipse">
            <a:avLst/>
          </a:prstGeom>
          <a:solidFill>
            <a:srgbClr val="1C7293"/>
          </a:solidFill>
          <a:ln w="12700">
            <a:solidFill>
              <a:srgbClr val="1C7293"/>
            </a:solidFill>
            <a:prstDash val="solid"/>
          </a:ln>
        </p:spPr>
      </p:sp>
      <p:sp>
        <p:nvSpPr>
          <p:cNvPr id="13" name="Text 11"/>
          <p:cNvSpPr/>
          <p:nvPr/>
        </p:nvSpPr>
        <p:spPr>
          <a:xfrm>
            <a:off x="566928" y="3885057"/>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4" name="Text 12"/>
          <p:cNvSpPr/>
          <p:nvPr/>
        </p:nvSpPr>
        <p:spPr>
          <a:xfrm>
            <a:off x="1133856" y="3723894"/>
            <a:ext cx="3200400" cy="724662"/>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ROX and RWX</a:t>
            </a:r>
            <a:endParaRPr lang="en-US" sz="1400" dirty="0"/>
          </a:p>
        </p:txBody>
      </p:sp>
      <p:sp>
        <p:nvSpPr>
          <p:cNvPr id="15" name="Text 13"/>
          <p:cNvSpPr/>
          <p:nvPr/>
        </p:nvSpPr>
        <p:spPr>
          <a:xfrm>
            <a:off x="4407408" y="3723894"/>
            <a:ext cx="7217359" cy="724662"/>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ReadOnlyMany is for many readers of static content. ReadWriteMany is for many writers, but only if the backend truly supports it. Ask for RWX from ordinary block storage and the PVC simply stays Pending.</a:t>
            </a:r>
            <a:endParaRPr lang="en-US" sz="1250" dirty="0"/>
          </a:p>
        </p:txBody>
      </p:sp>
      <p:sp>
        <p:nvSpPr>
          <p:cNvPr id="16" name="Shape 14"/>
          <p:cNvSpPr/>
          <p:nvPr/>
        </p:nvSpPr>
        <p:spPr>
          <a:xfrm>
            <a:off x="566928" y="4609719"/>
            <a:ext cx="402336" cy="402336"/>
          </a:xfrm>
          <a:prstGeom prst="ellipse">
            <a:avLst/>
          </a:prstGeom>
          <a:solidFill>
            <a:srgbClr val="2E9E63"/>
          </a:solidFill>
          <a:ln w="12700">
            <a:solidFill>
              <a:srgbClr val="2E9E63"/>
            </a:solidFill>
            <a:prstDash val="solid"/>
          </a:ln>
        </p:spPr>
      </p:sp>
      <p:sp>
        <p:nvSpPr>
          <p:cNvPr id="17" name="Text 15"/>
          <p:cNvSpPr/>
          <p:nvPr/>
        </p:nvSpPr>
        <p:spPr>
          <a:xfrm>
            <a:off x="566928" y="4609719"/>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8" name="Text 16"/>
          <p:cNvSpPr/>
          <p:nvPr/>
        </p:nvSpPr>
        <p:spPr>
          <a:xfrm>
            <a:off x="1133856" y="4448556"/>
            <a:ext cx="3200400" cy="724662"/>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AxisPay PostgreSQL</a:t>
            </a:r>
            <a:endParaRPr lang="en-US" sz="1400" dirty="0"/>
          </a:p>
        </p:txBody>
      </p:sp>
      <p:sp>
        <p:nvSpPr>
          <p:cNvPr id="19" name="Text 17"/>
          <p:cNvSpPr/>
          <p:nvPr/>
        </p:nvSpPr>
        <p:spPr>
          <a:xfrm>
            <a:off x="4407408" y="4448556"/>
            <a:ext cx="7217359" cy="724662"/>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AxisPay PostgreSQL uses RWO because one database replica owns one disk at a time. That is exactly what block-backed stateful storage is good at: stable bytes for one ordinal on one node.</a:t>
            </a:r>
            <a:endParaRPr lang="en-US" sz="1250" dirty="0"/>
          </a:p>
        </p:txBody>
      </p:sp>
      <p:sp>
        <p:nvSpPr>
          <p:cNvPr id="20" name="Shape 18"/>
          <p:cNvSpPr/>
          <p:nvPr/>
        </p:nvSpPr>
        <p:spPr>
          <a:xfrm>
            <a:off x="566928" y="5334381"/>
            <a:ext cx="402336" cy="402336"/>
          </a:xfrm>
          <a:prstGeom prst="ellipse">
            <a:avLst/>
          </a:prstGeom>
          <a:solidFill>
            <a:srgbClr val="D64545"/>
          </a:solidFill>
          <a:ln w="12700">
            <a:solidFill>
              <a:srgbClr val="D64545"/>
            </a:solidFill>
            <a:prstDash val="solid"/>
          </a:ln>
        </p:spPr>
      </p:sp>
      <p:sp>
        <p:nvSpPr>
          <p:cNvPr id="21" name="Text 19"/>
          <p:cNvSpPr/>
          <p:nvPr/>
        </p:nvSpPr>
        <p:spPr>
          <a:xfrm>
            <a:off x="566928" y="5334381"/>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2" name="Text 20"/>
          <p:cNvSpPr/>
          <p:nvPr/>
        </p:nvSpPr>
        <p:spPr>
          <a:xfrm>
            <a:off x="1133856" y="5173218"/>
            <a:ext cx="3200400" cy="724662"/>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AxisPay fraud counters</a:t>
            </a:r>
            <a:endParaRPr lang="en-US" sz="1400" dirty="0"/>
          </a:p>
        </p:txBody>
      </p:sp>
      <p:sp>
        <p:nvSpPr>
          <p:cNvPr id="23" name="Text 21"/>
          <p:cNvSpPr/>
          <p:nvPr/>
        </p:nvSpPr>
        <p:spPr>
          <a:xfrm>
            <a:off x="4407408" y="5173218"/>
            <a:ext cx="7217359" cy="724662"/>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AxisPay needed shared fraud state across replicas, but that was not a RWX-filesystem problem. The right fix was Redis, not making payment pods share one writable disk they were never designed to coordinate.</a:t>
            </a:r>
            <a:endParaRPr lang="en-US" sz="1250" dirty="0"/>
          </a:p>
        </p:txBody>
      </p:sp>
      <p:sp>
        <p:nvSpPr>
          <p:cNvPr id="24" name="Text 22"/>
          <p:cNvSpPr/>
          <p:nvPr/>
        </p:nvSpPr>
        <p:spPr>
          <a:xfrm>
            <a:off x="566928" y="5687568"/>
            <a:ext cx="11057839" cy="548640"/>
          </a:xfrm>
          <a:prstGeom prst="rect">
            <a:avLst/>
          </a:prstGeom>
          <a:noFill/>
          <a:ln/>
        </p:spPr>
        <p:txBody>
          <a:bodyPr wrap="square" lIns="0" tIns="0" rIns="0" bIns="0" rtlCol="0" anchor="ctr"/>
          <a:lstStyle/>
          <a:p>
            <a:pPr algn="ctr" indent="0" marL="0">
              <a:buNone/>
            </a:pPr>
            <a:r>
              <a:rPr lang="en-US" sz="1400" b="1" dirty="0">
                <a:solidFill>
                  <a:srgbClr val="1C7293"/>
                </a:solidFill>
                <a:latin typeface="Calibri" pitchFamily="34" charset="0"/>
                <a:ea typeface="Calibri" pitchFamily="34" charset="-122"/>
                <a:cs typeface="Calibri" pitchFamily="34" charset="-120"/>
              </a:rPr>
              <a:t>The mode is a property of the STORAGE, not a wish. Ask for RWX on block storage and your PVC stays Pending with no obvious reason.</a:t>
            </a:r>
            <a:endParaRPr lang="en-US" sz="1400" dirty="0"/>
          </a:p>
        </p:txBody>
      </p:sp>
      <p:sp>
        <p:nvSpPr>
          <p:cNvPr id="25" name="Text 23"/>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3</a:t>
            </a:r>
            <a:endParaRPr lang="en-US" sz="900" dirty="0"/>
          </a:p>
        </p:txBody>
      </p:sp>
      <p:sp>
        <p:nvSpPr>
          <p:cNvPr id="26" name="Text 24"/>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15</a:t>
            </a:r>
            <a:endParaRPr lang="en-US" sz="900" dirty="0"/>
          </a:p>
        </p:txBody>
      </p:sp>
      <p:pic>
        <p:nvPicPr>
          <p:cNvPr id="27"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28"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29"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856232" cy="292608"/>
          </a:xfrm>
          <a:prstGeom prst="roundRect">
            <a:avLst>
              <a:gd name="adj" fmla="val 50000"/>
            </a:avLst>
          </a:prstGeom>
          <a:solidFill>
            <a:srgbClr val="C97B1E"/>
          </a:solidFill>
          <a:ln w="12700">
            <a:solidFill>
              <a:srgbClr val="C97B1E"/>
            </a:solidFill>
            <a:prstDash val="solid"/>
          </a:ln>
        </p:spPr>
      </p:sp>
      <p:sp>
        <p:nvSpPr>
          <p:cNvPr id="3" name="Text 1"/>
          <p:cNvSpPr/>
          <p:nvPr/>
        </p:nvSpPr>
        <p:spPr>
          <a:xfrm>
            <a:off x="566928" y="384048"/>
            <a:ext cx="1856232"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M3.3 · DIAGRAM</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PV/PVC lifecycle — request, bind, mount</a:t>
            </a:r>
            <a:endParaRPr lang="en-US" sz="3200" dirty="0"/>
          </a:p>
        </p:txBody>
      </p:sp>
      <p:sp>
        <p:nvSpPr>
          <p:cNvPr id="5" name="Shape 3"/>
          <p:cNvSpPr/>
          <p:nvPr/>
        </p:nvSpPr>
        <p:spPr>
          <a:xfrm>
            <a:off x="731520" y="2743200"/>
            <a:ext cx="2377440" cy="1097280"/>
          </a:xfrm>
          <a:prstGeom prst="roundRect">
            <a:avLst>
              <a:gd name="adj" fmla="val 6667"/>
            </a:avLst>
          </a:prstGeom>
          <a:solidFill>
            <a:srgbClr val="1C7293"/>
          </a:solidFill>
          <a:ln w="12700">
            <a:solidFill>
              <a:srgbClr val="1C7293"/>
            </a:solidFill>
            <a:prstDash val="solid"/>
          </a:ln>
        </p:spPr>
      </p:sp>
      <p:sp>
        <p:nvSpPr>
          <p:cNvPr id="6" name="Text 4"/>
          <p:cNvSpPr/>
          <p:nvPr/>
        </p:nvSpPr>
        <p:spPr>
          <a:xfrm>
            <a:off x="804672" y="2852928"/>
            <a:ext cx="2231136" cy="504749"/>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PersistentVolumeClaim</a:t>
            </a:r>
            <a:endParaRPr lang="en-US" sz="1400" dirty="0"/>
          </a:p>
        </p:txBody>
      </p:sp>
      <p:sp>
        <p:nvSpPr>
          <p:cNvPr id="7" name="Text 5"/>
          <p:cNvSpPr/>
          <p:nvPr/>
        </p:nvSpPr>
        <p:spPr>
          <a:xfrm>
            <a:off x="804672" y="3291840"/>
            <a:ext cx="2231136" cy="482803"/>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request: 20Gi · RWO</a:t>
            </a:r>
            <a:endParaRPr lang="en-US" sz="1050" dirty="0"/>
          </a:p>
        </p:txBody>
      </p:sp>
      <p:sp>
        <p:nvSpPr>
          <p:cNvPr id="8" name="Shape 6"/>
          <p:cNvSpPr/>
          <p:nvPr/>
        </p:nvSpPr>
        <p:spPr>
          <a:xfrm>
            <a:off x="3794760" y="1828800"/>
            <a:ext cx="2560320" cy="822960"/>
          </a:xfrm>
          <a:prstGeom prst="roundRect">
            <a:avLst>
              <a:gd name="adj" fmla="val 8889"/>
            </a:avLst>
          </a:prstGeom>
          <a:solidFill>
            <a:srgbClr val="8E6FBF"/>
          </a:solidFill>
          <a:ln w="12700">
            <a:solidFill>
              <a:srgbClr val="8E6FBF"/>
            </a:solidFill>
            <a:prstDash val="solid"/>
          </a:ln>
        </p:spPr>
      </p:sp>
      <p:sp>
        <p:nvSpPr>
          <p:cNvPr id="9" name="Text 7"/>
          <p:cNvSpPr/>
          <p:nvPr/>
        </p:nvSpPr>
        <p:spPr>
          <a:xfrm>
            <a:off x="3867912" y="1938528"/>
            <a:ext cx="2414016" cy="37856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StorageClass</a:t>
            </a:r>
            <a:endParaRPr lang="en-US" sz="1400" dirty="0"/>
          </a:p>
        </p:txBody>
      </p:sp>
      <p:sp>
        <p:nvSpPr>
          <p:cNvPr id="10" name="Text 8"/>
          <p:cNvSpPr/>
          <p:nvPr/>
        </p:nvSpPr>
        <p:spPr>
          <a:xfrm>
            <a:off x="3867912" y="2240280"/>
            <a:ext cx="2414016" cy="362102"/>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fast-ssd</a:t>
            </a:r>
            <a:endParaRPr lang="en-US" sz="1050" dirty="0"/>
          </a:p>
        </p:txBody>
      </p:sp>
      <p:sp>
        <p:nvSpPr>
          <p:cNvPr id="11" name="Shape 9"/>
          <p:cNvSpPr/>
          <p:nvPr/>
        </p:nvSpPr>
        <p:spPr>
          <a:xfrm>
            <a:off x="3794760" y="2743200"/>
            <a:ext cx="2560320" cy="1097280"/>
          </a:xfrm>
          <a:prstGeom prst="roundRect">
            <a:avLst>
              <a:gd name="adj" fmla="val 6667"/>
            </a:avLst>
          </a:prstGeom>
          <a:solidFill>
            <a:srgbClr val="2E9E63"/>
          </a:solidFill>
          <a:ln w="12700">
            <a:solidFill>
              <a:srgbClr val="2E9E63"/>
            </a:solidFill>
            <a:prstDash val="solid"/>
          </a:ln>
        </p:spPr>
      </p:sp>
      <p:sp>
        <p:nvSpPr>
          <p:cNvPr id="12" name="Text 10"/>
          <p:cNvSpPr/>
          <p:nvPr/>
        </p:nvSpPr>
        <p:spPr>
          <a:xfrm>
            <a:off x="3867912" y="2852928"/>
            <a:ext cx="2414016" cy="504749"/>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PersistentVolume</a:t>
            </a:r>
            <a:endParaRPr lang="en-US" sz="1400" dirty="0"/>
          </a:p>
        </p:txBody>
      </p:sp>
      <p:sp>
        <p:nvSpPr>
          <p:cNvPr id="13" name="Text 11"/>
          <p:cNvSpPr/>
          <p:nvPr/>
        </p:nvSpPr>
        <p:spPr>
          <a:xfrm>
            <a:off x="3867912" y="3291840"/>
            <a:ext cx="2414016" cy="482803"/>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supply: real disk</a:t>
            </a:r>
            <a:endParaRPr lang="en-US" sz="1050" dirty="0"/>
          </a:p>
        </p:txBody>
      </p:sp>
      <p:sp>
        <p:nvSpPr>
          <p:cNvPr id="14" name="Shape 12"/>
          <p:cNvSpPr/>
          <p:nvPr/>
        </p:nvSpPr>
        <p:spPr>
          <a:xfrm>
            <a:off x="7315200" y="2743200"/>
            <a:ext cx="3840480" cy="1097280"/>
          </a:xfrm>
          <a:prstGeom prst="roundRect">
            <a:avLst>
              <a:gd name="adj" fmla="val 6667"/>
            </a:avLst>
          </a:prstGeom>
          <a:solidFill>
            <a:srgbClr val="12314F"/>
          </a:solidFill>
          <a:ln w="12700">
            <a:solidFill>
              <a:srgbClr val="12314F"/>
            </a:solidFill>
            <a:prstDash val="solid"/>
          </a:ln>
        </p:spPr>
      </p:sp>
      <p:sp>
        <p:nvSpPr>
          <p:cNvPr id="15" name="Text 13"/>
          <p:cNvSpPr/>
          <p:nvPr/>
        </p:nvSpPr>
        <p:spPr>
          <a:xfrm>
            <a:off x="7388352" y="2852928"/>
            <a:ext cx="3694176" cy="504749"/>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Pod</a:t>
            </a:r>
            <a:endParaRPr lang="en-US" sz="1400" dirty="0"/>
          </a:p>
        </p:txBody>
      </p:sp>
      <p:sp>
        <p:nvSpPr>
          <p:cNvPr id="16" name="Text 14"/>
          <p:cNvSpPr/>
          <p:nvPr/>
        </p:nvSpPr>
        <p:spPr>
          <a:xfrm>
            <a:off x="7388352" y="3291840"/>
            <a:ext cx="3694176" cy="482803"/>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database mounts /var/lib/data</a:t>
            </a:r>
            <a:endParaRPr lang="en-US" sz="1050" dirty="0"/>
          </a:p>
        </p:txBody>
      </p:sp>
      <p:sp>
        <p:nvSpPr>
          <p:cNvPr id="17" name="Shape 15"/>
          <p:cNvSpPr/>
          <p:nvPr/>
        </p:nvSpPr>
        <p:spPr>
          <a:xfrm>
            <a:off x="3154680" y="3291840"/>
            <a:ext cx="548640" cy="0"/>
          </a:xfrm>
          <a:prstGeom prst="line">
            <a:avLst/>
          </a:prstGeom>
          <a:noFill/>
          <a:ln w="25400">
            <a:solidFill>
              <a:srgbClr val="F2A03D"/>
            </a:solidFill>
            <a:prstDash val="solid"/>
            <a:tailEnd type="triangle"/>
          </a:ln>
        </p:spPr>
      </p:sp>
      <p:sp>
        <p:nvSpPr>
          <p:cNvPr id="18" name="Text 16"/>
          <p:cNvSpPr/>
          <p:nvPr/>
        </p:nvSpPr>
        <p:spPr>
          <a:xfrm>
            <a:off x="2697480" y="2907792"/>
            <a:ext cx="2377440" cy="310896"/>
          </a:xfrm>
          <a:prstGeom prst="rect">
            <a:avLst/>
          </a:prstGeom>
          <a:noFill/>
          <a:ln/>
        </p:spPr>
        <p:txBody>
          <a:bodyPr wrap="square" lIns="0" tIns="0" rIns="0" bIns="0" rtlCol="0" anchor="ctr"/>
          <a:lstStyle/>
          <a:p>
            <a:pPr algn="ctr" indent="0" marL="0">
              <a:buNone/>
            </a:pPr>
            <a:r>
              <a:rPr lang="en-US" sz="1000" b="1" dirty="0">
                <a:solidFill>
                  <a:srgbClr val="F2A03D"/>
                </a:solidFill>
                <a:latin typeface="Calibri" pitchFamily="34" charset="0"/>
                <a:ea typeface="Calibri" pitchFamily="34" charset="-122"/>
                <a:cs typeface="Calibri" pitchFamily="34" charset="-120"/>
              </a:rPr>
              <a:t>binds</a:t>
            </a:r>
            <a:endParaRPr lang="en-US" sz="1000" dirty="0"/>
          </a:p>
        </p:txBody>
      </p:sp>
      <p:sp>
        <p:nvSpPr>
          <p:cNvPr id="19" name="Shape 17"/>
          <p:cNvSpPr/>
          <p:nvPr/>
        </p:nvSpPr>
        <p:spPr>
          <a:xfrm>
            <a:off x="5074920" y="2670048"/>
            <a:ext cx="0" cy="73152"/>
          </a:xfrm>
          <a:prstGeom prst="line">
            <a:avLst/>
          </a:prstGeom>
          <a:noFill/>
          <a:ln w="25400">
            <a:solidFill>
              <a:srgbClr val="8E6FBF"/>
            </a:solidFill>
            <a:prstDash val="solid"/>
            <a:tailEnd type="triangle"/>
          </a:ln>
        </p:spPr>
      </p:sp>
      <p:sp>
        <p:nvSpPr>
          <p:cNvPr id="20" name="Text 18"/>
          <p:cNvSpPr/>
          <p:nvPr/>
        </p:nvSpPr>
        <p:spPr>
          <a:xfrm>
            <a:off x="4617720" y="2322576"/>
            <a:ext cx="2377440" cy="310896"/>
          </a:xfrm>
          <a:prstGeom prst="rect">
            <a:avLst/>
          </a:prstGeom>
          <a:noFill/>
          <a:ln/>
        </p:spPr>
        <p:txBody>
          <a:bodyPr wrap="square" lIns="0" tIns="0" rIns="0" bIns="0" rtlCol="0" anchor="ctr"/>
          <a:lstStyle/>
          <a:p>
            <a:pPr algn="ctr" indent="0" marL="0">
              <a:buNone/>
            </a:pPr>
            <a:r>
              <a:rPr lang="en-US" sz="1000" b="1" dirty="0">
                <a:solidFill>
                  <a:srgbClr val="8E6FBF"/>
                </a:solidFill>
                <a:latin typeface="Calibri" pitchFamily="34" charset="0"/>
                <a:ea typeface="Calibri" pitchFamily="34" charset="-122"/>
                <a:cs typeface="Calibri" pitchFamily="34" charset="-120"/>
              </a:rPr>
              <a:t>provisions</a:t>
            </a:r>
            <a:endParaRPr lang="en-US" sz="1000" dirty="0"/>
          </a:p>
        </p:txBody>
      </p:sp>
      <p:sp>
        <p:nvSpPr>
          <p:cNvPr id="21" name="Shape 19"/>
          <p:cNvSpPr/>
          <p:nvPr/>
        </p:nvSpPr>
        <p:spPr>
          <a:xfrm>
            <a:off x="6400800" y="3291840"/>
            <a:ext cx="822960" cy="0"/>
          </a:xfrm>
          <a:prstGeom prst="line">
            <a:avLst/>
          </a:prstGeom>
          <a:noFill/>
          <a:ln w="25400">
            <a:solidFill>
              <a:srgbClr val="2E9E63"/>
            </a:solidFill>
            <a:prstDash val="solid"/>
            <a:tailEnd type="triangle"/>
          </a:ln>
        </p:spPr>
      </p:sp>
      <p:sp>
        <p:nvSpPr>
          <p:cNvPr id="22" name="Text 20"/>
          <p:cNvSpPr/>
          <p:nvPr/>
        </p:nvSpPr>
        <p:spPr>
          <a:xfrm>
            <a:off x="5943600" y="2907792"/>
            <a:ext cx="2377440" cy="310896"/>
          </a:xfrm>
          <a:prstGeom prst="rect">
            <a:avLst/>
          </a:prstGeom>
          <a:noFill/>
          <a:ln/>
        </p:spPr>
        <p:txBody>
          <a:bodyPr wrap="square" lIns="0" tIns="0" rIns="0" bIns="0" rtlCol="0" anchor="ctr"/>
          <a:lstStyle/>
          <a:p>
            <a:pPr algn="ctr" indent="0" marL="0">
              <a:buNone/>
            </a:pPr>
            <a:r>
              <a:rPr lang="en-US" sz="1000" b="1" dirty="0">
                <a:solidFill>
                  <a:srgbClr val="2E9E63"/>
                </a:solidFill>
                <a:latin typeface="Calibri" pitchFamily="34" charset="0"/>
                <a:ea typeface="Calibri" pitchFamily="34" charset="-122"/>
                <a:cs typeface="Calibri" pitchFamily="34" charset="-120"/>
              </a:rPr>
              <a:t>mounted into</a:t>
            </a:r>
            <a:endParaRPr lang="en-US" sz="1000" dirty="0"/>
          </a:p>
        </p:txBody>
      </p:sp>
      <p:sp>
        <p:nvSpPr>
          <p:cNvPr id="23" name="Shape 21"/>
          <p:cNvSpPr/>
          <p:nvPr/>
        </p:nvSpPr>
        <p:spPr>
          <a:xfrm>
            <a:off x="868680" y="4297680"/>
            <a:ext cx="2103120" cy="566928"/>
          </a:xfrm>
          <a:prstGeom prst="roundRect">
            <a:avLst>
              <a:gd name="adj" fmla="val 12903"/>
            </a:avLst>
          </a:prstGeom>
          <a:solidFill>
            <a:srgbClr val="1B4066"/>
          </a:solidFill>
          <a:ln w="12700">
            <a:solidFill>
              <a:srgbClr val="1B4066"/>
            </a:solidFill>
            <a:prstDash val="solid"/>
          </a:ln>
        </p:spPr>
      </p:sp>
      <p:sp>
        <p:nvSpPr>
          <p:cNvPr id="24" name="Text 22"/>
          <p:cNvSpPr/>
          <p:nvPr/>
        </p:nvSpPr>
        <p:spPr>
          <a:xfrm>
            <a:off x="868680" y="4297680"/>
            <a:ext cx="2103120" cy="566928"/>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claim asks for capacity</a:t>
            </a:r>
            <a:endParaRPr lang="en-US" sz="1050" dirty="0"/>
          </a:p>
        </p:txBody>
      </p:sp>
      <p:sp>
        <p:nvSpPr>
          <p:cNvPr id="25" name="Shape 23"/>
          <p:cNvSpPr/>
          <p:nvPr/>
        </p:nvSpPr>
        <p:spPr>
          <a:xfrm>
            <a:off x="4023360" y="4297680"/>
            <a:ext cx="2103120" cy="566928"/>
          </a:xfrm>
          <a:prstGeom prst="roundRect">
            <a:avLst>
              <a:gd name="adj" fmla="val 12903"/>
            </a:avLst>
          </a:prstGeom>
          <a:solidFill>
            <a:srgbClr val="1B4066"/>
          </a:solidFill>
          <a:ln w="12700">
            <a:solidFill>
              <a:srgbClr val="1B4066"/>
            </a:solidFill>
            <a:prstDash val="solid"/>
          </a:ln>
        </p:spPr>
      </p:sp>
      <p:sp>
        <p:nvSpPr>
          <p:cNvPr id="26" name="Text 24"/>
          <p:cNvSpPr/>
          <p:nvPr/>
        </p:nvSpPr>
        <p:spPr>
          <a:xfrm>
            <a:off x="4023360" y="4297680"/>
            <a:ext cx="2103120" cy="566928"/>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PV is the bound asset</a:t>
            </a:r>
            <a:endParaRPr lang="en-US" sz="1050" dirty="0"/>
          </a:p>
        </p:txBody>
      </p:sp>
      <p:sp>
        <p:nvSpPr>
          <p:cNvPr id="27" name="Shape 25"/>
          <p:cNvSpPr/>
          <p:nvPr/>
        </p:nvSpPr>
        <p:spPr>
          <a:xfrm>
            <a:off x="8183880" y="4297680"/>
            <a:ext cx="2103120" cy="566928"/>
          </a:xfrm>
          <a:prstGeom prst="roundRect">
            <a:avLst>
              <a:gd name="adj" fmla="val 12903"/>
            </a:avLst>
          </a:prstGeom>
          <a:solidFill>
            <a:srgbClr val="1B4066"/>
          </a:solidFill>
          <a:ln w="12700">
            <a:solidFill>
              <a:srgbClr val="1B4066"/>
            </a:solidFill>
            <a:prstDash val="solid"/>
          </a:ln>
        </p:spPr>
      </p:sp>
      <p:sp>
        <p:nvSpPr>
          <p:cNvPr id="28" name="Text 26"/>
          <p:cNvSpPr/>
          <p:nvPr/>
        </p:nvSpPr>
        <p:spPr>
          <a:xfrm>
            <a:off x="8183880" y="4297680"/>
            <a:ext cx="2103120" cy="566928"/>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pod sees a filesystem</a:t>
            </a:r>
            <a:endParaRPr lang="en-US" sz="1050" dirty="0"/>
          </a:p>
        </p:txBody>
      </p:sp>
      <p:sp>
        <p:nvSpPr>
          <p:cNvPr id="29" name="Text 27"/>
          <p:cNvSpPr/>
          <p:nvPr/>
        </p:nvSpPr>
        <p:spPr>
          <a:xfrm>
            <a:off x="566928" y="5760720"/>
            <a:ext cx="11057839" cy="384048"/>
          </a:xfrm>
          <a:prstGeom prst="rect">
            <a:avLst/>
          </a:prstGeom>
          <a:noFill/>
          <a:ln/>
        </p:spPr>
        <p:txBody>
          <a:bodyPr wrap="square" lIns="0" tIns="0" rIns="0" bIns="0" rtlCol="0" anchor="ctr"/>
          <a:lstStyle/>
          <a:p>
            <a:pPr algn="ctr" indent="0" marL="0">
              <a:buNone/>
            </a:pPr>
            <a:r>
              <a:rPr lang="en-US" sz="1450" b="1" dirty="0">
                <a:solidFill>
                  <a:srgbClr val="F2A03D"/>
                </a:solidFill>
                <a:latin typeface="Calibri" pitchFamily="34" charset="0"/>
                <a:ea typeface="Calibri" pitchFamily="34" charset="-122"/>
                <a:cs typeface="Calibri" pitchFamily="34" charset="-120"/>
              </a:rPr>
              <a:t>Applications claim storage. Kubernetes finds or creates it, binds it, then mounts it like ordinary disk.</a:t>
            </a:r>
            <a:endParaRPr lang="en-US" sz="1450" dirty="0"/>
          </a:p>
        </p:txBody>
      </p:sp>
      <p:sp>
        <p:nvSpPr>
          <p:cNvPr id="30" name="Text 28"/>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3</a:t>
            </a:r>
            <a:endParaRPr lang="en-US" sz="900" dirty="0"/>
          </a:p>
        </p:txBody>
      </p:sp>
      <p:sp>
        <p:nvSpPr>
          <p:cNvPr id="31" name="Text 29"/>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16</a:t>
            </a:r>
            <a:endParaRPr lang="en-US" sz="900" dirty="0"/>
          </a:p>
        </p:txBody>
      </p:sp>
      <p:pic>
        <p:nvPicPr>
          <p:cNvPr id="32"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33"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34"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1856232"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1856232"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M3.4 · STORAGE</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WaitForFirstConsumer — explained by the failure it prevents</a:t>
            </a:r>
            <a:endParaRPr lang="en-US" sz="3200" dirty="0"/>
          </a:p>
        </p:txBody>
      </p:sp>
      <p:sp>
        <p:nvSpPr>
          <p:cNvPr id="5" name="Text 3"/>
          <p:cNvSpPr/>
          <p:nvPr/>
        </p:nvSpPr>
        <p:spPr>
          <a:xfrm>
            <a:off x="566928" y="1737360"/>
            <a:ext cx="11057839" cy="457200"/>
          </a:xfrm>
          <a:prstGeom prst="rect">
            <a:avLst/>
          </a:prstGeom>
          <a:noFill/>
          <a:ln/>
        </p:spPr>
        <p:txBody>
          <a:bodyPr wrap="square" lIns="0" tIns="0" rIns="0" bIns="0" rtlCol="0" anchor="ctr"/>
          <a:lstStyle/>
          <a:p>
            <a:pPr indent="0" marL="0">
              <a:lnSpc>
                <a:spcPts val="1700"/>
              </a:lnSpc>
              <a:buNone/>
            </a:pPr>
            <a:r>
              <a:rPr lang="en-US" sz="1350" i="1" dirty="0">
                <a:solidFill>
                  <a:srgbClr val="1C7293"/>
                </a:solidFill>
                <a:latin typeface="Calibri" pitchFamily="34" charset="0"/>
                <a:ea typeface="Calibri" pitchFamily="34" charset="-122"/>
                <a:cs typeface="Calibri" pitchFamily="34" charset="-120"/>
              </a:rPr>
              <a:t>A StorageClass controls how dynamic volumes are provisioned. WaitForFirstConsumer tells Kubernetes to postpone binding or provisioning until a pod is scheduled, so topology-aware storage is created where the chosen node can really use it.</a:t>
            </a:r>
            <a:endParaRPr lang="en-US" sz="1350" dirty="0"/>
          </a:p>
        </p:txBody>
      </p:sp>
      <p:sp>
        <p:nvSpPr>
          <p:cNvPr id="6" name="Shape 4"/>
          <p:cNvSpPr/>
          <p:nvPr/>
        </p:nvSpPr>
        <p:spPr>
          <a:xfrm>
            <a:off x="566928" y="2249424"/>
            <a:ext cx="11057839" cy="566928"/>
          </a:xfrm>
          <a:prstGeom prst="roundRect">
            <a:avLst>
              <a:gd name="adj" fmla="val 12903"/>
            </a:avLst>
          </a:prstGeom>
          <a:solidFill>
            <a:srgbClr val="EAF1F8"/>
          </a:solidFill>
          <a:ln w="12700">
            <a:solidFill>
              <a:srgbClr val="1C7293"/>
            </a:solidFill>
            <a:prstDash val="solid"/>
          </a:ln>
        </p:spPr>
      </p:sp>
      <p:sp>
        <p:nvSpPr>
          <p:cNvPr id="7" name="Text 5"/>
          <p:cNvSpPr/>
          <p:nvPr/>
        </p:nvSpPr>
        <p:spPr>
          <a:xfrm>
            <a:off x="768096" y="2249424"/>
            <a:ext cx="10655503" cy="566928"/>
          </a:xfrm>
          <a:prstGeom prst="rect">
            <a:avLst/>
          </a:prstGeom>
          <a:noFill/>
          <a:ln/>
        </p:spPr>
        <p:txBody>
          <a:bodyPr wrap="square" lIns="0" tIns="0" rIns="0" bIns="0" rtlCol="0" anchor="ctr"/>
          <a:lstStyle/>
          <a:p>
            <a:pPr indent="0" marL="0">
              <a:buNone/>
            </a:pPr>
            <a:r>
              <a:rPr lang="en-US" sz="1500" b="1" dirty="0">
                <a:solidFill>
                  <a:srgbClr val="0B1F3A"/>
                </a:solidFill>
                <a:latin typeface="Cambria" pitchFamily="34" charset="0"/>
                <a:ea typeface="Cambria" pitchFamily="34" charset="-122"/>
                <a:cs typeface="Cambria" pitchFamily="34" charset="-120"/>
              </a:rPr>
              <a:t>Why would you deliberately delay binding a volume?</a:t>
            </a:r>
            <a:endParaRPr lang="en-US" sz="1500" dirty="0"/>
          </a:p>
        </p:txBody>
      </p:sp>
      <p:sp>
        <p:nvSpPr>
          <p:cNvPr id="8" name="Shape 6"/>
          <p:cNvSpPr/>
          <p:nvPr/>
        </p:nvSpPr>
        <p:spPr>
          <a:xfrm>
            <a:off x="566928" y="3160395"/>
            <a:ext cx="402336" cy="402336"/>
          </a:xfrm>
          <a:prstGeom prst="ellipse">
            <a:avLst/>
          </a:prstGeom>
          <a:solidFill>
            <a:srgbClr val="C97B1E"/>
          </a:solidFill>
          <a:ln w="12700">
            <a:solidFill>
              <a:srgbClr val="C97B1E"/>
            </a:solidFill>
            <a:prstDash val="solid"/>
          </a:ln>
        </p:spPr>
      </p:sp>
      <p:sp>
        <p:nvSpPr>
          <p:cNvPr id="9" name="Text 7"/>
          <p:cNvSpPr/>
          <p:nvPr/>
        </p:nvSpPr>
        <p:spPr>
          <a:xfrm>
            <a:off x="566928" y="3160395"/>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0" name="Text 8"/>
          <p:cNvSpPr/>
          <p:nvPr/>
        </p:nvSpPr>
        <p:spPr>
          <a:xfrm>
            <a:off x="1133856" y="2999232"/>
            <a:ext cx="3200400" cy="724662"/>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Generic Immediate binding</a:t>
            </a:r>
            <a:endParaRPr lang="en-US" sz="1400" dirty="0"/>
          </a:p>
        </p:txBody>
      </p:sp>
      <p:sp>
        <p:nvSpPr>
          <p:cNvPr id="11" name="Text 9"/>
          <p:cNvSpPr/>
          <p:nvPr/>
        </p:nvSpPr>
        <p:spPr>
          <a:xfrm>
            <a:off x="4407408" y="2999232"/>
            <a:ext cx="7217359" cy="724662"/>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A generic PVC against a node-local class can trigger provisioning as soon as the claim exists. The disk appears before any pod has been scheduled, so topology has been chosen with no knowledge of the eventual consumer.</a:t>
            </a:r>
            <a:endParaRPr lang="en-US" sz="1250" dirty="0"/>
          </a:p>
        </p:txBody>
      </p:sp>
      <p:sp>
        <p:nvSpPr>
          <p:cNvPr id="12" name="Shape 10"/>
          <p:cNvSpPr/>
          <p:nvPr/>
        </p:nvSpPr>
        <p:spPr>
          <a:xfrm>
            <a:off x="566928" y="3885057"/>
            <a:ext cx="402336" cy="402336"/>
          </a:xfrm>
          <a:prstGeom prst="ellipse">
            <a:avLst/>
          </a:prstGeom>
          <a:solidFill>
            <a:srgbClr val="C97B1E"/>
          </a:solidFill>
          <a:ln w="12700">
            <a:solidFill>
              <a:srgbClr val="C97B1E"/>
            </a:solidFill>
            <a:prstDash val="solid"/>
          </a:ln>
        </p:spPr>
      </p:sp>
      <p:sp>
        <p:nvSpPr>
          <p:cNvPr id="13" name="Text 11"/>
          <p:cNvSpPr/>
          <p:nvPr/>
        </p:nvSpPr>
        <p:spPr>
          <a:xfrm>
            <a:off x="566928" y="3885057"/>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4" name="Text 12"/>
          <p:cNvSpPr/>
          <p:nvPr/>
        </p:nvSpPr>
        <p:spPr>
          <a:xfrm>
            <a:off x="1133856" y="3723894"/>
            <a:ext cx="3200400" cy="724662"/>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Generic scheduling mismatch</a:t>
            </a:r>
            <a:endParaRPr lang="en-US" sz="1400" dirty="0"/>
          </a:p>
        </p:txBody>
      </p:sp>
      <p:sp>
        <p:nvSpPr>
          <p:cNvPr id="15" name="Text 13"/>
          <p:cNvSpPr/>
          <p:nvPr/>
        </p:nvSpPr>
        <p:spPr>
          <a:xfrm>
            <a:off x="4407408" y="3723894"/>
            <a:ext cx="7217359" cy="724662"/>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A web-app pod may later land on a different node because the scheduler is solving CPU, memory and placement constraints, not storage placement. Now pod and disk disagree about location before the container even starts.</a:t>
            </a:r>
            <a:endParaRPr lang="en-US" sz="1250" dirty="0"/>
          </a:p>
        </p:txBody>
      </p:sp>
      <p:sp>
        <p:nvSpPr>
          <p:cNvPr id="16" name="Shape 14"/>
          <p:cNvSpPr/>
          <p:nvPr/>
        </p:nvSpPr>
        <p:spPr>
          <a:xfrm>
            <a:off x="566928" y="4609719"/>
            <a:ext cx="402336" cy="402336"/>
          </a:xfrm>
          <a:prstGeom prst="ellipse">
            <a:avLst/>
          </a:prstGeom>
          <a:solidFill>
            <a:srgbClr val="D64545"/>
          </a:solidFill>
          <a:ln w="12700">
            <a:solidFill>
              <a:srgbClr val="D64545"/>
            </a:solidFill>
            <a:prstDash val="solid"/>
          </a:ln>
        </p:spPr>
      </p:sp>
      <p:sp>
        <p:nvSpPr>
          <p:cNvPr id="17" name="Text 15"/>
          <p:cNvSpPr/>
          <p:nvPr/>
        </p:nvSpPr>
        <p:spPr>
          <a:xfrm>
            <a:off x="566928" y="4609719"/>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8" name="Text 16"/>
          <p:cNvSpPr/>
          <p:nvPr/>
        </p:nvSpPr>
        <p:spPr>
          <a:xfrm>
            <a:off x="1133856" y="4448556"/>
            <a:ext cx="3200400" cy="724662"/>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AxisPay failure mode</a:t>
            </a:r>
            <a:endParaRPr lang="en-US" sz="1400" dirty="0"/>
          </a:p>
        </p:txBody>
      </p:sp>
      <p:sp>
        <p:nvSpPr>
          <p:cNvPr id="19" name="Text 17"/>
          <p:cNvSpPr/>
          <p:nvPr/>
        </p:nvSpPr>
        <p:spPr>
          <a:xfrm>
            <a:off x="4407408" y="4448556"/>
            <a:ext cx="7217359" cy="724662"/>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AxisPay deliberately reproduces this with bad-postgres on node-local storage. The pod is healthy in every other way, but it still never starts because the event says `volume node affinity conflict` and that event is telling the truth.</a:t>
            </a:r>
            <a:endParaRPr lang="en-US" sz="1250" dirty="0"/>
          </a:p>
        </p:txBody>
      </p:sp>
      <p:sp>
        <p:nvSpPr>
          <p:cNvPr id="20" name="Shape 18"/>
          <p:cNvSpPr/>
          <p:nvPr/>
        </p:nvSpPr>
        <p:spPr>
          <a:xfrm>
            <a:off x="566928" y="5334381"/>
            <a:ext cx="402336" cy="402336"/>
          </a:xfrm>
          <a:prstGeom prst="ellipse">
            <a:avLst/>
          </a:prstGeom>
          <a:solidFill>
            <a:srgbClr val="2E9E63"/>
          </a:solidFill>
          <a:ln w="12700">
            <a:solidFill>
              <a:srgbClr val="2E9E63"/>
            </a:solidFill>
            <a:prstDash val="solid"/>
          </a:ln>
        </p:spPr>
      </p:sp>
      <p:sp>
        <p:nvSpPr>
          <p:cNvPr id="21" name="Text 19"/>
          <p:cNvSpPr/>
          <p:nvPr/>
        </p:nvSpPr>
        <p:spPr>
          <a:xfrm>
            <a:off x="566928" y="5334381"/>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2" name="Text 20"/>
          <p:cNvSpPr/>
          <p:nvPr/>
        </p:nvSpPr>
        <p:spPr>
          <a:xfrm>
            <a:off x="1133856" y="5173218"/>
            <a:ext cx="3200400" cy="724662"/>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AxisPay fix</a:t>
            </a:r>
            <a:endParaRPr lang="en-US" sz="1400" dirty="0"/>
          </a:p>
        </p:txBody>
      </p:sp>
      <p:sp>
        <p:nvSpPr>
          <p:cNvPr id="23" name="Text 21"/>
          <p:cNvSpPr/>
          <p:nvPr/>
        </p:nvSpPr>
        <p:spPr>
          <a:xfrm>
            <a:off x="4407408" y="5173218"/>
            <a:ext cx="7217359" cy="724662"/>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AxisPay's corrected StorageClass uses WaitForFirstConsumer. The PVC stays Pending until postgres-0 is scheduled, then the provisioner creates the disk with matching node affinity on that chosen node.</a:t>
            </a:r>
            <a:endParaRPr lang="en-US" sz="1250" dirty="0"/>
          </a:p>
        </p:txBody>
      </p:sp>
      <p:sp>
        <p:nvSpPr>
          <p:cNvPr id="24" name="Text 22"/>
          <p:cNvSpPr/>
          <p:nvPr/>
        </p:nvSpPr>
        <p:spPr>
          <a:xfrm>
            <a:off x="566928" y="5687568"/>
            <a:ext cx="11057839" cy="548640"/>
          </a:xfrm>
          <a:prstGeom prst="rect">
            <a:avLst/>
          </a:prstGeom>
          <a:noFill/>
          <a:ln/>
        </p:spPr>
        <p:txBody>
          <a:bodyPr wrap="square" lIns="0" tIns="0" rIns="0" bIns="0" rtlCol="0" anchor="ctr"/>
          <a:lstStyle/>
          <a:p>
            <a:pPr algn="ctr" indent="0" marL="0">
              <a:buNone/>
            </a:pPr>
            <a:r>
              <a:rPr lang="en-US" sz="1400" b="1" dirty="0">
                <a:solidFill>
                  <a:srgbClr val="1C7293"/>
                </a:solidFill>
                <a:latin typeface="Calibri" pitchFamily="34" charset="0"/>
                <a:ea typeface="Calibri" pitchFamily="34" charset="-122"/>
                <a:cs typeface="Calibri" pitchFamily="34" charset="-120"/>
              </a:rPr>
              <a:t>On a multi-node cluster with node-local storage this is not an optimisation. It is the difference between working and not.</a:t>
            </a:r>
            <a:endParaRPr lang="en-US" sz="1400" dirty="0"/>
          </a:p>
        </p:txBody>
      </p:sp>
      <p:sp>
        <p:nvSpPr>
          <p:cNvPr id="25" name="Text 23"/>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3</a:t>
            </a:r>
            <a:endParaRPr lang="en-US" sz="900" dirty="0"/>
          </a:p>
        </p:txBody>
      </p:sp>
      <p:sp>
        <p:nvSpPr>
          <p:cNvPr id="26" name="Text 24"/>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17</a:t>
            </a:r>
            <a:endParaRPr lang="en-US" sz="900" dirty="0"/>
          </a:p>
        </p:txBody>
      </p:sp>
      <p:pic>
        <p:nvPicPr>
          <p:cNvPr id="27"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28"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29"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856232" cy="292608"/>
          </a:xfrm>
          <a:prstGeom prst="roundRect">
            <a:avLst>
              <a:gd name="adj" fmla="val 50000"/>
            </a:avLst>
          </a:prstGeom>
          <a:solidFill>
            <a:srgbClr val="C97B1E"/>
          </a:solidFill>
          <a:ln w="12700">
            <a:solidFill>
              <a:srgbClr val="C97B1E"/>
            </a:solidFill>
            <a:prstDash val="solid"/>
          </a:ln>
        </p:spPr>
      </p:sp>
      <p:sp>
        <p:nvSpPr>
          <p:cNvPr id="3" name="Text 1"/>
          <p:cNvSpPr/>
          <p:nvPr/>
        </p:nvSpPr>
        <p:spPr>
          <a:xfrm>
            <a:off x="566928" y="384048"/>
            <a:ext cx="1856232"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M3.4 · DIAGRAM</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WaitForFirstConsumer — why Pending can be healthy</a:t>
            </a:r>
            <a:endParaRPr lang="en-US" sz="3200" dirty="0"/>
          </a:p>
        </p:txBody>
      </p:sp>
      <p:sp>
        <p:nvSpPr>
          <p:cNvPr id="5" name="Shape 3"/>
          <p:cNvSpPr/>
          <p:nvPr/>
        </p:nvSpPr>
        <p:spPr>
          <a:xfrm>
            <a:off x="731520" y="1828800"/>
            <a:ext cx="5166360" cy="3246120"/>
          </a:xfrm>
          <a:prstGeom prst="roundRect">
            <a:avLst>
              <a:gd name="adj" fmla="val 2254"/>
            </a:avLst>
          </a:prstGeom>
          <a:solidFill>
            <a:srgbClr val="12314F"/>
          </a:solidFill>
          <a:ln w="12700">
            <a:solidFill>
              <a:srgbClr val="12314F"/>
            </a:solidFill>
            <a:prstDash val="solid"/>
          </a:ln>
        </p:spPr>
      </p:sp>
      <p:sp>
        <p:nvSpPr>
          <p:cNvPr id="6" name="Text 4"/>
          <p:cNvSpPr/>
          <p:nvPr/>
        </p:nvSpPr>
        <p:spPr>
          <a:xfrm>
            <a:off x="804672" y="1938528"/>
            <a:ext cx="5020056" cy="1493215"/>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Immediate</a:t>
            </a:r>
            <a:endParaRPr lang="en-US" sz="1400" dirty="0"/>
          </a:p>
        </p:txBody>
      </p:sp>
      <p:sp>
        <p:nvSpPr>
          <p:cNvPr id="7" name="Text 5"/>
          <p:cNvSpPr/>
          <p:nvPr/>
        </p:nvSpPr>
        <p:spPr>
          <a:xfrm>
            <a:off x="804672" y="3451860"/>
            <a:ext cx="5020056" cy="1428293"/>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volume before scheduling</a:t>
            </a:r>
            <a:endParaRPr lang="en-US" sz="1050" dirty="0"/>
          </a:p>
        </p:txBody>
      </p:sp>
      <p:sp>
        <p:nvSpPr>
          <p:cNvPr id="8" name="Shape 6"/>
          <p:cNvSpPr/>
          <p:nvPr/>
        </p:nvSpPr>
        <p:spPr>
          <a:xfrm>
            <a:off x="6309360" y="1828800"/>
            <a:ext cx="5166360" cy="3246120"/>
          </a:xfrm>
          <a:prstGeom prst="roundRect">
            <a:avLst>
              <a:gd name="adj" fmla="val 2254"/>
            </a:avLst>
          </a:prstGeom>
          <a:solidFill>
            <a:srgbClr val="12314F"/>
          </a:solidFill>
          <a:ln w="12700">
            <a:solidFill>
              <a:srgbClr val="12314F"/>
            </a:solidFill>
            <a:prstDash val="solid"/>
          </a:ln>
        </p:spPr>
      </p:sp>
      <p:sp>
        <p:nvSpPr>
          <p:cNvPr id="9" name="Text 7"/>
          <p:cNvSpPr/>
          <p:nvPr/>
        </p:nvSpPr>
        <p:spPr>
          <a:xfrm>
            <a:off x="6382512" y="1938528"/>
            <a:ext cx="5020056" cy="1493215"/>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WaitForFirstConsumer</a:t>
            </a:r>
            <a:endParaRPr lang="en-US" sz="1400" dirty="0"/>
          </a:p>
        </p:txBody>
      </p:sp>
      <p:sp>
        <p:nvSpPr>
          <p:cNvPr id="10" name="Text 8"/>
          <p:cNvSpPr/>
          <p:nvPr/>
        </p:nvSpPr>
        <p:spPr>
          <a:xfrm>
            <a:off x="6382512" y="3451860"/>
            <a:ext cx="5020056" cy="1428293"/>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schedule first, provision second</a:t>
            </a:r>
            <a:endParaRPr lang="en-US" sz="1050" dirty="0"/>
          </a:p>
        </p:txBody>
      </p:sp>
      <p:sp>
        <p:nvSpPr>
          <p:cNvPr id="11" name="Shape 9"/>
          <p:cNvSpPr/>
          <p:nvPr/>
        </p:nvSpPr>
        <p:spPr>
          <a:xfrm>
            <a:off x="1097280" y="2423160"/>
            <a:ext cx="1645920" cy="749808"/>
          </a:xfrm>
          <a:prstGeom prst="roundRect">
            <a:avLst>
              <a:gd name="adj" fmla="val 9756"/>
            </a:avLst>
          </a:prstGeom>
          <a:solidFill>
            <a:srgbClr val="1C7293"/>
          </a:solidFill>
          <a:ln w="12700">
            <a:solidFill>
              <a:srgbClr val="1C7293"/>
            </a:solidFill>
            <a:prstDash val="solid"/>
          </a:ln>
        </p:spPr>
      </p:sp>
      <p:sp>
        <p:nvSpPr>
          <p:cNvPr id="12" name="Text 10"/>
          <p:cNvSpPr/>
          <p:nvPr/>
        </p:nvSpPr>
        <p:spPr>
          <a:xfrm>
            <a:off x="1170432" y="2532888"/>
            <a:ext cx="1499616" cy="34491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PVC</a:t>
            </a:r>
            <a:endParaRPr lang="en-US" sz="1400" dirty="0"/>
          </a:p>
        </p:txBody>
      </p:sp>
      <p:sp>
        <p:nvSpPr>
          <p:cNvPr id="13" name="Text 11"/>
          <p:cNvSpPr/>
          <p:nvPr/>
        </p:nvSpPr>
        <p:spPr>
          <a:xfrm>
            <a:off x="1170432" y="2798064"/>
            <a:ext cx="1499616" cy="329916"/>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created</a:t>
            </a:r>
            <a:endParaRPr lang="en-US" sz="1050" dirty="0"/>
          </a:p>
        </p:txBody>
      </p:sp>
      <p:sp>
        <p:nvSpPr>
          <p:cNvPr id="14" name="Shape 12"/>
          <p:cNvSpPr/>
          <p:nvPr/>
        </p:nvSpPr>
        <p:spPr>
          <a:xfrm>
            <a:off x="3246120" y="2423160"/>
            <a:ext cx="1645920" cy="749808"/>
          </a:xfrm>
          <a:prstGeom prst="roundRect">
            <a:avLst>
              <a:gd name="adj" fmla="val 9756"/>
            </a:avLst>
          </a:prstGeom>
          <a:solidFill>
            <a:srgbClr val="D64545"/>
          </a:solidFill>
          <a:ln w="12700">
            <a:solidFill>
              <a:srgbClr val="D64545"/>
            </a:solidFill>
            <a:prstDash val="solid"/>
          </a:ln>
        </p:spPr>
      </p:sp>
      <p:sp>
        <p:nvSpPr>
          <p:cNvPr id="15" name="Text 13"/>
          <p:cNvSpPr/>
          <p:nvPr/>
        </p:nvSpPr>
        <p:spPr>
          <a:xfrm>
            <a:off x="3319272" y="2532888"/>
            <a:ext cx="1499616" cy="34491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PV</a:t>
            </a:r>
            <a:endParaRPr lang="en-US" sz="1400" dirty="0"/>
          </a:p>
        </p:txBody>
      </p:sp>
      <p:sp>
        <p:nvSpPr>
          <p:cNvPr id="16" name="Text 14"/>
          <p:cNvSpPr/>
          <p:nvPr/>
        </p:nvSpPr>
        <p:spPr>
          <a:xfrm>
            <a:off x="3319272" y="2798064"/>
            <a:ext cx="1499616" cy="329916"/>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zone-a</a:t>
            </a:r>
            <a:endParaRPr lang="en-US" sz="1050" dirty="0"/>
          </a:p>
        </p:txBody>
      </p:sp>
      <p:sp>
        <p:nvSpPr>
          <p:cNvPr id="17" name="Shape 15"/>
          <p:cNvSpPr/>
          <p:nvPr/>
        </p:nvSpPr>
        <p:spPr>
          <a:xfrm>
            <a:off x="2194560" y="3703320"/>
            <a:ext cx="1645920" cy="749808"/>
          </a:xfrm>
          <a:prstGeom prst="roundRect">
            <a:avLst>
              <a:gd name="adj" fmla="val 9756"/>
            </a:avLst>
          </a:prstGeom>
          <a:solidFill>
            <a:srgbClr val="C97B1E"/>
          </a:solidFill>
          <a:ln w="12700">
            <a:solidFill>
              <a:srgbClr val="C97B1E"/>
            </a:solidFill>
            <a:prstDash val="solid"/>
          </a:ln>
        </p:spPr>
      </p:sp>
      <p:sp>
        <p:nvSpPr>
          <p:cNvPr id="18" name="Text 16"/>
          <p:cNvSpPr/>
          <p:nvPr/>
        </p:nvSpPr>
        <p:spPr>
          <a:xfrm>
            <a:off x="2267712" y="3813048"/>
            <a:ext cx="1499616" cy="34491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Pod</a:t>
            </a:r>
            <a:endParaRPr lang="en-US" sz="1400" dirty="0"/>
          </a:p>
        </p:txBody>
      </p:sp>
      <p:sp>
        <p:nvSpPr>
          <p:cNvPr id="19" name="Text 17"/>
          <p:cNvSpPr/>
          <p:nvPr/>
        </p:nvSpPr>
        <p:spPr>
          <a:xfrm>
            <a:off x="2267712" y="4078224"/>
            <a:ext cx="1499616" cy="329916"/>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lands zone-b</a:t>
            </a:r>
            <a:endParaRPr lang="en-US" sz="1050" dirty="0"/>
          </a:p>
        </p:txBody>
      </p:sp>
      <p:sp>
        <p:nvSpPr>
          <p:cNvPr id="20" name="Shape 18"/>
          <p:cNvSpPr/>
          <p:nvPr/>
        </p:nvSpPr>
        <p:spPr>
          <a:xfrm>
            <a:off x="2743200" y="2788920"/>
            <a:ext cx="411480" cy="0"/>
          </a:xfrm>
          <a:prstGeom prst="line">
            <a:avLst/>
          </a:prstGeom>
          <a:noFill/>
          <a:ln w="25400">
            <a:solidFill>
              <a:srgbClr val="D64545"/>
            </a:solidFill>
            <a:prstDash val="solid"/>
            <a:tailEnd type="triangle"/>
          </a:ln>
        </p:spPr>
      </p:sp>
      <p:sp>
        <p:nvSpPr>
          <p:cNvPr id="21" name="Shape 19"/>
          <p:cNvSpPr/>
          <p:nvPr/>
        </p:nvSpPr>
        <p:spPr>
          <a:xfrm>
            <a:off x="4069080" y="3172968"/>
            <a:ext cx="-1051560" cy="475488"/>
          </a:xfrm>
          <a:prstGeom prst="line">
            <a:avLst/>
          </a:prstGeom>
          <a:noFill/>
          <a:ln w="25400">
            <a:solidFill>
              <a:srgbClr val="D64545"/>
            </a:solidFill>
            <a:prstDash val="solid"/>
            <a:tailEnd type="triangle"/>
          </a:ln>
        </p:spPr>
      </p:sp>
      <p:sp>
        <p:nvSpPr>
          <p:cNvPr id="22" name="Text 20"/>
          <p:cNvSpPr/>
          <p:nvPr/>
        </p:nvSpPr>
        <p:spPr>
          <a:xfrm>
            <a:off x="3611880" y="3026664"/>
            <a:ext cx="2377440" cy="310896"/>
          </a:xfrm>
          <a:prstGeom prst="rect">
            <a:avLst/>
          </a:prstGeom>
          <a:noFill/>
          <a:ln/>
        </p:spPr>
        <p:txBody>
          <a:bodyPr wrap="square" lIns="0" tIns="0" rIns="0" bIns="0" rtlCol="0" anchor="ctr"/>
          <a:lstStyle/>
          <a:p>
            <a:pPr algn="ctr" indent="0" marL="0">
              <a:buNone/>
            </a:pPr>
            <a:r>
              <a:rPr lang="en-US" sz="1000" b="1" dirty="0">
                <a:solidFill>
                  <a:srgbClr val="D64545"/>
                </a:solidFill>
                <a:latin typeface="Calibri" pitchFamily="34" charset="0"/>
                <a:ea typeface="Calibri" pitchFamily="34" charset="-122"/>
                <a:cs typeface="Calibri" pitchFamily="34" charset="-120"/>
              </a:rPr>
              <a:t>affinity conflict</a:t>
            </a:r>
            <a:endParaRPr lang="en-US" sz="1000" dirty="0"/>
          </a:p>
        </p:txBody>
      </p:sp>
      <p:sp>
        <p:nvSpPr>
          <p:cNvPr id="23" name="Shape 21"/>
          <p:cNvSpPr/>
          <p:nvPr/>
        </p:nvSpPr>
        <p:spPr>
          <a:xfrm>
            <a:off x="6720840" y="2423160"/>
            <a:ext cx="1645920" cy="749808"/>
          </a:xfrm>
          <a:prstGeom prst="roundRect">
            <a:avLst>
              <a:gd name="adj" fmla="val 9756"/>
            </a:avLst>
          </a:prstGeom>
          <a:solidFill>
            <a:srgbClr val="1C7293"/>
          </a:solidFill>
          <a:ln w="12700">
            <a:solidFill>
              <a:srgbClr val="1C7293"/>
            </a:solidFill>
            <a:prstDash val="solid"/>
          </a:ln>
        </p:spPr>
      </p:sp>
      <p:sp>
        <p:nvSpPr>
          <p:cNvPr id="24" name="Text 22"/>
          <p:cNvSpPr/>
          <p:nvPr/>
        </p:nvSpPr>
        <p:spPr>
          <a:xfrm>
            <a:off x="6793992" y="2532888"/>
            <a:ext cx="1499616" cy="34491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PVC</a:t>
            </a:r>
            <a:endParaRPr lang="en-US" sz="1400" dirty="0"/>
          </a:p>
        </p:txBody>
      </p:sp>
      <p:sp>
        <p:nvSpPr>
          <p:cNvPr id="25" name="Text 23"/>
          <p:cNvSpPr/>
          <p:nvPr/>
        </p:nvSpPr>
        <p:spPr>
          <a:xfrm>
            <a:off x="6793992" y="2798064"/>
            <a:ext cx="1499616" cy="329916"/>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created</a:t>
            </a:r>
            <a:endParaRPr lang="en-US" sz="1050" dirty="0"/>
          </a:p>
        </p:txBody>
      </p:sp>
      <p:sp>
        <p:nvSpPr>
          <p:cNvPr id="26" name="Shape 24"/>
          <p:cNvSpPr/>
          <p:nvPr/>
        </p:nvSpPr>
        <p:spPr>
          <a:xfrm>
            <a:off x="8823960" y="2423160"/>
            <a:ext cx="1645920" cy="749808"/>
          </a:xfrm>
          <a:prstGeom prst="roundRect">
            <a:avLst>
              <a:gd name="adj" fmla="val 9756"/>
            </a:avLst>
          </a:prstGeom>
          <a:solidFill>
            <a:srgbClr val="C97B1E"/>
          </a:solidFill>
          <a:ln w="12700">
            <a:solidFill>
              <a:srgbClr val="C97B1E"/>
            </a:solidFill>
            <a:prstDash val="solid"/>
          </a:ln>
        </p:spPr>
      </p:sp>
      <p:sp>
        <p:nvSpPr>
          <p:cNvPr id="27" name="Text 25"/>
          <p:cNvSpPr/>
          <p:nvPr/>
        </p:nvSpPr>
        <p:spPr>
          <a:xfrm>
            <a:off x="8897112" y="2532888"/>
            <a:ext cx="1499616" cy="34491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Pod</a:t>
            </a:r>
            <a:endParaRPr lang="en-US" sz="1400" dirty="0"/>
          </a:p>
        </p:txBody>
      </p:sp>
      <p:sp>
        <p:nvSpPr>
          <p:cNvPr id="28" name="Text 26"/>
          <p:cNvSpPr/>
          <p:nvPr/>
        </p:nvSpPr>
        <p:spPr>
          <a:xfrm>
            <a:off x="8897112" y="2798064"/>
            <a:ext cx="1499616" cy="329916"/>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scheduled zone-b</a:t>
            </a:r>
            <a:endParaRPr lang="en-US" sz="1050" dirty="0"/>
          </a:p>
        </p:txBody>
      </p:sp>
      <p:sp>
        <p:nvSpPr>
          <p:cNvPr id="29" name="Shape 27"/>
          <p:cNvSpPr/>
          <p:nvPr/>
        </p:nvSpPr>
        <p:spPr>
          <a:xfrm>
            <a:off x="7772400" y="3703320"/>
            <a:ext cx="1645920" cy="749808"/>
          </a:xfrm>
          <a:prstGeom prst="roundRect">
            <a:avLst>
              <a:gd name="adj" fmla="val 9756"/>
            </a:avLst>
          </a:prstGeom>
          <a:solidFill>
            <a:srgbClr val="2E9E63"/>
          </a:solidFill>
          <a:ln w="12700">
            <a:solidFill>
              <a:srgbClr val="2E9E63"/>
            </a:solidFill>
            <a:prstDash val="solid"/>
          </a:ln>
        </p:spPr>
      </p:sp>
      <p:sp>
        <p:nvSpPr>
          <p:cNvPr id="30" name="Text 28"/>
          <p:cNvSpPr/>
          <p:nvPr/>
        </p:nvSpPr>
        <p:spPr>
          <a:xfrm>
            <a:off x="7845552" y="3813048"/>
            <a:ext cx="1499616" cy="34491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PV</a:t>
            </a:r>
            <a:endParaRPr lang="en-US" sz="1400" dirty="0"/>
          </a:p>
        </p:txBody>
      </p:sp>
      <p:sp>
        <p:nvSpPr>
          <p:cNvPr id="31" name="Text 29"/>
          <p:cNvSpPr/>
          <p:nvPr/>
        </p:nvSpPr>
        <p:spPr>
          <a:xfrm>
            <a:off x="7845552" y="4078224"/>
            <a:ext cx="1499616" cy="329916"/>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provisioned zone-b</a:t>
            </a:r>
            <a:endParaRPr lang="en-US" sz="1050" dirty="0"/>
          </a:p>
        </p:txBody>
      </p:sp>
      <p:sp>
        <p:nvSpPr>
          <p:cNvPr id="32" name="Shape 30"/>
          <p:cNvSpPr/>
          <p:nvPr/>
        </p:nvSpPr>
        <p:spPr>
          <a:xfrm>
            <a:off x="8366760" y="2788920"/>
            <a:ext cx="365760" cy="0"/>
          </a:xfrm>
          <a:prstGeom prst="line">
            <a:avLst/>
          </a:prstGeom>
          <a:noFill/>
          <a:ln w="25400">
            <a:solidFill>
              <a:srgbClr val="F2A03D"/>
            </a:solidFill>
            <a:prstDash val="solid"/>
            <a:tailEnd type="triangle"/>
          </a:ln>
        </p:spPr>
      </p:sp>
      <p:sp>
        <p:nvSpPr>
          <p:cNvPr id="33" name="Text 31"/>
          <p:cNvSpPr/>
          <p:nvPr/>
        </p:nvSpPr>
        <p:spPr>
          <a:xfrm>
            <a:off x="7909560" y="2404872"/>
            <a:ext cx="2377440" cy="310896"/>
          </a:xfrm>
          <a:prstGeom prst="rect">
            <a:avLst/>
          </a:prstGeom>
          <a:noFill/>
          <a:ln/>
        </p:spPr>
        <p:txBody>
          <a:bodyPr wrap="square" lIns="0" tIns="0" rIns="0" bIns="0" rtlCol="0" anchor="ctr"/>
          <a:lstStyle/>
          <a:p>
            <a:pPr algn="ctr" indent="0" marL="0">
              <a:buNone/>
            </a:pPr>
            <a:r>
              <a:rPr lang="en-US" sz="1000" b="1" dirty="0">
                <a:solidFill>
                  <a:srgbClr val="F2A03D"/>
                </a:solidFill>
                <a:latin typeface="Calibri" pitchFamily="34" charset="0"/>
                <a:ea typeface="Calibri" pitchFamily="34" charset="-122"/>
                <a:cs typeface="Calibri" pitchFamily="34" charset="-120"/>
              </a:rPr>
              <a:t>scheduler first</a:t>
            </a:r>
            <a:endParaRPr lang="en-US" sz="1000" dirty="0"/>
          </a:p>
        </p:txBody>
      </p:sp>
      <p:sp>
        <p:nvSpPr>
          <p:cNvPr id="34" name="Shape 32"/>
          <p:cNvSpPr/>
          <p:nvPr/>
        </p:nvSpPr>
        <p:spPr>
          <a:xfrm>
            <a:off x="9372600" y="3218688"/>
            <a:ext cx="-777240" cy="438912"/>
          </a:xfrm>
          <a:prstGeom prst="line">
            <a:avLst/>
          </a:prstGeom>
          <a:noFill/>
          <a:ln w="25400">
            <a:solidFill>
              <a:srgbClr val="2E9E63"/>
            </a:solidFill>
            <a:prstDash val="solid"/>
            <a:tailEnd type="triangle"/>
          </a:ln>
        </p:spPr>
      </p:sp>
      <p:sp>
        <p:nvSpPr>
          <p:cNvPr id="35" name="Text 33"/>
          <p:cNvSpPr/>
          <p:nvPr/>
        </p:nvSpPr>
        <p:spPr>
          <a:xfrm>
            <a:off x="8915400" y="3054096"/>
            <a:ext cx="2377440" cy="310896"/>
          </a:xfrm>
          <a:prstGeom prst="rect">
            <a:avLst/>
          </a:prstGeom>
          <a:noFill/>
          <a:ln/>
        </p:spPr>
        <p:txBody>
          <a:bodyPr wrap="square" lIns="0" tIns="0" rIns="0" bIns="0" rtlCol="0" anchor="ctr"/>
          <a:lstStyle/>
          <a:p>
            <a:pPr algn="ctr" indent="0" marL="0">
              <a:buNone/>
            </a:pPr>
            <a:r>
              <a:rPr lang="en-US" sz="1000" b="1" dirty="0">
                <a:solidFill>
                  <a:srgbClr val="2E9E63"/>
                </a:solidFill>
                <a:latin typeface="Calibri" pitchFamily="34" charset="0"/>
                <a:ea typeface="Calibri" pitchFamily="34" charset="-122"/>
                <a:cs typeface="Calibri" pitchFamily="34" charset="-120"/>
              </a:rPr>
              <a:t>then create volume</a:t>
            </a:r>
            <a:endParaRPr lang="en-US" sz="1000" dirty="0"/>
          </a:p>
        </p:txBody>
      </p:sp>
      <p:sp>
        <p:nvSpPr>
          <p:cNvPr id="36" name="Text 34"/>
          <p:cNvSpPr/>
          <p:nvPr/>
        </p:nvSpPr>
        <p:spPr>
          <a:xfrm>
            <a:off x="1097280" y="4526280"/>
            <a:ext cx="4389120" cy="274320"/>
          </a:xfrm>
          <a:prstGeom prst="rect">
            <a:avLst/>
          </a:prstGeom>
          <a:noFill/>
          <a:ln/>
        </p:spPr>
        <p:txBody>
          <a:bodyPr wrap="square" lIns="0" tIns="0" rIns="0" bIns="0" rtlCol="0" anchor="ctr"/>
          <a:lstStyle/>
          <a:p>
            <a:pPr algn="ctr" indent="0" marL="0">
              <a:buNone/>
            </a:pPr>
            <a:r>
              <a:rPr lang="en-US" sz="1050" b="1" dirty="0">
                <a:solidFill>
                  <a:srgbClr val="D64545"/>
                </a:solidFill>
                <a:latin typeface="Calibri" pitchFamily="34" charset="0"/>
                <a:ea typeface="Calibri" pitchFamily="34" charset="-122"/>
                <a:cs typeface="Calibri" pitchFamily="34" charset="-120"/>
              </a:rPr>
              <a:t>Left: storage and scheduling decide independently.</a:t>
            </a:r>
            <a:endParaRPr lang="en-US" sz="1050" dirty="0"/>
          </a:p>
        </p:txBody>
      </p:sp>
      <p:sp>
        <p:nvSpPr>
          <p:cNvPr id="37" name="Text 35"/>
          <p:cNvSpPr/>
          <p:nvPr/>
        </p:nvSpPr>
        <p:spPr>
          <a:xfrm>
            <a:off x="6720840" y="4526280"/>
            <a:ext cx="4389120" cy="274320"/>
          </a:xfrm>
          <a:prstGeom prst="rect">
            <a:avLst/>
          </a:prstGeom>
          <a:noFill/>
          <a:ln/>
        </p:spPr>
        <p:txBody>
          <a:bodyPr wrap="square" lIns="0" tIns="0" rIns="0" bIns="0" rtlCol="0" anchor="ctr"/>
          <a:lstStyle/>
          <a:p>
            <a:pPr algn="ctr" indent="0" marL="0">
              <a:buNone/>
            </a:pPr>
            <a:r>
              <a:rPr lang="en-US" sz="1050" b="1" dirty="0">
                <a:solidFill>
                  <a:srgbClr val="2E9E63"/>
                </a:solidFill>
                <a:latin typeface="Calibri" pitchFamily="34" charset="0"/>
                <a:ea typeface="Calibri" pitchFamily="34" charset="-122"/>
                <a:cs typeface="Calibri" pitchFamily="34" charset="-120"/>
              </a:rPr>
              <a:t>Right: provisioning follows the pod's chosen topology.</a:t>
            </a:r>
            <a:endParaRPr lang="en-US" sz="1050" dirty="0"/>
          </a:p>
        </p:txBody>
      </p:sp>
      <p:sp>
        <p:nvSpPr>
          <p:cNvPr id="38" name="Text 36"/>
          <p:cNvSpPr/>
          <p:nvPr/>
        </p:nvSpPr>
        <p:spPr>
          <a:xfrm>
            <a:off x="566928" y="5760720"/>
            <a:ext cx="11057839" cy="411480"/>
          </a:xfrm>
          <a:prstGeom prst="rect">
            <a:avLst/>
          </a:prstGeom>
          <a:noFill/>
          <a:ln/>
        </p:spPr>
        <p:txBody>
          <a:bodyPr wrap="square" lIns="0" tIns="0" rIns="0" bIns="0" rtlCol="0" anchor="ctr"/>
          <a:lstStyle/>
          <a:p>
            <a:pPr algn="ctr" indent="0" marL="0">
              <a:buNone/>
            </a:pPr>
            <a:r>
              <a:rPr lang="en-US" sz="1410" b="1" dirty="0">
                <a:solidFill>
                  <a:srgbClr val="F2A03D"/>
                </a:solidFill>
                <a:latin typeface="Calibri" pitchFamily="34" charset="0"/>
                <a:ea typeface="Calibri" pitchFamily="34" charset="-122"/>
                <a:cs typeface="Calibri" pitchFamily="34" charset="-120"/>
              </a:rPr>
              <a:t>On topology-aware storage, Pending can be correct: the claim is waiting for the scheduler to tell storage where to exist.</a:t>
            </a:r>
            <a:endParaRPr lang="en-US" sz="1410" dirty="0"/>
          </a:p>
        </p:txBody>
      </p:sp>
      <p:sp>
        <p:nvSpPr>
          <p:cNvPr id="39" name="Text 37"/>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3</a:t>
            </a:r>
            <a:endParaRPr lang="en-US" sz="900" dirty="0"/>
          </a:p>
        </p:txBody>
      </p:sp>
      <p:sp>
        <p:nvSpPr>
          <p:cNvPr id="40" name="Text 38"/>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18</a:t>
            </a:r>
            <a:endParaRPr lang="en-US" sz="900" dirty="0"/>
          </a:p>
        </p:txBody>
      </p:sp>
      <p:pic>
        <p:nvPicPr>
          <p:cNvPr id="41"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42"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43"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1856232"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1856232"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M3.4 · STORAGE</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Reclaim policy — what happens to the volume when the claim is deleted</a:t>
            </a:r>
            <a:endParaRPr lang="en-US" sz="3200" dirty="0"/>
          </a:p>
        </p:txBody>
      </p:sp>
      <p:sp>
        <p:nvSpPr>
          <p:cNvPr id="5" name="Text 3"/>
          <p:cNvSpPr/>
          <p:nvPr/>
        </p:nvSpPr>
        <p:spPr>
          <a:xfrm>
            <a:off x="566928" y="1737360"/>
            <a:ext cx="11057839" cy="457200"/>
          </a:xfrm>
          <a:prstGeom prst="rect">
            <a:avLst/>
          </a:prstGeom>
          <a:noFill/>
          <a:ln/>
        </p:spPr>
        <p:txBody>
          <a:bodyPr wrap="square" lIns="0" tIns="0" rIns="0" bIns="0" rtlCol="0" anchor="ctr"/>
          <a:lstStyle/>
          <a:p>
            <a:pPr indent="0" marL="0">
              <a:lnSpc>
                <a:spcPts val="1700"/>
              </a:lnSpc>
              <a:buNone/>
            </a:pPr>
            <a:r>
              <a:rPr lang="en-US" sz="1350" i="1" dirty="0">
                <a:solidFill>
                  <a:srgbClr val="1C7293"/>
                </a:solidFill>
                <a:latin typeface="Calibri" pitchFamily="34" charset="0"/>
                <a:ea typeface="Calibri" pitchFamily="34" charset="-122"/>
                <a:cs typeface="Calibri" pitchFamily="34" charset="-120"/>
              </a:rPr>
              <a:t>Reclaim policy tells Kubernetes what to do with the backing storage asset after its claim is deleted. For stateful workloads, that single setting decides whether cleanup leaves recoverable bytes behind or destroys the only copy of the data.</a:t>
            </a:r>
            <a:endParaRPr lang="en-US" sz="1350" dirty="0"/>
          </a:p>
        </p:txBody>
      </p:sp>
      <p:sp>
        <p:nvSpPr>
          <p:cNvPr id="6" name="Shape 4"/>
          <p:cNvSpPr/>
          <p:nvPr/>
        </p:nvSpPr>
        <p:spPr>
          <a:xfrm>
            <a:off x="566928" y="2249424"/>
            <a:ext cx="11057839" cy="566928"/>
          </a:xfrm>
          <a:prstGeom prst="roundRect">
            <a:avLst>
              <a:gd name="adj" fmla="val 12903"/>
            </a:avLst>
          </a:prstGeom>
          <a:solidFill>
            <a:srgbClr val="EAF1F8"/>
          </a:solidFill>
          <a:ln w="12700">
            <a:solidFill>
              <a:srgbClr val="1C7293"/>
            </a:solidFill>
            <a:prstDash val="solid"/>
          </a:ln>
        </p:spPr>
      </p:sp>
      <p:sp>
        <p:nvSpPr>
          <p:cNvPr id="7" name="Text 5"/>
          <p:cNvSpPr/>
          <p:nvPr/>
        </p:nvSpPr>
        <p:spPr>
          <a:xfrm>
            <a:off x="768096" y="2249424"/>
            <a:ext cx="10655503" cy="566928"/>
          </a:xfrm>
          <a:prstGeom prst="rect">
            <a:avLst/>
          </a:prstGeom>
          <a:noFill/>
          <a:ln/>
        </p:spPr>
        <p:txBody>
          <a:bodyPr wrap="square" lIns="0" tIns="0" rIns="0" bIns="0" rtlCol="0" anchor="ctr"/>
          <a:lstStyle/>
          <a:p>
            <a:pPr indent="0" marL="0">
              <a:buNone/>
            </a:pPr>
            <a:r>
              <a:rPr lang="en-US" sz="1500" b="1" dirty="0">
                <a:solidFill>
                  <a:srgbClr val="0B1F3A"/>
                </a:solidFill>
                <a:latin typeface="Cambria" pitchFamily="34" charset="0"/>
                <a:ea typeface="Cambria" pitchFamily="34" charset="-122"/>
                <a:cs typeface="Cambria" pitchFamily="34" charset="-120"/>
              </a:rPr>
              <a:t>You delete a PVC. What happens to the actual disk behind it?</a:t>
            </a:r>
            <a:endParaRPr lang="en-US" sz="1500" dirty="0"/>
          </a:p>
        </p:txBody>
      </p:sp>
      <p:sp>
        <p:nvSpPr>
          <p:cNvPr id="8" name="Shape 6"/>
          <p:cNvSpPr/>
          <p:nvPr/>
        </p:nvSpPr>
        <p:spPr>
          <a:xfrm>
            <a:off x="566928" y="3160395"/>
            <a:ext cx="402336" cy="402336"/>
          </a:xfrm>
          <a:prstGeom prst="ellipse">
            <a:avLst/>
          </a:prstGeom>
          <a:solidFill>
            <a:srgbClr val="D64545"/>
          </a:solidFill>
          <a:ln w="12700">
            <a:solidFill>
              <a:srgbClr val="D64545"/>
            </a:solidFill>
            <a:prstDash val="solid"/>
          </a:ln>
        </p:spPr>
      </p:sp>
      <p:sp>
        <p:nvSpPr>
          <p:cNvPr id="9" name="Text 7"/>
          <p:cNvSpPr/>
          <p:nvPr/>
        </p:nvSpPr>
        <p:spPr>
          <a:xfrm>
            <a:off x="566928" y="3160395"/>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0" name="Text 8"/>
          <p:cNvSpPr/>
          <p:nvPr/>
        </p:nvSpPr>
        <p:spPr>
          <a:xfrm>
            <a:off x="1133856" y="2999232"/>
            <a:ext cx="3200400" cy="724662"/>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Generic Delete</a:t>
            </a:r>
            <a:endParaRPr lang="en-US" sz="1400" dirty="0"/>
          </a:p>
        </p:txBody>
      </p:sp>
      <p:sp>
        <p:nvSpPr>
          <p:cNvPr id="11" name="Text 9"/>
          <p:cNvSpPr/>
          <p:nvPr/>
        </p:nvSpPr>
        <p:spPr>
          <a:xfrm>
            <a:off x="4407408" y="2999232"/>
            <a:ext cx="7217359" cy="724662"/>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With Delete, Kubernetes removes the PV object and asks the provisioner to destroy the underlying disk too. That is fine for scratch or cache data and disastrous for anything you expected to recover later.</a:t>
            </a:r>
            <a:endParaRPr lang="en-US" sz="1250" dirty="0"/>
          </a:p>
        </p:txBody>
      </p:sp>
      <p:sp>
        <p:nvSpPr>
          <p:cNvPr id="12" name="Shape 10"/>
          <p:cNvSpPr/>
          <p:nvPr/>
        </p:nvSpPr>
        <p:spPr>
          <a:xfrm>
            <a:off x="566928" y="3885057"/>
            <a:ext cx="402336" cy="402336"/>
          </a:xfrm>
          <a:prstGeom prst="ellipse">
            <a:avLst/>
          </a:prstGeom>
          <a:solidFill>
            <a:srgbClr val="2E9E63"/>
          </a:solidFill>
          <a:ln w="12700">
            <a:solidFill>
              <a:srgbClr val="2E9E63"/>
            </a:solidFill>
            <a:prstDash val="solid"/>
          </a:ln>
        </p:spPr>
      </p:sp>
      <p:sp>
        <p:nvSpPr>
          <p:cNvPr id="13" name="Text 11"/>
          <p:cNvSpPr/>
          <p:nvPr/>
        </p:nvSpPr>
        <p:spPr>
          <a:xfrm>
            <a:off x="566928" y="3885057"/>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4" name="Text 12"/>
          <p:cNvSpPr/>
          <p:nvPr/>
        </p:nvSpPr>
        <p:spPr>
          <a:xfrm>
            <a:off x="1133856" y="3723894"/>
            <a:ext cx="3200400" cy="724662"/>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Generic Retain</a:t>
            </a:r>
            <a:endParaRPr lang="en-US" sz="1400" dirty="0"/>
          </a:p>
        </p:txBody>
      </p:sp>
      <p:sp>
        <p:nvSpPr>
          <p:cNvPr id="15" name="Text 13"/>
          <p:cNvSpPr/>
          <p:nvPr/>
        </p:nvSpPr>
        <p:spPr>
          <a:xfrm>
            <a:off x="4407408" y="3723894"/>
            <a:ext cx="7217359" cy="724662"/>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With Retain, Kubernetes preserves the bytes and leaves the PV in Released. It does not auto-bind a new claim because the old claimRef is still recorded; an operator must inspect and reclaim it deliberately.</a:t>
            </a:r>
            <a:endParaRPr lang="en-US" sz="1250" dirty="0"/>
          </a:p>
        </p:txBody>
      </p:sp>
      <p:sp>
        <p:nvSpPr>
          <p:cNvPr id="16" name="Shape 14"/>
          <p:cNvSpPr/>
          <p:nvPr/>
        </p:nvSpPr>
        <p:spPr>
          <a:xfrm>
            <a:off x="566928" y="4609719"/>
            <a:ext cx="402336" cy="402336"/>
          </a:xfrm>
          <a:prstGeom prst="ellipse">
            <a:avLst/>
          </a:prstGeom>
          <a:solidFill>
            <a:srgbClr val="C97B1E"/>
          </a:solidFill>
          <a:ln w="12700">
            <a:solidFill>
              <a:srgbClr val="C97B1E"/>
            </a:solidFill>
            <a:prstDash val="solid"/>
          </a:ln>
        </p:spPr>
      </p:sp>
      <p:sp>
        <p:nvSpPr>
          <p:cNvPr id="17" name="Text 15"/>
          <p:cNvSpPr/>
          <p:nvPr/>
        </p:nvSpPr>
        <p:spPr>
          <a:xfrm>
            <a:off x="566928" y="4609719"/>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8" name="Text 16"/>
          <p:cNvSpPr/>
          <p:nvPr/>
        </p:nvSpPr>
        <p:spPr>
          <a:xfrm>
            <a:off x="1133856" y="4448556"/>
            <a:ext cx="3200400" cy="724662"/>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AxisPay danger</a:t>
            </a:r>
            <a:endParaRPr lang="en-US" sz="1400" dirty="0"/>
          </a:p>
        </p:txBody>
      </p:sp>
      <p:sp>
        <p:nvSpPr>
          <p:cNvPr id="19" name="Text 17"/>
          <p:cNvSpPr/>
          <p:nvPr/>
        </p:nvSpPr>
        <p:spPr>
          <a:xfrm>
            <a:off x="4407408" y="4448556"/>
            <a:ext cx="7217359" cy="724662"/>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If AxisPay PostgreSQL used Delete, one mistaken PVC deletion could destroy 5,000 seeded payments and the ledger that explains them. Kubernetes would not be malfunctioning; it would be doing exactly what the class asked.</a:t>
            </a:r>
            <a:endParaRPr lang="en-US" sz="1250" dirty="0"/>
          </a:p>
        </p:txBody>
      </p:sp>
      <p:sp>
        <p:nvSpPr>
          <p:cNvPr id="20" name="Shape 18"/>
          <p:cNvSpPr/>
          <p:nvPr/>
        </p:nvSpPr>
        <p:spPr>
          <a:xfrm>
            <a:off x="566928" y="5334381"/>
            <a:ext cx="402336" cy="402336"/>
          </a:xfrm>
          <a:prstGeom prst="ellipse">
            <a:avLst/>
          </a:prstGeom>
          <a:solidFill>
            <a:srgbClr val="8E6FBF"/>
          </a:solidFill>
          <a:ln w="12700">
            <a:solidFill>
              <a:srgbClr val="8E6FBF"/>
            </a:solidFill>
            <a:prstDash val="solid"/>
          </a:ln>
        </p:spPr>
      </p:sp>
      <p:sp>
        <p:nvSpPr>
          <p:cNvPr id="21" name="Text 19"/>
          <p:cNvSpPr/>
          <p:nvPr/>
        </p:nvSpPr>
        <p:spPr>
          <a:xfrm>
            <a:off x="566928" y="5334381"/>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2" name="Text 20"/>
          <p:cNvSpPr/>
          <p:nvPr/>
        </p:nvSpPr>
        <p:spPr>
          <a:xfrm>
            <a:off x="1133856" y="5173218"/>
            <a:ext cx="3200400" cy="724662"/>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AxisPay rule</a:t>
            </a:r>
            <a:endParaRPr lang="en-US" sz="1400" dirty="0"/>
          </a:p>
        </p:txBody>
      </p:sp>
      <p:sp>
        <p:nvSpPr>
          <p:cNvPr id="23" name="Text 21"/>
          <p:cNvSpPr/>
          <p:nvPr/>
        </p:nvSpPr>
        <p:spPr>
          <a:xfrm>
            <a:off x="4407408" y="5173218"/>
            <a:ext cx="7217359" cy="724662"/>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For the postgres/data-tier class in this course, choose Retain. Recovering a Released PV takes manual work, but that friction is a feature when the bytes represent money, balances and reconciliation evidence.</a:t>
            </a:r>
            <a:endParaRPr lang="en-US" sz="1250" dirty="0"/>
          </a:p>
        </p:txBody>
      </p:sp>
      <p:sp>
        <p:nvSpPr>
          <p:cNvPr id="24" name="Text 22"/>
          <p:cNvSpPr/>
          <p:nvPr/>
        </p:nvSpPr>
        <p:spPr>
          <a:xfrm>
            <a:off x="566928" y="5687568"/>
            <a:ext cx="11057839" cy="548640"/>
          </a:xfrm>
          <a:prstGeom prst="rect">
            <a:avLst/>
          </a:prstGeom>
          <a:noFill/>
          <a:ln/>
        </p:spPr>
        <p:txBody>
          <a:bodyPr wrap="square" lIns="0" tIns="0" rIns="0" bIns="0" rtlCol="0" anchor="ctr"/>
          <a:lstStyle/>
          <a:p>
            <a:pPr algn="ctr" indent="0" marL="0">
              <a:buNone/>
            </a:pPr>
            <a:r>
              <a:rPr lang="en-US" sz="1400" b="1" dirty="0">
                <a:solidFill>
                  <a:srgbClr val="1C7293"/>
                </a:solidFill>
                <a:latin typeface="Calibri" pitchFamily="34" charset="0"/>
                <a:ea typeface="Calibri" pitchFamily="34" charset="-122"/>
                <a:cs typeface="Calibri" pitchFamily="34" charset="-120"/>
              </a:rPr>
              <a:t>Default is Delete. For anything you cannot recreate, Retain is a five-second StorageClass edit that turns a catastrophe into an inconvenience.</a:t>
            </a:r>
            <a:endParaRPr lang="en-US" sz="1400" dirty="0"/>
          </a:p>
        </p:txBody>
      </p:sp>
      <p:sp>
        <p:nvSpPr>
          <p:cNvPr id="25" name="Text 23"/>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3</a:t>
            </a:r>
            <a:endParaRPr lang="en-US" sz="900" dirty="0"/>
          </a:p>
        </p:txBody>
      </p:sp>
      <p:sp>
        <p:nvSpPr>
          <p:cNvPr id="26" name="Text 24"/>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19</a:t>
            </a:r>
            <a:endParaRPr lang="en-US" sz="900" dirty="0"/>
          </a:p>
        </p:txBody>
      </p:sp>
      <p:pic>
        <p:nvPicPr>
          <p:cNvPr id="27"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28"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29"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856232" cy="292608"/>
          </a:xfrm>
          <a:prstGeom prst="roundRect">
            <a:avLst>
              <a:gd name="adj" fmla="val 50000"/>
            </a:avLst>
          </a:prstGeom>
          <a:solidFill>
            <a:srgbClr val="C97B1E"/>
          </a:solidFill>
          <a:ln w="12700">
            <a:solidFill>
              <a:srgbClr val="C97B1E"/>
            </a:solidFill>
            <a:prstDash val="solid"/>
          </a:ln>
        </p:spPr>
      </p:sp>
      <p:sp>
        <p:nvSpPr>
          <p:cNvPr id="3" name="Text 1"/>
          <p:cNvSpPr/>
          <p:nvPr/>
        </p:nvSpPr>
        <p:spPr>
          <a:xfrm>
            <a:off x="566928" y="384048"/>
            <a:ext cx="1856232"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M3.4 · DIAGRAM</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Reclaim policy — preserve the bytes or destroy them</a:t>
            </a:r>
            <a:endParaRPr lang="en-US" sz="3200" dirty="0"/>
          </a:p>
        </p:txBody>
      </p:sp>
      <p:sp>
        <p:nvSpPr>
          <p:cNvPr id="5" name="Shape 3"/>
          <p:cNvSpPr/>
          <p:nvPr/>
        </p:nvSpPr>
        <p:spPr>
          <a:xfrm>
            <a:off x="4572000" y="1783080"/>
            <a:ext cx="3017520" cy="841248"/>
          </a:xfrm>
          <a:prstGeom prst="roundRect">
            <a:avLst>
              <a:gd name="adj" fmla="val 8696"/>
            </a:avLst>
          </a:prstGeom>
          <a:solidFill>
            <a:srgbClr val="D64545"/>
          </a:solidFill>
          <a:ln w="12700">
            <a:solidFill>
              <a:srgbClr val="D64545"/>
            </a:solidFill>
            <a:prstDash val="solid"/>
          </a:ln>
        </p:spPr>
      </p:sp>
      <p:sp>
        <p:nvSpPr>
          <p:cNvPr id="6" name="Text 4"/>
          <p:cNvSpPr/>
          <p:nvPr/>
        </p:nvSpPr>
        <p:spPr>
          <a:xfrm>
            <a:off x="4645152" y="1892808"/>
            <a:ext cx="2871216" cy="38697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PVC</a:t>
            </a:r>
            <a:endParaRPr lang="en-US" sz="1400" dirty="0"/>
          </a:p>
        </p:txBody>
      </p:sp>
      <p:sp>
        <p:nvSpPr>
          <p:cNvPr id="7" name="Text 5"/>
          <p:cNvSpPr/>
          <p:nvPr/>
        </p:nvSpPr>
        <p:spPr>
          <a:xfrm>
            <a:off x="4645152" y="2203704"/>
            <a:ext cx="2871216" cy="370149"/>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deleted</a:t>
            </a:r>
            <a:endParaRPr lang="en-US" sz="1050" dirty="0"/>
          </a:p>
        </p:txBody>
      </p:sp>
      <p:sp>
        <p:nvSpPr>
          <p:cNvPr id="8" name="Shape 6"/>
          <p:cNvSpPr/>
          <p:nvPr/>
        </p:nvSpPr>
        <p:spPr>
          <a:xfrm>
            <a:off x="914400" y="2743200"/>
            <a:ext cx="3749040" cy="1828800"/>
          </a:xfrm>
          <a:prstGeom prst="roundRect">
            <a:avLst>
              <a:gd name="adj" fmla="val 4000"/>
            </a:avLst>
          </a:prstGeom>
          <a:solidFill>
            <a:srgbClr val="2E9E63"/>
          </a:solidFill>
          <a:ln w="12700">
            <a:solidFill>
              <a:srgbClr val="2E9E63"/>
            </a:solidFill>
            <a:prstDash val="solid"/>
          </a:ln>
        </p:spPr>
      </p:sp>
      <p:sp>
        <p:nvSpPr>
          <p:cNvPr id="9" name="Text 7"/>
          <p:cNvSpPr/>
          <p:nvPr/>
        </p:nvSpPr>
        <p:spPr>
          <a:xfrm>
            <a:off x="987552" y="2852928"/>
            <a:ext cx="3602736" cy="8412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Retain</a:t>
            </a:r>
            <a:endParaRPr lang="en-US" sz="1400" dirty="0"/>
          </a:p>
        </p:txBody>
      </p:sp>
      <p:sp>
        <p:nvSpPr>
          <p:cNvPr id="10" name="Text 8"/>
          <p:cNvSpPr/>
          <p:nvPr/>
        </p:nvSpPr>
        <p:spPr>
          <a:xfrm>
            <a:off x="987552" y="3657600"/>
            <a:ext cx="3602736" cy="804672"/>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PV stays Released · bytes preserved</a:t>
            </a:r>
            <a:endParaRPr lang="en-US" sz="1050" dirty="0"/>
          </a:p>
        </p:txBody>
      </p:sp>
      <p:sp>
        <p:nvSpPr>
          <p:cNvPr id="11" name="Shape 9"/>
          <p:cNvSpPr/>
          <p:nvPr/>
        </p:nvSpPr>
        <p:spPr>
          <a:xfrm>
            <a:off x="7498080" y="2743200"/>
            <a:ext cx="3749040" cy="1828800"/>
          </a:xfrm>
          <a:prstGeom prst="roundRect">
            <a:avLst>
              <a:gd name="adj" fmla="val 4000"/>
            </a:avLst>
          </a:prstGeom>
          <a:solidFill>
            <a:srgbClr val="D64545"/>
          </a:solidFill>
          <a:ln w="12700">
            <a:solidFill>
              <a:srgbClr val="D64545"/>
            </a:solidFill>
            <a:prstDash val="solid"/>
          </a:ln>
        </p:spPr>
      </p:sp>
      <p:sp>
        <p:nvSpPr>
          <p:cNvPr id="12" name="Text 10"/>
          <p:cNvSpPr/>
          <p:nvPr/>
        </p:nvSpPr>
        <p:spPr>
          <a:xfrm>
            <a:off x="7571232" y="2852928"/>
            <a:ext cx="3602736" cy="8412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Delete</a:t>
            </a:r>
            <a:endParaRPr lang="en-US" sz="1400" dirty="0"/>
          </a:p>
        </p:txBody>
      </p:sp>
      <p:sp>
        <p:nvSpPr>
          <p:cNvPr id="13" name="Text 11"/>
          <p:cNvSpPr/>
          <p:nvPr/>
        </p:nvSpPr>
        <p:spPr>
          <a:xfrm>
            <a:off x="7571232" y="3657600"/>
            <a:ext cx="3602736" cy="804672"/>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PV removed · backing disk destroyed</a:t>
            </a:r>
            <a:endParaRPr lang="en-US" sz="1050" dirty="0"/>
          </a:p>
        </p:txBody>
      </p:sp>
      <p:sp>
        <p:nvSpPr>
          <p:cNvPr id="14" name="Shape 12"/>
          <p:cNvSpPr/>
          <p:nvPr/>
        </p:nvSpPr>
        <p:spPr>
          <a:xfrm>
            <a:off x="1325880" y="3429000"/>
            <a:ext cx="1280160" cy="713232"/>
          </a:xfrm>
          <a:prstGeom prst="roundRect">
            <a:avLst>
              <a:gd name="adj" fmla="val 10256"/>
            </a:avLst>
          </a:prstGeom>
          <a:solidFill>
            <a:srgbClr val="1B4066"/>
          </a:solidFill>
          <a:ln w="12700">
            <a:solidFill>
              <a:srgbClr val="1B4066"/>
            </a:solidFill>
            <a:prstDash val="solid"/>
          </a:ln>
        </p:spPr>
      </p:sp>
      <p:sp>
        <p:nvSpPr>
          <p:cNvPr id="15" name="Text 13"/>
          <p:cNvSpPr/>
          <p:nvPr/>
        </p:nvSpPr>
        <p:spPr>
          <a:xfrm>
            <a:off x="1399032" y="3538728"/>
            <a:ext cx="1133856" cy="328087"/>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PV</a:t>
            </a:r>
            <a:endParaRPr lang="en-US" sz="1400" dirty="0"/>
          </a:p>
        </p:txBody>
      </p:sp>
      <p:sp>
        <p:nvSpPr>
          <p:cNvPr id="16" name="Text 14"/>
          <p:cNvSpPr/>
          <p:nvPr/>
        </p:nvSpPr>
        <p:spPr>
          <a:xfrm>
            <a:off x="1399032" y="3785616"/>
            <a:ext cx="1133856" cy="313822"/>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Released</a:t>
            </a:r>
            <a:endParaRPr lang="en-US" sz="1050" dirty="0"/>
          </a:p>
        </p:txBody>
      </p:sp>
      <p:sp>
        <p:nvSpPr>
          <p:cNvPr id="17" name="Shape 15"/>
          <p:cNvSpPr/>
          <p:nvPr/>
        </p:nvSpPr>
        <p:spPr>
          <a:xfrm>
            <a:off x="2834640" y="3429000"/>
            <a:ext cx="1417320" cy="713232"/>
          </a:xfrm>
          <a:prstGeom prst="roundRect">
            <a:avLst>
              <a:gd name="adj" fmla="val 10256"/>
            </a:avLst>
          </a:prstGeom>
          <a:solidFill>
            <a:srgbClr val="1B4066"/>
          </a:solidFill>
          <a:ln w="12700">
            <a:solidFill>
              <a:srgbClr val="1B4066"/>
            </a:solidFill>
            <a:prstDash val="solid"/>
          </a:ln>
        </p:spPr>
      </p:sp>
      <p:sp>
        <p:nvSpPr>
          <p:cNvPr id="18" name="Text 16"/>
          <p:cNvSpPr/>
          <p:nvPr/>
        </p:nvSpPr>
        <p:spPr>
          <a:xfrm>
            <a:off x="2907792" y="3538728"/>
            <a:ext cx="1271016" cy="328087"/>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Disk</a:t>
            </a:r>
            <a:endParaRPr lang="en-US" sz="1400" dirty="0"/>
          </a:p>
        </p:txBody>
      </p:sp>
      <p:sp>
        <p:nvSpPr>
          <p:cNvPr id="19" name="Text 17"/>
          <p:cNvSpPr/>
          <p:nvPr/>
        </p:nvSpPr>
        <p:spPr>
          <a:xfrm>
            <a:off x="2907792" y="3785616"/>
            <a:ext cx="1271016" cy="313822"/>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manual cleanup</a:t>
            </a:r>
            <a:endParaRPr lang="en-US" sz="1050" dirty="0"/>
          </a:p>
        </p:txBody>
      </p:sp>
      <p:sp>
        <p:nvSpPr>
          <p:cNvPr id="20" name="Shape 18"/>
          <p:cNvSpPr/>
          <p:nvPr/>
        </p:nvSpPr>
        <p:spPr>
          <a:xfrm>
            <a:off x="7909560" y="3429000"/>
            <a:ext cx="1280160" cy="713232"/>
          </a:xfrm>
          <a:prstGeom prst="roundRect">
            <a:avLst>
              <a:gd name="adj" fmla="val 10256"/>
            </a:avLst>
          </a:prstGeom>
          <a:solidFill>
            <a:srgbClr val="5A2A2A"/>
          </a:solidFill>
          <a:ln w="12700">
            <a:solidFill>
              <a:srgbClr val="5A2A2A"/>
            </a:solidFill>
            <a:prstDash val="solid"/>
          </a:ln>
        </p:spPr>
      </p:sp>
      <p:sp>
        <p:nvSpPr>
          <p:cNvPr id="21" name="Text 19"/>
          <p:cNvSpPr/>
          <p:nvPr/>
        </p:nvSpPr>
        <p:spPr>
          <a:xfrm>
            <a:off x="7982712" y="3538728"/>
            <a:ext cx="1133856" cy="328087"/>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PV</a:t>
            </a:r>
            <a:endParaRPr lang="en-US" sz="1400" dirty="0"/>
          </a:p>
        </p:txBody>
      </p:sp>
      <p:sp>
        <p:nvSpPr>
          <p:cNvPr id="22" name="Text 20"/>
          <p:cNvSpPr/>
          <p:nvPr/>
        </p:nvSpPr>
        <p:spPr>
          <a:xfrm>
            <a:off x="7982712" y="3785616"/>
            <a:ext cx="1133856" cy="313822"/>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deleted</a:t>
            </a:r>
            <a:endParaRPr lang="en-US" sz="1050" dirty="0"/>
          </a:p>
        </p:txBody>
      </p:sp>
      <p:sp>
        <p:nvSpPr>
          <p:cNvPr id="23" name="Shape 21"/>
          <p:cNvSpPr/>
          <p:nvPr/>
        </p:nvSpPr>
        <p:spPr>
          <a:xfrm>
            <a:off x="9418320" y="3429000"/>
            <a:ext cx="1417320" cy="713232"/>
          </a:xfrm>
          <a:prstGeom prst="roundRect">
            <a:avLst>
              <a:gd name="adj" fmla="val 10256"/>
            </a:avLst>
          </a:prstGeom>
          <a:solidFill>
            <a:srgbClr val="5A2A2A"/>
          </a:solidFill>
          <a:ln w="12700">
            <a:solidFill>
              <a:srgbClr val="5A2A2A"/>
            </a:solidFill>
            <a:prstDash val="solid"/>
          </a:ln>
        </p:spPr>
      </p:sp>
      <p:sp>
        <p:nvSpPr>
          <p:cNvPr id="24" name="Text 22"/>
          <p:cNvSpPr/>
          <p:nvPr/>
        </p:nvSpPr>
        <p:spPr>
          <a:xfrm>
            <a:off x="9491472" y="3538728"/>
            <a:ext cx="1271016" cy="328087"/>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Disk</a:t>
            </a:r>
            <a:endParaRPr lang="en-US" sz="1400" dirty="0"/>
          </a:p>
        </p:txBody>
      </p:sp>
      <p:sp>
        <p:nvSpPr>
          <p:cNvPr id="25" name="Text 23"/>
          <p:cNvSpPr/>
          <p:nvPr/>
        </p:nvSpPr>
        <p:spPr>
          <a:xfrm>
            <a:off x="9491472" y="3785616"/>
            <a:ext cx="1271016" cy="313822"/>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deleted</a:t>
            </a:r>
            <a:endParaRPr lang="en-US" sz="1050" dirty="0"/>
          </a:p>
        </p:txBody>
      </p:sp>
      <p:sp>
        <p:nvSpPr>
          <p:cNvPr id="26" name="Shape 24"/>
          <p:cNvSpPr/>
          <p:nvPr/>
        </p:nvSpPr>
        <p:spPr>
          <a:xfrm>
            <a:off x="5394960" y="2670048"/>
            <a:ext cx="-2194560" cy="384048"/>
          </a:xfrm>
          <a:prstGeom prst="line">
            <a:avLst/>
          </a:prstGeom>
          <a:noFill/>
          <a:ln w="25400">
            <a:solidFill>
              <a:srgbClr val="2E9E63"/>
            </a:solidFill>
            <a:prstDash val="solid"/>
            <a:tailEnd type="triangle"/>
          </a:ln>
        </p:spPr>
      </p:sp>
      <p:sp>
        <p:nvSpPr>
          <p:cNvPr id="27" name="Text 25"/>
          <p:cNvSpPr/>
          <p:nvPr/>
        </p:nvSpPr>
        <p:spPr>
          <a:xfrm>
            <a:off x="4937760" y="2478024"/>
            <a:ext cx="3108960" cy="310896"/>
          </a:xfrm>
          <a:prstGeom prst="rect">
            <a:avLst/>
          </a:prstGeom>
          <a:noFill/>
          <a:ln/>
        </p:spPr>
        <p:txBody>
          <a:bodyPr wrap="square" lIns="0" tIns="0" rIns="0" bIns="0" rtlCol="0" anchor="ctr"/>
          <a:lstStyle/>
          <a:p>
            <a:pPr algn="ctr" indent="0" marL="0">
              <a:buNone/>
            </a:pPr>
            <a:r>
              <a:rPr lang="en-US" sz="1000" b="1" dirty="0">
                <a:solidFill>
                  <a:srgbClr val="2E9E63"/>
                </a:solidFill>
                <a:latin typeface="Calibri" pitchFamily="34" charset="0"/>
                <a:ea typeface="Calibri" pitchFamily="34" charset="-122"/>
                <a:cs typeface="Calibri" pitchFamily="34" charset="-120"/>
              </a:rPr>
              <a:t>preserve</a:t>
            </a:r>
            <a:endParaRPr lang="en-US" sz="1000" dirty="0"/>
          </a:p>
        </p:txBody>
      </p:sp>
      <p:sp>
        <p:nvSpPr>
          <p:cNvPr id="28" name="Shape 26"/>
          <p:cNvSpPr/>
          <p:nvPr/>
        </p:nvSpPr>
        <p:spPr>
          <a:xfrm>
            <a:off x="6766560" y="2670048"/>
            <a:ext cx="2103120" cy="384048"/>
          </a:xfrm>
          <a:prstGeom prst="line">
            <a:avLst/>
          </a:prstGeom>
          <a:noFill/>
          <a:ln w="25400">
            <a:solidFill>
              <a:srgbClr val="D64545"/>
            </a:solidFill>
            <a:prstDash val="solid"/>
            <a:tailEnd type="triangle"/>
          </a:ln>
        </p:spPr>
      </p:sp>
      <p:sp>
        <p:nvSpPr>
          <p:cNvPr id="29" name="Text 27"/>
          <p:cNvSpPr/>
          <p:nvPr/>
        </p:nvSpPr>
        <p:spPr>
          <a:xfrm>
            <a:off x="6309360" y="2478024"/>
            <a:ext cx="3017520" cy="310896"/>
          </a:xfrm>
          <a:prstGeom prst="rect">
            <a:avLst/>
          </a:prstGeom>
          <a:noFill/>
          <a:ln/>
        </p:spPr>
        <p:txBody>
          <a:bodyPr wrap="square" lIns="0" tIns="0" rIns="0" bIns="0" rtlCol="0" anchor="ctr"/>
          <a:lstStyle/>
          <a:p>
            <a:pPr algn="ctr" indent="0" marL="0">
              <a:buNone/>
            </a:pPr>
            <a:r>
              <a:rPr lang="en-US" sz="1000" b="1" dirty="0">
                <a:solidFill>
                  <a:srgbClr val="D64545"/>
                </a:solidFill>
                <a:latin typeface="Calibri" pitchFamily="34" charset="0"/>
                <a:ea typeface="Calibri" pitchFamily="34" charset="-122"/>
                <a:cs typeface="Calibri" pitchFamily="34" charset="-120"/>
              </a:rPr>
              <a:t>tear down</a:t>
            </a:r>
            <a:endParaRPr lang="en-US" sz="1000" dirty="0"/>
          </a:p>
        </p:txBody>
      </p:sp>
      <p:sp>
        <p:nvSpPr>
          <p:cNvPr id="30" name="Shape 28"/>
          <p:cNvSpPr/>
          <p:nvPr/>
        </p:nvSpPr>
        <p:spPr>
          <a:xfrm>
            <a:off x="2651760" y="3794760"/>
            <a:ext cx="137160" cy="0"/>
          </a:xfrm>
          <a:prstGeom prst="line">
            <a:avLst/>
          </a:prstGeom>
          <a:noFill/>
          <a:ln w="25400">
            <a:solidFill>
              <a:srgbClr val="2E9E63"/>
            </a:solidFill>
            <a:prstDash val="solid"/>
            <a:tailEnd type="triangle"/>
          </a:ln>
        </p:spPr>
      </p:sp>
      <p:sp>
        <p:nvSpPr>
          <p:cNvPr id="31" name="Shape 29"/>
          <p:cNvSpPr/>
          <p:nvPr/>
        </p:nvSpPr>
        <p:spPr>
          <a:xfrm>
            <a:off x="9235440" y="3794760"/>
            <a:ext cx="137160" cy="0"/>
          </a:xfrm>
          <a:prstGeom prst="line">
            <a:avLst/>
          </a:prstGeom>
          <a:noFill/>
          <a:ln w="25400">
            <a:solidFill>
              <a:srgbClr val="D64545"/>
            </a:solidFill>
            <a:prstDash val="solid"/>
            <a:tailEnd type="triangle"/>
          </a:ln>
        </p:spPr>
      </p:sp>
      <p:sp>
        <p:nvSpPr>
          <p:cNvPr id="32" name="Text 30"/>
          <p:cNvSpPr/>
          <p:nvPr/>
        </p:nvSpPr>
        <p:spPr>
          <a:xfrm>
            <a:off x="566928" y="5715000"/>
            <a:ext cx="11057839" cy="411480"/>
          </a:xfrm>
          <a:prstGeom prst="rect">
            <a:avLst/>
          </a:prstGeom>
          <a:noFill/>
          <a:ln/>
        </p:spPr>
        <p:txBody>
          <a:bodyPr wrap="square" lIns="0" tIns="0" rIns="0" bIns="0" rtlCol="0" anchor="ctr"/>
          <a:lstStyle/>
          <a:p>
            <a:pPr algn="ctr" indent="0" marL="0">
              <a:buNone/>
            </a:pPr>
            <a:r>
              <a:rPr lang="en-US" sz="1480" b="1" dirty="0">
                <a:solidFill>
                  <a:srgbClr val="F2A03D"/>
                </a:solidFill>
                <a:latin typeface="Calibri" pitchFamily="34" charset="0"/>
                <a:ea typeface="Calibri" pitchFamily="34" charset="-122"/>
                <a:cs typeface="Calibri" pitchFamily="34" charset="-120"/>
              </a:rPr>
              <a:t>Retain adds recovery work. Delete removes recovery options.</a:t>
            </a:r>
            <a:endParaRPr lang="en-US" sz="1480" dirty="0"/>
          </a:p>
        </p:txBody>
      </p:sp>
      <p:sp>
        <p:nvSpPr>
          <p:cNvPr id="33" name="Text 31"/>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3</a:t>
            </a:r>
            <a:endParaRPr lang="en-US" sz="900" dirty="0"/>
          </a:p>
        </p:txBody>
      </p:sp>
      <p:sp>
        <p:nvSpPr>
          <p:cNvPr id="34" name="Text 32"/>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20</a:t>
            </a:r>
            <a:endParaRPr lang="en-US" sz="900" dirty="0"/>
          </a:p>
        </p:txBody>
      </p:sp>
      <p:pic>
        <p:nvPicPr>
          <p:cNvPr id="35"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36"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37"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1856232"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1856232"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M3.4 · STORAGE</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Projected Volumes — one mount, several sources</a:t>
            </a:r>
            <a:endParaRPr lang="en-US" sz="3200" dirty="0"/>
          </a:p>
        </p:txBody>
      </p:sp>
      <p:sp>
        <p:nvSpPr>
          <p:cNvPr id="5" name="Text 3"/>
          <p:cNvSpPr/>
          <p:nvPr/>
        </p:nvSpPr>
        <p:spPr>
          <a:xfrm>
            <a:off x="566928" y="1737360"/>
            <a:ext cx="11057839" cy="411480"/>
          </a:xfrm>
          <a:prstGeom prst="rect">
            <a:avLst/>
          </a:prstGeom>
          <a:noFill/>
          <a:ln/>
        </p:spPr>
        <p:txBody>
          <a:bodyPr wrap="square" lIns="0" tIns="0" rIns="0" bIns="0" rtlCol="0" anchor="ctr"/>
          <a:lstStyle/>
          <a:p>
            <a:pPr indent="0" marL="0">
              <a:buNone/>
            </a:pPr>
            <a:r>
              <a:rPr lang="en-US" sz="1500" i="1" dirty="0">
                <a:solidFill>
                  <a:srgbClr val="1C7293"/>
                </a:solidFill>
                <a:latin typeface="Calibri" pitchFamily="34" charset="0"/>
                <a:ea typeface="Calibri" pitchFamily="34" charset="-122"/>
                <a:cs typeface="Calibri" pitchFamily="34" charset="-120"/>
              </a:rPr>
              <a:t>A projected volume presents selected data from multiple Kubernetes sources as one directory tree inside the container. The application reads normal files while Kubernetes handles where each file came from and how it is refreshed.</a:t>
            </a:r>
            <a:endParaRPr lang="en-US" sz="1500" dirty="0"/>
          </a:p>
        </p:txBody>
      </p:sp>
      <p:sp>
        <p:nvSpPr>
          <p:cNvPr id="6" name="Shape 4"/>
          <p:cNvSpPr/>
          <p:nvPr/>
        </p:nvSpPr>
        <p:spPr>
          <a:xfrm>
            <a:off x="566928" y="2331720"/>
            <a:ext cx="2545004" cy="3611880"/>
          </a:xfrm>
          <a:prstGeom prst="roundRect">
            <a:avLst>
              <a:gd name="adj" fmla="val 3234"/>
            </a:avLst>
          </a:prstGeom>
          <a:solidFill>
            <a:srgbClr val="FFFFFF"/>
          </a:solidFill>
          <a:ln w="12700">
            <a:solidFill>
              <a:srgbClr val="DCE4EE"/>
            </a:solidFill>
            <a:prstDash val="solid"/>
          </a:ln>
          <a:effectLst>
            <a:outerShdw sx="100000" sy="100000" kx="0" ky="0" algn="bl" rotWithShape="0" blurRad="101600" dist="12700" dir="5400000">
              <a:srgbClr val="8899AA">
                <a:alpha val="10000"/>
              </a:srgbClr>
            </a:outerShdw>
          </a:effectLst>
        </p:spPr>
      </p:sp>
      <p:sp>
        <p:nvSpPr>
          <p:cNvPr id="7" name="Shape 5"/>
          <p:cNvSpPr/>
          <p:nvPr/>
        </p:nvSpPr>
        <p:spPr>
          <a:xfrm>
            <a:off x="822960" y="2606040"/>
            <a:ext cx="566928" cy="566928"/>
          </a:xfrm>
          <a:prstGeom prst="ellipse">
            <a:avLst/>
          </a:prstGeom>
          <a:solidFill>
            <a:srgbClr val="1C7293"/>
          </a:solidFill>
          <a:ln w="12700">
            <a:solidFill>
              <a:srgbClr val="1C7293"/>
            </a:solidFill>
            <a:prstDash val="solid"/>
          </a:ln>
        </p:spPr>
      </p:sp>
      <p:sp>
        <p:nvSpPr>
          <p:cNvPr id="8" name="Text 6"/>
          <p:cNvSpPr/>
          <p:nvPr/>
        </p:nvSpPr>
        <p:spPr>
          <a:xfrm>
            <a:off x="822960" y="260604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C</a:t>
            </a:r>
            <a:endParaRPr lang="en-US" sz="2000" dirty="0"/>
          </a:p>
        </p:txBody>
      </p:sp>
      <p:sp>
        <p:nvSpPr>
          <p:cNvPr id="9" name="Text 7"/>
          <p:cNvSpPr/>
          <p:nvPr/>
        </p:nvSpPr>
        <p:spPr>
          <a:xfrm>
            <a:off x="822960" y="3300984"/>
            <a:ext cx="2032940" cy="566928"/>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configMap</a:t>
            </a:r>
            <a:endParaRPr lang="en-US" sz="1600" dirty="0"/>
          </a:p>
        </p:txBody>
      </p:sp>
      <p:sp>
        <p:nvSpPr>
          <p:cNvPr id="10" name="Text 8"/>
          <p:cNvSpPr/>
          <p:nvPr/>
        </p:nvSpPr>
        <p:spPr>
          <a:xfrm>
            <a:off x="822960" y="3886200"/>
            <a:ext cx="2032940" cy="1783080"/>
          </a:xfrm>
          <a:prstGeom prst="rect">
            <a:avLst/>
          </a:prstGeom>
          <a:noFill/>
          <a:ln/>
        </p:spPr>
        <p:txBody>
          <a:bodyPr wrap="square" lIns="0" tIns="0" rIns="0" bIns="0" rtlCol="0" anchor="ctr"/>
          <a:lstStyle/>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Generic layer: a web-app can read app.yaml or feature flags from a ConfigMap source inside the projected tree. The process just opens a file under one mount path and never cares which API object supplied it.</a:t>
            </a:r>
            <a:endParaRPr lang="en-US" sz="1250" dirty="0"/>
          </a:p>
        </p:txBody>
      </p:sp>
      <p:sp>
        <p:nvSpPr>
          <p:cNvPr id="11" name="Shape 9"/>
          <p:cNvSpPr/>
          <p:nvPr/>
        </p:nvSpPr>
        <p:spPr>
          <a:xfrm>
            <a:off x="3404540" y="2331720"/>
            <a:ext cx="2545004" cy="3611880"/>
          </a:xfrm>
          <a:prstGeom prst="roundRect">
            <a:avLst>
              <a:gd name="adj" fmla="val 3234"/>
            </a:avLst>
          </a:prstGeom>
          <a:solidFill>
            <a:srgbClr val="FFFFFF"/>
          </a:solidFill>
          <a:ln w="12700">
            <a:solidFill>
              <a:srgbClr val="DCE4EE"/>
            </a:solidFill>
            <a:prstDash val="solid"/>
          </a:ln>
          <a:effectLst>
            <a:outerShdw sx="100000" sy="100000" kx="0" ky="0" algn="bl" rotWithShape="0" blurRad="101600" dist="12700" dir="5400000">
              <a:srgbClr val="8899AA">
                <a:alpha val="10000"/>
              </a:srgbClr>
            </a:outerShdw>
          </a:effectLst>
        </p:spPr>
      </p:sp>
      <p:sp>
        <p:nvSpPr>
          <p:cNvPr id="12" name="Shape 10"/>
          <p:cNvSpPr/>
          <p:nvPr/>
        </p:nvSpPr>
        <p:spPr>
          <a:xfrm>
            <a:off x="3660572" y="2606040"/>
            <a:ext cx="566928" cy="566928"/>
          </a:xfrm>
          <a:prstGeom prst="ellipse">
            <a:avLst/>
          </a:prstGeom>
          <a:solidFill>
            <a:srgbClr val="D64545"/>
          </a:solidFill>
          <a:ln w="12700">
            <a:solidFill>
              <a:srgbClr val="D64545"/>
            </a:solidFill>
            <a:prstDash val="solid"/>
          </a:ln>
        </p:spPr>
      </p:sp>
      <p:sp>
        <p:nvSpPr>
          <p:cNvPr id="13" name="Text 11"/>
          <p:cNvSpPr/>
          <p:nvPr/>
        </p:nvSpPr>
        <p:spPr>
          <a:xfrm>
            <a:off x="3660572" y="260604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S</a:t>
            </a:r>
            <a:endParaRPr lang="en-US" sz="2000" dirty="0"/>
          </a:p>
        </p:txBody>
      </p:sp>
      <p:sp>
        <p:nvSpPr>
          <p:cNvPr id="14" name="Text 12"/>
          <p:cNvSpPr/>
          <p:nvPr/>
        </p:nvSpPr>
        <p:spPr>
          <a:xfrm>
            <a:off x="3660572" y="3300984"/>
            <a:ext cx="2032940" cy="566928"/>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secret</a:t>
            </a:r>
            <a:endParaRPr lang="en-US" sz="1600" dirty="0"/>
          </a:p>
        </p:txBody>
      </p:sp>
      <p:sp>
        <p:nvSpPr>
          <p:cNvPr id="15" name="Text 13"/>
          <p:cNvSpPr/>
          <p:nvPr/>
        </p:nvSpPr>
        <p:spPr>
          <a:xfrm>
            <a:off x="3660572" y="3886200"/>
            <a:ext cx="2032940" cy="1783080"/>
          </a:xfrm>
          <a:prstGeom prst="rect">
            <a:avLst/>
          </a:prstGeom>
          <a:noFill/>
          <a:ln/>
        </p:spPr>
        <p:txBody>
          <a:bodyPr wrap="square" lIns="0" tIns="0" rIns="0" bIns="0" rtlCol="0" anchor="ctr"/>
          <a:lstStyle/>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Generic layer: the same directory can also carry db-password, api-key or tls.key from a Secret source. This keeps confidential and non-confidential files side by side without forcing the application to stitch paths together.</a:t>
            </a:r>
            <a:endParaRPr lang="en-US" sz="1250" dirty="0"/>
          </a:p>
        </p:txBody>
      </p:sp>
      <p:sp>
        <p:nvSpPr>
          <p:cNvPr id="16" name="Shape 14"/>
          <p:cNvSpPr/>
          <p:nvPr/>
        </p:nvSpPr>
        <p:spPr>
          <a:xfrm>
            <a:off x="6242152" y="2331720"/>
            <a:ext cx="2545004" cy="3611880"/>
          </a:xfrm>
          <a:prstGeom prst="roundRect">
            <a:avLst>
              <a:gd name="adj" fmla="val 3234"/>
            </a:avLst>
          </a:prstGeom>
          <a:solidFill>
            <a:srgbClr val="FFFFFF"/>
          </a:solidFill>
          <a:ln w="12700">
            <a:solidFill>
              <a:srgbClr val="DCE4EE"/>
            </a:solidFill>
            <a:prstDash val="solid"/>
          </a:ln>
          <a:effectLst>
            <a:outerShdw sx="100000" sy="100000" kx="0" ky="0" algn="bl" rotWithShape="0" blurRad="101600" dist="12700" dir="5400000">
              <a:srgbClr val="8899AA">
                <a:alpha val="10000"/>
              </a:srgbClr>
            </a:outerShdw>
          </a:effectLst>
        </p:spPr>
      </p:sp>
      <p:sp>
        <p:nvSpPr>
          <p:cNvPr id="17" name="Shape 15"/>
          <p:cNvSpPr/>
          <p:nvPr/>
        </p:nvSpPr>
        <p:spPr>
          <a:xfrm>
            <a:off x="6498184" y="2606040"/>
            <a:ext cx="566928" cy="566928"/>
          </a:xfrm>
          <a:prstGeom prst="ellipse">
            <a:avLst/>
          </a:prstGeom>
          <a:solidFill>
            <a:srgbClr val="C97B1E"/>
          </a:solidFill>
          <a:ln w="12700">
            <a:solidFill>
              <a:srgbClr val="C97B1E"/>
            </a:solidFill>
            <a:prstDash val="solid"/>
          </a:ln>
        </p:spPr>
      </p:sp>
      <p:sp>
        <p:nvSpPr>
          <p:cNvPr id="18" name="Text 16"/>
          <p:cNvSpPr/>
          <p:nvPr/>
        </p:nvSpPr>
        <p:spPr>
          <a:xfrm>
            <a:off x="6498184" y="260604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D</a:t>
            </a:r>
            <a:endParaRPr lang="en-US" sz="2000" dirty="0"/>
          </a:p>
        </p:txBody>
      </p:sp>
      <p:sp>
        <p:nvSpPr>
          <p:cNvPr id="19" name="Text 17"/>
          <p:cNvSpPr/>
          <p:nvPr/>
        </p:nvSpPr>
        <p:spPr>
          <a:xfrm>
            <a:off x="6498184" y="3300984"/>
            <a:ext cx="2032940" cy="566928"/>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downwardAPI</a:t>
            </a:r>
            <a:endParaRPr lang="en-US" sz="1600" dirty="0"/>
          </a:p>
        </p:txBody>
      </p:sp>
      <p:sp>
        <p:nvSpPr>
          <p:cNvPr id="20" name="Text 18"/>
          <p:cNvSpPr/>
          <p:nvPr/>
        </p:nvSpPr>
        <p:spPr>
          <a:xfrm>
            <a:off x="6498184" y="3886200"/>
            <a:ext cx="2032940" cy="1783080"/>
          </a:xfrm>
          <a:prstGeom prst="rect">
            <a:avLst/>
          </a:prstGeom>
          <a:noFill/>
          <a:ln/>
        </p:spPr>
        <p:txBody>
          <a:bodyPr wrap="square" lIns="0" tIns="0" rIns="0" bIns="0" rtlCol="0" anchor="ctr"/>
          <a:lstStyle/>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AxisPay layer: payment-service can read pod name, namespace or labels from downwardAPI files and stamp them into logs or metrics without ever calling the Kubernetes API directly.</a:t>
            </a:r>
            <a:endParaRPr lang="en-US" sz="1250" dirty="0"/>
          </a:p>
        </p:txBody>
      </p:sp>
      <p:sp>
        <p:nvSpPr>
          <p:cNvPr id="21" name="Shape 19"/>
          <p:cNvSpPr/>
          <p:nvPr/>
        </p:nvSpPr>
        <p:spPr>
          <a:xfrm>
            <a:off x="9079763" y="2331720"/>
            <a:ext cx="2545004" cy="3611880"/>
          </a:xfrm>
          <a:prstGeom prst="roundRect">
            <a:avLst>
              <a:gd name="adj" fmla="val 3234"/>
            </a:avLst>
          </a:prstGeom>
          <a:solidFill>
            <a:srgbClr val="FFFFFF"/>
          </a:solidFill>
          <a:ln w="12700">
            <a:solidFill>
              <a:srgbClr val="DCE4EE"/>
            </a:solidFill>
            <a:prstDash val="solid"/>
          </a:ln>
          <a:effectLst>
            <a:outerShdw sx="100000" sy="100000" kx="0" ky="0" algn="bl" rotWithShape="0" blurRad="101600" dist="12700" dir="5400000">
              <a:srgbClr val="8899AA">
                <a:alpha val="10000"/>
              </a:srgbClr>
            </a:outerShdw>
          </a:effectLst>
        </p:spPr>
      </p:sp>
      <p:sp>
        <p:nvSpPr>
          <p:cNvPr id="22" name="Shape 20"/>
          <p:cNvSpPr/>
          <p:nvPr/>
        </p:nvSpPr>
        <p:spPr>
          <a:xfrm>
            <a:off x="9335795" y="2606040"/>
            <a:ext cx="566928" cy="566928"/>
          </a:xfrm>
          <a:prstGeom prst="ellipse">
            <a:avLst/>
          </a:prstGeom>
          <a:solidFill>
            <a:srgbClr val="2E9E63"/>
          </a:solidFill>
          <a:ln w="12700">
            <a:solidFill>
              <a:srgbClr val="2E9E63"/>
            </a:solidFill>
            <a:prstDash val="solid"/>
          </a:ln>
        </p:spPr>
      </p:sp>
      <p:sp>
        <p:nvSpPr>
          <p:cNvPr id="23" name="Text 21"/>
          <p:cNvSpPr/>
          <p:nvPr/>
        </p:nvSpPr>
        <p:spPr>
          <a:xfrm>
            <a:off x="9335795" y="260604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T</a:t>
            </a:r>
            <a:endParaRPr lang="en-US" sz="2000" dirty="0"/>
          </a:p>
        </p:txBody>
      </p:sp>
      <p:sp>
        <p:nvSpPr>
          <p:cNvPr id="24" name="Text 22"/>
          <p:cNvSpPr/>
          <p:nvPr/>
        </p:nvSpPr>
        <p:spPr>
          <a:xfrm>
            <a:off x="9335795" y="3300984"/>
            <a:ext cx="2032940" cy="566928"/>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serviceAccountToken</a:t>
            </a:r>
            <a:endParaRPr lang="en-US" sz="1600" dirty="0"/>
          </a:p>
        </p:txBody>
      </p:sp>
      <p:sp>
        <p:nvSpPr>
          <p:cNvPr id="25" name="Text 23"/>
          <p:cNvSpPr/>
          <p:nvPr/>
        </p:nvSpPr>
        <p:spPr>
          <a:xfrm>
            <a:off x="9335795" y="3886200"/>
            <a:ext cx="2032940" cy="1783080"/>
          </a:xfrm>
          <a:prstGeom prst="rect">
            <a:avLst/>
          </a:prstGeom>
          <a:noFill/>
          <a:ln/>
        </p:spPr>
        <p:txBody>
          <a:bodyPr wrap="square" lIns="0" tIns="0" rIns="0" bIns="0" rtlCol="0" anchor="ctr"/>
          <a:lstStyle/>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AxisPay layer: an operational helper can mount a short-lived bound token next to app config and credentials under /etc/axispay/. One directory now carries identity, settings and secrets in a single read-only tree.</a:t>
            </a:r>
            <a:endParaRPr lang="en-US" sz="1250" dirty="0"/>
          </a:p>
        </p:txBody>
      </p:sp>
      <p:sp>
        <p:nvSpPr>
          <p:cNvPr id="26" name="Text 24"/>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3</a:t>
            </a:r>
            <a:endParaRPr lang="en-US" sz="900" dirty="0"/>
          </a:p>
        </p:txBody>
      </p:sp>
      <p:sp>
        <p:nvSpPr>
          <p:cNvPr id="27" name="Text 25"/>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21</a:t>
            </a:r>
            <a:endParaRPr lang="en-US" sz="900" dirty="0"/>
          </a:p>
        </p:txBody>
      </p:sp>
      <p:pic>
        <p:nvPicPr>
          <p:cNvPr id="28"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29"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30"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856232" cy="292608"/>
          </a:xfrm>
          <a:prstGeom prst="roundRect">
            <a:avLst>
              <a:gd name="adj" fmla="val 50000"/>
            </a:avLst>
          </a:prstGeom>
          <a:solidFill>
            <a:srgbClr val="C97B1E"/>
          </a:solidFill>
          <a:ln w="12700">
            <a:solidFill>
              <a:srgbClr val="C97B1E"/>
            </a:solidFill>
            <a:prstDash val="solid"/>
          </a:ln>
        </p:spPr>
      </p:sp>
      <p:sp>
        <p:nvSpPr>
          <p:cNvPr id="3" name="Text 1"/>
          <p:cNvSpPr/>
          <p:nvPr/>
        </p:nvSpPr>
        <p:spPr>
          <a:xfrm>
            <a:off x="566928" y="384048"/>
            <a:ext cx="1856232"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M3.4 · DIAGRAM</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Projected volume — several sources, one directory</a:t>
            </a:r>
            <a:endParaRPr lang="en-US" sz="3200" dirty="0"/>
          </a:p>
        </p:txBody>
      </p:sp>
      <p:sp>
        <p:nvSpPr>
          <p:cNvPr id="5" name="Shape 3"/>
          <p:cNvSpPr/>
          <p:nvPr/>
        </p:nvSpPr>
        <p:spPr>
          <a:xfrm>
            <a:off x="731520" y="1874520"/>
            <a:ext cx="2331720" cy="621792"/>
          </a:xfrm>
          <a:prstGeom prst="roundRect">
            <a:avLst>
              <a:gd name="adj" fmla="val 11765"/>
            </a:avLst>
          </a:prstGeom>
          <a:solidFill>
            <a:srgbClr val="D64545"/>
          </a:solidFill>
          <a:ln w="12700">
            <a:solidFill>
              <a:srgbClr val="D64545"/>
            </a:solidFill>
            <a:prstDash val="solid"/>
          </a:ln>
        </p:spPr>
      </p:sp>
      <p:sp>
        <p:nvSpPr>
          <p:cNvPr id="6" name="Text 4"/>
          <p:cNvSpPr/>
          <p:nvPr/>
        </p:nvSpPr>
        <p:spPr>
          <a:xfrm>
            <a:off x="804672" y="1984248"/>
            <a:ext cx="2185416" cy="2860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Secret</a:t>
            </a:r>
            <a:endParaRPr lang="en-US" sz="1400" dirty="0"/>
          </a:p>
        </p:txBody>
      </p:sp>
      <p:sp>
        <p:nvSpPr>
          <p:cNvPr id="7" name="Text 5"/>
          <p:cNvSpPr/>
          <p:nvPr/>
        </p:nvSpPr>
        <p:spPr>
          <a:xfrm>
            <a:off x="804672" y="2185416"/>
            <a:ext cx="2185416" cy="273588"/>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db-secret</a:t>
            </a:r>
            <a:endParaRPr lang="en-US" sz="1050" dirty="0"/>
          </a:p>
        </p:txBody>
      </p:sp>
      <p:sp>
        <p:nvSpPr>
          <p:cNvPr id="8" name="Shape 6"/>
          <p:cNvSpPr/>
          <p:nvPr/>
        </p:nvSpPr>
        <p:spPr>
          <a:xfrm>
            <a:off x="731520" y="2715768"/>
            <a:ext cx="2331720" cy="621792"/>
          </a:xfrm>
          <a:prstGeom prst="roundRect">
            <a:avLst>
              <a:gd name="adj" fmla="val 11765"/>
            </a:avLst>
          </a:prstGeom>
          <a:solidFill>
            <a:srgbClr val="1C7293"/>
          </a:solidFill>
          <a:ln w="12700">
            <a:solidFill>
              <a:srgbClr val="1C7293"/>
            </a:solidFill>
            <a:prstDash val="solid"/>
          </a:ln>
        </p:spPr>
      </p:sp>
      <p:sp>
        <p:nvSpPr>
          <p:cNvPr id="9" name="Text 7"/>
          <p:cNvSpPr/>
          <p:nvPr/>
        </p:nvSpPr>
        <p:spPr>
          <a:xfrm>
            <a:off x="804672" y="2825496"/>
            <a:ext cx="2185416" cy="2860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ConfigMap</a:t>
            </a:r>
            <a:endParaRPr lang="en-US" sz="1400" dirty="0"/>
          </a:p>
        </p:txBody>
      </p:sp>
      <p:sp>
        <p:nvSpPr>
          <p:cNvPr id="10" name="Text 8"/>
          <p:cNvSpPr/>
          <p:nvPr/>
        </p:nvSpPr>
        <p:spPr>
          <a:xfrm>
            <a:off x="804672" y="3026664"/>
            <a:ext cx="2185416" cy="273588"/>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app-config</a:t>
            </a:r>
            <a:endParaRPr lang="en-US" sz="1050" dirty="0"/>
          </a:p>
        </p:txBody>
      </p:sp>
      <p:sp>
        <p:nvSpPr>
          <p:cNvPr id="11" name="Shape 9"/>
          <p:cNvSpPr/>
          <p:nvPr/>
        </p:nvSpPr>
        <p:spPr>
          <a:xfrm>
            <a:off x="731520" y="3557016"/>
            <a:ext cx="2331720" cy="621792"/>
          </a:xfrm>
          <a:prstGeom prst="roundRect">
            <a:avLst>
              <a:gd name="adj" fmla="val 11765"/>
            </a:avLst>
          </a:prstGeom>
          <a:solidFill>
            <a:srgbClr val="C97B1E"/>
          </a:solidFill>
          <a:ln w="12700">
            <a:solidFill>
              <a:srgbClr val="C97B1E"/>
            </a:solidFill>
            <a:prstDash val="solid"/>
          </a:ln>
        </p:spPr>
      </p:sp>
      <p:sp>
        <p:nvSpPr>
          <p:cNvPr id="12" name="Text 10"/>
          <p:cNvSpPr/>
          <p:nvPr/>
        </p:nvSpPr>
        <p:spPr>
          <a:xfrm>
            <a:off x="804672" y="3666744"/>
            <a:ext cx="2185416" cy="2860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downwardAPI</a:t>
            </a:r>
            <a:endParaRPr lang="en-US" sz="1400" dirty="0"/>
          </a:p>
        </p:txBody>
      </p:sp>
      <p:sp>
        <p:nvSpPr>
          <p:cNvPr id="13" name="Text 11"/>
          <p:cNvSpPr/>
          <p:nvPr/>
        </p:nvSpPr>
        <p:spPr>
          <a:xfrm>
            <a:off x="804672" y="3867912"/>
            <a:ext cx="2185416" cy="273588"/>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pod metadata</a:t>
            </a:r>
            <a:endParaRPr lang="en-US" sz="1050" dirty="0"/>
          </a:p>
        </p:txBody>
      </p:sp>
      <p:sp>
        <p:nvSpPr>
          <p:cNvPr id="14" name="Shape 12"/>
          <p:cNvSpPr/>
          <p:nvPr/>
        </p:nvSpPr>
        <p:spPr>
          <a:xfrm>
            <a:off x="731520" y="4398264"/>
            <a:ext cx="2331720" cy="621792"/>
          </a:xfrm>
          <a:prstGeom prst="roundRect">
            <a:avLst>
              <a:gd name="adj" fmla="val 11765"/>
            </a:avLst>
          </a:prstGeom>
          <a:solidFill>
            <a:srgbClr val="2E9E63"/>
          </a:solidFill>
          <a:ln w="12700">
            <a:solidFill>
              <a:srgbClr val="2E9E63"/>
            </a:solidFill>
            <a:prstDash val="solid"/>
          </a:ln>
        </p:spPr>
      </p:sp>
      <p:sp>
        <p:nvSpPr>
          <p:cNvPr id="15" name="Text 13"/>
          <p:cNvSpPr/>
          <p:nvPr/>
        </p:nvSpPr>
        <p:spPr>
          <a:xfrm>
            <a:off x="804672" y="4507992"/>
            <a:ext cx="2185416" cy="2860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serviceAccountToken</a:t>
            </a:r>
            <a:endParaRPr lang="en-US" sz="1400" dirty="0"/>
          </a:p>
        </p:txBody>
      </p:sp>
      <p:sp>
        <p:nvSpPr>
          <p:cNvPr id="16" name="Text 14"/>
          <p:cNvSpPr/>
          <p:nvPr/>
        </p:nvSpPr>
        <p:spPr>
          <a:xfrm>
            <a:off x="804672" y="4709160"/>
            <a:ext cx="2185416" cy="273588"/>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short-lived token</a:t>
            </a:r>
            <a:endParaRPr lang="en-US" sz="1050" dirty="0"/>
          </a:p>
        </p:txBody>
      </p:sp>
      <p:sp>
        <p:nvSpPr>
          <p:cNvPr id="17" name="Shape 15"/>
          <p:cNvSpPr/>
          <p:nvPr/>
        </p:nvSpPr>
        <p:spPr>
          <a:xfrm>
            <a:off x="4069080" y="2468880"/>
            <a:ext cx="2926080" cy="1645920"/>
          </a:xfrm>
          <a:prstGeom prst="roundRect">
            <a:avLst>
              <a:gd name="adj" fmla="val 4444"/>
            </a:avLst>
          </a:prstGeom>
          <a:solidFill>
            <a:srgbClr val="8E6FBF"/>
          </a:solidFill>
          <a:ln w="12700">
            <a:solidFill>
              <a:srgbClr val="8E6FBF"/>
            </a:solidFill>
            <a:prstDash val="solid"/>
          </a:ln>
        </p:spPr>
      </p:sp>
      <p:sp>
        <p:nvSpPr>
          <p:cNvPr id="18" name="Text 16"/>
          <p:cNvSpPr/>
          <p:nvPr/>
        </p:nvSpPr>
        <p:spPr>
          <a:xfrm>
            <a:off x="4142232" y="2578608"/>
            <a:ext cx="2779776" cy="757123"/>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projected volume</a:t>
            </a:r>
            <a:endParaRPr lang="en-US" sz="1400" dirty="0"/>
          </a:p>
        </p:txBody>
      </p:sp>
      <p:sp>
        <p:nvSpPr>
          <p:cNvPr id="19" name="Text 17"/>
          <p:cNvSpPr/>
          <p:nvPr/>
        </p:nvSpPr>
        <p:spPr>
          <a:xfrm>
            <a:off x="4142232" y="3291840"/>
            <a:ext cx="2779776" cy="724205"/>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/etc/app/</a:t>
            </a:r>
            <a:endParaRPr lang="en-US" sz="1050" dirty="0"/>
          </a:p>
        </p:txBody>
      </p:sp>
      <p:sp>
        <p:nvSpPr>
          <p:cNvPr id="20" name="Shape 18"/>
          <p:cNvSpPr/>
          <p:nvPr/>
        </p:nvSpPr>
        <p:spPr>
          <a:xfrm>
            <a:off x="8229600" y="2697480"/>
            <a:ext cx="2743200" cy="1188720"/>
          </a:xfrm>
          <a:prstGeom prst="roundRect">
            <a:avLst>
              <a:gd name="adj" fmla="val 6154"/>
            </a:avLst>
          </a:prstGeom>
          <a:solidFill>
            <a:srgbClr val="12314F"/>
          </a:solidFill>
          <a:ln w="12700">
            <a:solidFill>
              <a:srgbClr val="12314F"/>
            </a:solidFill>
            <a:prstDash val="solid"/>
          </a:ln>
        </p:spPr>
      </p:sp>
      <p:sp>
        <p:nvSpPr>
          <p:cNvPr id="21" name="Text 19"/>
          <p:cNvSpPr/>
          <p:nvPr/>
        </p:nvSpPr>
        <p:spPr>
          <a:xfrm>
            <a:off x="8302752" y="2807208"/>
            <a:ext cx="2596896" cy="546811"/>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Pod</a:t>
            </a:r>
            <a:endParaRPr lang="en-US" sz="1400" dirty="0"/>
          </a:p>
        </p:txBody>
      </p:sp>
      <p:sp>
        <p:nvSpPr>
          <p:cNvPr id="22" name="Text 20"/>
          <p:cNvSpPr/>
          <p:nvPr/>
        </p:nvSpPr>
        <p:spPr>
          <a:xfrm>
            <a:off x="8302752" y="3291840"/>
            <a:ext cx="2596896" cy="523037"/>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one mount, many files</a:t>
            </a:r>
            <a:endParaRPr lang="en-US" sz="1050" dirty="0"/>
          </a:p>
        </p:txBody>
      </p:sp>
      <p:sp>
        <p:nvSpPr>
          <p:cNvPr id="23" name="Shape 21"/>
          <p:cNvSpPr/>
          <p:nvPr/>
        </p:nvSpPr>
        <p:spPr>
          <a:xfrm>
            <a:off x="3154680" y="2194560"/>
            <a:ext cx="822960" cy="713232"/>
          </a:xfrm>
          <a:prstGeom prst="line">
            <a:avLst/>
          </a:prstGeom>
          <a:noFill/>
          <a:ln w="25400">
            <a:solidFill>
              <a:srgbClr val="D64545"/>
            </a:solidFill>
            <a:prstDash val="solid"/>
            <a:tailEnd type="triangle"/>
          </a:ln>
        </p:spPr>
      </p:sp>
      <p:sp>
        <p:nvSpPr>
          <p:cNvPr id="24" name="Shape 22"/>
          <p:cNvSpPr/>
          <p:nvPr/>
        </p:nvSpPr>
        <p:spPr>
          <a:xfrm>
            <a:off x="3154680" y="3035808"/>
            <a:ext cx="822960" cy="256032"/>
          </a:xfrm>
          <a:prstGeom prst="line">
            <a:avLst/>
          </a:prstGeom>
          <a:noFill/>
          <a:ln w="25400">
            <a:solidFill>
              <a:srgbClr val="1C7293"/>
            </a:solidFill>
            <a:prstDash val="solid"/>
            <a:tailEnd type="triangle"/>
          </a:ln>
        </p:spPr>
      </p:sp>
      <p:sp>
        <p:nvSpPr>
          <p:cNvPr id="25" name="Shape 23"/>
          <p:cNvSpPr/>
          <p:nvPr/>
        </p:nvSpPr>
        <p:spPr>
          <a:xfrm>
            <a:off x="3154680" y="3877056"/>
            <a:ext cx="822960" cy="-164592"/>
          </a:xfrm>
          <a:prstGeom prst="line">
            <a:avLst/>
          </a:prstGeom>
          <a:noFill/>
          <a:ln w="25400">
            <a:solidFill>
              <a:srgbClr val="F2A03D"/>
            </a:solidFill>
            <a:prstDash val="solid"/>
            <a:tailEnd type="triangle"/>
          </a:ln>
        </p:spPr>
      </p:sp>
      <p:sp>
        <p:nvSpPr>
          <p:cNvPr id="26" name="Shape 24"/>
          <p:cNvSpPr/>
          <p:nvPr/>
        </p:nvSpPr>
        <p:spPr>
          <a:xfrm>
            <a:off x="3154680" y="4718304"/>
            <a:ext cx="822960" cy="-621792"/>
          </a:xfrm>
          <a:prstGeom prst="line">
            <a:avLst/>
          </a:prstGeom>
          <a:noFill/>
          <a:ln w="25400">
            <a:solidFill>
              <a:srgbClr val="2E9E63"/>
            </a:solidFill>
            <a:prstDash val="solid"/>
            <a:tailEnd type="triangle"/>
          </a:ln>
        </p:spPr>
      </p:sp>
      <p:sp>
        <p:nvSpPr>
          <p:cNvPr id="27" name="Shape 25"/>
          <p:cNvSpPr/>
          <p:nvPr/>
        </p:nvSpPr>
        <p:spPr>
          <a:xfrm>
            <a:off x="7132320" y="3291840"/>
            <a:ext cx="1005840" cy="0"/>
          </a:xfrm>
          <a:prstGeom prst="line">
            <a:avLst/>
          </a:prstGeom>
          <a:noFill/>
          <a:ln w="25400">
            <a:solidFill>
              <a:srgbClr val="8E6FBF"/>
            </a:solidFill>
            <a:prstDash val="solid"/>
            <a:tailEnd type="triangle"/>
          </a:ln>
        </p:spPr>
      </p:sp>
      <p:sp>
        <p:nvSpPr>
          <p:cNvPr id="28" name="Text 26"/>
          <p:cNvSpPr/>
          <p:nvPr/>
        </p:nvSpPr>
        <p:spPr>
          <a:xfrm>
            <a:off x="6675120" y="2907792"/>
            <a:ext cx="2377440" cy="310896"/>
          </a:xfrm>
          <a:prstGeom prst="rect">
            <a:avLst/>
          </a:prstGeom>
          <a:noFill/>
          <a:ln/>
        </p:spPr>
        <p:txBody>
          <a:bodyPr wrap="square" lIns="0" tIns="0" rIns="0" bIns="0" rtlCol="0" anchor="ctr"/>
          <a:lstStyle/>
          <a:p>
            <a:pPr algn="ctr" indent="0" marL="0">
              <a:buNone/>
            </a:pPr>
            <a:r>
              <a:rPr lang="en-US" sz="1000" b="1" dirty="0">
                <a:solidFill>
                  <a:srgbClr val="8E6FBF"/>
                </a:solidFill>
                <a:latin typeface="Calibri" pitchFamily="34" charset="0"/>
                <a:ea typeface="Calibri" pitchFamily="34" charset="-122"/>
                <a:cs typeface="Calibri" pitchFamily="34" charset="-120"/>
              </a:rPr>
              <a:t>mounted</a:t>
            </a:r>
            <a:endParaRPr lang="en-US" sz="1000" dirty="0"/>
          </a:p>
        </p:txBody>
      </p:sp>
      <p:sp>
        <p:nvSpPr>
          <p:cNvPr id="29" name="Text 27"/>
          <p:cNvSpPr/>
          <p:nvPr/>
        </p:nvSpPr>
        <p:spPr>
          <a:xfrm>
            <a:off x="4434840" y="2788920"/>
            <a:ext cx="2103120" cy="201168"/>
          </a:xfrm>
          <a:prstGeom prst="rect">
            <a:avLst/>
          </a:prstGeom>
          <a:noFill/>
          <a:ln/>
        </p:spPr>
        <p:txBody>
          <a:bodyPr wrap="square" lIns="0" tIns="0" rIns="0" bIns="0" rtlCol="0" anchor="ctr"/>
          <a:lstStyle/>
          <a:p>
            <a:pPr algn="ctr" indent="0" marL="0">
              <a:buNone/>
            </a:pPr>
            <a:r>
              <a:rPr lang="en-US" sz="950" dirty="0">
                <a:solidFill>
                  <a:srgbClr val="D8E6F2"/>
                </a:solidFill>
                <a:latin typeface="Courier New" pitchFamily="34" charset="0"/>
                <a:ea typeface="Courier New" pitchFamily="34" charset="-122"/>
                <a:cs typeface="Courier New" pitchFamily="34" charset="-120"/>
              </a:rPr>
              <a:t>db/password</a:t>
            </a:r>
            <a:endParaRPr lang="en-US" sz="950" dirty="0"/>
          </a:p>
        </p:txBody>
      </p:sp>
      <p:sp>
        <p:nvSpPr>
          <p:cNvPr id="30" name="Text 28"/>
          <p:cNvSpPr/>
          <p:nvPr/>
        </p:nvSpPr>
        <p:spPr>
          <a:xfrm>
            <a:off x="4434840" y="3108960"/>
            <a:ext cx="2103120" cy="201168"/>
          </a:xfrm>
          <a:prstGeom prst="rect">
            <a:avLst/>
          </a:prstGeom>
          <a:noFill/>
          <a:ln/>
        </p:spPr>
        <p:txBody>
          <a:bodyPr wrap="square" lIns="0" tIns="0" rIns="0" bIns="0" rtlCol="0" anchor="ctr"/>
          <a:lstStyle/>
          <a:p>
            <a:pPr algn="ctr" indent="0" marL="0">
              <a:buNone/>
            </a:pPr>
            <a:r>
              <a:rPr lang="en-US" sz="950" dirty="0">
                <a:solidFill>
                  <a:srgbClr val="D8E6F2"/>
                </a:solidFill>
                <a:latin typeface="Courier New" pitchFamily="34" charset="0"/>
                <a:ea typeface="Courier New" pitchFamily="34" charset="-122"/>
                <a:cs typeface="Courier New" pitchFamily="34" charset="-120"/>
              </a:rPr>
              <a:t>config/app.yaml</a:t>
            </a:r>
            <a:endParaRPr lang="en-US" sz="950" dirty="0"/>
          </a:p>
        </p:txBody>
      </p:sp>
      <p:sp>
        <p:nvSpPr>
          <p:cNvPr id="31" name="Text 29"/>
          <p:cNvSpPr/>
          <p:nvPr/>
        </p:nvSpPr>
        <p:spPr>
          <a:xfrm>
            <a:off x="4434840" y="3429000"/>
            <a:ext cx="2103120" cy="201168"/>
          </a:xfrm>
          <a:prstGeom prst="rect">
            <a:avLst/>
          </a:prstGeom>
          <a:noFill/>
          <a:ln/>
        </p:spPr>
        <p:txBody>
          <a:bodyPr wrap="square" lIns="0" tIns="0" rIns="0" bIns="0" rtlCol="0" anchor="ctr"/>
          <a:lstStyle/>
          <a:p>
            <a:pPr algn="ctr" indent="0" marL="0">
              <a:buNone/>
            </a:pPr>
            <a:r>
              <a:rPr lang="en-US" sz="950" dirty="0">
                <a:solidFill>
                  <a:srgbClr val="D8E6F2"/>
                </a:solidFill>
                <a:latin typeface="Courier New" pitchFamily="34" charset="0"/>
                <a:ea typeface="Courier New" pitchFamily="34" charset="-122"/>
                <a:cs typeface="Courier New" pitchFamily="34" charset="-120"/>
              </a:rPr>
              <a:t>meta/labels</a:t>
            </a:r>
            <a:endParaRPr lang="en-US" sz="950" dirty="0"/>
          </a:p>
        </p:txBody>
      </p:sp>
      <p:sp>
        <p:nvSpPr>
          <p:cNvPr id="32" name="Text 30"/>
          <p:cNvSpPr/>
          <p:nvPr/>
        </p:nvSpPr>
        <p:spPr>
          <a:xfrm>
            <a:off x="4434840" y="3749040"/>
            <a:ext cx="2103120" cy="201168"/>
          </a:xfrm>
          <a:prstGeom prst="rect">
            <a:avLst/>
          </a:prstGeom>
          <a:noFill/>
          <a:ln/>
        </p:spPr>
        <p:txBody>
          <a:bodyPr wrap="square" lIns="0" tIns="0" rIns="0" bIns="0" rtlCol="0" anchor="ctr"/>
          <a:lstStyle/>
          <a:p>
            <a:pPr algn="ctr" indent="0" marL="0">
              <a:buNone/>
            </a:pPr>
            <a:r>
              <a:rPr lang="en-US" sz="950" dirty="0">
                <a:solidFill>
                  <a:srgbClr val="D8E6F2"/>
                </a:solidFill>
                <a:latin typeface="Courier New" pitchFamily="34" charset="0"/>
                <a:ea typeface="Courier New" pitchFamily="34" charset="-122"/>
                <a:cs typeface="Courier New" pitchFamily="34" charset="-120"/>
              </a:rPr>
              <a:t>token</a:t>
            </a:r>
            <a:endParaRPr lang="en-US" sz="950" dirty="0"/>
          </a:p>
        </p:txBody>
      </p:sp>
      <p:sp>
        <p:nvSpPr>
          <p:cNvPr id="33" name="Text 31"/>
          <p:cNvSpPr/>
          <p:nvPr/>
        </p:nvSpPr>
        <p:spPr>
          <a:xfrm>
            <a:off x="566928" y="5760720"/>
            <a:ext cx="11057839" cy="384048"/>
          </a:xfrm>
          <a:prstGeom prst="rect">
            <a:avLst/>
          </a:prstGeom>
          <a:noFill/>
          <a:ln/>
        </p:spPr>
        <p:txBody>
          <a:bodyPr wrap="square" lIns="0" tIns="0" rIns="0" bIns="0" rtlCol="0" anchor="ctr"/>
          <a:lstStyle/>
          <a:p>
            <a:pPr algn="ctr" indent="0" marL="0">
              <a:buNone/>
            </a:pPr>
            <a:r>
              <a:rPr lang="en-US" sz="1450" b="1" dirty="0">
                <a:solidFill>
                  <a:srgbClr val="F2A03D"/>
                </a:solidFill>
                <a:latin typeface="Calibri" pitchFamily="34" charset="0"/>
                <a:ea typeface="Calibri" pitchFamily="34" charset="-122"/>
                <a:cs typeface="Calibri" pitchFamily="34" charset="-120"/>
              </a:rPr>
              <a:t>Kubernetes can merge several sources into one directory tree so the application reads files, not APIs.</a:t>
            </a:r>
            <a:endParaRPr lang="en-US" sz="1450" dirty="0"/>
          </a:p>
        </p:txBody>
      </p:sp>
      <p:sp>
        <p:nvSpPr>
          <p:cNvPr id="34" name="Text 32"/>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3</a:t>
            </a:r>
            <a:endParaRPr lang="en-US" sz="900" dirty="0"/>
          </a:p>
        </p:txBody>
      </p:sp>
      <p:sp>
        <p:nvSpPr>
          <p:cNvPr id="35" name="Text 33"/>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22</a:t>
            </a:r>
            <a:endParaRPr lang="en-US" sz="900" dirty="0"/>
          </a:p>
        </p:txBody>
      </p:sp>
      <p:pic>
        <p:nvPicPr>
          <p:cNvPr id="36"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37"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38"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435608" cy="292608"/>
          </a:xfrm>
          <a:prstGeom prst="roundRect">
            <a:avLst>
              <a:gd name="adj" fmla="val 50000"/>
            </a:avLst>
          </a:prstGeom>
          <a:solidFill>
            <a:srgbClr val="2E9E63"/>
          </a:solidFill>
          <a:ln w="12700">
            <a:solidFill>
              <a:srgbClr val="2E9E63"/>
            </a:solidFill>
            <a:prstDash val="solid"/>
          </a:ln>
        </p:spPr>
      </p:sp>
      <p:sp>
        <p:nvSpPr>
          <p:cNvPr id="3" name="Text 1"/>
          <p:cNvSpPr/>
          <p:nvPr/>
        </p:nvSpPr>
        <p:spPr>
          <a:xfrm>
            <a:off x="566928" y="384048"/>
            <a:ext cx="1435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GUIDED LAB</a:t>
            </a:r>
            <a:endParaRPr lang="en-US" sz="1100" dirty="0"/>
          </a:p>
        </p:txBody>
      </p:sp>
      <p:sp>
        <p:nvSpPr>
          <p:cNvPr id="4" name="Text 2"/>
          <p:cNvSpPr/>
          <p:nvPr/>
        </p:nvSpPr>
        <p:spPr>
          <a:xfrm>
            <a:off x="566928" y="914400"/>
            <a:ext cx="2743200" cy="777240"/>
          </a:xfrm>
          <a:prstGeom prst="rect">
            <a:avLst/>
          </a:prstGeom>
          <a:noFill/>
          <a:ln/>
        </p:spPr>
        <p:txBody>
          <a:bodyPr wrap="square" lIns="0" tIns="0" rIns="0" bIns="0" rtlCol="0" anchor="ctr"/>
          <a:lstStyle/>
          <a:p>
            <a:pPr indent="0" marL="0">
              <a:buNone/>
            </a:pPr>
            <a:r>
              <a:rPr lang="en-US" sz="4000" b="1" dirty="0">
                <a:solidFill>
                  <a:srgbClr val="2E9E63"/>
                </a:solidFill>
                <a:latin typeface="Cambria" pitchFamily="34" charset="0"/>
                <a:ea typeface="Cambria" pitchFamily="34" charset="-122"/>
                <a:cs typeface="Cambria" pitchFamily="34" charset="-120"/>
              </a:rPr>
              <a:t>L3.3 + L3.4</a:t>
            </a:r>
            <a:endParaRPr lang="en-US" sz="4000" dirty="0"/>
          </a:p>
        </p:txBody>
      </p:sp>
      <p:sp>
        <p:nvSpPr>
          <p:cNvPr id="5" name="Text 3"/>
          <p:cNvSpPr/>
          <p:nvPr/>
        </p:nvSpPr>
        <p:spPr>
          <a:xfrm>
            <a:off x="566928" y="1691640"/>
            <a:ext cx="11057839"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Storage: claims, binding and dynamic provisioning</a:t>
            </a:r>
            <a:endParaRPr lang="en-US" sz="3000" dirty="0"/>
          </a:p>
        </p:txBody>
      </p:sp>
      <p:sp>
        <p:nvSpPr>
          <p:cNvPr id="6" name="Shape 4"/>
          <p:cNvSpPr/>
          <p:nvPr/>
        </p:nvSpPr>
        <p:spPr>
          <a:xfrm>
            <a:off x="566928" y="2560320"/>
            <a:ext cx="5577840" cy="2834640"/>
          </a:xfrm>
          <a:prstGeom prst="roundRect">
            <a:avLst>
              <a:gd name="adj" fmla="val 3226"/>
            </a:avLst>
          </a:prstGeom>
          <a:solidFill>
            <a:srgbClr val="12314F"/>
          </a:solidFill>
          <a:ln w="12700">
            <a:solidFill>
              <a:srgbClr val="1B4066"/>
            </a:solidFill>
            <a:prstDash val="solid"/>
          </a:ln>
        </p:spPr>
      </p:sp>
      <p:sp>
        <p:nvSpPr>
          <p:cNvPr id="7" name="Text 5"/>
          <p:cNvSpPr/>
          <p:nvPr/>
        </p:nvSpPr>
        <p:spPr>
          <a:xfrm>
            <a:off x="841248" y="2724912"/>
            <a:ext cx="5029200" cy="274320"/>
          </a:xfrm>
          <a:prstGeom prst="rect">
            <a:avLst/>
          </a:prstGeom>
          <a:noFill/>
          <a:ln/>
        </p:spPr>
        <p:txBody>
          <a:bodyPr wrap="square" lIns="0" tIns="0" rIns="0" bIns="0" rtlCol="0" anchor="ctr"/>
          <a:lstStyle/>
          <a:p>
            <a:pPr indent="0" marL="0">
              <a:buNone/>
            </a:pPr>
            <a:r>
              <a:rPr lang="en-US" sz="1000" b="1" spc="100" kern="0" dirty="0">
                <a:solidFill>
                  <a:srgbClr val="F2A03D"/>
                </a:solidFill>
                <a:latin typeface="Calibri" pitchFamily="34" charset="0"/>
                <a:ea typeface="Calibri" pitchFamily="34" charset="-122"/>
                <a:cs typeface="Calibri" pitchFamily="34" charset="-120"/>
              </a:rPr>
              <a:t>YOU WILL</a:t>
            </a:r>
            <a:endParaRPr lang="en-US" sz="1000" dirty="0"/>
          </a:p>
        </p:txBody>
      </p:sp>
      <p:sp>
        <p:nvSpPr>
          <p:cNvPr id="8" name="Text 6"/>
          <p:cNvSpPr/>
          <p:nvPr/>
        </p:nvSpPr>
        <p:spPr>
          <a:xfrm>
            <a:off x="886968" y="3017520"/>
            <a:ext cx="5029200" cy="219456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Watch ephemeral data vanish, then persist it</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Bind a static PV to a PVC and survive pod deletion</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Provision dynamically with no PV written by hand</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See WaitForFirstConsumer keep a PVC Pending — correctly</a:t>
            </a:r>
            <a:endParaRPr lang="en-US" sz="1300" dirty="0"/>
          </a:p>
        </p:txBody>
      </p:sp>
      <p:sp>
        <p:nvSpPr>
          <p:cNvPr id="9" name="Shape 7"/>
          <p:cNvSpPr/>
          <p:nvPr/>
        </p:nvSpPr>
        <p:spPr>
          <a:xfrm>
            <a:off x="6464808" y="2560320"/>
            <a:ext cx="5120640" cy="2834640"/>
          </a:xfrm>
          <a:prstGeom prst="roundRect">
            <a:avLst>
              <a:gd name="adj" fmla="val 3226"/>
            </a:avLst>
          </a:prstGeom>
          <a:solidFill>
            <a:srgbClr val="12314F"/>
          </a:solidFill>
          <a:ln w="12700">
            <a:solidFill>
              <a:srgbClr val="1B4066"/>
            </a:solidFill>
            <a:prstDash val="solid"/>
          </a:ln>
        </p:spPr>
      </p:sp>
      <p:sp>
        <p:nvSpPr>
          <p:cNvPr id="10" name="Text 8"/>
          <p:cNvSpPr/>
          <p:nvPr/>
        </p:nvSpPr>
        <p:spPr>
          <a:xfrm>
            <a:off x="6739128" y="2724912"/>
            <a:ext cx="4572000" cy="274320"/>
          </a:xfrm>
          <a:prstGeom prst="rect">
            <a:avLst/>
          </a:prstGeom>
          <a:noFill/>
          <a:ln/>
        </p:spPr>
        <p:txBody>
          <a:bodyPr wrap="square" lIns="0" tIns="0" rIns="0" bIns="0" rtlCol="0" anchor="ctr"/>
          <a:lstStyle/>
          <a:p>
            <a:pPr indent="0" marL="0">
              <a:buNone/>
            </a:pPr>
            <a:r>
              <a:rPr lang="en-US" sz="1000" b="1" spc="100" kern="0" dirty="0">
                <a:solidFill>
                  <a:srgbClr val="2E9E63"/>
                </a:solidFill>
                <a:latin typeface="Calibri" pitchFamily="34" charset="0"/>
                <a:ea typeface="Calibri" pitchFamily="34" charset="-122"/>
                <a:cs typeface="Calibri" pitchFamily="34" charset="-120"/>
              </a:rPr>
              <a:t>DONE WHEN</a:t>
            </a:r>
            <a:endParaRPr lang="en-US" sz="1000" dirty="0"/>
          </a:p>
        </p:txBody>
      </p:sp>
      <p:sp>
        <p:nvSpPr>
          <p:cNvPr id="11" name="Text 9"/>
          <p:cNvSpPr/>
          <p:nvPr/>
        </p:nvSpPr>
        <p:spPr>
          <a:xfrm>
            <a:off x="6784848" y="3017520"/>
            <a:ext cx="4572000" cy="146304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PVC Bound</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Data survives pod deletion</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A PV exists that nobody wrote</a:t>
            </a:r>
            <a:endParaRPr lang="en-US" sz="1300" dirty="0"/>
          </a:p>
        </p:txBody>
      </p:sp>
      <p:sp>
        <p:nvSpPr>
          <p:cNvPr id="12" name="Shape 10"/>
          <p:cNvSpPr/>
          <p:nvPr/>
        </p:nvSpPr>
        <p:spPr>
          <a:xfrm>
            <a:off x="6739128" y="4617720"/>
            <a:ext cx="4572000" cy="566928"/>
          </a:xfrm>
          <a:prstGeom prst="roundRect">
            <a:avLst>
              <a:gd name="adj" fmla="val 12903"/>
            </a:avLst>
          </a:prstGeom>
          <a:solidFill>
            <a:srgbClr val="0E2740"/>
          </a:solidFill>
          <a:ln w="12700">
            <a:solidFill>
              <a:srgbClr val="1C7293"/>
            </a:solidFill>
            <a:prstDash val="solid"/>
          </a:ln>
        </p:spPr>
      </p:sp>
      <p:sp>
        <p:nvSpPr>
          <p:cNvPr id="13" name="Text 11"/>
          <p:cNvSpPr/>
          <p:nvPr/>
        </p:nvSpPr>
        <p:spPr>
          <a:xfrm>
            <a:off x="6876288" y="4617720"/>
            <a:ext cx="4297680" cy="566928"/>
          </a:xfrm>
          <a:prstGeom prst="rect">
            <a:avLst/>
          </a:prstGeom>
          <a:noFill/>
          <a:ln/>
        </p:spPr>
        <p:txBody>
          <a:bodyPr wrap="square" lIns="0" tIns="0" rIns="0" bIns="0" rtlCol="0" anchor="ctr"/>
          <a:lstStyle/>
          <a:p>
            <a:pPr indent="0" marL="0">
              <a:buNone/>
            </a:pPr>
            <a:r>
              <a:rPr lang="en-US" sz="1150" dirty="0">
                <a:solidFill>
                  <a:srgbClr val="F2A03D"/>
                </a:solidFill>
                <a:latin typeface="Courier New" pitchFamily="34" charset="0"/>
                <a:ea typeface="Courier New" pitchFamily="34" charset="-122"/>
                <a:cs typeface="Courier New" pitchFamily="34" charset="-120"/>
              </a:rPr>
              <a:t>make validate-lab LAB=L3.3 &amp;&amp; make validate-lab LAB=L3.4</a:t>
            </a:r>
            <a:endParaRPr lang="en-US" sz="1150" dirty="0"/>
          </a:p>
        </p:txBody>
      </p:sp>
      <p:sp>
        <p:nvSpPr>
          <p:cNvPr id="14" name="Text 12"/>
          <p:cNvSpPr/>
          <p:nvPr/>
        </p:nvSpPr>
        <p:spPr>
          <a:xfrm>
            <a:off x="566928" y="5577840"/>
            <a:ext cx="11057839" cy="365760"/>
          </a:xfrm>
          <a:prstGeom prst="rect">
            <a:avLst/>
          </a:prstGeom>
          <a:noFill/>
          <a:ln/>
        </p:spPr>
        <p:txBody>
          <a:bodyPr wrap="square" lIns="0" tIns="0" rIns="0" bIns="0" rtlCol="0" anchor="ctr"/>
          <a:lstStyle/>
          <a:p>
            <a:pPr indent="0" marL="0">
              <a:buNone/>
            </a:pPr>
            <a:r>
              <a:rPr lang="en-US" sz="1200" dirty="0">
                <a:solidFill>
                  <a:srgbClr val="63758B"/>
                </a:solidFill>
                <a:latin typeface="Calibri" pitchFamily="34" charset="0"/>
                <a:ea typeface="Calibri" pitchFamily="34" charset="-122"/>
                <a:cs typeface="Calibri" pitchFamily="34" charset="-120"/>
              </a:rPr>
              <a:t>65 minutes   ·   labs/day3/L3.3-persistent-volumes/, L3.4-storageclass.md</a:t>
            </a:r>
            <a:endParaRPr lang="en-US" sz="1200" dirty="0"/>
          </a:p>
        </p:txBody>
      </p:sp>
      <p:sp>
        <p:nvSpPr>
          <p:cNvPr id="15" name="Text 13"/>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3</a:t>
            </a:r>
            <a:endParaRPr lang="en-US" sz="900" dirty="0"/>
          </a:p>
        </p:txBody>
      </p:sp>
      <p:sp>
        <p:nvSpPr>
          <p:cNvPr id="16" name="Text 14"/>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23</a:t>
            </a:r>
            <a:endParaRPr lang="en-US" sz="900" dirty="0"/>
          </a:p>
        </p:txBody>
      </p:sp>
      <p:pic>
        <p:nvPicPr>
          <p:cNvPr id="17"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8"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9"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8351215" y="-1097280"/>
            <a:ext cx="5120640" cy="5120640"/>
          </a:xfrm>
          <a:prstGeom prst="ellipse">
            <a:avLst/>
          </a:prstGeom>
          <a:solidFill>
            <a:srgbClr val="12314F"/>
          </a:solidFill>
          <a:ln w="12700">
            <a:solidFill>
              <a:srgbClr val="12314F"/>
            </a:solidFill>
            <a:prstDash val="solid"/>
          </a:ln>
        </p:spPr>
      </p:sp>
      <p:sp>
        <p:nvSpPr>
          <p:cNvPr id="3" name="Text 1"/>
          <p:cNvSpPr/>
          <p:nvPr/>
        </p:nvSpPr>
        <p:spPr>
          <a:xfrm>
            <a:off x="566928" y="1600200"/>
            <a:ext cx="5669280" cy="1463040"/>
          </a:xfrm>
          <a:prstGeom prst="rect">
            <a:avLst/>
          </a:prstGeom>
          <a:noFill/>
          <a:ln/>
        </p:spPr>
        <p:txBody>
          <a:bodyPr wrap="square" lIns="0" tIns="0" rIns="0" bIns="0" rtlCol="0" anchor="ctr"/>
          <a:lstStyle/>
          <a:p>
            <a:pPr indent="0" marL="0">
              <a:buNone/>
            </a:pPr>
            <a:r>
              <a:rPr lang="en-US" sz="4000" b="1" dirty="0">
                <a:solidFill>
                  <a:srgbClr val="F2A03D"/>
                </a:solidFill>
                <a:latin typeface="Cambria" pitchFamily="34" charset="0"/>
                <a:ea typeface="Cambria" pitchFamily="34" charset="-122"/>
                <a:cs typeface="Cambria" pitchFamily="34" charset="-120"/>
              </a:rPr>
              <a:t>M3.5 – M3.6</a:t>
            </a:r>
            <a:endParaRPr lang="en-US" sz="4000" dirty="0"/>
          </a:p>
        </p:txBody>
      </p:sp>
      <p:sp>
        <p:nvSpPr>
          <p:cNvPr id="4" name="Text 2"/>
          <p:cNvSpPr/>
          <p:nvPr/>
        </p:nvSpPr>
        <p:spPr>
          <a:xfrm>
            <a:off x="566928" y="2971800"/>
            <a:ext cx="786384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The data tier and StatefulSets</a:t>
            </a:r>
            <a:endParaRPr lang="en-US" sz="3800" dirty="0"/>
          </a:p>
        </p:txBody>
      </p:sp>
      <p:sp>
        <p:nvSpPr>
          <p:cNvPr id="5" name="Text 3"/>
          <p:cNvSpPr/>
          <p:nvPr/>
        </p:nvSpPr>
        <p:spPr>
          <a:xfrm>
            <a:off x="566928" y="3886200"/>
            <a:ext cx="7498080" cy="822960"/>
          </a:xfrm>
          <a:prstGeom prst="rect">
            <a:avLst/>
          </a:prstGeom>
          <a:noFill/>
          <a:ln/>
        </p:spPr>
        <p:txBody>
          <a:bodyPr wrap="square" lIns="0" tIns="0" rIns="0" bIns="0" rtlCol="0" anchor="ctr"/>
          <a:lstStyle/>
          <a:p>
            <a:pPr indent="0" marL="0">
              <a:buNone/>
            </a:pPr>
            <a:r>
              <a:rPr lang="en-US" sz="1500" dirty="0">
                <a:solidFill>
                  <a:srgbClr val="D8E6F2"/>
                </a:solidFill>
                <a:latin typeface="Calibri" pitchFamily="34" charset="0"/>
                <a:ea typeface="Calibri" pitchFamily="34" charset="-122"/>
                <a:cs typeface="Calibri" pitchFamily="34" charset="-120"/>
              </a:rPr>
              <a:t>PostgreSQL, Redis, RabbitMQ — and why a database cannot be a Deployment</a:t>
            </a:r>
            <a:endParaRPr lang="en-US" sz="1500" dirty="0"/>
          </a:p>
        </p:txBody>
      </p:sp>
      <p:sp>
        <p:nvSpPr>
          <p:cNvPr id="6" name="Text 4"/>
          <p:cNvSpPr/>
          <p:nvPr/>
        </p:nvSpPr>
        <p:spPr>
          <a:xfrm>
            <a:off x="566928" y="4709160"/>
            <a:ext cx="7498080" cy="274320"/>
          </a:xfrm>
          <a:prstGeom prst="rect">
            <a:avLst/>
          </a:prstGeom>
          <a:noFill/>
          <a:ln/>
        </p:spPr>
        <p:txBody>
          <a:bodyPr wrap="square" lIns="0" tIns="0" rIns="0" bIns="0" rtlCol="0" anchor="ctr"/>
          <a:lstStyle/>
          <a:p>
            <a:pPr indent="0" marL="0">
              <a:buNone/>
            </a:pPr>
            <a:r>
              <a:rPr lang="en-US" sz="1100" b="1" dirty="0">
                <a:solidFill>
                  <a:srgbClr val="F2A03D"/>
                </a:solidFill>
                <a:latin typeface="Calibri" pitchFamily="34" charset="0"/>
                <a:ea typeface="Calibri" pitchFamily="34" charset="-122"/>
                <a:cs typeface="Calibri" pitchFamily="34" charset="-120"/>
              </a:rPr>
              <a:t>By the end of this module you will be able to:</a:t>
            </a:r>
            <a:endParaRPr lang="en-US" sz="1100" dirty="0"/>
          </a:p>
        </p:txBody>
      </p:sp>
      <p:sp>
        <p:nvSpPr>
          <p:cNvPr id="7" name="Text 5"/>
          <p:cNvSpPr/>
          <p:nvPr/>
        </p:nvSpPr>
        <p:spPr>
          <a:xfrm>
            <a:off x="658368" y="4983480"/>
            <a:ext cx="7498080" cy="10972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Deploy the data tier with persistent storage and real seeded data</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Explain stable identity and stable storage from evidence</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Implement init containers for ordered startup</a:t>
            </a:r>
            <a:endParaRPr lang="en-US" sz="1200" dirty="0"/>
          </a:p>
        </p:txBody>
      </p:sp>
      <p:sp>
        <p:nvSpPr>
          <p:cNvPr id="8" name="Text 6"/>
          <p:cNvSpPr/>
          <p:nvPr/>
        </p:nvSpPr>
        <p:spPr>
          <a:xfrm>
            <a:off x="9814255" y="5989320"/>
            <a:ext cx="1828800" cy="320040"/>
          </a:xfrm>
          <a:prstGeom prst="rect">
            <a:avLst/>
          </a:prstGeom>
          <a:noFill/>
          <a:ln/>
        </p:spPr>
        <p:txBody>
          <a:bodyPr wrap="square" lIns="0" tIns="0" rIns="0" bIns="0" rtlCol="0" anchor="ctr"/>
          <a:lstStyle/>
          <a:p>
            <a:pPr algn="r" indent="0" marL="0">
              <a:buNone/>
            </a:pPr>
            <a:r>
              <a:rPr lang="en-US" sz="1100" dirty="0">
                <a:solidFill>
                  <a:srgbClr val="63758B"/>
                </a:solidFill>
                <a:latin typeface="Calibri" pitchFamily="34" charset="0"/>
                <a:ea typeface="Calibri" pitchFamily="34" charset="-122"/>
                <a:cs typeface="Calibri" pitchFamily="34" charset="-120"/>
              </a:rPr>
              <a:t>110 min</a:t>
            </a:r>
            <a:endParaRPr lang="en-US" sz="1100" dirty="0"/>
          </a:p>
        </p:txBody>
      </p:sp>
      <p:pic>
        <p:nvPicPr>
          <p:cNvPr id="9"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0"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1"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2382012"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2382012"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M3.6 · STATEFULSETS</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Three guarantees a Deployment cannot give a database</a:t>
            </a:r>
            <a:endParaRPr lang="en-US" sz="3200" dirty="0"/>
          </a:p>
        </p:txBody>
      </p:sp>
      <p:sp>
        <p:nvSpPr>
          <p:cNvPr id="5" name="Text 3"/>
          <p:cNvSpPr/>
          <p:nvPr/>
        </p:nvSpPr>
        <p:spPr>
          <a:xfrm>
            <a:off x="566928" y="1737360"/>
            <a:ext cx="11057839" cy="457200"/>
          </a:xfrm>
          <a:prstGeom prst="rect">
            <a:avLst/>
          </a:prstGeom>
          <a:noFill/>
          <a:ln/>
        </p:spPr>
        <p:txBody>
          <a:bodyPr wrap="square" lIns="0" tIns="0" rIns="0" bIns="0" rtlCol="0" anchor="ctr"/>
          <a:lstStyle/>
          <a:p>
            <a:pPr indent="0" marL="0">
              <a:lnSpc>
                <a:spcPts val="1700"/>
              </a:lnSpc>
              <a:buNone/>
            </a:pPr>
            <a:r>
              <a:rPr lang="en-US" sz="1350" i="1" dirty="0">
                <a:solidFill>
                  <a:srgbClr val="1C7293"/>
                </a:solidFill>
                <a:latin typeface="Calibri" pitchFamily="34" charset="0"/>
                <a:ea typeface="Calibri" pitchFamily="34" charset="-122"/>
                <a:cs typeface="Calibri" pitchFamily="34" charset="-120"/>
              </a:rPr>
              <a:t>A StatefulSet manages pods that need stable network identity, stable per-replica storage and predictable rollout order. It solves a different problem from Deployment: not disposable replicas, but durable members whose names and disks must survive rescheduling.</a:t>
            </a:r>
            <a:endParaRPr lang="en-US" sz="1350" dirty="0"/>
          </a:p>
        </p:txBody>
      </p:sp>
      <p:sp>
        <p:nvSpPr>
          <p:cNvPr id="6" name="Shape 4"/>
          <p:cNvSpPr/>
          <p:nvPr/>
        </p:nvSpPr>
        <p:spPr>
          <a:xfrm>
            <a:off x="566928" y="2249424"/>
            <a:ext cx="11057839" cy="566928"/>
          </a:xfrm>
          <a:prstGeom prst="roundRect">
            <a:avLst>
              <a:gd name="adj" fmla="val 12903"/>
            </a:avLst>
          </a:prstGeom>
          <a:solidFill>
            <a:srgbClr val="EAF1F8"/>
          </a:solidFill>
          <a:ln w="12700">
            <a:solidFill>
              <a:srgbClr val="1C7293"/>
            </a:solidFill>
            <a:prstDash val="solid"/>
          </a:ln>
        </p:spPr>
      </p:sp>
      <p:sp>
        <p:nvSpPr>
          <p:cNvPr id="7" name="Text 5"/>
          <p:cNvSpPr/>
          <p:nvPr/>
        </p:nvSpPr>
        <p:spPr>
          <a:xfrm>
            <a:off x="768096" y="2249424"/>
            <a:ext cx="10655503" cy="566928"/>
          </a:xfrm>
          <a:prstGeom prst="rect">
            <a:avLst/>
          </a:prstGeom>
          <a:noFill/>
          <a:ln/>
        </p:spPr>
        <p:txBody>
          <a:bodyPr wrap="square" lIns="0" tIns="0" rIns="0" bIns="0" rtlCol="0" anchor="ctr"/>
          <a:lstStyle/>
          <a:p>
            <a:pPr indent="0" marL="0">
              <a:buNone/>
            </a:pPr>
            <a:r>
              <a:rPr lang="en-US" sz="1500" b="1" dirty="0">
                <a:solidFill>
                  <a:srgbClr val="0B1F3A"/>
                </a:solidFill>
                <a:latin typeface="Cambria" pitchFamily="34" charset="0"/>
                <a:ea typeface="Cambria" pitchFamily="34" charset="-122"/>
                <a:cs typeface="Cambria" pitchFamily="34" charset="-120"/>
              </a:rPr>
              <a:t>In L3.6 step 1 you deploy PostgreSQL as a Deployment. Exactly what breaks?</a:t>
            </a:r>
            <a:endParaRPr lang="en-US" sz="1500" dirty="0"/>
          </a:p>
        </p:txBody>
      </p:sp>
      <p:sp>
        <p:nvSpPr>
          <p:cNvPr id="8" name="Shape 6"/>
          <p:cNvSpPr/>
          <p:nvPr/>
        </p:nvSpPr>
        <p:spPr>
          <a:xfrm>
            <a:off x="566928" y="3160395"/>
            <a:ext cx="402336" cy="402336"/>
          </a:xfrm>
          <a:prstGeom prst="ellipse">
            <a:avLst/>
          </a:prstGeom>
          <a:solidFill>
            <a:srgbClr val="C97B1E"/>
          </a:solidFill>
          <a:ln w="12700">
            <a:solidFill>
              <a:srgbClr val="C97B1E"/>
            </a:solidFill>
            <a:prstDash val="solid"/>
          </a:ln>
        </p:spPr>
      </p:sp>
      <p:sp>
        <p:nvSpPr>
          <p:cNvPr id="9" name="Text 7"/>
          <p:cNvSpPr/>
          <p:nvPr/>
        </p:nvSpPr>
        <p:spPr>
          <a:xfrm>
            <a:off x="566928" y="3160395"/>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0" name="Text 8"/>
          <p:cNvSpPr/>
          <p:nvPr/>
        </p:nvSpPr>
        <p:spPr>
          <a:xfrm>
            <a:off x="1133856" y="2999232"/>
            <a:ext cx="3200400" cy="724662"/>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Generic stable name</a:t>
            </a:r>
            <a:endParaRPr lang="en-US" sz="1400" dirty="0"/>
          </a:p>
        </p:txBody>
      </p:sp>
      <p:sp>
        <p:nvSpPr>
          <p:cNvPr id="11" name="Text 9"/>
          <p:cNvSpPr/>
          <p:nvPr/>
        </p:nvSpPr>
        <p:spPr>
          <a:xfrm>
            <a:off x="4407408" y="2999232"/>
            <a:ext cx="7217359" cy="724662"/>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A generic stateful app gets ordinal identities such as web-0, web-1 and web-2. That means a peer can be told to contact one specific member later, because replacement preserves the ordinal instead of inventing a new random pod suffix.</a:t>
            </a:r>
            <a:endParaRPr lang="en-US" sz="1250" dirty="0"/>
          </a:p>
        </p:txBody>
      </p:sp>
      <p:sp>
        <p:nvSpPr>
          <p:cNvPr id="12" name="Shape 10"/>
          <p:cNvSpPr/>
          <p:nvPr/>
        </p:nvSpPr>
        <p:spPr>
          <a:xfrm>
            <a:off x="566928" y="3885057"/>
            <a:ext cx="402336" cy="402336"/>
          </a:xfrm>
          <a:prstGeom prst="ellipse">
            <a:avLst/>
          </a:prstGeom>
          <a:solidFill>
            <a:srgbClr val="2E9E63"/>
          </a:solidFill>
          <a:ln w="12700">
            <a:solidFill>
              <a:srgbClr val="2E9E63"/>
            </a:solidFill>
            <a:prstDash val="solid"/>
          </a:ln>
        </p:spPr>
      </p:sp>
      <p:sp>
        <p:nvSpPr>
          <p:cNvPr id="13" name="Text 11"/>
          <p:cNvSpPr/>
          <p:nvPr/>
        </p:nvSpPr>
        <p:spPr>
          <a:xfrm>
            <a:off x="566928" y="3885057"/>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4" name="Text 12"/>
          <p:cNvSpPr/>
          <p:nvPr/>
        </p:nvSpPr>
        <p:spPr>
          <a:xfrm>
            <a:off x="1133856" y="3723894"/>
            <a:ext cx="3200400" cy="724662"/>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Generic stable storage</a:t>
            </a:r>
            <a:endParaRPr lang="en-US" sz="1400" dirty="0"/>
          </a:p>
        </p:txBody>
      </p:sp>
      <p:sp>
        <p:nvSpPr>
          <p:cNvPr id="15" name="Text 13"/>
          <p:cNvSpPr/>
          <p:nvPr/>
        </p:nvSpPr>
        <p:spPr>
          <a:xfrm>
            <a:off x="4407408" y="3723894"/>
            <a:ext cx="7217359" cy="724662"/>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volumeClaimTemplates create one PVC per ordinal — for example data-web-0 and data-web-1 — and Kubernetes reattaches the same claim to the same ordinal after rescheduling. A Deployment has no native per-replica disk identity.</a:t>
            </a:r>
            <a:endParaRPr lang="en-US" sz="1250" dirty="0"/>
          </a:p>
        </p:txBody>
      </p:sp>
      <p:sp>
        <p:nvSpPr>
          <p:cNvPr id="16" name="Shape 14"/>
          <p:cNvSpPr/>
          <p:nvPr/>
        </p:nvSpPr>
        <p:spPr>
          <a:xfrm>
            <a:off x="566928" y="4609719"/>
            <a:ext cx="402336" cy="402336"/>
          </a:xfrm>
          <a:prstGeom prst="ellipse">
            <a:avLst/>
          </a:prstGeom>
          <a:solidFill>
            <a:srgbClr val="1C7293"/>
          </a:solidFill>
          <a:ln w="12700">
            <a:solidFill>
              <a:srgbClr val="1C7293"/>
            </a:solidFill>
            <a:prstDash val="solid"/>
          </a:ln>
        </p:spPr>
      </p:sp>
      <p:sp>
        <p:nvSpPr>
          <p:cNvPr id="17" name="Text 15"/>
          <p:cNvSpPr/>
          <p:nvPr/>
        </p:nvSpPr>
        <p:spPr>
          <a:xfrm>
            <a:off x="566928" y="4609719"/>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8" name="Text 16"/>
          <p:cNvSpPr/>
          <p:nvPr/>
        </p:nvSpPr>
        <p:spPr>
          <a:xfrm>
            <a:off x="1133856" y="4448556"/>
            <a:ext cx="3200400" cy="724662"/>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AxisPay ordered startup</a:t>
            </a:r>
            <a:endParaRPr lang="en-US" sz="1400" dirty="0"/>
          </a:p>
        </p:txBody>
      </p:sp>
      <p:sp>
        <p:nvSpPr>
          <p:cNvPr id="19" name="Text 17"/>
          <p:cNvSpPr/>
          <p:nvPr/>
        </p:nvSpPr>
        <p:spPr>
          <a:xfrm>
            <a:off x="4407408" y="4448556"/>
            <a:ext cx="7217359" cy="724662"/>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AxisPay PostgreSQL needs predictable boot order. OrderedReady starts postgres-0 before higher ordinals, and termination runs in reverse, so later members can wait for earlier ones instead of racing a stateless rollout controller.</a:t>
            </a:r>
            <a:endParaRPr lang="en-US" sz="1250" dirty="0"/>
          </a:p>
        </p:txBody>
      </p:sp>
      <p:sp>
        <p:nvSpPr>
          <p:cNvPr id="20" name="Shape 18"/>
          <p:cNvSpPr/>
          <p:nvPr/>
        </p:nvSpPr>
        <p:spPr>
          <a:xfrm>
            <a:off x="566928" y="5334381"/>
            <a:ext cx="402336" cy="402336"/>
          </a:xfrm>
          <a:prstGeom prst="ellipse">
            <a:avLst/>
          </a:prstGeom>
          <a:solidFill>
            <a:srgbClr val="8E6FBF"/>
          </a:solidFill>
          <a:ln w="12700">
            <a:solidFill>
              <a:srgbClr val="8E6FBF"/>
            </a:solidFill>
            <a:prstDash val="solid"/>
          </a:ln>
        </p:spPr>
      </p:sp>
      <p:sp>
        <p:nvSpPr>
          <p:cNvPr id="21" name="Text 19"/>
          <p:cNvSpPr/>
          <p:nvPr/>
        </p:nvSpPr>
        <p:spPr>
          <a:xfrm>
            <a:off x="566928" y="5334381"/>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2" name="Text 20"/>
          <p:cNvSpPr/>
          <p:nvPr/>
        </p:nvSpPr>
        <p:spPr>
          <a:xfrm>
            <a:off x="1133856" y="5173218"/>
            <a:ext cx="3200400" cy="724662"/>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AxisPay direct DNS</a:t>
            </a:r>
            <a:endParaRPr lang="en-US" sz="1400" dirty="0"/>
          </a:p>
        </p:txBody>
      </p:sp>
      <p:sp>
        <p:nvSpPr>
          <p:cNvPr id="23" name="Text 21"/>
          <p:cNvSpPr/>
          <p:nvPr/>
        </p:nvSpPr>
        <p:spPr>
          <a:xfrm>
            <a:off x="4407408" y="5173218"/>
            <a:ext cx="7217359" cy="724662"/>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AxisPay uses a headless Service so postgres-0.postgres.axispay-data resolves to that exact pod. payment-service can target the database through a stable identity, and each ordinal keeps its own data-postgres-N claim.</a:t>
            </a:r>
            <a:endParaRPr lang="en-US" sz="1250" dirty="0"/>
          </a:p>
        </p:txBody>
      </p:sp>
      <p:sp>
        <p:nvSpPr>
          <p:cNvPr id="24" name="Text 22"/>
          <p:cNvSpPr/>
          <p:nvPr/>
        </p:nvSpPr>
        <p:spPr>
          <a:xfrm>
            <a:off x="566928" y="5687568"/>
            <a:ext cx="11057839" cy="548640"/>
          </a:xfrm>
          <a:prstGeom prst="rect">
            <a:avLst/>
          </a:prstGeom>
          <a:noFill/>
          <a:ln/>
        </p:spPr>
        <p:txBody>
          <a:bodyPr wrap="square" lIns="0" tIns="0" rIns="0" bIns="0" rtlCol="0" anchor="ctr"/>
          <a:lstStyle/>
          <a:p>
            <a:pPr algn="ctr" indent="0" marL="0">
              <a:buNone/>
            </a:pPr>
            <a:r>
              <a:rPr lang="en-US" sz="1400" b="1" dirty="0">
                <a:solidFill>
                  <a:srgbClr val="1C7293"/>
                </a:solidFill>
                <a:latin typeface="Calibri" pitchFamily="34" charset="0"/>
                <a:ea typeface="Calibri" pitchFamily="34" charset="-122"/>
                <a:cs typeface="Calibri" pitchFamily="34" charset="-120"/>
              </a:rPr>
              <a:t>In the lab you build the Deployment version first, watch it lose its data and its identity, then contrast. That contrast is the lesson.</a:t>
            </a:r>
            <a:endParaRPr lang="en-US" sz="1400" dirty="0"/>
          </a:p>
        </p:txBody>
      </p:sp>
      <p:sp>
        <p:nvSpPr>
          <p:cNvPr id="25" name="Text 23"/>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3</a:t>
            </a:r>
            <a:endParaRPr lang="en-US" sz="900" dirty="0"/>
          </a:p>
        </p:txBody>
      </p:sp>
      <p:sp>
        <p:nvSpPr>
          <p:cNvPr id="26" name="Text 24"/>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25</a:t>
            </a:r>
            <a:endParaRPr lang="en-US" sz="900" dirty="0"/>
          </a:p>
        </p:txBody>
      </p:sp>
      <p:pic>
        <p:nvPicPr>
          <p:cNvPr id="27"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28"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29"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856232" cy="292608"/>
          </a:xfrm>
          <a:prstGeom prst="roundRect">
            <a:avLst>
              <a:gd name="adj" fmla="val 50000"/>
            </a:avLst>
          </a:prstGeom>
          <a:solidFill>
            <a:srgbClr val="C97B1E"/>
          </a:solidFill>
          <a:ln w="12700">
            <a:solidFill>
              <a:srgbClr val="C97B1E"/>
            </a:solidFill>
            <a:prstDash val="solid"/>
          </a:ln>
        </p:spPr>
      </p:sp>
      <p:sp>
        <p:nvSpPr>
          <p:cNvPr id="3" name="Text 1"/>
          <p:cNvSpPr/>
          <p:nvPr/>
        </p:nvSpPr>
        <p:spPr>
          <a:xfrm>
            <a:off x="566928" y="384048"/>
            <a:ext cx="1856232"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M3.6 · DIAGRAM</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StatefulSet primitives — ordinals, PVCs and headless DNS</a:t>
            </a:r>
            <a:endParaRPr lang="en-US" sz="3200" dirty="0"/>
          </a:p>
        </p:txBody>
      </p:sp>
      <p:sp>
        <p:nvSpPr>
          <p:cNvPr id="5" name="Shape 3"/>
          <p:cNvSpPr/>
          <p:nvPr/>
        </p:nvSpPr>
        <p:spPr>
          <a:xfrm>
            <a:off x="4480560" y="1783080"/>
            <a:ext cx="3246120" cy="777240"/>
          </a:xfrm>
          <a:prstGeom prst="roundRect">
            <a:avLst>
              <a:gd name="adj" fmla="val 9412"/>
            </a:avLst>
          </a:prstGeom>
          <a:solidFill>
            <a:srgbClr val="1C7293"/>
          </a:solidFill>
          <a:ln w="12700">
            <a:solidFill>
              <a:srgbClr val="1C7293"/>
            </a:solidFill>
            <a:prstDash val="solid"/>
          </a:ln>
        </p:spPr>
      </p:sp>
      <p:sp>
        <p:nvSpPr>
          <p:cNvPr id="6" name="Text 4"/>
          <p:cNvSpPr/>
          <p:nvPr/>
        </p:nvSpPr>
        <p:spPr>
          <a:xfrm>
            <a:off x="4553712" y="1892808"/>
            <a:ext cx="3099816" cy="35753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StatefulSet</a:t>
            </a:r>
            <a:endParaRPr lang="en-US" sz="1400" dirty="0"/>
          </a:p>
        </p:txBody>
      </p:sp>
      <p:sp>
        <p:nvSpPr>
          <p:cNvPr id="7" name="Text 5"/>
          <p:cNvSpPr/>
          <p:nvPr/>
        </p:nvSpPr>
        <p:spPr>
          <a:xfrm>
            <a:off x="4553712" y="2171700"/>
            <a:ext cx="3099816" cy="341986"/>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replicas: 3</a:t>
            </a:r>
            <a:endParaRPr lang="en-US" sz="1050" dirty="0"/>
          </a:p>
        </p:txBody>
      </p:sp>
      <p:sp>
        <p:nvSpPr>
          <p:cNvPr id="8" name="Shape 6"/>
          <p:cNvSpPr/>
          <p:nvPr/>
        </p:nvSpPr>
        <p:spPr>
          <a:xfrm>
            <a:off x="731520" y="2606040"/>
            <a:ext cx="2148840" cy="621792"/>
          </a:xfrm>
          <a:prstGeom prst="roundRect">
            <a:avLst>
              <a:gd name="adj" fmla="val 11765"/>
            </a:avLst>
          </a:prstGeom>
          <a:solidFill>
            <a:srgbClr val="8E6FBF"/>
          </a:solidFill>
          <a:ln w="12700">
            <a:solidFill>
              <a:srgbClr val="8E6FBF"/>
            </a:solidFill>
            <a:prstDash val="solid"/>
          </a:ln>
        </p:spPr>
      </p:sp>
      <p:sp>
        <p:nvSpPr>
          <p:cNvPr id="9" name="Text 7"/>
          <p:cNvSpPr/>
          <p:nvPr/>
        </p:nvSpPr>
        <p:spPr>
          <a:xfrm>
            <a:off x="804672" y="2715768"/>
            <a:ext cx="2002536" cy="2860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Headless Service</a:t>
            </a:r>
            <a:endParaRPr lang="en-US" sz="1400" dirty="0"/>
          </a:p>
        </p:txBody>
      </p:sp>
      <p:sp>
        <p:nvSpPr>
          <p:cNvPr id="10" name="Text 8"/>
          <p:cNvSpPr/>
          <p:nvPr/>
        </p:nvSpPr>
        <p:spPr>
          <a:xfrm>
            <a:off x="804672" y="2916936"/>
            <a:ext cx="2002536" cy="273588"/>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clusterIP: None</a:t>
            </a:r>
            <a:endParaRPr lang="en-US" sz="1050" dirty="0"/>
          </a:p>
        </p:txBody>
      </p:sp>
      <p:sp>
        <p:nvSpPr>
          <p:cNvPr id="11" name="Shape 9"/>
          <p:cNvSpPr/>
          <p:nvPr/>
        </p:nvSpPr>
        <p:spPr>
          <a:xfrm>
            <a:off x="3108960" y="3611880"/>
            <a:ext cx="2148840" cy="749808"/>
          </a:xfrm>
          <a:prstGeom prst="roundRect">
            <a:avLst>
              <a:gd name="adj" fmla="val 9756"/>
            </a:avLst>
          </a:prstGeom>
          <a:solidFill>
            <a:srgbClr val="12314F"/>
          </a:solidFill>
          <a:ln w="12700">
            <a:solidFill>
              <a:srgbClr val="12314F"/>
            </a:solidFill>
            <a:prstDash val="solid"/>
          </a:ln>
        </p:spPr>
      </p:sp>
      <p:sp>
        <p:nvSpPr>
          <p:cNvPr id="12" name="Text 10"/>
          <p:cNvSpPr/>
          <p:nvPr/>
        </p:nvSpPr>
        <p:spPr>
          <a:xfrm>
            <a:off x="3182112" y="3721608"/>
            <a:ext cx="2002536" cy="34491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Pod</a:t>
            </a:r>
            <a:endParaRPr lang="en-US" sz="1400" dirty="0"/>
          </a:p>
        </p:txBody>
      </p:sp>
      <p:sp>
        <p:nvSpPr>
          <p:cNvPr id="13" name="Text 11"/>
          <p:cNvSpPr/>
          <p:nvPr/>
        </p:nvSpPr>
        <p:spPr>
          <a:xfrm>
            <a:off x="3182112" y="3986784"/>
            <a:ext cx="2002536" cy="329916"/>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web-0</a:t>
            </a:r>
            <a:endParaRPr lang="en-US" sz="1050" dirty="0"/>
          </a:p>
        </p:txBody>
      </p:sp>
      <p:sp>
        <p:nvSpPr>
          <p:cNvPr id="14" name="Shape 12"/>
          <p:cNvSpPr/>
          <p:nvPr/>
        </p:nvSpPr>
        <p:spPr>
          <a:xfrm>
            <a:off x="3108960" y="4709160"/>
            <a:ext cx="2148840" cy="713232"/>
          </a:xfrm>
          <a:prstGeom prst="roundRect">
            <a:avLst>
              <a:gd name="adj" fmla="val 10256"/>
            </a:avLst>
          </a:prstGeom>
          <a:solidFill>
            <a:srgbClr val="2E9E63"/>
          </a:solidFill>
          <a:ln w="12700">
            <a:solidFill>
              <a:srgbClr val="2E9E63"/>
            </a:solidFill>
            <a:prstDash val="solid"/>
          </a:ln>
        </p:spPr>
      </p:sp>
      <p:sp>
        <p:nvSpPr>
          <p:cNvPr id="15" name="Text 13"/>
          <p:cNvSpPr/>
          <p:nvPr/>
        </p:nvSpPr>
        <p:spPr>
          <a:xfrm>
            <a:off x="3182112" y="4818888"/>
            <a:ext cx="2002536" cy="328087"/>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PVC</a:t>
            </a:r>
            <a:endParaRPr lang="en-US" sz="1400" dirty="0"/>
          </a:p>
        </p:txBody>
      </p:sp>
      <p:sp>
        <p:nvSpPr>
          <p:cNvPr id="16" name="Text 14"/>
          <p:cNvSpPr/>
          <p:nvPr/>
        </p:nvSpPr>
        <p:spPr>
          <a:xfrm>
            <a:off x="3182112" y="5065776"/>
            <a:ext cx="2002536" cy="313822"/>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data-web-0</a:t>
            </a:r>
            <a:endParaRPr lang="en-US" sz="1050" dirty="0"/>
          </a:p>
        </p:txBody>
      </p:sp>
      <p:sp>
        <p:nvSpPr>
          <p:cNvPr id="17" name="Shape 15"/>
          <p:cNvSpPr/>
          <p:nvPr/>
        </p:nvSpPr>
        <p:spPr>
          <a:xfrm>
            <a:off x="4178808" y="4379976"/>
            <a:ext cx="0" cy="219456"/>
          </a:xfrm>
          <a:prstGeom prst="line">
            <a:avLst/>
          </a:prstGeom>
          <a:noFill/>
          <a:ln w="25400">
            <a:solidFill>
              <a:srgbClr val="2E9E63"/>
            </a:solidFill>
            <a:prstDash val="solid"/>
            <a:tailEnd type="triangle"/>
          </a:ln>
        </p:spPr>
      </p:sp>
      <p:sp>
        <p:nvSpPr>
          <p:cNvPr id="18" name="Shape 16"/>
          <p:cNvSpPr/>
          <p:nvPr/>
        </p:nvSpPr>
        <p:spPr>
          <a:xfrm>
            <a:off x="5806440" y="3611880"/>
            <a:ext cx="2148840" cy="749808"/>
          </a:xfrm>
          <a:prstGeom prst="roundRect">
            <a:avLst>
              <a:gd name="adj" fmla="val 9756"/>
            </a:avLst>
          </a:prstGeom>
          <a:solidFill>
            <a:srgbClr val="12314F"/>
          </a:solidFill>
          <a:ln w="12700">
            <a:solidFill>
              <a:srgbClr val="12314F"/>
            </a:solidFill>
            <a:prstDash val="solid"/>
          </a:ln>
        </p:spPr>
      </p:sp>
      <p:sp>
        <p:nvSpPr>
          <p:cNvPr id="19" name="Text 17"/>
          <p:cNvSpPr/>
          <p:nvPr/>
        </p:nvSpPr>
        <p:spPr>
          <a:xfrm>
            <a:off x="5879592" y="3721608"/>
            <a:ext cx="2002536" cy="34491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Pod</a:t>
            </a:r>
            <a:endParaRPr lang="en-US" sz="1400" dirty="0"/>
          </a:p>
        </p:txBody>
      </p:sp>
      <p:sp>
        <p:nvSpPr>
          <p:cNvPr id="20" name="Text 18"/>
          <p:cNvSpPr/>
          <p:nvPr/>
        </p:nvSpPr>
        <p:spPr>
          <a:xfrm>
            <a:off x="5879592" y="3986784"/>
            <a:ext cx="2002536" cy="329916"/>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web-1</a:t>
            </a:r>
            <a:endParaRPr lang="en-US" sz="1050" dirty="0"/>
          </a:p>
        </p:txBody>
      </p:sp>
      <p:sp>
        <p:nvSpPr>
          <p:cNvPr id="21" name="Shape 19"/>
          <p:cNvSpPr/>
          <p:nvPr/>
        </p:nvSpPr>
        <p:spPr>
          <a:xfrm>
            <a:off x="5806440" y="4709160"/>
            <a:ext cx="2148840" cy="713232"/>
          </a:xfrm>
          <a:prstGeom prst="roundRect">
            <a:avLst>
              <a:gd name="adj" fmla="val 10256"/>
            </a:avLst>
          </a:prstGeom>
          <a:solidFill>
            <a:srgbClr val="2E9E63"/>
          </a:solidFill>
          <a:ln w="12700">
            <a:solidFill>
              <a:srgbClr val="2E9E63"/>
            </a:solidFill>
            <a:prstDash val="solid"/>
          </a:ln>
        </p:spPr>
      </p:sp>
      <p:sp>
        <p:nvSpPr>
          <p:cNvPr id="22" name="Text 20"/>
          <p:cNvSpPr/>
          <p:nvPr/>
        </p:nvSpPr>
        <p:spPr>
          <a:xfrm>
            <a:off x="5879592" y="4818888"/>
            <a:ext cx="2002536" cy="328087"/>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PVC</a:t>
            </a:r>
            <a:endParaRPr lang="en-US" sz="1400" dirty="0"/>
          </a:p>
        </p:txBody>
      </p:sp>
      <p:sp>
        <p:nvSpPr>
          <p:cNvPr id="23" name="Text 21"/>
          <p:cNvSpPr/>
          <p:nvPr/>
        </p:nvSpPr>
        <p:spPr>
          <a:xfrm>
            <a:off x="5879592" y="5065776"/>
            <a:ext cx="2002536" cy="313822"/>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data-web-1</a:t>
            </a:r>
            <a:endParaRPr lang="en-US" sz="1050" dirty="0"/>
          </a:p>
        </p:txBody>
      </p:sp>
      <p:sp>
        <p:nvSpPr>
          <p:cNvPr id="24" name="Shape 22"/>
          <p:cNvSpPr/>
          <p:nvPr/>
        </p:nvSpPr>
        <p:spPr>
          <a:xfrm>
            <a:off x="6876288" y="4379976"/>
            <a:ext cx="0" cy="219456"/>
          </a:xfrm>
          <a:prstGeom prst="line">
            <a:avLst/>
          </a:prstGeom>
          <a:noFill/>
          <a:ln w="25400">
            <a:solidFill>
              <a:srgbClr val="2E9E63"/>
            </a:solidFill>
            <a:prstDash val="solid"/>
            <a:tailEnd type="triangle"/>
          </a:ln>
        </p:spPr>
      </p:sp>
      <p:sp>
        <p:nvSpPr>
          <p:cNvPr id="25" name="Shape 23"/>
          <p:cNvSpPr/>
          <p:nvPr/>
        </p:nvSpPr>
        <p:spPr>
          <a:xfrm>
            <a:off x="8503920" y="3611880"/>
            <a:ext cx="2148840" cy="749808"/>
          </a:xfrm>
          <a:prstGeom prst="roundRect">
            <a:avLst>
              <a:gd name="adj" fmla="val 9756"/>
            </a:avLst>
          </a:prstGeom>
          <a:solidFill>
            <a:srgbClr val="12314F"/>
          </a:solidFill>
          <a:ln w="12700">
            <a:solidFill>
              <a:srgbClr val="12314F"/>
            </a:solidFill>
            <a:prstDash val="solid"/>
          </a:ln>
        </p:spPr>
      </p:sp>
      <p:sp>
        <p:nvSpPr>
          <p:cNvPr id="26" name="Text 24"/>
          <p:cNvSpPr/>
          <p:nvPr/>
        </p:nvSpPr>
        <p:spPr>
          <a:xfrm>
            <a:off x="8577072" y="3721608"/>
            <a:ext cx="2002536" cy="34491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Pod</a:t>
            </a:r>
            <a:endParaRPr lang="en-US" sz="1400" dirty="0"/>
          </a:p>
        </p:txBody>
      </p:sp>
      <p:sp>
        <p:nvSpPr>
          <p:cNvPr id="27" name="Text 25"/>
          <p:cNvSpPr/>
          <p:nvPr/>
        </p:nvSpPr>
        <p:spPr>
          <a:xfrm>
            <a:off x="8577072" y="3986784"/>
            <a:ext cx="2002536" cy="329916"/>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web-2</a:t>
            </a:r>
            <a:endParaRPr lang="en-US" sz="1050" dirty="0"/>
          </a:p>
        </p:txBody>
      </p:sp>
      <p:sp>
        <p:nvSpPr>
          <p:cNvPr id="28" name="Shape 26"/>
          <p:cNvSpPr/>
          <p:nvPr/>
        </p:nvSpPr>
        <p:spPr>
          <a:xfrm>
            <a:off x="8503920" y="4709160"/>
            <a:ext cx="2148840" cy="713232"/>
          </a:xfrm>
          <a:prstGeom prst="roundRect">
            <a:avLst>
              <a:gd name="adj" fmla="val 10256"/>
            </a:avLst>
          </a:prstGeom>
          <a:solidFill>
            <a:srgbClr val="2E9E63"/>
          </a:solidFill>
          <a:ln w="12700">
            <a:solidFill>
              <a:srgbClr val="2E9E63"/>
            </a:solidFill>
            <a:prstDash val="solid"/>
          </a:ln>
        </p:spPr>
      </p:sp>
      <p:sp>
        <p:nvSpPr>
          <p:cNvPr id="29" name="Text 27"/>
          <p:cNvSpPr/>
          <p:nvPr/>
        </p:nvSpPr>
        <p:spPr>
          <a:xfrm>
            <a:off x="8577072" y="4818888"/>
            <a:ext cx="2002536" cy="328087"/>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PVC</a:t>
            </a:r>
            <a:endParaRPr lang="en-US" sz="1400" dirty="0"/>
          </a:p>
        </p:txBody>
      </p:sp>
      <p:sp>
        <p:nvSpPr>
          <p:cNvPr id="30" name="Text 28"/>
          <p:cNvSpPr/>
          <p:nvPr/>
        </p:nvSpPr>
        <p:spPr>
          <a:xfrm>
            <a:off x="8577072" y="5065776"/>
            <a:ext cx="2002536" cy="313822"/>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data-web-2</a:t>
            </a:r>
            <a:endParaRPr lang="en-US" sz="1050" dirty="0"/>
          </a:p>
        </p:txBody>
      </p:sp>
      <p:sp>
        <p:nvSpPr>
          <p:cNvPr id="31" name="Shape 29"/>
          <p:cNvSpPr/>
          <p:nvPr/>
        </p:nvSpPr>
        <p:spPr>
          <a:xfrm>
            <a:off x="9573768" y="4379976"/>
            <a:ext cx="0" cy="219456"/>
          </a:xfrm>
          <a:prstGeom prst="line">
            <a:avLst/>
          </a:prstGeom>
          <a:noFill/>
          <a:ln w="25400">
            <a:solidFill>
              <a:srgbClr val="2E9E63"/>
            </a:solidFill>
            <a:prstDash val="solid"/>
            <a:tailEnd type="triangle"/>
          </a:ln>
        </p:spPr>
      </p:sp>
      <p:sp>
        <p:nvSpPr>
          <p:cNvPr id="32" name="Shape 30"/>
          <p:cNvSpPr/>
          <p:nvPr/>
        </p:nvSpPr>
        <p:spPr>
          <a:xfrm>
            <a:off x="6126480" y="2578608"/>
            <a:ext cx="-2011680" cy="45720"/>
          </a:xfrm>
          <a:prstGeom prst="line">
            <a:avLst/>
          </a:prstGeom>
          <a:noFill/>
          <a:ln w="25400">
            <a:solidFill>
              <a:srgbClr val="1C7293"/>
            </a:solidFill>
            <a:prstDash val="solid"/>
            <a:tailEnd type="triangle"/>
          </a:ln>
        </p:spPr>
      </p:sp>
      <p:sp>
        <p:nvSpPr>
          <p:cNvPr id="33" name="Text 31"/>
          <p:cNvSpPr/>
          <p:nvPr/>
        </p:nvSpPr>
        <p:spPr>
          <a:xfrm>
            <a:off x="5669280" y="2217420"/>
            <a:ext cx="2926080" cy="310896"/>
          </a:xfrm>
          <a:prstGeom prst="rect">
            <a:avLst/>
          </a:prstGeom>
          <a:noFill/>
          <a:ln/>
        </p:spPr>
        <p:txBody>
          <a:bodyPr wrap="square" lIns="0" tIns="0" rIns="0" bIns="0" rtlCol="0" anchor="ctr"/>
          <a:lstStyle/>
          <a:p>
            <a:pPr algn="ctr" indent="0" marL="0">
              <a:buNone/>
            </a:pPr>
            <a:r>
              <a:rPr lang="en-US" sz="1000" b="1" dirty="0">
                <a:solidFill>
                  <a:srgbClr val="1C7293"/>
                </a:solidFill>
                <a:latin typeface="Calibri" pitchFamily="34" charset="0"/>
                <a:ea typeface="Calibri" pitchFamily="34" charset="-122"/>
                <a:cs typeface="Calibri" pitchFamily="34" charset="-120"/>
              </a:rPr>
              <a:t>creates ordinals</a:t>
            </a:r>
            <a:endParaRPr lang="en-US" sz="1000" dirty="0"/>
          </a:p>
        </p:txBody>
      </p:sp>
      <p:sp>
        <p:nvSpPr>
          <p:cNvPr id="34" name="Shape 32"/>
          <p:cNvSpPr/>
          <p:nvPr/>
        </p:nvSpPr>
        <p:spPr>
          <a:xfrm>
            <a:off x="2880360" y="2980944"/>
            <a:ext cx="137160" cy="0"/>
          </a:xfrm>
          <a:prstGeom prst="line">
            <a:avLst/>
          </a:prstGeom>
          <a:noFill/>
          <a:ln w="25400">
            <a:solidFill>
              <a:srgbClr val="8E6FBF"/>
            </a:solidFill>
            <a:prstDash val="solid"/>
            <a:tailEnd type="triangle"/>
          </a:ln>
        </p:spPr>
      </p:sp>
      <p:sp>
        <p:nvSpPr>
          <p:cNvPr id="35" name="Shape 33"/>
          <p:cNvSpPr/>
          <p:nvPr/>
        </p:nvSpPr>
        <p:spPr>
          <a:xfrm>
            <a:off x="2880360" y="3310128"/>
            <a:ext cx="2788920" cy="0"/>
          </a:xfrm>
          <a:prstGeom prst="line">
            <a:avLst/>
          </a:prstGeom>
          <a:noFill/>
          <a:ln w="25400">
            <a:solidFill>
              <a:srgbClr val="8E6FBF"/>
            </a:solidFill>
            <a:prstDash val="solid"/>
            <a:tailEnd type="triangle"/>
          </a:ln>
        </p:spPr>
      </p:sp>
      <p:sp>
        <p:nvSpPr>
          <p:cNvPr id="36" name="Text 34"/>
          <p:cNvSpPr/>
          <p:nvPr/>
        </p:nvSpPr>
        <p:spPr>
          <a:xfrm>
            <a:off x="2880360" y="3364992"/>
            <a:ext cx="5120640" cy="219456"/>
          </a:xfrm>
          <a:prstGeom prst="rect">
            <a:avLst/>
          </a:prstGeom>
          <a:noFill/>
          <a:ln/>
        </p:spPr>
        <p:txBody>
          <a:bodyPr wrap="square" lIns="0" tIns="0" rIns="0" bIns="0" rtlCol="0" anchor="ctr"/>
          <a:lstStyle/>
          <a:p>
            <a:pPr algn="ctr" indent="0" marL="0">
              <a:buNone/>
            </a:pPr>
            <a:r>
              <a:rPr lang="en-US" sz="950" b="1" dirty="0">
                <a:solidFill>
                  <a:srgbClr val="8E6FBF"/>
                </a:solidFill>
                <a:latin typeface="Calibri" pitchFamily="34" charset="0"/>
                <a:ea typeface="Calibri" pitchFamily="34" charset="-122"/>
                <a:cs typeface="Calibri" pitchFamily="34" charset="-120"/>
              </a:rPr>
              <a:t>DNS: web-0.svc, web-1.svc, web-2.svc</a:t>
            </a:r>
            <a:endParaRPr lang="en-US" sz="950" dirty="0"/>
          </a:p>
        </p:txBody>
      </p:sp>
      <p:sp>
        <p:nvSpPr>
          <p:cNvPr id="37" name="Text 35"/>
          <p:cNvSpPr/>
          <p:nvPr/>
        </p:nvSpPr>
        <p:spPr>
          <a:xfrm>
            <a:off x="3657600" y="5486400"/>
            <a:ext cx="4846320" cy="256032"/>
          </a:xfrm>
          <a:prstGeom prst="rect">
            <a:avLst/>
          </a:prstGeom>
          <a:noFill/>
          <a:ln/>
        </p:spPr>
        <p:txBody>
          <a:bodyPr wrap="square" lIns="0" tIns="0" rIns="0" bIns="0" rtlCol="0" anchor="ctr"/>
          <a:lstStyle/>
          <a:p>
            <a:pPr algn="ctr" indent="0" marL="0">
              <a:buNone/>
            </a:pPr>
            <a:r>
              <a:rPr lang="en-US" sz="1080" b="1" dirty="0">
                <a:solidFill>
                  <a:srgbClr val="2E9E63"/>
                </a:solidFill>
                <a:latin typeface="Calibri" pitchFamily="34" charset="0"/>
                <a:ea typeface="Calibri" pitchFamily="34" charset="-122"/>
                <a:cs typeface="Calibri" pitchFamily="34" charset="-120"/>
              </a:rPr>
              <a:t>each replica keeps its own claim</a:t>
            </a:r>
            <a:endParaRPr lang="en-US" sz="1080" dirty="0"/>
          </a:p>
        </p:txBody>
      </p:sp>
      <p:sp>
        <p:nvSpPr>
          <p:cNvPr id="38" name="Text 36"/>
          <p:cNvSpPr/>
          <p:nvPr/>
        </p:nvSpPr>
        <p:spPr>
          <a:xfrm>
            <a:off x="566928" y="5989320"/>
            <a:ext cx="11057839" cy="320040"/>
          </a:xfrm>
          <a:prstGeom prst="rect">
            <a:avLst/>
          </a:prstGeom>
          <a:noFill/>
          <a:ln/>
        </p:spPr>
        <p:txBody>
          <a:bodyPr wrap="square" lIns="0" tIns="0" rIns="0" bIns="0" rtlCol="0" anchor="ctr"/>
          <a:lstStyle/>
          <a:p>
            <a:pPr algn="ctr" indent="0" marL="0">
              <a:buNone/>
            </a:pPr>
            <a:r>
              <a:rPr lang="en-US" sz="1350" b="1" dirty="0">
                <a:solidFill>
                  <a:srgbClr val="F2A03D"/>
                </a:solidFill>
                <a:latin typeface="Calibri" pitchFamily="34" charset="0"/>
                <a:ea typeface="Calibri" pitchFamily="34" charset="-122"/>
                <a:cs typeface="Calibri" pitchFamily="34" charset="-120"/>
              </a:rPr>
              <a:t>Stable pod names, one PVC per ordinal, and direct replica DNS are the three stateful primitives.</a:t>
            </a:r>
            <a:endParaRPr lang="en-US" sz="1350" dirty="0"/>
          </a:p>
        </p:txBody>
      </p:sp>
      <p:sp>
        <p:nvSpPr>
          <p:cNvPr id="39" name="Text 37"/>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3</a:t>
            </a:r>
            <a:endParaRPr lang="en-US" sz="900" dirty="0"/>
          </a:p>
        </p:txBody>
      </p:sp>
      <p:sp>
        <p:nvSpPr>
          <p:cNvPr id="40" name="Text 38"/>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26</a:t>
            </a:r>
            <a:endParaRPr lang="en-US" sz="900" dirty="0"/>
          </a:p>
        </p:txBody>
      </p:sp>
      <p:pic>
        <p:nvPicPr>
          <p:cNvPr id="41"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42"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43"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2592324"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259232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M3.5 · WORKED EXAMPLE</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invariant that matters</a:t>
            </a:r>
            <a:endParaRPr lang="en-US" sz="3200" dirty="0"/>
          </a:p>
        </p:txBody>
      </p:sp>
      <p:sp>
        <p:nvSpPr>
          <p:cNvPr id="5" name="Text 3"/>
          <p:cNvSpPr/>
          <p:nvPr/>
        </p:nvSpPr>
        <p:spPr>
          <a:xfrm>
            <a:off x="566928" y="1737360"/>
            <a:ext cx="11057839" cy="384048"/>
          </a:xfrm>
          <a:prstGeom prst="rect">
            <a:avLst/>
          </a:prstGeom>
          <a:noFill/>
          <a:ln/>
        </p:spPr>
        <p:txBody>
          <a:bodyPr wrap="square" lIns="0" tIns="0" rIns="0" bIns="0" rtlCol="0" anchor="ctr"/>
          <a:lstStyle/>
          <a:p>
            <a:pPr indent="0" marL="0">
              <a:buNone/>
            </a:pPr>
            <a:r>
              <a:rPr lang="en-US" sz="1400" i="1" dirty="0">
                <a:solidFill>
                  <a:srgbClr val="F2A03D"/>
                </a:solidFill>
                <a:latin typeface="Calibri" pitchFamily="34" charset="0"/>
                <a:ea typeface="Calibri" pitchFamily="34" charset="-122"/>
                <a:cs typeface="Calibri" pitchFamily="34" charset="-120"/>
              </a:rPr>
              <a:t>Real query against the seeded database. 5,000 payments, 14,865 ledger entries.</a:t>
            </a:r>
            <a:endParaRPr lang="en-US" sz="1400" dirty="0"/>
          </a:p>
        </p:txBody>
      </p:sp>
      <p:sp>
        <p:nvSpPr>
          <p:cNvPr id="6" name="Shape 4"/>
          <p:cNvSpPr/>
          <p:nvPr/>
        </p:nvSpPr>
        <p:spPr>
          <a:xfrm>
            <a:off x="566928" y="2249424"/>
            <a:ext cx="11057839" cy="3364230"/>
          </a:xfrm>
          <a:prstGeom prst="roundRect">
            <a:avLst>
              <a:gd name="adj" fmla="val 2174"/>
            </a:avLst>
          </a:prstGeom>
          <a:solidFill>
            <a:srgbClr val="0E2740"/>
          </a:solidFill>
          <a:ln w="12700">
            <a:solidFill>
              <a:srgbClr val="1B4066"/>
            </a:solidFill>
            <a:prstDash val="solid"/>
          </a:ln>
        </p:spPr>
      </p:sp>
      <p:sp>
        <p:nvSpPr>
          <p:cNvPr id="7" name="Shape 5"/>
          <p:cNvSpPr/>
          <p:nvPr/>
        </p:nvSpPr>
        <p:spPr>
          <a:xfrm>
            <a:off x="768096" y="2404872"/>
            <a:ext cx="118872" cy="118872"/>
          </a:xfrm>
          <a:prstGeom prst="ellipse">
            <a:avLst/>
          </a:prstGeom>
          <a:solidFill>
            <a:srgbClr val="D64545"/>
          </a:solidFill>
          <a:ln w="12700">
            <a:solidFill>
              <a:srgbClr val="D64545"/>
            </a:solidFill>
            <a:prstDash val="solid"/>
          </a:ln>
        </p:spPr>
      </p:sp>
      <p:sp>
        <p:nvSpPr>
          <p:cNvPr id="8" name="Shape 6"/>
          <p:cNvSpPr/>
          <p:nvPr/>
        </p:nvSpPr>
        <p:spPr>
          <a:xfrm>
            <a:off x="987552" y="2404872"/>
            <a:ext cx="118872" cy="118872"/>
          </a:xfrm>
          <a:prstGeom prst="ellipse">
            <a:avLst/>
          </a:prstGeom>
          <a:solidFill>
            <a:srgbClr val="F2A03D"/>
          </a:solidFill>
          <a:ln w="12700">
            <a:solidFill>
              <a:srgbClr val="F2A03D"/>
            </a:solidFill>
            <a:prstDash val="solid"/>
          </a:ln>
        </p:spPr>
      </p:sp>
      <p:sp>
        <p:nvSpPr>
          <p:cNvPr id="9" name="Shape 7"/>
          <p:cNvSpPr/>
          <p:nvPr/>
        </p:nvSpPr>
        <p:spPr>
          <a:xfrm>
            <a:off x="1207008" y="2404872"/>
            <a:ext cx="118872" cy="118872"/>
          </a:xfrm>
          <a:prstGeom prst="ellipse">
            <a:avLst/>
          </a:prstGeom>
          <a:solidFill>
            <a:srgbClr val="2E9E63"/>
          </a:solidFill>
          <a:ln w="12700">
            <a:solidFill>
              <a:srgbClr val="2E9E63"/>
            </a:solidFill>
            <a:prstDash val="solid"/>
          </a:ln>
        </p:spPr>
      </p:sp>
      <p:sp>
        <p:nvSpPr>
          <p:cNvPr id="10" name="Text 8"/>
          <p:cNvSpPr/>
          <p:nvPr/>
        </p:nvSpPr>
        <p:spPr>
          <a:xfrm>
            <a:off x="804672" y="2706624"/>
            <a:ext cx="10600639" cy="2724150"/>
          </a:xfrm>
          <a:prstGeom prst="rect">
            <a:avLst/>
          </a:prstGeom>
          <a:noFill/>
          <a:ln/>
        </p:spPr>
        <p:txBody>
          <a:bodyPr wrap="square" lIns="0" tIns="0" rIns="0" bIns="0" rtlCol="0" anchor="t"/>
          <a:lstStyle/>
          <a:p>
            <a:pPr indent="0" marL="0">
              <a:lnSpc>
                <a:spcPts val="1650"/>
              </a:lnSpc>
              <a:buNone/>
            </a:pPr>
            <a:r>
              <a:rPr lang="en-US" sz="1100" b="1" dirty="0">
                <a:solidFill>
                  <a:srgbClr val="F2A03D"/>
                </a:solidFill>
                <a:latin typeface="Courier New" pitchFamily="34" charset="0"/>
                <a:ea typeface="Courier New" pitchFamily="34" charset="-122"/>
                <a:cs typeface="Courier New" pitchFamily="34" charset="-120"/>
              </a:rPr>
              <a:t>axispay=&gt; SELECT * FROM v_ledger_balance;</a:t>
            </a:r>
            <a:endParaRPr lang="en-US" sz="1100" dirty="0"/>
          </a:p>
          <a:p>
            <a:pPr indent="0" marL="0">
              <a:lnSpc>
                <a:spcPts val="1650"/>
              </a:lnSpc>
              <a:buNone/>
            </a:pPr>
            <a:r>
              <a:rPr lang="en-US" sz="1100" dirty="0">
                <a:solidFill>
                  <a:srgbClr val="D8E6F2"/>
                </a:solidFill>
                <a:latin typeface="Courier New" pitchFamily="34" charset="0"/>
                <a:ea typeface="Courier New" pitchFamily="34" charset="-122"/>
                <a:cs typeface="Courier New" pitchFamily="34" charset="-120"/>
              </a:rPr>
              <a:t> </a:t>
            </a:r>
            <a:endParaRPr lang="en-US" sz="1100" dirty="0"/>
          </a:p>
          <a:p>
            <a:pPr indent="0" marL="0">
              <a:lnSpc>
                <a:spcPts val="1650"/>
              </a:lnSpc>
              <a:buNone/>
            </a:pPr>
            <a:r>
              <a:rPr lang="en-US" sz="1100" dirty="0">
                <a:solidFill>
                  <a:srgbClr val="63758B"/>
                </a:solidFill>
                <a:latin typeface="Courier New" pitchFamily="34" charset="0"/>
                <a:ea typeface="Courier New" pitchFamily="34" charset="-122"/>
                <a:cs typeface="Courier New" pitchFamily="34" charset="-120"/>
              </a:rPr>
              <a:t> currency | total_debits | total_credits | imbalance</a:t>
            </a:r>
            <a:endParaRPr lang="en-US" sz="1100" dirty="0"/>
          </a:p>
          <a:p>
            <a:pPr indent="0" marL="0">
              <a:lnSpc>
                <a:spcPts val="1650"/>
              </a:lnSpc>
              <a:buNone/>
            </a:pPr>
            <a:r>
              <a:rPr lang="en-US" sz="1100" dirty="0">
                <a:solidFill>
                  <a:srgbClr val="63758B"/>
                </a:solidFill>
                <a:latin typeface="Courier New" pitchFamily="34" charset="0"/>
                <a:ea typeface="Courier New" pitchFamily="34" charset="-122"/>
                <a:cs typeface="Courier New" pitchFamily="34" charset="-120"/>
              </a:rPr>
              <a:t>----------+--------------+---------------+-----------</a:t>
            </a:r>
            <a:endParaRPr lang="en-US" sz="1100" dirty="0"/>
          </a:p>
          <a:p>
            <a:pPr indent="0" marL="0">
              <a:lnSpc>
                <a:spcPts val="1650"/>
              </a:lnSpc>
              <a:buNone/>
            </a:pPr>
            <a:r>
              <a:rPr lang="en-US" sz="1100" dirty="0">
                <a:solidFill>
                  <a:srgbClr val="2E9E63"/>
                </a:solidFill>
                <a:latin typeface="Courier New" pitchFamily="34" charset="0"/>
                <a:ea typeface="Courier New" pitchFamily="34" charset="-122"/>
                <a:cs typeface="Courier New" pitchFamily="34" charset="-120"/>
              </a:rPr>
              <a:t> ZAR      |    855556745 |     855556745 |         0</a:t>
            </a:r>
            <a:endParaRPr lang="en-US" sz="1100" dirty="0"/>
          </a:p>
          <a:p>
            <a:pPr indent="0" marL="0">
              <a:lnSpc>
                <a:spcPts val="1650"/>
              </a:lnSpc>
              <a:buNone/>
            </a:pPr>
            <a:r>
              <a:rPr lang="en-US" sz="1100" dirty="0">
                <a:solidFill>
                  <a:srgbClr val="2E9E63"/>
                </a:solidFill>
                <a:latin typeface="Courier New" pitchFamily="34" charset="0"/>
                <a:ea typeface="Courier New" pitchFamily="34" charset="-122"/>
                <a:cs typeface="Courier New" pitchFamily="34" charset="-120"/>
              </a:rPr>
              <a:t> BWP      |     41203890 |      41203890 |         0</a:t>
            </a:r>
            <a:endParaRPr lang="en-US" sz="1100" dirty="0"/>
          </a:p>
          <a:p>
            <a:pPr indent="0" marL="0">
              <a:lnSpc>
                <a:spcPts val="1650"/>
              </a:lnSpc>
              <a:buNone/>
            </a:pPr>
            <a:r>
              <a:rPr lang="en-US" sz="1100" dirty="0">
                <a:solidFill>
                  <a:srgbClr val="2E9E63"/>
                </a:solidFill>
                <a:latin typeface="Courier New" pitchFamily="34" charset="0"/>
                <a:ea typeface="Courier New" pitchFamily="34" charset="-122"/>
                <a:cs typeface="Courier New" pitchFamily="34" charset="-120"/>
              </a:rPr>
              <a:t> KES      |    180445100 |     180445100 |         0</a:t>
            </a:r>
            <a:endParaRPr lang="en-US" sz="1100" dirty="0"/>
          </a:p>
          <a:p>
            <a:pPr indent="0" marL="0">
              <a:lnSpc>
                <a:spcPts val="1650"/>
              </a:lnSpc>
              <a:buNone/>
            </a:pPr>
            <a:r>
              <a:rPr lang="en-US" sz="1100" b="1" dirty="0">
                <a:solidFill>
                  <a:srgbClr val="FFFFFF"/>
                </a:solidFill>
                <a:latin typeface="Courier New" pitchFamily="34" charset="0"/>
                <a:ea typeface="Courier New" pitchFamily="34" charset="-122"/>
                <a:cs typeface="Courier New" pitchFamily="34" charset="-120"/>
              </a:rPr>
              <a:t> (7 rows — every currency, imbalance ZERO)</a:t>
            </a:r>
            <a:endParaRPr lang="en-US" sz="1100" dirty="0"/>
          </a:p>
          <a:p>
            <a:pPr indent="0" marL="0">
              <a:lnSpc>
                <a:spcPts val="1650"/>
              </a:lnSpc>
              <a:buNone/>
            </a:pPr>
            <a:r>
              <a:rPr lang="en-US" sz="1100" dirty="0">
                <a:solidFill>
                  <a:srgbClr val="D8E6F2"/>
                </a:solidFill>
                <a:latin typeface="Courier New" pitchFamily="34" charset="0"/>
                <a:ea typeface="Courier New" pitchFamily="34" charset="-122"/>
                <a:cs typeface="Courier New" pitchFamily="34" charset="-120"/>
              </a:rPr>
              <a:t> </a:t>
            </a:r>
            <a:endParaRPr lang="en-US" sz="1100" dirty="0"/>
          </a:p>
          <a:p>
            <a:pPr indent="0" marL="0">
              <a:lnSpc>
                <a:spcPts val="1650"/>
              </a:lnSpc>
              <a:buNone/>
            </a:pPr>
            <a:r>
              <a:rPr lang="en-US" sz="1100" b="1" dirty="0">
                <a:solidFill>
                  <a:srgbClr val="F2A03D"/>
                </a:solidFill>
                <a:latin typeface="Courier New" pitchFamily="34" charset="0"/>
                <a:ea typeface="Courier New" pitchFamily="34" charset="-122"/>
                <a:cs typeface="Courier New" pitchFamily="34" charset="-120"/>
              </a:rPr>
              <a:t>axispay=&gt; SELECT COUNT(*) FROM payments WHERE amount_minor &lt;&gt; fee_minor + net_minor;</a:t>
            </a:r>
            <a:endParaRPr lang="en-US" sz="1100" dirty="0"/>
          </a:p>
          <a:p>
            <a:pPr indent="0" marL="0">
              <a:lnSpc>
                <a:spcPts val="1650"/>
              </a:lnSpc>
              <a:buNone/>
            </a:pPr>
            <a:r>
              <a:rPr lang="en-US" sz="1100" dirty="0">
                <a:solidFill>
                  <a:srgbClr val="2E9E63"/>
                </a:solidFill>
                <a:latin typeface="Courier New" pitchFamily="34" charset="0"/>
                <a:ea typeface="Courier New" pitchFamily="34" charset="-122"/>
                <a:cs typeface="Courier New" pitchFamily="34" charset="-120"/>
              </a:rPr>
              <a:t> 0</a:t>
            </a:r>
            <a:endParaRPr lang="en-US" sz="1100" dirty="0"/>
          </a:p>
          <a:p>
            <a:pPr indent="0" marL="0">
              <a:lnSpc>
                <a:spcPts val="1650"/>
              </a:lnSpc>
              <a:buNone/>
            </a:pPr>
            <a:r>
              <a:rPr lang="en-US" sz="1100" dirty="0">
                <a:solidFill>
                  <a:srgbClr val="63758B"/>
                </a:solidFill>
                <a:latin typeface="Courier New" pitchFamily="34" charset="0"/>
                <a:ea typeface="Courier New" pitchFamily="34" charset="-122"/>
                <a:cs typeface="Courier New" pitchFamily="34" charset="-120"/>
              </a:rPr>
              <a:t> -- and it CANNOT be otherwise: CONSTRAINT payments_balance</a:t>
            </a:r>
            <a:endParaRPr lang="en-US" sz="1100" dirty="0"/>
          </a:p>
          <a:p>
            <a:pPr indent="0" marL="0">
              <a:lnSpc>
                <a:spcPts val="1650"/>
              </a:lnSpc>
              <a:buNone/>
            </a:pPr>
            <a:r>
              <a:rPr lang="en-US" sz="1100" dirty="0">
                <a:solidFill>
                  <a:srgbClr val="63758B"/>
                </a:solidFill>
                <a:latin typeface="Courier New" pitchFamily="34" charset="0"/>
                <a:ea typeface="Courier New" pitchFamily="34" charset="-122"/>
                <a:cs typeface="Courier New" pitchFamily="34" charset="-120"/>
              </a:rPr>
              <a:t> -- makes an unbalanced row impossible to insert.</a:t>
            </a:r>
            <a:endParaRPr lang="en-US" sz="1100" dirty="0"/>
          </a:p>
        </p:txBody>
      </p:sp>
      <p:sp>
        <p:nvSpPr>
          <p:cNvPr id="11" name="Text 9"/>
          <p:cNvSpPr/>
          <p:nvPr/>
        </p:nvSpPr>
        <p:spPr>
          <a:xfrm>
            <a:off x="566928" y="5778246"/>
            <a:ext cx="11057839" cy="457200"/>
          </a:xfrm>
          <a:prstGeom prst="rect">
            <a:avLst/>
          </a:prstGeom>
          <a:noFill/>
          <a:ln/>
        </p:spPr>
        <p:txBody>
          <a:bodyPr wrap="square" lIns="0" tIns="0" rIns="0" bIns="0" rtlCol="0" anchor="ctr"/>
          <a:lstStyle/>
          <a:p>
            <a:pPr indent="0" marL="0">
              <a:buNone/>
            </a:pPr>
            <a:r>
              <a:rPr lang="en-US" sz="1300" i="1" dirty="0">
                <a:solidFill>
                  <a:srgbClr val="D8E6F2"/>
                </a:solidFill>
                <a:latin typeface="Calibri" pitchFamily="34" charset="0"/>
                <a:ea typeface="Calibri" pitchFamily="34" charset="-122"/>
                <a:cs typeface="Calibri" pitchFamily="34" charset="-120"/>
              </a:rPr>
              <a:t>Debits equal credits across 4,955 journals. That is the double-entry invariant, and a non-zero value is something a human must explain before close of business.</a:t>
            </a:r>
            <a:endParaRPr lang="en-US" sz="1300" dirty="0"/>
          </a:p>
        </p:txBody>
      </p:sp>
      <p:sp>
        <p:nvSpPr>
          <p:cNvPr id="12" name="Text 10"/>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3</a:t>
            </a:r>
            <a:endParaRPr lang="en-US" sz="900" dirty="0"/>
          </a:p>
        </p:txBody>
      </p:sp>
      <p:sp>
        <p:nvSpPr>
          <p:cNvPr id="13" name="Text 11"/>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27</a:t>
            </a:r>
            <a:endParaRPr lang="en-US" sz="900" dirty="0"/>
          </a:p>
        </p:txBody>
      </p:sp>
      <p:pic>
        <p:nvPicPr>
          <p:cNvPr id="14"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5"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6"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435608" cy="292608"/>
          </a:xfrm>
          <a:prstGeom prst="roundRect">
            <a:avLst>
              <a:gd name="adj" fmla="val 50000"/>
            </a:avLst>
          </a:prstGeom>
          <a:solidFill>
            <a:srgbClr val="2E9E63"/>
          </a:solidFill>
          <a:ln w="12700">
            <a:solidFill>
              <a:srgbClr val="2E9E63"/>
            </a:solidFill>
            <a:prstDash val="solid"/>
          </a:ln>
        </p:spPr>
      </p:sp>
      <p:sp>
        <p:nvSpPr>
          <p:cNvPr id="3" name="Text 1"/>
          <p:cNvSpPr/>
          <p:nvPr/>
        </p:nvSpPr>
        <p:spPr>
          <a:xfrm>
            <a:off x="566928" y="384048"/>
            <a:ext cx="1435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GUIDED LAB</a:t>
            </a:r>
            <a:endParaRPr lang="en-US" sz="1100" dirty="0"/>
          </a:p>
        </p:txBody>
      </p:sp>
      <p:sp>
        <p:nvSpPr>
          <p:cNvPr id="4" name="Text 2"/>
          <p:cNvSpPr/>
          <p:nvPr/>
        </p:nvSpPr>
        <p:spPr>
          <a:xfrm>
            <a:off x="566928" y="914400"/>
            <a:ext cx="2743200" cy="777240"/>
          </a:xfrm>
          <a:prstGeom prst="rect">
            <a:avLst/>
          </a:prstGeom>
          <a:noFill/>
          <a:ln/>
        </p:spPr>
        <p:txBody>
          <a:bodyPr wrap="square" lIns="0" tIns="0" rIns="0" bIns="0" rtlCol="0" anchor="ctr"/>
          <a:lstStyle/>
          <a:p>
            <a:pPr indent="0" marL="0">
              <a:buNone/>
            </a:pPr>
            <a:r>
              <a:rPr lang="en-US" sz="4000" b="1" dirty="0">
                <a:solidFill>
                  <a:srgbClr val="2E9E63"/>
                </a:solidFill>
                <a:latin typeface="Cambria" pitchFamily="34" charset="0"/>
                <a:ea typeface="Cambria" pitchFamily="34" charset="-122"/>
                <a:cs typeface="Cambria" pitchFamily="34" charset="-120"/>
              </a:rPr>
              <a:t>L3.5 + L3.6</a:t>
            </a:r>
            <a:endParaRPr lang="en-US" sz="4000" dirty="0"/>
          </a:p>
        </p:txBody>
      </p:sp>
      <p:sp>
        <p:nvSpPr>
          <p:cNvPr id="5" name="Text 3"/>
          <p:cNvSpPr/>
          <p:nvPr/>
        </p:nvSpPr>
        <p:spPr>
          <a:xfrm>
            <a:off x="566928" y="1691640"/>
            <a:ext cx="11057839"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Data tier and StatefulSets</a:t>
            </a:r>
            <a:endParaRPr lang="en-US" sz="3000" dirty="0"/>
          </a:p>
        </p:txBody>
      </p:sp>
      <p:sp>
        <p:nvSpPr>
          <p:cNvPr id="6" name="Shape 4"/>
          <p:cNvSpPr/>
          <p:nvPr/>
        </p:nvSpPr>
        <p:spPr>
          <a:xfrm>
            <a:off x="566928" y="2560320"/>
            <a:ext cx="5577840" cy="2834640"/>
          </a:xfrm>
          <a:prstGeom prst="roundRect">
            <a:avLst>
              <a:gd name="adj" fmla="val 3226"/>
            </a:avLst>
          </a:prstGeom>
          <a:solidFill>
            <a:srgbClr val="12314F"/>
          </a:solidFill>
          <a:ln w="12700">
            <a:solidFill>
              <a:srgbClr val="1B4066"/>
            </a:solidFill>
            <a:prstDash val="solid"/>
          </a:ln>
        </p:spPr>
      </p:sp>
      <p:sp>
        <p:nvSpPr>
          <p:cNvPr id="7" name="Text 5"/>
          <p:cNvSpPr/>
          <p:nvPr/>
        </p:nvSpPr>
        <p:spPr>
          <a:xfrm>
            <a:off x="841248" y="2724912"/>
            <a:ext cx="5029200" cy="274320"/>
          </a:xfrm>
          <a:prstGeom prst="rect">
            <a:avLst/>
          </a:prstGeom>
          <a:noFill/>
          <a:ln/>
        </p:spPr>
        <p:txBody>
          <a:bodyPr wrap="square" lIns="0" tIns="0" rIns="0" bIns="0" rtlCol="0" anchor="ctr"/>
          <a:lstStyle/>
          <a:p>
            <a:pPr indent="0" marL="0">
              <a:buNone/>
            </a:pPr>
            <a:r>
              <a:rPr lang="en-US" sz="1000" b="1" spc="100" kern="0" dirty="0">
                <a:solidFill>
                  <a:srgbClr val="F2A03D"/>
                </a:solidFill>
                <a:latin typeface="Calibri" pitchFamily="34" charset="0"/>
                <a:ea typeface="Calibri" pitchFamily="34" charset="-122"/>
                <a:cs typeface="Calibri" pitchFamily="34" charset="-120"/>
              </a:rPr>
              <a:t>YOU WILL</a:t>
            </a:r>
            <a:endParaRPr lang="en-US" sz="1000" dirty="0"/>
          </a:p>
        </p:txBody>
      </p:sp>
      <p:sp>
        <p:nvSpPr>
          <p:cNvPr id="8" name="Text 6"/>
          <p:cNvSpPr/>
          <p:nvPr/>
        </p:nvSpPr>
        <p:spPr>
          <a:xfrm>
            <a:off x="886968" y="3017520"/>
            <a:ext cx="5029200" cy="219456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Deploy PostgreSQL, Redis and RabbitMQ with persistent storage</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Load 5,000 payments and verify the ledger balances to ZERO</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Build a database as a Deployment and watch it fail</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Hit the node-local storage trap and recover from it</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Fix the fraud velocity bug with shared Redis counters</a:t>
            </a:r>
            <a:endParaRPr lang="en-US" sz="1300" dirty="0"/>
          </a:p>
        </p:txBody>
      </p:sp>
      <p:sp>
        <p:nvSpPr>
          <p:cNvPr id="9" name="Shape 7"/>
          <p:cNvSpPr/>
          <p:nvPr/>
        </p:nvSpPr>
        <p:spPr>
          <a:xfrm>
            <a:off x="6464808" y="2560320"/>
            <a:ext cx="5120640" cy="2834640"/>
          </a:xfrm>
          <a:prstGeom prst="roundRect">
            <a:avLst>
              <a:gd name="adj" fmla="val 3226"/>
            </a:avLst>
          </a:prstGeom>
          <a:solidFill>
            <a:srgbClr val="12314F"/>
          </a:solidFill>
          <a:ln w="12700">
            <a:solidFill>
              <a:srgbClr val="1B4066"/>
            </a:solidFill>
            <a:prstDash val="solid"/>
          </a:ln>
        </p:spPr>
      </p:sp>
      <p:sp>
        <p:nvSpPr>
          <p:cNvPr id="10" name="Text 8"/>
          <p:cNvSpPr/>
          <p:nvPr/>
        </p:nvSpPr>
        <p:spPr>
          <a:xfrm>
            <a:off x="6739128" y="2724912"/>
            <a:ext cx="4572000" cy="274320"/>
          </a:xfrm>
          <a:prstGeom prst="rect">
            <a:avLst/>
          </a:prstGeom>
          <a:noFill/>
          <a:ln/>
        </p:spPr>
        <p:txBody>
          <a:bodyPr wrap="square" lIns="0" tIns="0" rIns="0" bIns="0" rtlCol="0" anchor="ctr"/>
          <a:lstStyle/>
          <a:p>
            <a:pPr indent="0" marL="0">
              <a:buNone/>
            </a:pPr>
            <a:r>
              <a:rPr lang="en-US" sz="1000" b="1" spc="100" kern="0" dirty="0">
                <a:solidFill>
                  <a:srgbClr val="2E9E63"/>
                </a:solidFill>
                <a:latin typeface="Calibri" pitchFamily="34" charset="0"/>
                <a:ea typeface="Calibri" pitchFamily="34" charset="-122"/>
                <a:cs typeface="Calibri" pitchFamily="34" charset="-120"/>
              </a:rPr>
              <a:t>DONE WHEN</a:t>
            </a:r>
            <a:endParaRPr lang="en-US" sz="1000" dirty="0"/>
          </a:p>
        </p:txBody>
      </p:sp>
      <p:sp>
        <p:nvSpPr>
          <p:cNvPr id="11" name="Text 9"/>
          <p:cNvSpPr/>
          <p:nvPr/>
        </p:nvSpPr>
        <p:spPr>
          <a:xfrm>
            <a:off x="6784848" y="3017520"/>
            <a:ext cx="4572000" cy="146304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3 StatefulSets ready</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ledger imbalance = 0</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velocity counters shared across replicas</a:t>
            </a:r>
            <a:endParaRPr lang="en-US" sz="1300" dirty="0"/>
          </a:p>
        </p:txBody>
      </p:sp>
      <p:sp>
        <p:nvSpPr>
          <p:cNvPr id="12" name="Shape 10"/>
          <p:cNvSpPr/>
          <p:nvPr/>
        </p:nvSpPr>
        <p:spPr>
          <a:xfrm>
            <a:off x="6739128" y="4617720"/>
            <a:ext cx="4572000" cy="566928"/>
          </a:xfrm>
          <a:prstGeom prst="roundRect">
            <a:avLst>
              <a:gd name="adj" fmla="val 12903"/>
            </a:avLst>
          </a:prstGeom>
          <a:solidFill>
            <a:srgbClr val="0E2740"/>
          </a:solidFill>
          <a:ln w="12700">
            <a:solidFill>
              <a:srgbClr val="1C7293"/>
            </a:solidFill>
            <a:prstDash val="solid"/>
          </a:ln>
        </p:spPr>
      </p:sp>
      <p:sp>
        <p:nvSpPr>
          <p:cNvPr id="13" name="Text 11"/>
          <p:cNvSpPr/>
          <p:nvPr/>
        </p:nvSpPr>
        <p:spPr>
          <a:xfrm>
            <a:off x="6876288" y="4617720"/>
            <a:ext cx="4297680" cy="566928"/>
          </a:xfrm>
          <a:prstGeom prst="rect">
            <a:avLst/>
          </a:prstGeom>
          <a:noFill/>
          <a:ln/>
        </p:spPr>
        <p:txBody>
          <a:bodyPr wrap="square" lIns="0" tIns="0" rIns="0" bIns="0" rtlCol="0" anchor="ctr"/>
          <a:lstStyle/>
          <a:p>
            <a:pPr indent="0" marL="0">
              <a:buNone/>
            </a:pPr>
            <a:r>
              <a:rPr lang="en-US" sz="1150" dirty="0">
                <a:solidFill>
                  <a:srgbClr val="F2A03D"/>
                </a:solidFill>
                <a:latin typeface="Courier New" pitchFamily="34" charset="0"/>
                <a:ea typeface="Courier New" pitchFamily="34" charset="-122"/>
                <a:cs typeface="Courier New" pitchFamily="34" charset="-120"/>
              </a:rPr>
              <a:t>make validate-lab LAB=L3.5 &amp;&amp; make validate-lab LAB=L3.6</a:t>
            </a:r>
            <a:endParaRPr lang="en-US" sz="1150" dirty="0"/>
          </a:p>
        </p:txBody>
      </p:sp>
      <p:sp>
        <p:nvSpPr>
          <p:cNvPr id="14" name="Text 12"/>
          <p:cNvSpPr/>
          <p:nvPr/>
        </p:nvSpPr>
        <p:spPr>
          <a:xfrm>
            <a:off x="566928" y="5577840"/>
            <a:ext cx="11057839" cy="365760"/>
          </a:xfrm>
          <a:prstGeom prst="rect">
            <a:avLst/>
          </a:prstGeom>
          <a:noFill/>
          <a:ln/>
        </p:spPr>
        <p:txBody>
          <a:bodyPr wrap="square" lIns="0" tIns="0" rIns="0" bIns="0" rtlCol="0" anchor="ctr"/>
          <a:lstStyle/>
          <a:p>
            <a:pPr indent="0" marL="0">
              <a:buNone/>
            </a:pPr>
            <a:r>
              <a:rPr lang="en-US" sz="1200" dirty="0">
                <a:solidFill>
                  <a:srgbClr val="63758B"/>
                </a:solidFill>
                <a:latin typeface="Calibri" pitchFamily="34" charset="0"/>
                <a:ea typeface="Calibri" pitchFamily="34" charset="-122"/>
                <a:cs typeface="Calibri" pitchFamily="34" charset="-120"/>
              </a:rPr>
              <a:t>110 minutes   ·   labs/day3/L3.5-data-tier/, L3.6-statefulsets.md</a:t>
            </a:r>
            <a:endParaRPr lang="en-US" sz="1200" dirty="0"/>
          </a:p>
        </p:txBody>
      </p:sp>
      <p:sp>
        <p:nvSpPr>
          <p:cNvPr id="15" name="Text 13"/>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3</a:t>
            </a:r>
            <a:endParaRPr lang="en-US" sz="900" dirty="0"/>
          </a:p>
        </p:txBody>
      </p:sp>
      <p:sp>
        <p:nvSpPr>
          <p:cNvPr id="16" name="Text 14"/>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28</a:t>
            </a:r>
            <a:endParaRPr lang="en-US" sz="900" dirty="0"/>
          </a:p>
        </p:txBody>
      </p:sp>
      <p:pic>
        <p:nvPicPr>
          <p:cNvPr id="17"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8"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9"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8351215" y="-1097280"/>
            <a:ext cx="5120640" cy="5120640"/>
          </a:xfrm>
          <a:prstGeom prst="ellipse">
            <a:avLst/>
          </a:prstGeom>
          <a:solidFill>
            <a:srgbClr val="12314F"/>
          </a:solidFill>
          <a:ln w="12700">
            <a:solidFill>
              <a:srgbClr val="12314F"/>
            </a:solidFill>
            <a:prstDash val="solid"/>
          </a:ln>
        </p:spPr>
      </p:sp>
      <p:sp>
        <p:nvSpPr>
          <p:cNvPr id="3" name="Text 1"/>
          <p:cNvSpPr/>
          <p:nvPr/>
        </p:nvSpPr>
        <p:spPr>
          <a:xfrm>
            <a:off x="566928" y="1600200"/>
            <a:ext cx="5669280" cy="1463040"/>
          </a:xfrm>
          <a:prstGeom prst="rect">
            <a:avLst/>
          </a:prstGeom>
          <a:noFill/>
          <a:ln/>
        </p:spPr>
        <p:txBody>
          <a:bodyPr wrap="square" lIns="0" tIns="0" rIns="0" bIns="0" rtlCol="0" anchor="ctr"/>
          <a:lstStyle/>
          <a:p>
            <a:pPr indent="0" marL="0">
              <a:buNone/>
            </a:pPr>
            <a:r>
              <a:rPr lang="en-US" sz="7600" b="1" dirty="0">
                <a:solidFill>
                  <a:srgbClr val="F2A03D"/>
                </a:solidFill>
                <a:latin typeface="Cambria" pitchFamily="34" charset="0"/>
                <a:ea typeface="Cambria" pitchFamily="34" charset="-122"/>
                <a:cs typeface="Cambria" pitchFamily="34" charset="-120"/>
              </a:rPr>
              <a:t>M3.7</a:t>
            </a:r>
            <a:endParaRPr lang="en-US" sz="7600" dirty="0"/>
          </a:p>
        </p:txBody>
      </p:sp>
      <p:sp>
        <p:nvSpPr>
          <p:cNvPr id="4" name="Text 2"/>
          <p:cNvSpPr/>
          <p:nvPr/>
        </p:nvSpPr>
        <p:spPr>
          <a:xfrm>
            <a:off x="566928" y="2971800"/>
            <a:ext cx="786384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securityContext</a:t>
            </a:r>
            <a:endParaRPr lang="en-US" sz="3800" dirty="0"/>
          </a:p>
        </p:txBody>
      </p:sp>
      <p:sp>
        <p:nvSpPr>
          <p:cNvPr id="5" name="Text 3"/>
          <p:cNvSpPr/>
          <p:nvPr/>
        </p:nvSpPr>
        <p:spPr>
          <a:xfrm>
            <a:off x="566928" y="3886200"/>
            <a:ext cx="7498080" cy="822960"/>
          </a:xfrm>
          <a:prstGeom prst="rect">
            <a:avLst/>
          </a:prstGeom>
          <a:noFill/>
          <a:ln/>
        </p:spPr>
        <p:txBody>
          <a:bodyPr wrap="square" lIns="0" tIns="0" rIns="0" bIns="0" rtlCol="0" anchor="ctr"/>
          <a:lstStyle/>
          <a:p>
            <a:pPr indent="0" marL="0">
              <a:buNone/>
            </a:pPr>
            <a:r>
              <a:rPr lang="en-US" sz="1500" dirty="0">
                <a:solidFill>
                  <a:srgbClr val="D8E6F2"/>
                </a:solidFill>
                <a:latin typeface="Calibri" pitchFamily="34" charset="0"/>
                <a:ea typeface="Calibri" pitchFamily="34" charset="-122"/>
                <a:cs typeface="Calibri" pitchFamily="34" charset="-120"/>
              </a:rPr>
              <a:t>Non-root, read-only, no capabilities</a:t>
            </a:r>
            <a:endParaRPr lang="en-US" sz="1500" dirty="0"/>
          </a:p>
        </p:txBody>
      </p:sp>
      <p:sp>
        <p:nvSpPr>
          <p:cNvPr id="6" name="Text 4"/>
          <p:cNvSpPr/>
          <p:nvPr/>
        </p:nvSpPr>
        <p:spPr>
          <a:xfrm>
            <a:off x="566928" y="4709160"/>
            <a:ext cx="7498080" cy="274320"/>
          </a:xfrm>
          <a:prstGeom prst="rect">
            <a:avLst/>
          </a:prstGeom>
          <a:noFill/>
          <a:ln/>
        </p:spPr>
        <p:txBody>
          <a:bodyPr wrap="square" lIns="0" tIns="0" rIns="0" bIns="0" rtlCol="0" anchor="ctr"/>
          <a:lstStyle/>
          <a:p>
            <a:pPr indent="0" marL="0">
              <a:buNone/>
            </a:pPr>
            <a:r>
              <a:rPr lang="en-US" sz="1100" b="1" dirty="0">
                <a:solidFill>
                  <a:srgbClr val="F2A03D"/>
                </a:solidFill>
                <a:latin typeface="Calibri" pitchFamily="34" charset="0"/>
                <a:ea typeface="Calibri" pitchFamily="34" charset="-122"/>
                <a:cs typeface="Calibri" pitchFamily="34" charset="-120"/>
              </a:rPr>
              <a:t>By the end of this module you will be able to:</a:t>
            </a:r>
            <a:endParaRPr lang="en-US" sz="1100" dirty="0"/>
          </a:p>
        </p:txBody>
      </p:sp>
      <p:sp>
        <p:nvSpPr>
          <p:cNvPr id="7" name="Text 5"/>
          <p:cNvSpPr/>
          <p:nvPr/>
        </p:nvSpPr>
        <p:spPr>
          <a:xfrm>
            <a:off x="658368" y="4983480"/>
            <a:ext cx="7498080" cy="10972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Apply runAsNonRoot, readOnlyRootFilesystem and dropped capabilities</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Explain fsGroup and diagnose a volume permission error</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Justify defence in depth: image AND pod spec</a:t>
            </a:r>
            <a:endParaRPr lang="en-US" sz="1200" dirty="0"/>
          </a:p>
        </p:txBody>
      </p:sp>
      <p:sp>
        <p:nvSpPr>
          <p:cNvPr id="8" name="Text 6"/>
          <p:cNvSpPr/>
          <p:nvPr/>
        </p:nvSpPr>
        <p:spPr>
          <a:xfrm>
            <a:off x="9814255" y="5989320"/>
            <a:ext cx="1828800" cy="320040"/>
          </a:xfrm>
          <a:prstGeom prst="rect">
            <a:avLst/>
          </a:prstGeom>
          <a:noFill/>
          <a:ln/>
        </p:spPr>
        <p:txBody>
          <a:bodyPr wrap="square" lIns="0" tIns="0" rIns="0" bIns="0" rtlCol="0" anchor="ctr"/>
          <a:lstStyle/>
          <a:p>
            <a:pPr algn="r" indent="0" marL="0">
              <a:buNone/>
            </a:pPr>
            <a:r>
              <a:rPr lang="en-US" sz="1100" dirty="0">
                <a:solidFill>
                  <a:srgbClr val="63758B"/>
                </a:solidFill>
                <a:latin typeface="Calibri" pitchFamily="34" charset="0"/>
                <a:ea typeface="Calibri" pitchFamily="34" charset="-122"/>
                <a:cs typeface="Calibri" pitchFamily="34" charset="-120"/>
              </a:rPr>
              <a:t>55 min</a:t>
            </a:r>
            <a:endParaRPr lang="en-US" sz="1100" dirty="0"/>
          </a:p>
        </p:txBody>
      </p:sp>
      <p:pic>
        <p:nvPicPr>
          <p:cNvPr id="9"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0"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1"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1961388" cy="292608"/>
          </a:xfrm>
          <a:prstGeom prst="roundRect">
            <a:avLst>
              <a:gd name="adj" fmla="val 50000"/>
            </a:avLst>
          </a:prstGeom>
          <a:solidFill>
            <a:srgbClr val="D64545"/>
          </a:solidFill>
          <a:ln w="12700">
            <a:solidFill>
              <a:srgbClr val="D64545"/>
            </a:solidFill>
            <a:prstDash val="solid"/>
          </a:ln>
        </p:spPr>
      </p:sp>
      <p:sp>
        <p:nvSpPr>
          <p:cNvPr id="3" name="Text 1"/>
          <p:cNvSpPr/>
          <p:nvPr/>
        </p:nvSpPr>
        <p:spPr>
          <a:xfrm>
            <a:off x="566928" y="384048"/>
            <a:ext cx="196138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COMMON MISTAKES</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Storage, config and security mistakes</a:t>
            </a:r>
            <a:endParaRPr lang="en-US" sz="32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66928" y="1828800"/>
          <a:ext cx="11057839" cy="914400"/>
        </p:xfrm>
        <a:graphic>
          <a:graphicData uri="http://schemas.openxmlformats.org/drawingml/2006/table">
            <a:tbl>
              <a:tblPr/>
              <a:tblGrid>
                <a:gridCol w="3108960"/>
                <a:gridCol w="3931920"/>
                <a:gridCol w="4023360"/>
              </a:tblGrid>
              <a:tr h="47548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MISTAKE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YOU SEE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DO THIS INSTEAD</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r>
              <a:tr h="475488">
                <a:tc>
                  <a:txBody>
                    <a:bodyPr/>
                    <a:lstStyle/>
                    <a:p>
                      <a:pPr indent="0" marL="0">
                        <a:buNone/>
                      </a:pPr>
                      <a:r>
                        <a:rPr lang="en-US" sz="1200" b="1" dirty="0">
                          <a:solidFill>
                            <a:srgbClr val="D64545"/>
                          </a:solidFill>
                          <a:latin typeface="Calibri" pitchFamily="34" charset="0"/>
                          <a:ea typeface="Calibri" pitchFamily="34" charset="-122"/>
                          <a:cs typeface="Calibri" pitchFamily="34" charset="-120"/>
                        </a:rPr>
                        <a:t>PGDATA at the volume root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initdb: directory exists but is not empty</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2E9E63"/>
                          </a:solidFill>
                          <a:latin typeface="Calibri" pitchFamily="34" charset="0"/>
                          <a:ea typeface="Calibri" pitchFamily="34" charset="-122"/>
                          <a:cs typeface="Calibri" pitchFamily="34" charset="-120"/>
                        </a:rPr>
                        <a:t>Set PGDATA to a SUBdirectory of the mount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D64545"/>
                          </a:solidFill>
                          <a:latin typeface="Calibri" pitchFamily="34" charset="0"/>
                          <a:ea typeface="Calibri" pitchFamily="34" charset="-122"/>
                          <a:cs typeface="Calibri" pitchFamily="34" charset="-120"/>
                        </a:rPr>
                        <a:t>Non-root stateful pod with no fsGroup</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permission denied on a fresh volume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2E9E63"/>
                          </a:solidFill>
                          <a:latin typeface="Calibri" pitchFamily="34" charset="0"/>
                          <a:ea typeface="Calibri" pitchFamily="34" charset="-122"/>
                          <a:cs typeface="Calibri" pitchFamily="34" charset="-120"/>
                        </a:rPr>
                        <a:t>Set fsGroup to the process GID so the mount is writable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75488">
                <a:tc>
                  <a:txBody>
                    <a:bodyPr/>
                    <a:lstStyle/>
                    <a:p>
                      <a:pPr indent="0" marL="0">
                        <a:buNone/>
                      </a:pPr>
                      <a:r>
                        <a:rPr lang="en-US" sz="1200" b="1" dirty="0">
                          <a:solidFill>
                            <a:srgbClr val="D64545"/>
                          </a:solidFill>
                          <a:latin typeface="Calibri" pitchFamily="34" charset="0"/>
                          <a:ea typeface="Calibri" pitchFamily="34" charset="-122"/>
                          <a:cs typeface="Calibri" pitchFamily="34" charset="-120"/>
                        </a:rPr>
                        <a:t>reclaimPolicy Delete on the AxisPay ledger</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delete the PVC, destroy the data</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2E9E63"/>
                          </a:solidFill>
                          <a:latin typeface="Calibri" pitchFamily="34" charset="0"/>
                          <a:ea typeface="Calibri" pitchFamily="34" charset="-122"/>
                          <a:cs typeface="Calibri" pitchFamily="34" charset="-120"/>
                        </a:rPr>
                        <a:t>Retain for anything you cannot recreate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D64545"/>
                          </a:solidFill>
                          <a:latin typeface="Calibri" pitchFamily="34" charset="0"/>
                          <a:ea typeface="Calibri" pitchFamily="34" charset="-122"/>
                          <a:cs typeface="Calibri" pitchFamily="34" charset="-120"/>
                        </a:rPr>
                        <a:t>Assuming payment-service env vars update live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Nothing changes, no error</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2E9E63"/>
                          </a:solidFill>
                          <a:latin typeface="Calibri" pitchFamily="34" charset="0"/>
                          <a:ea typeface="Calibri" pitchFamily="34" charset="-122"/>
                          <a:cs typeface="Calibri" pitchFamily="34" charset="-120"/>
                        </a:rPr>
                        <a:t>Restart the pod, or mount the ConfigMap as files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75488">
                <a:tc>
                  <a:txBody>
                    <a:bodyPr/>
                    <a:lstStyle/>
                    <a:p>
                      <a:pPr indent="0" marL="0">
                        <a:buNone/>
                      </a:pPr>
                      <a:r>
                        <a:rPr lang="en-US" sz="1200" b="1" dirty="0">
                          <a:solidFill>
                            <a:srgbClr val="D64545"/>
                          </a:solidFill>
                          <a:latin typeface="Calibri" pitchFamily="34" charset="0"/>
                          <a:ea typeface="Calibri" pitchFamily="34" charset="-122"/>
                          <a:cs typeface="Calibri" pitchFamily="34" charset="-120"/>
                        </a:rPr>
                        <a:t>Treating the JWT Secret as encrypted</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Credentials exposed in an etcd backup</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2E9E63"/>
                          </a:solidFill>
                          <a:latin typeface="Calibri" pitchFamily="34" charset="0"/>
                          <a:ea typeface="Calibri" pitchFamily="34" charset="-122"/>
                          <a:cs typeface="Calibri" pitchFamily="34" charset="-120"/>
                        </a:rPr>
                        <a:t>base64 is encoding. RBAC + encryption at rest.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D64545"/>
                          </a:solidFill>
                          <a:latin typeface="Calibri" pitchFamily="34" charset="0"/>
                          <a:ea typeface="Calibri" pitchFamily="34" charset="-122"/>
                          <a:cs typeface="Calibri" pitchFamily="34" charset="-120"/>
                        </a:rPr>
                        <a:t>AxisPay PostgreSQL as a Deployment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Random names, lost data, no ordering</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2E9E63"/>
                          </a:solidFill>
                          <a:latin typeface="Calibri" pitchFamily="34" charset="0"/>
                          <a:ea typeface="Calibri" pitchFamily="34" charset="-122"/>
                          <a:cs typeface="Calibri" pitchFamily="34" charset="-120"/>
                        </a:rPr>
                        <a:t>StatefulSet + headless Service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75488">
                <a:tc>
                  <a:txBody>
                    <a:bodyPr/>
                    <a:lstStyle/>
                    <a:p>
                      <a:pPr indent="0" marL="0">
                        <a:buNone/>
                      </a:pPr>
                      <a:r>
                        <a:rPr lang="en-US" sz="1200" b="1" dirty="0">
                          <a:solidFill>
                            <a:srgbClr val="D64545"/>
                          </a:solidFill>
                          <a:latin typeface="Calibri" pitchFamily="34" charset="0"/>
                          <a:ea typeface="Calibri" pitchFamily="34" charset="-122"/>
                          <a:cs typeface="Calibri" pitchFamily="34" charset="-120"/>
                        </a:rPr>
                        <a:t>readOnlyRootFilesystem with no scratch mount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App or tooling crashes writing temp files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2E9E63"/>
                          </a:solidFill>
                          <a:latin typeface="Calibri" pitchFamily="34" charset="0"/>
                          <a:ea typeface="Calibri" pitchFamily="34" charset="-122"/>
                          <a:cs typeface="Calibri" pitchFamily="34" charset="-120"/>
                        </a:rPr>
                        <a:t>Mount an emptyDir at the exact writable path needed</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bl>
          </a:graphicData>
        </a:graphic>
      </p:graphicFrame>
      <p:sp>
        <p:nvSpPr>
          <p:cNvPr id="6" name="Text 3"/>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3</a:t>
            </a:r>
            <a:endParaRPr lang="en-US" sz="900" dirty="0"/>
          </a:p>
        </p:txBody>
      </p:sp>
      <p:sp>
        <p:nvSpPr>
          <p:cNvPr id="7" name="Text 4"/>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30</a:t>
            </a:r>
            <a:endParaRPr lang="en-US" sz="900" dirty="0"/>
          </a:p>
        </p:txBody>
      </p:sp>
      <p:pic>
        <p:nvPicPr>
          <p:cNvPr id="32"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33"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34"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961388" cy="292608"/>
          </a:xfrm>
          <a:prstGeom prst="roundRect">
            <a:avLst>
              <a:gd name="adj" fmla="val 50000"/>
            </a:avLst>
          </a:prstGeom>
          <a:solidFill>
            <a:srgbClr val="2E9E63"/>
          </a:solidFill>
          <a:ln w="12700">
            <a:solidFill>
              <a:srgbClr val="2E9E63"/>
            </a:solidFill>
            <a:prstDash val="solid"/>
          </a:ln>
        </p:spPr>
      </p:sp>
      <p:sp>
        <p:nvSpPr>
          <p:cNvPr id="3" name="Text 1"/>
          <p:cNvSpPr/>
          <p:nvPr/>
        </p:nvSpPr>
        <p:spPr>
          <a:xfrm>
            <a:off x="566928" y="384048"/>
            <a:ext cx="196138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INDEPENDENT LAB</a:t>
            </a:r>
            <a:endParaRPr lang="en-US" sz="1100" dirty="0"/>
          </a:p>
        </p:txBody>
      </p:sp>
      <p:sp>
        <p:nvSpPr>
          <p:cNvPr id="4" name="Text 2"/>
          <p:cNvSpPr/>
          <p:nvPr/>
        </p:nvSpPr>
        <p:spPr>
          <a:xfrm>
            <a:off x="566928" y="914400"/>
            <a:ext cx="2743200" cy="777240"/>
          </a:xfrm>
          <a:prstGeom prst="rect">
            <a:avLst/>
          </a:prstGeom>
          <a:noFill/>
          <a:ln/>
        </p:spPr>
        <p:txBody>
          <a:bodyPr wrap="square" lIns="0" tIns="0" rIns="0" bIns="0" rtlCol="0" anchor="ctr"/>
          <a:lstStyle/>
          <a:p>
            <a:pPr indent="0" marL="0">
              <a:buNone/>
            </a:pPr>
            <a:r>
              <a:rPr lang="en-US" sz="4000" b="1" dirty="0">
                <a:solidFill>
                  <a:srgbClr val="2E9E63"/>
                </a:solidFill>
                <a:latin typeface="Cambria" pitchFamily="34" charset="0"/>
                <a:ea typeface="Cambria" pitchFamily="34" charset="-122"/>
                <a:cs typeface="Cambria" pitchFamily="34" charset="-120"/>
              </a:rPr>
              <a:t>L3.7</a:t>
            </a:r>
            <a:endParaRPr lang="en-US" sz="4000" dirty="0"/>
          </a:p>
        </p:txBody>
      </p:sp>
      <p:sp>
        <p:nvSpPr>
          <p:cNvPr id="5" name="Text 3"/>
          <p:cNvSpPr/>
          <p:nvPr/>
        </p:nvSpPr>
        <p:spPr>
          <a:xfrm>
            <a:off x="566928" y="1691640"/>
            <a:ext cx="11057839"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Non-root, read-only, no capabilities</a:t>
            </a:r>
            <a:endParaRPr lang="en-US" sz="3000" dirty="0"/>
          </a:p>
        </p:txBody>
      </p:sp>
      <p:sp>
        <p:nvSpPr>
          <p:cNvPr id="6" name="Shape 4"/>
          <p:cNvSpPr/>
          <p:nvPr/>
        </p:nvSpPr>
        <p:spPr>
          <a:xfrm>
            <a:off x="566928" y="2560320"/>
            <a:ext cx="5577840" cy="2834640"/>
          </a:xfrm>
          <a:prstGeom prst="roundRect">
            <a:avLst>
              <a:gd name="adj" fmla="val 3226"/>
            </a:avLst>
          </a:prstGeom>
          <a:solidFill>
            <a:srgbClr val="12314F"/>
          </a:solidFill>
          <a:ln w="12700">
            <a:solidFill>
              <a:srgbClr val="1B4066"/>
            </a:solidFill>
            <a:prstDash val="solid"/>
          </a:ln>
        </p:spPr>
      </p:sp>
      <p:sp>
        <p:nvSpPr>
          <p:cNvPr id="7" name="Text 5"/>
          <p:cNvSpPr/>
          <p:nvPr/>
        </p:nvSpPr>
        <p:spPr>
          <a:xfrm>
            <a:off x="841248" y="2724912"/>
            <a:ext cx="5029200" cy="274320"/>
          </a:xfrm>
          <a:prstGeom prst="rect">
            <a:avLst/>
          </a:prstGeom>
          <a:noFill/>
          <a:ln/>
        </p:spPr>
        <p:txBody>
          <a:bodyPr wrap="square" lIns="0" tIns="0" rIns="0" bIns="0" rtlCol="0" anchor="ctr"/>
          <a:lstStyle/>
          <a:p>
            <a:pPr indent="0" marL="0">
              <a:buNone/>
            </a:pPr>
            <a:r>
              <a:rPr lang="en-US" sz="1000" b="1" spc="100" kern="0" dirty="0">
                <a:solidFill>
                  <a:srgbClr val="F2A03D"/>
                </a:solidFill>
                <a:latin typeface="Calibri" pitchFamily="34" charset="0"/>
                <a:ea typeface="Calibri" pitchFamily="34" charset="-122"/>
                <a:cs typeface="Calibri" pitchFamily="34" charset="-120"/>
              </a:rPr>
              <a:t>YOU WILL</a:t>
            </a:r>
            <a:endParaRPr lang="en-US" sz="1000" dirty="0"/>
          </a:p>
        </p:txBody>
      </p:sp>
      <p:sp>
        <p:nvSpPr>
          <p:cNvPr id="8" name="Text 6"/>
          <p:cNvSpPr/>
          <p:nvPr/>
        </p:nvSpPr>
        <p:spPr>
          <a:xfrm>
            <a:off x="886968" y="3017520"/>
            <a:ext cx="5029200" cy="219456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Find which pods still run as root</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Apply the hardening baseline across the platform</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Watch the kubelet REFUSE a root container</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Build the fsGroup permission failure, then fix it</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Decode CapEff and see what a default container could do</a:t>
            </a:r>
            <a:endParaRPr lang="en-US" sz="1300" dirty="0"/>
          </a:p>
        </p:txBody>
      </p:sp>
      <p:sp>
        <p:nvSpPr>
          <p:cNvPr id="9" name="Shape 7"/>
          <p:cNvSpPr/>
          <p:nvPr/>
        </p:nvSpPr>
        <p:spPr>
          <a:xfrm>
            <a:off x="6464808" y="2560320"/>
            <a:ext cx="5120640" cy="2834640"/>
          </a:xfrm>
          <a:prstGeom prst="roundRect">
            <a:avLst>
              <a:gd name="adj" fmla="val 3226"/>
            </a:avLst>
          </a:prstGeom>
          <a:solidFill>
            <a:srgbClr val="12314F"/>
          </a:solidFill>
          <a:ln w="12700">
            <a:solidFill>
              <a:srgbClr val="1B4066"/>
            </a:solidFill>
            <a:prstDash val="solid"/>
          </a:ln>
        </p:spPr>
      </p:sp>
      <p:sp>
        <p:nvSpPr>
          <p:cNvPr id="10" name="Text 8"/>
          <p:cNvSpPr/>
          <p:nvPr/>
        </p:nvSpPr>
        <p:spPr>
          <a:xfrm>
            <a:off x="6739128" y="2724912"/>
            <a:ext cx="4572000" cy="274320"/>
          </a:xfrm>
          <a:prstGeom prst="rect">
            <a:avLst/>
          </a:prstGeom>
          <a:noFill/>
          <a:ln/>
        </p:spPr>
        <p:txBody>
          <a:bodyPr wrap="square" lIns="0" tIns="0" rIns="0" bIns="0" rtlCol="0" anchor="ctr"/>
          <a:lstStyle/>
          <a:p>
            <a:pPr indent="0" marL="0">
              <a:buNone/>
            </a:pPr>
            <a:r>
              <a:rPr lang="en-US" sz="1000" b="1" spc="100" kern="0" dirty="0">
                <a:solidFill>
                  <a:srgbClr val="2E9E63"/>
                </a:solidFill>
                <a:latin typeface="Calibri" pitchFamily="34" charset="0"/>
                <a:ea typeface="Calibri" pitchFamily="34" charset="-122"/>
                <a:cs typeface="Calibri" pitchFamily="34" charset="-120"/>
              </a:rPr>
              <a:t>DONE WHEN</a:t>
            </a:r>
            <a:endParaRPr lang="en-US" sz="1000" dirty="0"/>
          </a:p>
        </p:txBody>
      </p:sp>
      <p:sp>
        <p:nvSpPr>
          <p:cNvPr id="11" name="Text 9"/>
          <p:cNvSpPr/>
          <p:nvPr/>
        </p:nvSpPr>
        <p:spPr>
          <a:xfrm>
            <a:off x="6784848" y="3017520"/>
            <a:ext cx="4572000" cy="146304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Every app pod runs as uid 10001</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CapEff = 0000000000000000</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read-only root filesystem</a:t>
            </a:r>
            <a:endParaRPr lang="en-US" sz="1300" dirty="0"/>
          </a:p>
        </p:txBody>
      </p:sp>
      <p:sp>
        <p:nvSpPr>
          <p:cNvPr id="12" name="Shape 10"/>
          <p:cNvSpPr/>
          <p:nvPr/>
        </p:nvSpPr>
        <p:spPr>
          <a:xfrm>
            <a:off x="6739128" y="4617720"/>
            <a:ext cx="4572000" cy="566928"/>
          </a:xfrm>
          <a:prstGeom prst="roundRect">
            <a:avLst>
              <a:gd name="adj" fmla="val 12903"/>
            </a:avLst>
          </a:prstGeom>
          <a:solidFill>
            <a:srgbClr val="0E2740"/>
          </a:solidFill>
          <a:ln w="12700">
            <a:solidFill>
              <a:srgbClr val="1C7293"/>
            </a:solidFill>
            <a:prstDash val="solid"/>
          </a:ln>
        </p:spPr>
      </p:sp>
      <p:sp>
        <p:nvSpPr>
          <p:cNvPr id="13" name="Text 11"/>
          <p:cNvSpPr/>
          <p:nvPr/>
        </p:nvSpPr>
        <p:spPr>
          <a:xfrm>
            <a:off x="6876288" y="4617720"/>
            <a:ext cx="4297680" cy="566928"/>
          </a:xfrm>
          <a:prstGeom prst="rect">
            <a:avLst/>
          </a:prstGeom>
          <a:noFill/>
          <a:ln/>
        </p:spPr>
        <p:txBody>
          <a:bodyPr wrap="square" lIns="0" tIns="0" rIns="0" bIns="0" rtlCol="0" anchor="ctr"/>
          <a:lstStyle/>
          <a:p>
            <a:pPr indent="0" marL="0">
              <a:buNone/>
            </a:pPr>
            <a:r>
              <a:rPr lang="en-US" sz="1150" dirty="0">
                <a:solidFill>
                  <a:srgbClr val="F2A03D"/>
                </a:solidFill>
                <a:latin typeface="Courier New" pitchFamily="34" charset="0"/>
                <a:ea typeface="Courier New" pitchFamily="34" charset="-122"/>
                <a:cs typeface="Courier New" pitchFamily="34" charset="-120"/>
              </a:rPr>
              <a:t>make validate-lab LAB=L3.7</a:t>
            </a:r>
            <a:endParaRPr lang="en-US" sz="1150" dirty="0"/>
          </a:p>
        </p:txBody>
      </p:sp>
      <p:sp>
        <p:nvSpPr>
          <p:cNvPr id="14" name="Text 12"/>
          <p:cNvSpPr/>
          <p:nvPr/>
        </p:nvSpPr>
        <p:spPr>
          <a:xfrm>
            <a:off x="566928" y="5577840"/>
            <a:ext cx="11057839" cy="365760"/>
          </a:xfrm>
          <a:prstGeom prst="rect">
            <a:avLst/>
          </a:prstGeom>
          <a:noFill/>
          <a:ln/>
        </p:spPr>
        <p:txBody>
          <a:bodyPr wrap="square" lIns="0" tIns="0" rIns="0" bIns="0" rtlCol="0" anchor="ctr"/>
          <a:lstStyle/>
          <a:p>
            <a:pPr indent="0" marL="0">
              <a:buNone/>
            </a:pPr>
            <a:r>
              <a:rPr lang="en-US" sz="1200" dirty="0">
                <a:solidFill>
                  <a:srgbClr val="63758B"/>
                </a:solidFill>
                <a:latin typeface="Calibri" pitchFamily="34" charset="0"/>
                <a:ea typeface="Calibri" pitchFamily="34" charset="-122"/>
                <a:cs typeface="Calibri" pitchFamily="34" charset="-120"/>
              </a:rPr>
              <a:t>30 minutes   ·   labs/day3/L3.7-security-context/</a:t>
            </a:r>
            <a:endParaRPr lang="en-US" sz="1200" dirty="0"/>
          </a:p>
        </p:txBody>
      </p:sp>
      <p:sp>
        <p:nvSpPr>
          <p:cNvPr id="15" name="Text 13"/>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3</a:t>
            </a:r>
            <a:endParaRPr lang="en-US" sz="900" dirty="0"/>
          </a:p>
        </p:txBody>
      </p:sp>
      <p:sp>
        <p:nvSpPr>
          <p:cNvPr id="16" name="Text 14"/>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31</a:t>
            </a:r>
            <a:endParaRPr lang="en-US" sz="900" dirty="0"/>
          </a:p>
        </p:txBody>
      </p:sp>
      <p:pic>
        <p:nvPicPr>
          <p:cNvPr id="17"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8"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9"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225296" cy="292608"/>
          </a:xfrm>
          <a:prstGeom prst="roundRect">
            <a:avLst>
              <a:gd name="adj" fmla="val 50000"/>
            </a:avLst>
          </a:prstGeom>
          <a:solidFill>
            <a:srgbClr val="D64545"/>
          </a:solidFill>
          <a:ln w="12700">
            <a:solidFill>
              <a:srgbClr val="D64545"/>
            </a:solidFill>
            <a:prstDash val="solid"/>
          </a:ln>
        </p:spPr>
      </p:sp>
      <p:sp>
        <p:nvSpPr>
          <p:cNvPr id="3" name="Text 1"/>
          <p:cNvSpPr/>
          <p:nvPr/>
        </p:nvSpPr>
        <p:spPr>
          <a:xfrm>
            <a:off x="566928" y="384048"/>
            <a:ext cx="1225296"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INCIDENT</a:t>
            </a:r>
            <a:endParaRPr lang="en-US" sz="1100" dirty="0"/>
          </a:p>
        </p:txBody>
      </p:sp>
      <p:sp>
        <p:nvSpPr>
          <p:cNvPr id="4" name="Shape 2"/>
          <p:cNvSpPr/>
          <p:nvPr/>
        </p:nvSpPr>
        <p:spPr>
          <a:xfrm>
            <a:off x="566928" y="1554480"/>
            <a:ext cx="11057839" cy="3017520"/>
          </a:xfrm>
          <a:prstGeom prst="roundRect">
            <a:avLst>
              <a:gd name="adj" fmla="val 3636"/>
            </a:avLst>
          </a:prstGeom>
          <a:solidFill>
            <a:srgbClr val="12314F"/>
          </a:solidFill>
          <a:ln w="12700">
            <a:solidFill>
              <a:srgbClr val="D64545"/>
            </a:solidFill>
            <a:prstDash val="solid"/>
          </a:ln>
        </p:spPr>
      </p:sp>
      <p:sp>
        <p:nvSpPr>
          <p:cNvPr id="5" name="Text 3"/>
          <p:cNvSpPr/>
          <p:nvPr/>
        </p:nvSpPr>
        <p:spPr>
          <a:xfrm>
            <a:off x="1115568" y="1920240"/>
            <a:ext cx="9960559" cy="1463040"/>
          </a:xfrm>
          <a:prstGeom prst="rect">
            <a:avLst/>
          </a:prstGeom>
          <a:noFill/>
          <a:ln/>
        </p:spPr>
        <p:txBody>
          <a:bodyPr wrap="square" lIns="0" tIns="0" rIns="0" bIns="0" rtlCol="0" anchor="ctr"/>
          <a:lstStyle/>
          <a:p>
            <a:pPr indent="0" marL="0">
              <a:lnSpc>
                <a:spcPts val="3800"/>
              </a:lnSpc>
              <a:buNone/>
            </a:pPr>
            <a:r>
              <a:rPr lang="en-US" sz="3000" b="1" dirty="0">
                <a:solidFill>
                  <a:srgbClr val="FFFFFF"/>
                </a:solidFill>
                <a:latin typeface="Cambria" pitchFamily="34" charset="0"/>
                <a:ea typeface="Cambria" pitchFamily="34" charset="-122"/>
                <a:cs typeface="Cambria" pitchFamily="34" charset="-120"/>
              </a:rPr>
              <a:t>SEV-1 · TWO alerts, 90 seconds apart.</a:t>
            </a:r>
            <a:endParaRPr lang="en-US" sz="3000" dirty="0"/>
          </a:p>
          <a:p>
            <a:pPr indent="0" marL="0">
              <a:lnSpc>
                <a:spcPts val="3800"/>
              </a:lnSpc>
              <a:buNone/>
            </a:pPr>
            <a:r>
              <a:rPr lang="en-US" sz="3000" b="1" dirty="0">
                <a:solidFill>
                  <a:srgbClr val="FFFFFF"/>
                </a:solidFill>
                <a:latin typeface="Cambria" pitchFamily="34" charset="0"/>
                <a:ea typeface="Cambria" pitchFamily="34" charset="-122"/>
                <a:cs typeface="Cambria" pitchFamily="34" charset="-120"/>
              </a:rPr>
              <a:t>And they are NOT related.</a:t>
            </a:r>
            <a:endParaRPr lang="en-US" sz="3000" dirty="0"/>
          </a:p>
        </p:txBody>
      </p:sp>
      <p:sp>
        <p:nvSpPr>
          <p:cNvPr id="6" name="Text 4"/>
          <p:cNvSpPr/>
          <p:nvPr/>
        </p:nvSpPr>
        <p:spPr>
          <a:xfrm>
            <a:off x="1115568" y="3429000"/>
            <a:ext cx="9960559" cy="914400"/>
          </a:xfrm>
          <a:prstGeom prst="rect">
            <a:avLst/>
          </a:prstGeom>
          <a:noFill/>
          <a:ln/>
        </p:spPr>
        <p:txBody>
          <a:bodyPr wrap="square" lIns="0" tIns="0" rIns="0" bIns="0" rtlCol="0" anchor="ctr"/>
          <a:lstStyle/>
          <a:p>
            <a:pPr indent="0" marL="0">
              <a:lnSpc>
                <a:spcPts val="2100"/>
              </a:lnSpc>
              <a:buNone/>
            </a:pPr>
            <a:r>
              <a:rPr lang="en-US" sz="1500" dirty="0">
                <a:solidFill>
                  <a:srgbClr val="D8E6F2"/>
                </a:solidFill>
                <a:latin typeface="Calibri" pitchFamily="34" charset="0"/>
                <a:ea typeface="Calibri" pitchFamily="34" charset="-122"/>
                <a:cs typeface="Calibri" pitchFamily="34" charset="-120"/>
              </a:rPr>
              <a:t>ledger-service readiness failing, 0/2 endpoints. postgres-0 not Ready for 4 minutes. A storage change and a config change were both merged this afternoon, by different teams, and neither thinks it is theirs.</a:t>
            </a:r>
            <a:endParaRPr lang="en-US" sz="1500" dirty="0"/>
          </a:p>
        </p:txBody>
      </p:sp>
      <p:sp>
        <p:nvSpPr>
          <p:cNvPr id="7" name="Text 5"/>
          <p:cNvSpPr/>
          <p:nvPr/>
        </p:nvSpPr>
        <p:spPr>
          <a:xfrm>
            <a:off x="658368" y="4800600"/>
            <a:ext cx="11057839" cy="1188720"/>
          </a:xfrm>
          <a:prstGeom prst="rect">
            <a:avLst/>
          </a:prstGeom>
          <a:noFill/>
          <a:ln/>
        </p:spPr>
        <p:txBody>
          <a:bodyPr wrap="square" lIns="0" tIns="0" rIns="0" bIns="0" rtlCol="0" anchor="ctr"/>
          <a:lstStyle/>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Two faults. Fixing the loud one does not fix the quiet one.</a:t>
            </a:r>
            <a:endParaRPr lang="en-US" sz="1350" dirty="0"/>
          </a:p>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Before you type anything: which do you work FIRST, and why?</a:t>
            </a:r>
            <a:endParaRPr lang="en-US" sz="1350" dirty="0"/>
          </a:p>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One is LOUD — Pending, and the events name the cause exactly.</a:t>
            </a:r>
            <a:endParaRPr lang="en-US" sz="1350" dirty="0"/>
          </a:p>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One is QUIET — Running, valid object, wrong value. Only a readiness probe makes it visible.</a:t>
            </a:r>
            <a:endParaRPr lang="en-US" sz="1350" dirty="0"/>
          </a:p>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Scored on METHOD and on PRIORITISATION.</a:t>
            </a:r>
            <a:endParaRPr lang="en-US" sz="1350" dirty="0"/>
          </a:p>
        </p:txBody>
      </p:sp>
      <p:sp>
        <p:nvSpPr>
          <p:cNvPr id="8" name="Text 6"/>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3</a:t>
            </a:r>
            <a:endParaRPr lang="en-US" sz="900" dirty="0"/>
          </a:p>
        </p:txBody>
      </p:sp>
      <p:sp>
        <p:nvSpPr>
          <p:cNvPr id="9" name="Text 7"/>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32</a:t>
            </a:r>
            <a:endParaRPr lang="en-US" sz="900" dirty="0"/>
          </a:p>
        </p:txBody>
      </p:sp>
      <p:pic>
        <p:nvPicPr>
          <p:cNvPr id="10"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1"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2"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961388" cy="292608"/>
          </a:xfrm>
          <a:prstGeom prst="roundRect">
            <a:avLst>
              <a:gd name="adj" fmla="val 50000"/>
            </a:avLst>
          </a:prstGeom>
          <a:solidFill>
            <a:srgbClr val="C97B1E"/>
          </a:solidFill>
          <a:ln w="12700">
            <a:solidFill>
              <a:srgbClr val="C97B1E"/>
            </a:solidFill>
            <a:prstDash val="solid"/>
          </a:ln>
        </p:spPr>
      </p:sp>
      <p:sp>
        <p:nvSpPr>
          <p:cNvPr id="3" name="Text 1"/>
          <p:cNvSpPr/>
          <p:nvPr/>
        </p:nvSpPr>
        <p:spPr>
          <a:xfrm>
            <a:off x="566928" y="384048"/>
            <a:ext cx="196138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KNOWLEDGE CHECK</a:t>
            </a:r>
            <a:endParaRPr lang="en-US" sz="1100" dirty="0"/>
          </a:p>
        </p:txBody>
      </p:sp>
      <p:sp>
        <p:nvSpPr>
          <p:cNvPr id="4" name="Shape 2"/>
          <p:cNvSpPr/>
          <p:nvPr/>
        </p:nvSpPr>
        <p:spPr>
          <a:xfrm>
            <a:off x="566928" y="1143000"/>
            <a:ext cx="11057839" cy="1371600"/>
          </a:xfrm>
          <a:prstGeom prst="roundRect">
            <a:avLst>
              <a:gd name="adj" fmla="val 8000"/>
            </a:avLst>
          </a:prstGeom>
          <a:solidFill>
            <a:srgbClr val="12314F"/>
          </a:solidFill>
          <a:ln w="12700">
            <a:solidFill>
              <a:srgbClr val="F2A03D"/>
            </a:solidFill>
            <a:prstDash val="solid"/>
          </a:ln>
        </p:spPr>
      </p:sp>
      <p:sp>
        <p:nvSpPr>
          <p:cNvPr id="5" name="Text 3"/>
          <p:cNvSpPr/>
          <p:nvPr/>
        </p:nvSpPr>
        <p:spPr>
          <a:xfrm>
            <a:off x="841248" y="1143000"/>
            <a:ext cx="914400" cy="1371600"/>
          </a:xfrm>
          <a:prstGeom prst="rect">
            <a:avLst/>
          </a:prstGeom>
          <a:noFill/>
          <a:ln/>
        </p:spPr>
        <p:txBody>
          <a:bodyPr wrap="square" lIns="0" tIns="0" rIns="0" bIns="0" rtlCol="0" anchor="ctr"/>
          <a:lstStyle/>
          <a:p>
            <a:pPr algn="ctr" indent="0" marL="0">
              <a:buNone/>
            </a:pPr>
            <a:r>
              <a:rPr lang="en-US" sz="4600" b="1" dirty="0">
                <a:solidFill>
                  <a:srgbClr val="F2A03D"/>
                </a:solidFill>
                <a:latin typeface="Cambria" pitchFamily="34" charset="0"/>
                <a:ea typeface="Cambria" pitchFamily="34" charset="-122"/>
                <a:cs typeface="Cambria" pitchFamily="34" charset="-120"/>
              </a:rPr>
              <a:t>?</a:t>
            </a:r>
            <a:endParaRPr lang="en-US" sz="4600" dirty="0"/>
          </a:p>
        </p:txBody>
      </p:sp>
      <p:sp>
        <p:nvSpPr>
          <p:cNvPr id="6" name="Text 4"/>
          <p:cNvSpPr/>
          <p:nvPr/>
        </p:nvSpPr>
        <p:spPr>
          <a:xfrm>
            <a:off x="1892808" y="1143000"/>
            <a:ext cx="9320479" cy="1371600"/>
          </a:xfrm>
          <a:prstGeom prst="rect">
            <a:avLst/>
          </a:prstGeom>
          <a:noFill/>
          <a:ln/>
        </p:spPr>
        <p:txBody>
          <a:bodyPr wrap="square" lIns="0" tIns="0" rIns="0" bIns="0" rtlCol="0" anchor="ctr"/>
          <a:lstStyle/>
          <a:p>
            <a:pPr indent="0" marL="0">
              <a:lnSpc>
                <a:spcPts val="2600"/>
              </a:lnSpc>
              <a:buNone/>
            </a:pPr>
            <a:r>
              <a:rPr lang="en-US" sz="2000" b="1" dirty="0">
                <a:solidFill>
                  <a:srgbClr val="FFFFFF"/>
                </a:solidFill>
                <a:latin typeface="Cambria" pitchFamily="34" charset="0"/>
                <a:ea typeface="Cambria" pitchFamily="34" charset="-122"/>
                <a:cs typeface="Cambria" pitchFamily="34" charset="-120"/>
              </a:rPr>
              <a:t>Eight questions. Answer out loud. Not scored.</a:t>
            </a:r>
            <a:endParaRPr lang="en-US" sz="2000" dirty="0"/>
          </a:p>
        </p:txBody>
      </p:sp>
      <p:sp>
        <p:nvSpPr>
          <p:cNvPr id="7" name="Text 5"/>
          <p:cNvSpPr/>
          <p:nvPr/>
        </p:nvSpPr>
        <p:spPr>
          <a:xfrm>
            <a:off x="566928" y="2715768"/>
            <a:ext cx="6400800" cy="274320"/>
          </a:xfrm>
          <a:prstGeom prst="rect">
            <a:avLst/>
          </a:prstGeom>
          <a:noFill/>
          <a:ln/>
        </p:spPr>
        <p:txBody>
          <a:bodyPr wrap="square" lIns="0" tIns="0" rIns="0" bIns="0" rtlCol="0" anchor="ctr"/>
          <a:lstStyle/>
          <a:p>
            <a:pPr indent="0" marL="0">
              <a:buNone/>
            </a:pPr>
            <a:r>
              <a:rPr lang="en-US" sz="1100" b="1" spc="100" kern="0" dirty="0">
                <a:solidFill>
                  <a:srgbClr val="F2A03D"/>
                </a:solidFill>
                <a:latin typeface="Calibri" pitchFamily="34" charset="0"/>
                <a:ea typeface="Calibri" pitchFamily="34" charset="-122"/>
                <a:cs typeface="Calibri" pitchFamily="34" charset="-120"/>
              </a:rPr>
              <a:t>Answers</a:t>
            </a:r>
            <a:endParaRPr lang="en-US" sz="1100" dirty="0"/>
          </a:p>
        </p:txBody>
      </p:sp>
      <p:sp>
        <p:nvSpPr>
          <p:cNvPr id="8" name="Text 6"/>
          <p:cNvSpPr/>
          <p:nvPr/>
        </p:nvSpPr>
        <p:spPr>
          <a:xfrm>
            <a:off x="640080" y="3008376"/>
            <a:ext cx="10966399" cy="3364992"/>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D8E6F2"/>
                </a:solidFill>
                <a:latin typeface="Calibri" pitchFamily="34" charset="0"/>
                <a:ea typeface="Calibri" pitchFamily="34" charset="-122"/>
                <a:cs typeface="Calibri" pitchFamily="34" charset="-120"/>
              </a:rPr>
              <a:t>1. Change a ConfigMap — do running pods see it?  →  env: no. volume: yes, ~60s.</a:t>
            </a:r>
            <a:endParaRPr lang="en-US" sz="1200" dirty="0"/>
          </a:p>
          <a:p>
            <a:pPr marL="342900" indent="-342900">
              <a:spcAft>
                <a:spcPts val="500"/>
              </a:spcAft>
              <a:buSzPct val="100000"/>
              <a:buChar char="•"/>
            </a:pPr>
            <a:r>
              <a:rPr lang="en-US" sz="1200" dirty="0">
                <a:solidFill>
                  <a:srgbClr val="D8E6F2"/>
                </a:solidFill>
                <a:latin typeface="Calibri" pitchFamily="34" charset="0"/>
                <a:ea typeface="Calibri" pitchFamily="34" charset="-122"/>
                <a:cs typeface="Calibri" pitchFamily="34" charset="-120"/>
              </a:rPr>
              <a:t>2. Is a Secret encrypted?  →  No. base64-encoded. RBAC + etcd encryption protect it.</a:t>
            </a:r>
            <a:endParaRPr lang="en-US" sz="1200" dirty="0"/>
          </a:p>
          <a:p>
            <a:pPr marL="342900" indent="-342900">
              <a:spcAft>
                <a:spcPts val="500"/>
              </a:spcAft>
              <a:buSzPct val="100000"/>
              <a:buChar char="•"/>
            </a:pPr>
            <a:r>
              <a:rPr lang="en-US" sz="1200" dirty="0">
                <a:solidFill>
                  <a:srgbClr val="D8E6F2"/>
                </a:solidFill>
                <a:latin typeface="Calibri" pitchFamily="34" charset="0"/>
                <a:ea typeface="Calibri" pitchFamily="34" charset="-122"/>
                <a:cs typeface="Calibri" pitchFamily="34" charset="-120"/>
              </a:rPr>
              <a:t>3. ReadWriteOnce — once what?  →  one NODE, not one pod</a:t>
            </a:r>
            <a:endParaRPr lang="en-US" sz="1200" dirty="0"/>
          </a:p>
          <a:p>
            <a:pPr marL="342900" indent="-342900">
              <a:spcAft>
                <a:spcPts val="500"/>
              </a:spcAft>
              <a:buSzPct val="100000"/>
              <a:buChar char="•"/>
            </a:pPr>
            <a:r>
              <a:rPr lang="en-US" sz="1200" dirty="0">
                <a:solidFill>
                  <a:srgbClr val="D8E6F2"/>
                </a:solidFill>
                <a:latin typeface="Calibri" pitchFamily="34" charset="0"/>
                <a:ea typeface="Calibri" pitchFamily="34" charset="-122"/>
                <a:cs typeface="Calibri" pitchFamily="34" charset="-120"/>
              </a:rPr>
              <a:t>4. Why WaitForFirstConsumer?  →  so storage is provisioned where the scheduler put the pod</a:t>
            </a:r>
            <a:endParaRPr lang="en-US" sz="1200" dirty="0"/>
          </a:p>
          <a:p>
            <a:pPr marL="342900" indent="-342900">
              <a:spcAft>
                <a:spcPts val="500"/>
              </a:spcAft>
              <a:buSzPct val="100000"/>
              <a:buChar char="•"/>
            </a:pPr>
            <a:r>
              <a:rPr lang="en-US" sz="1200" dirty="0">
                <a:solidFill>
                  <a:srgbClr val="D8E6F2"/>
                </a:solidFill>
                <a:latin typeface="Calibri" pitchFamily="34" charset="0"/>
                <a:ea typeface="Calibri" pitchFamily="34" charset="-122"/>
                <a:cs typeface="Calibri" pitchFamily="34" charset="-120"/>
              </a:rPr>
              <a:t>5. Retain vs Delete?  →  Retain keeps the volume when the PVC goes. Use it for data you cannot recreate.</a:t>
            </a:r>
            <a:endParaRPr lang="en-US" sz="1200" dirty="0"/>
          </a:p>
          <a:p>
            <a:pPr marL="342900" indent="-342900">
              <a:spcAft>
                <a:spcPts val="500"/>
              </a:spcAft>
              <a:buSzPct val="100000"/>
              <a:buChar char="•"/>
            </a:pPr>
            <a:r>
              <a:rPr lang="en-US" sz="1200" dirty="0">
                <a:solidFill>
                  <a:srgbClr val="D8E6F2"/>
                </a:solidFill>
                <a:latin typeface="Calibri" pitchFamily="34" charset="0"/>
                <a:ea typeface="Calibri" pitchFamily="34" charset="-122"/>
                <a:cs typeface="Calibri" pitchFamily="34" charset="-120"/>
              </a:rPr>
              <a:t>6. Three things a StatefulSet gives that a Deployment cannot?  →  stable name, stable storage, ordering</a:t>
            </a:r>
            <a:endParaRPr lang="en-US" sz="1200" dirty="0"/>
          </a:p>
          <a:p>
            <a:pPr marL="342900" indent="-342900">
              <a:spcAft>
                <a:spcPts val="500"/>
              </a:spcAft>
              <a:buSzPct val="100000"/>
              <a:buChar char="•"/>
            </a:pPr>
            <a:r>
              <a:rPr lang="en-US" sz="1200" dirty="0">
                <a:solidFill>
                  <a:srgbClr val="D8E6F2"/>
                </a:solidFill>
                <a:latin typeface="Calibri" pitchFamily="34" charset="0"/>
                <a:ea typeface="Calibri" pitchFamily="34" charset="-122"/>
                <a:cs typeface="Calibri" pitchFamily="34" charset="-120"/>
              </a:rPr>
              <a:t>7. What does fsGroup do?  →  chowns the mounted volume so a non-root process can write to it</a:t>
            </a:r>
            <a:endParaRPr lang="en-US" sz="1200" dirty="0"/>
          </a:p>
          <a:p>
            <a:pPr marL="342900" indent="-342900">
              <a:spcAft>
                <a:spcPts val="500"/>
              </a:spcAft>
              <a:buSzPct val="100000"/>
              <a:buChar char="•"/>
            </a:pPr>
            <a:r>
              <a:rPr lang="en-US" sz="1200" dirty="0">
                <a:solidFill>
                  <a:srgbClr val="D8E6F2"/>
                </a:solidFill>
                <a:latin typeface="Calibri" pitchFamily="34" charset="0"/>
                <a:ea typeface="Calibri" pitchFamily="34" charset="-122"/>
                <a:cs typeface="Calibri" pitchFamily="34" charset="-120"/>
              </a:rPr>
              <a:t>8. Scale postgres to 3 — do you have a cluster?  →  No. Three independent empty databases.</a:t>
            </a:r>
            <a:endParaRPr lang="en-US" sz="1200" dirty="0"/>
          </a:p>
        </p:txBody>
      </p:sp>
      <p:sp>
        <p:nvSpPr>
          <p:cNvPr id="9" name="Text 7"/>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3</a:t>
            </a:r>
            <a:endParaRPr lang="en-US" sz="900" dirty="0"/>
          </a:p>
        </p:txBody>
      </p:sp>
      <p:sp>
        <p:nvSpPr>
          <p:cNvPr id="10" name="Text 8"/>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33</a:t>
            </a:r>
            <a:endParaRPr lang="en-US" sz="900" dirty="0"/>
          </a:p>
        </p:txBody>
      </p:sp>
      <p:pic>
        <p:nvPicPr>
          <p:cNvPr id="11"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2"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3"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645920"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16459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END OF DAY 3</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What you built today</a:t>
            </a:r>
            <a:endParaRPr lang="en-US" sz="3200" dirty="0"/>
          </a:p>
        </p:txBody>
      </p:sp>
      <p:sp>
        <p:nvSpPr>
          <p:cNvPr id="5" name="Text 3"/>
          <p:cNvSpPr/>
          <p:nvPr/>
        </p:nvSpPr>
        <p:spPr>
          <a:xfrm>
            <a:off x="566928" y="2103120"/>
            <a:ext cx="2524430" cy="1234440"/>
          </a:xfrm>
          <a:prstGeom prst="rect">
            <a:avLst/>
          </a:prstGeom>
          <a:noFill/>
          <a:ln/>
        </p:spPr>
        <p:txBody>
          <a:bodyPr wrap="square" lIns="0" tIns="0" rIns="0" bIns="0" rtlCol="0" anchor="ctr"/>
          <a:lstStyle/>
          <a:p>
            <a:pPr algn="ctr" indent="0" marL="0">
              <a:buNone/>
            </a:pPr>
            <a:r>
              <a:rPr lang="en-US" sz="5800" b="1" dirty="0">
                <a:solidFill>
                  <a:srgbClr val="2E9E63"/>
                </a:solidFill>
                <a:latin typeface="Cambria" pitchFamily="34" charset="0"/>
                <a:ea typeface="Cambria" pitchFamily="34" charset="-122"/>
                <a:cs typeface="Cambria" pitchFamily="34" charset="-120"/>
              </a:rPr>
              <a:t>5,000</a:t>
            </a:r>
            <a:endParaRPr lang="en-US" sz="5800" dirty="0"/>
          </a:p>
        </p:txBody>
      </p:sp>
      <p:sp>
        <p:nvSpPr>
          <p:cNvPr id="6" name="Text 4"/>
          <p:cNvSpPr/>
          <p:nvPr/>
        </p:nvSpPr>
        <p:spPr>
          <a:xfrm>
            <a:off x="566928" y="3364992"/>
            <a:ext cx="2524430" cy="868680"/>
          </a:xfrm>
          <a:prstGeom prst="rect">
            <a:avLst/>
          </a:prstGeom>
          <a:noFill/>
          <a:ln/>
        </p:spPr>
        <p:txBody>
          <a:bodyPr wrap="square" lIns="0" tIns="0" rIns="0" bIns="0" rtlCol="0" anchor="ctr"/>
          <a:lstStyle/>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payments in PostgreSQL,</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surviving pod deletion,</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queryable by you</a:t>
            </a:r>
            <a:endParaRPr lang="en-US" sz="1300" dirty="0"/>
          </a:p>
        </p:txBody>
      </p:sp>
      <p:sp>
        <p:nvSpPr>
          <p:cNvPr id="7" name="Text 5"/>
          <p:cNvSpPr/>
          <p:nvPr/>
        </p:nvSpPr>
        <p:spPr>
          <a:xfrm>
            <a:off x="3411398" y="2103120"/>
            <a:ext cx="2524430" cy="1234440"/>
          </a:xfrm>
          <a:prstGeom prst="rect">
            <a:avLst/>
          </a:prstGeom>
          <a:noFill/>
          <a:ln/>
        </p:spPr>
        <p:txBody>
          <a:bodyPr wrap="square" lIns="0" tIns="0" rIns="0" bIns="0" rtlCol="0" anchor="ctr"/>
          <a:lstStyle/>
          <a:p>
            <a:pPr algn="ctr" indent="0" marL="0">
              <a:buNone/>
            </a:pPr>
            <a:r>
              <a:rPr lang="en-US" sz="5800" b="1" dirty="0">
                <a:solidFill>
                  <a:srgbClr val="2E9E63"/>
                </a:solidFill>
                <a:latin typeface="Cambria" pitchFamily="34" charset="0"/>
                <a:ea typeface="Cambria" pitchFamily="34" charset="-122"/>
                <a:cs typeface="Cambria" pitchFamily="34" charset="-120"/>
              </a:rPr>
              <a:t>0</a:t>
            </a:r>
            <a:endParaRPr lang="en-US" sz="5800" dirty="0"/>
          </a:p>
        </p:txBody>
      </p:sp>
      <p:sp>
        <p:nvSpPr>
          <p:cNvPr id="8" name="Text 6"/>
          <p:cNvSpPr/>
          <p:nvPr/>
        </p:nvSpPr>
        <p:spPr>
          <a:xfrm>
            <a:off x="3411398" y="3364992"/>
            <a:ext cx="2524430" cy="868680"/>
          </a:xfrm>
          <a:prstGeom prst="rect">
            <a:avLst/>
          </a:prstGeom>
          <a:noFill/>
          <a:ln/>
        </p:spPr>
        <p:txBody>
          <a:bodyPr wrap="square" lIns="0" tIns="0" rIns="0" bIns="0" rtlCol="0" anchor="ctr"/>
          <a:lstStyle/>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ledger imbalance across</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4,955 journals and</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seven currencies</a:t>
            </a:r>
            <a:endParaRPr lang="en-US" sz="1300" dirty="0"/>
          </a:p>
        </p:txBody>
      </p:sp>
      <p:sp>
        <p:nvSpPr>
          <p:cNvPr id="9" name="Text 7"/>
          <p:cNvSpPr/>
          <p:nvPr/>
        </p:nvSpPr>
        <p:spPr>
          <a:xfrm>
            <a:off x="6255868" y="2103120"/>
            <a:ext cx="2524430" cy="1234440"/>
          </a:xfrm>
          <a:prstGeom prst="rect">
            <a:avLst/>
          </a:prstGeom>
          <a:noFill/>
          <a:ln/>
        </p:spPr>
        <p:txBody>
          <a:bodyPr wrap="square" lIns="0" tIns="0" rIns="0" bIns="0" rtlCol="0" anchor="ctr"/>
          <a:lstStyle/>
          <a:p>
            <a:pPr algn="ctr" indent="0" marL="0">
              <a:buNone/>
            </a:pPr>
            <a:r>
              <a:rPr lang="en-US" sz="5800" b="1" dirty="0">
                <a:solidFill>
                  <a:srgbClr val="F2A03D"/>
                </a:solidFill>
                <a:latin typeface="Cambria" pitchFamily="34" charset="0"/>
                <a:ea typeface="Cambria" pitchFamily="34" charset="-122"/>
                <a:cs typeface="Cambria" pitchFamily="34" charset="-120"/>
              </a:rPr>
              <a:t>3</a:t>
            </a:r>
            <a:endParaRPr lang="en-US" sz="5800" dirty="0"/>
          </a:p>
        </p:txBody>
      </p:sp>
      <p:sp>
        <p:nvSpPr>
          <p:cNvPr id="10" name="Text 8"/>
          <p:cNvSpPr/>
          <p:nvPr/>
        </p:nvSpPr>
        <p:spPr>
          <a:xfrm>
            <a:off x="6255868" y="3364992"/>
            <a:ext cx="2524430" cy="868680"/>
          </a:xfrm>
          <a:prstGeom prst="rect">
            <a:avLst/>
          </a:prstGeom>
          <a:noFill/>
          <a:ln/>
        </p:spPr>
        <p:txBody>
          <a:bodyPr wrap="square" lIns="0" tIns="0" rIns="0" bIns="0" rtlCol="0" anchor="ctr"/>
          <a:lstStyle/>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StatefulSets with stable</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identity and their own</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persistent volumes</a:t>
            </a:r>
            <a:endParaRPr lang="en-US" sz="1300" dirty="0"/>
          </a:p>
        </p:txBody>
      </p:sp>
      <p:sp>
        <p:nvSpPr>
          <p:cNvPr id="11" name="Text 9"/>
          <p:cNvSpPr/>
          <p:nvPr/>
        </p:nvSpPr>
        <p:spPr>
          <a:xfrm>
            <a:off x="9100337" y="2103120"/>
            <a:ext cx="2524430" cy="1234440"/>
          </a:xfrm>
          <a:prstGeom prst="rect">
            <a:avLst/>
          </a:prstGeom>
          <a:noFill/>
          <a:ln/>
        </p:spPr>
        <p:txBody>
          <a:bodyPr wrap="square" lIns="0" tIns="0" rIns="0" bIns="0" rtlCol="0" anchor="ctr"/>
          <a:lstStyle/>
          <a:p>
            <a:pPr algn="ctr" indent="0" marL="0">
              <a:buNone/>
            </a:pPr>
            <a:r>
              <a:rPr lang="en-US" sz="5800" b="1" dirty="0">
                <a:solidFill>
                  <a:srgbClr val="1C7293"/>
                </a:solidFill>
                <a:latin typeface="Cambria" pitchFamily="34" charset="0"/>
                <a:ea typeface="Cambria" pitchFamily="34" charset="-122"/>
                <a:cs typeface="Cambria" pitchFamily="34" charset="-120"/>
              </a:rPr>
              <a:t>10001</a:t>
            </a:r>
            <a:endParaRPr lang="en-US" sz="5800" dirty="0"/>
          </a:p>
        </p:txBody>
      </p:sp>
      <p:sp>
        <p:nvSpPr>
          <p:cNvPr id="12" name="Text 10"/>
          <p:cNvSpPr/>
          <p:nvPr/>
        </p:nvSpPr>
        <p:spPr>
          <a:xfrm>
            <a:off x="9100337" y="3364992"/>
            <a:ext cx="2524430" cy="868680"/>
          </a:xfrm>
          <a:prstGeom prst="rect">
            <a:avLst/>
          </a:prstGeom>
          <a:noFill/>
          <a:ln/>
        </p:spPr>
        <p:txBody>
          <a:bodyPr wrap="square" lIns="0" tIns="0" rIns="0" bIns="0" rtlCol="0" anchor="ctr"/>
          <a:lstStyle/>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the UID every application</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pod now runs as —</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zero capabilities</a:t>
            </a:r>
            <a:endParaRPr lang="en-US" sz="1300" dirty="0"/>
          </a:p>
        </p:txBody>
      </p:sp>
      <p:sp>
        <p:nvSpPr>
          <p:cNvPr id="13" name="Text 11"/>
          <p:cNvSpPr/>
          <p:nvPr/>
        </p:nvSpPr>
        <p:spPr>
          <a:xfrm>
            <a:off x="566928" y="5486400"/>
            <a:ext cx="11057839" cy="548640"/>
          </a:xfrm>
          <a:prstGeom prst="rect">
            <a:avLst/>
          </a:prstGeom>
          <a:noFill/>
          <a:ln/>
        </p:spPr>
        <p:txBody>
          <a:bodyPr wrap="square" lIns="0" tIns="0" rIns="0" bIns="0" rtlCol="0" anchor="ctr"/>
          <a:lstStyle/>
          <a:p>
            <a:pPr algn="ctr" indent="0" marL="0">
              <a:buNone/>
            </a:pPr>
            <a:r>
              <a:rPr lang="en-US" sz="1400" i="1" dirty="0">
                <a:solidFill>
                  <a:srgbClr val="FFFFFF"/>
                </a:solidFill>
                <a:latin typeface="Calibri" pitchFamily="34" charset="0"/>
                <a:ea typeface="Calibri" pitchFamily="34" charset="-122"/>
                <a:cs typeface="Calibri" pitchFamily="34" charset="-120"/>
              </a:rPr>
              <a:t>The platform has a memory, a system of record, and no credentials in its manifests. It is still unreachable from outside the cluster.</a:t>
            </a:r>
            <a:endParaRPr lang="en-US" sz="1400" dirty="0"/>
          </a:p>
        </p:txBody>
      </p:sp>
      <p:sp>
        <p:nvSpPr>
          <p:cNvPr id="14" name="Text 12"/>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3</a:t>
            </a:r>
            <a:endParaRPr lang="en-US" sz="900" dirty="0"/>
          </a:p>
        </p:txBody>
      </p:sp>
      <p:sp>
        <p:nvSpPr>
          <p:cNvPr id="15" name="Text 13"/>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34</a:t>
            </a:r>
            <a:endParaRPr lang="en-US" sz="900" dirty="0"/>
          </a:p>
        </p:txBody>
      </p:sp>
      <p:pic>
        <p:nvPicPr>
          <p:cNvPr id="16"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17"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18"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1225296"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1225296"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TOMORROW</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Day 4 — let the world in, and keep it out of the vault</a:t>
            </a:r>
            <a:endParaRPr lang="en-US" sz="3200" dirty="0"/>
          </a:p>
        </p:txBody>
      </p:sp>
      <p:sp>
        <p:nvSpPr>
          <p:cNvPr id="5" name="Text 3"/>
          <p:cNvSpPr/>
          <p:nvPr/>
        </p:nvSpPr>
        <p:spPr>
          <a:xfrm>
            <a:off x="566928" y="1737360"/>
            <a:ext cx="11057839" cy="384048"/>
          </a:xfrm>
          <a:prstGeom prst="rect">
            <a:avLst/>
          </a:prstGeom>
          <a:noFill/>
          <a:ln/>
        </p:spPr>
        <p:txBody>
          <a:bodyPr wrap="square" lIns="0" tIns="0" rIns="0" bIns="0" rtlCol="0" anchor="ctr"/>
          <a:lstStyle/>
          <a:p>
            <a:pPr indent="0" marL="0">
              <a:buNone/>
            </a:pPr>
            <a:r>
              <a:rPr lang="en-US" sz="1400" i="1" dirty="0">
                <a:solidFill>
                  <a:srgbClr val="1C7293"/>
                </a:solidFill>
                <a:latin typeface="Calibri" pitchFamily="34" charset="0"/>
                <a:ea typeface="Calibri" pitchFamily="34" charset="-122"/>
                <a:cs typeface="Calibri" pitchFamily="34" charset="-120"/>
              </a:rPr>
              <a:t>Production Kubernetes is more than 'pods are running': traffic needs controlled entry, east-west access needs boundaries, and replica placement needs rules that survive failures and maintenance.</a:t>
            </a:r>
            <a:endParaRPr lang="en-US" sz="14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66928" y="2240280"/>
          <a:ext cx="11057839" cy="914400"/>
        </p:xfrm>
        <a:graphic>
          <a:graphicData uri="http://schemas.openxmlformats.org/drawingml/2006/table">
            <a:tbl>
              <a:tblPr/>
              <a:tblGrid>
                <a:gridCol w="3840480"/>
                <a:gridCol w="5120640"/>
                <a:gridCol w="2103120"/>
              </a:tblGrid>
              <a:tr h="43891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is missing</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costs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Fixed in</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No route in from outside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No merchant can integrate. port-forward is not a product.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L4.3</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No TLS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Card data over plaintext HTTP</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L4.3</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Flat pod network</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axispay-edge can reach PostgreSQL directly — a PCI finding</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L4.4</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No control over placement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All three payment replicas can land on one node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L4.5</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No disruption budget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A node drain takes every replica at once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L4.6</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DNS is still a black box</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You have used it for three days without opening it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L4.2</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bl>
          </a:graphicData>
        </a:graphic>
      </p:graphicFrame>
      <p:sp>
        <p:nvSpPr>
          <p:cNvPr id="7" name="Text 4"/>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3</a:t>
            </a:r>
            <a:endParaRPr lang="en-US" sz="900" dirty="0"/>
          </a:p>
        </p:txBody>
      </p:sp>
      <p:sp>
        <p:nvSpPr>
          <p:cNvPr id="8" name="Text 5"/>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35</a:t>
            </a:r>
            <a:endParaRPr lang="en-US" sz="900" dirty="0"/>
          </a:p>
        </p:txBody>
      </p:sp>
      <p:pic>
        <p:nvPicPr>
          <p:cNvPr id="37" name="Theme Background" descr="theme_bg.png"/>
          <p:cNvPicPr>
            <a:picLocks noChangeAspect="1"/>
          </p:cNvPicPr>
          <p:nvPr/>
        </p:nvPicPr>
        <p:blipFill>
          <a:blip r:embed="rId3">
            <a:alphaModFix amt="20000"/>
          </a:blip>
          <a:stretch>
            <a:fillRect/>
          </a:stretch>
        </p:blipFill>
        <p:spPr>
          <a:xfrm>
            <a:off x="0" y="0"/>
            <a:ext cx="12192000" cy="6858000"/>
          </a:xfrm>
          <a:prstGeom prst="rect">
            <a:avLst/>
          </a:prstGeom>
        </p:spPr>
      </p:pic>
      <p:sp>
        <p:nvSpPr>
          <p:cNvPr id="38" name="NobleProg Wordmark"/>
          <p:cNvSpPr txBox="1"/>
          <p:nvPr/>
        </p:nvSpPr>
        <p:spPr>
          <a:xfrm>
            <a:off x="9539139" y="6156593"/>
            <a:ext cx="1885453" cy="584775"/>
          </a:xfrm>
          <a:prstGeom prst="rect">
            <a:avLst/>
          </a:prstGeom>
          <a:noFill/>
        </p:spPr>
        <p:txBody>
          <a:bodyPr wrap="none">
            <a:spAutoFit/>
          </a:bodyPr>
          <a:lstStyle/>
          <a:p>
            <a:r>
              <a:rPr sz="3200" b="1" i="1">
                <a:solidFill>
                  <a:srgbClr val="006EBE"/>
                </a:solidFill>
                <a:latin typeface="Arial Narrow"/>
              </a:rPr>
              <a:t>NobleProg</a:t>
            </a:r>
          </a:p>
        </p:txBody>
      </p:sp>
      <p:sp>
        <p:nvSpPr>
          <p:cNvPr id="39" name="NobleProg Footer"/>
          <p:cNvSpPr txBox="1"/>
          <p:nvPr/>
        </p:nvSpPr>
        <p:spPr>
          <a:xfrm>
            <a:off x="5383410" y="6356350"/>
            <a:ext cx="1774012" cy="569387"/>
          </a:xfrm>
          <a:prstGeom prst="rect">
            <a:avLst/>
          </a:prstGeom>
          <a:noFill/>
        </p:spPr>
        <p:txBody>
          <a:bodyPr wrap="none">
            <a:spAutoFit/>
          </a:bodyPr>
          <a:lstStyle/>
          <a:p>
            <a:r>
              <a:rPr sz="1000" b="1">
                <a:solidFill>
                  <a:srgbClr val="414141"/>
                </a:solidFill>
                <a:latin typeface="Raleway"/>
              </a:rPr>
              <a:t>NobleProg® Limited 2017</a:t>
            </a:r>
          </a:p>
          <a:p>
            <a:r>
              <a:rPr sz="1000">
                <a:solidFill>
                  <a:srgbClr val="414141"/>
                </a:solidFill>
                <a:latin typeface="Raleway"/>
              </a:rPr>
              <a:t>All Rights Reserved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Axis Financial Services (fictional)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AxisPay Kubernetes Comprehensive — Day 3</dc:title>
  <dc:subject>State, Configuration and Data</dc:subject>
  <dc:creator>AxisPay Curriculum Team</dc:creator>
  <cp:lastModifiedBy>AxisPay Curriculum Team</cp:lastModifiedBy>
  <cp:revision>1</cp:revision>
  <dcterms:created xsi:type="dcterms:W3CDTF">2026-08-14T23:06:27Z</dcterms:created>
  <dcterms:modified xsi:type="dcterms:W3CDTF">2026-08-14T23:06:27Z</dcterms:modified>
</cp:coreProperties>
</file>