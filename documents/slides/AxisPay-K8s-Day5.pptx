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Set the frame: today is about operability, and it ends with an assessment.
TIMING: 3 min
SPEAKER NOTES
Open by saying what today is NOT: it is not more features. The platform is finished. Today is about the difference between a system that works and a system a team can run at 03:00 on a Saturday.\n\nTell them now that the capstone is 25% of the course, individual, and observed — and that the rubric scores METHOD over speed. Say the sentence out loud: 'A student who works systematically and does not finish scores higher than one who guesses correctly.' Say it now, and mean it, because it changes how they work all day.\n\nAlso set expectations about the observability install — if anyone has not run `make observability`, they need to start it in the background right now.
CALLOUT: Check the room: who has NOT run `make observability`? They need 15 minutes of download before M5.5.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Retrieval practice on Day 4, and settle the room.
TIMING: 20 min
SPEAKER NOTES
Then everyone runs `make validate-day4` before touching anything. Today's labs assume working segmentation and a healthy Ingress; several will fail confusingly without them.\n\nIf someone's cluster is broken, pair them up now rather than losing them at 11:00.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Derive today's agenda from gaps the students have felt all week.
TIMING: 5 min
SPEAKER NOTES
Row 6 is the one to sit on. Go back through INC-1 to INC-4: every single one was discovered because someone told them, or because they happened to be looking. Not one was detected by the platform.\n\nThat is the honest state of what they have built, and it is what today fixes.
ASK THE ROOM: Which of these six would you fix first, if you could only fix one?
EXPECTED ANSWER: No wrong answer — but push for the reasoning. Most say observability, because you cannot fix what you cannot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Open the security module.
TIMING: 80 min
SPEAKER NOTES
Two orthogonal controls, and students routinely conflate them. Authentication answers 'who is this'. Admission answers 'is this pod allowed to exist in this shape'. A pod can have a perfect ServiceAccount and still run as root with a hostPath.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Show that the default ServiceAccount is a real, live credential.
TIMING: 6 min
SPEAKER NOTES
Every pod they have deployed this week has been mounting a signed JWT at /var/run/secrets/kubernetes.io/serviceaccount/token. Nothing in AxisPay ever calls the Kubernetes API. It is pure liability.\n\nThe usual objection is 'but default has no permissions'. Answer it directly: that is a statement about today's RBAC, not a control. Change RBAC next quarter and the finding becomes an incident.
&gt;&gt; LIVE DEMO: kubectl exec -n axispay-core deploy/payment-service -- head -c 60 /var/run/secrets/kubernetes.io/serviceaccount/token
ASK THE ROOM: The API returns 403 when we use that token. Is that good news?
EXPECTED ANSWER: No — 403 means the credential was ACCEPTED and then denied. A 401 would have meant no valid credential at all. This one authenticates.
ANIMATION: Reveal BEFORE, discuss, then AFTER on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Give students the mechanism AND the migration strategy.
TIMING: 8 min
SPEAKER NOTES
Draw the point out that `enforce` is a blunt instrument on an existing cluster. If you turn on restricted everywhere on Monday morning, every workload that does not already comply fails its next rollout — and you will not find out until then, because PSA evaluates on create and update, not on running pods.\n\nThat last fact is worth repeating: existing pods keep running. The failure surfaces at the next deploy, which may be weeks later and will not obviously be connected to the label you changed.
WARNING: PSA evaluates on CREATE and UPDATE. Existing pods keep running — the failure arrives at the next rollout.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Make admission control concrete rather than abstract.
TIMING: 5 min
SPEAKER NOTES
Run both live. The contrast between the two outputs teaches the enforce/warn distinction better than the previous slide did.\n\nPoint at the fact that the rejection lists five violations, not one. Admission runs the whole check and reports everything — which is genuinely helpful, and unusual.
&gt;&gt; LIVE DEMO: Both commands, back to back, in axispay-core then axispay-data.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Give the mental model before the syntax.
TIMING: 8 min
SPEAKER NOTES
The bottom-left square is the one that matters and the one most people never discover: a ClusterRole referenced by a RoleBinding. The ClusterRole defines WHAT; the RoleBinding decides WHERE.\n\nThat is how axispay-auditor works — one permission set, bound in three namespaces. Without it you would maintain three identical Roles and they would drift.\n\nTop right is genuinely invalid: a ClusterRoleBinding cannot reference a namespaced Role. The API rejects it, which is at least an honest failure.
ASK THE ROOM: The auditor must read everything and must never read Secrets. How?
EXPECTED ANSWER: You do not deny Secrets. You write a role that never names them. RBAC is additive — the absence IS the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Give the four properties that make RBAC predictable.
TIMING: 8 min
SPEAKER NOTES
Rule 4 is the one that surprises experienced people. Walk it through slowly: every Secret consumed by a workload is present INSIDE the container as an environment variable or a mounted file. So anyone with pods/exec can read all of them without any `secrets` grant at all.\n\nSame is true of pods/portforward, and of `create` on pods — you can mount any Secret into a pod you create.
REAL-WORLD EXAMPLE: A financial services platform team passed an access review on the strength of 'nobody has get on secrets', while eleven engineers had pods/exec in the namespace holding the signing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Show that RBAC claims must be demonstrated, not described.
TIMING: 6 min
SPEAKER NOTES
Run these live with --as. Then make the point about the last one: `kubectl auth can-i` asks the API server, which is the same authorisation path a real request takes. It is not a simulation of the policy — it IS the policy.\n\nOn a locked-down cluster `--as` will fail because impersonation is itself a permission. Mention that; it is a control worth knowing about.
TIP: scripts/validate/simulate-rbac.py runs 28 of these assertions offline, in CI, with no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Name the failure modes explicitly before the lab.
TIMING: 5 min
SPEAKER NOTES
Row 2 is the one worth dwelling on — it is the difference between an access review that means something and one that produces a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Hands on identity and authorisation.
TIMING: 80 minutes
SPEAKER NOTES
L5.1 step 2 is the moment that lands — they use the stolen token against the API and get 403. Make sure nobody skips it.\n\nIn L5.2, watch for students who write the role and move on without running auth can-i. Send them back. The proof is the deliverable, not the YAML.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Open the packaging module.
TIMING: 70 min
SPEAKER NOTES
Be even-handed here. Helm is not obviously good — it adds a layer between the person and the object, and `helm template` becomes the only way to see what is applied. Present the trade honestly and the room will engage with it instead of either adopting it uncritically or dismissing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Demystify Helm before any syntax.
TIMING: 7 min
SPEAKER NOTES
The single most useful thing to say: Helm is not a controller. Nothing watches your chart. `helm upgrade` renders, diffs against the last stored release, and applies. Between commands Helm is not running at all.\n\nThe release being a Secret containing gzipped YAML has three consequences worth stating: rollback re-applies a stored copy rather than re-rendering from git; deleting that Secret loses your history; and Helm has no idea what happened to the cluster between your commands.
&gt;&gt; LIVE DEMO: kubectl get secret -n default -l owner=helm  → then decode one and show it is the rendered manifests.
ASK THE ROOM: If someone runs `kubectl scale` on a Helm-managed Deployment, what happens?
EXPECTED ANSWER: Nothing, until the next `helm upgrade` — which resets it. Except for HPA-managed workloads, where the chart deliberately omits `replicas` so the autoscaler keeps ownership.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Establish the render-first habit and show the chart validates itself.
TIMING: 6 min
SPEAKER NOTES
Installing a chart you have not rendered is applying YAML you have not read. Say it plainly.\n\nThe 94 assertions are worth a moment: they are this week's platform rules turned into tests. `helm lint` checks syntax; it has no opinion about whether your liveness probe points at the same endpoint as your readiness probe. That check had to be written.
&gt;&gt; LIVE DEMO: make helm-check — let it scroll.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Name the most common Helm chart defect and show the guard against it.
TIMING: 6 min
SPEAKER NOTES
Students break this on purpose in L5.3 step 7. Do not pre-empt the lab with the fix — let them cause the error and read it.\n\nThe deeper lesson is about latency between cause and symptom. A defect that surfaces on the second release with a different version is one nobody connects to the change that caused it. That is the class of bug worth building a test for, and it is why the assertion exists.
WARNING: In L5.3 the students deliberately introduce this. Make sure they restore _helpers.tpl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Show promotion as data rather than as a process.
TIMING: 6 min
SPEAKER NOTES
The green bar is the important line. Every relaxation in dev is stated with its trade — one replica because nobody depends on dev availability, no PDB because a PDB on one replica blocks every drain. But NetworkPolicy, Pod Security and token mounting are identical in all three.\n\nSay why: a policy you only enable in production is a policy you first test in production. Every NetworkPolicy bug shows up as an application failure that looks like something else. You want to meet those in dev, on a Tuesday, with one replica and no merchants.
ASK THE ROOM: Staging has a HIGHER rate limit than production. Why would you do that?
EXPECTED ANSWER: So load tests can actually run. It is a deliberate difference, written down — which is the whole point of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Orient students before the lab.
TIMING: 4 min
SPEAKER NOTES
values-prod fits Profile A at rest — 3380m against about 4500m schedulable. What does not fit is its autoscaler ceiling: payment-service at maxReplicas 20 requests 4000m on its own. Render it and read it; run the labs on values.yaml.\n\nvalues-slim states at the top of the file exactly which three labs stop working. Nobody should discover that mid-exercise.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Hands on packaging.
TIMING: 90 minutes
SPEAKER NOTES
Step 8 of L5.3 — the wedged release — is the one that transfers directly to their jobs. They should leave knowing that `--atomic` costs nothing and prevents the state where half the pods are one version and half cannot pull.\n\nWatch for students who skip `helm template` and go straight to install. Send them back; the habit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Open observability — the module that pays back the whole week.
TIMING: 65 min
SPEAKER NOTES
This is where Monday's correlation ID finally earns its place. Flag that now so students are listening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Give the path, and the failure mode at each hop.
TIMING: 7 min
SPEAKER NOTES
Prometheus PULLS. Nothing is pushed. That single fact explains most of its behaviour, including why a pod that dies between scrapes leaves a gap rather than an error.\n\nThe ServiceMonitor selecting the SERVICE rather than the pods is worth calling out: Prometheus discovers the endpoints behind it, so an unready pod is never scraped. You get readiness-gating for free, and a starting pod does not drag your averages around.\n\nThe red box is the ticket you will actually receive. Missing and down are completely different problems and people conflate them constantly.
&gt;&gt; LIVE DEMO: Remove the release label live, wait 45 seconds, show the target disappear, put it back.
ASK THE ROOM: A target is missing entirely from Status → Targets. Where do you look first?
EXPECTED ANSWER: The ServiceMonitor's labels. Missing means never selected — almost always the release label. Down would mean Prometheus tried and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Give the four signals with the reasoning that makes them usable.
TIMING: 9 min
SPEAKER NOTES
Run the average and the p99 side by side in Prometheus while the load generator is going. The average will look fine while the p99 does not. That picture does more than the explanation.\n\nOn buckets: a quantile estimated between two far-apart buckets is a guess. Ours are placed at 0.15, 0.2, 0.3, 0.5 precisely so the 300ms figure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Make the SLO concrete and show why PromQL needs testing.
TIMING: 6 min
SPEAKER NOTES
The last block matters more than it looks. A PromQL typo does not fail loudly — Prometheus accepts the rule, it evaluates to nothing, and the alert simply never fires. You find out during the incident it was written for.\n\nThat is why the repository parses all 47 expressions in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Land the single most transferable idea in the module.
TIMING: 5 min
SPEAKER NOTES
Ask the room how they would have detected it before showing the query. Let them work through 'is the pod up' and hit the wall themselves.\n\nThen scale loadgen to zero live and watch the panel fall to zero while everything else stays green. It is thirty seconds and it is the picture they will remember.
&gt;&gt; LIVE DEMO: kubectl scale deployment/loadgen -n axispay-ops --replicas=0, then watch the Payments-per-minute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Separate the two responsibilities cleanly.
TIMING: 7 min
SPEAKER NOTES
Confusing these two is why teams end up with alert rules containing team names and business hours.\n\nInhibition is the mechanism that makes an on-call rotation survivable. When payment-service has no ready endpoints, its error rate is also high and its latency is also bad — three pages for one fault. Without inhibition, one bad node produces eight pods' worth of pages and the person receiving them starts filtering the channel. That is the real failure.\n\nThe alert-sink is how we make routing provable. A route that matches too broadly looks identical to a correct one until the wrong team is paged at 03:00.
ASK THE ROOM: Why does `for: 5m` exist? Why not alert the moment the expression is true?
EXPECTED ANSWER: Because one slow scrape would page someone at 03:00. `for:` is what separates an alert from a notification.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Give the one rule that governs all Loki usage.
TIMING: 7 min
SPEAKER NOTES
Everything about how you use Loki follows from that one sentence. A query must start with a label selector; filtering on content is a scan; a high-cardinality label creates a stream per value and will fall over.\n\nDo the arithmetic out loud: correlation_id is unique per request. At 20 requests per second that is 1.7 million streams a day from ONE service. And the symptom is not 'the label is wrong' — it is Loki running out of memory and the log platform going down during the incident you needed it for.\n\nSame trap exists in Prometheus with labels like payment_id.
WARNING: The identical mistake in Prometheus is a label like merchant_id — 25 values today, 25,000 next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Deliver the callback that ties the week together.
TIMING: 6 min
SPEAKER NOTES
Do this live if the timing allows. Generate a payment, grab the header, paste the query into Grafana Explore.\n\nThen say the thing explicitly: on Monday they implemented a header for no visible reason, and today it is what turns 'seven services touched this payment' into a single sorted list with the slow one obvious. Design decisions pay back on a delay.
&gt;&gt; LIVE DEMO: POST a payment, read X-Correlation-Id from the response headers, query Loki.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Name the failure modes before the lab.
TIMING: 5 min
SPEAKER NOTES
Row 5 is demonstrated in L5.5 step 7 — they edit a dashboard, restart Grafana, and watch the change vanish. It is a cheap lesson and it sticks.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Hands on observability.
TIMING: 100 minutes
SPEAKER NOTES
The challenge in L5.5 is the best exercise of the day: write the approval-rate-per-acquirer alert, discover the acquirer label does not exist, and reason about whether adding it is safe. That is a real production conversation — and the answer for merchant_id is different from the answer for acquirer, which is the whole lesson about cardinality.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Set the frame for the assessment.
TIMING: 110 min
SPEAKER NOTES
Read the change request out loud, verbatim. The constraints are contractual and they are the assessment.\n\nRepeat the scoring rule one more time before they start: method over speed. Then say you will answer questions about tools and not about causes, and hold that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Give the constraints in the language the business would use.
TIMING: 4 min
SPEAKER NOTES
Note that none of these constraints mentions Kubernetes. That is accurate and deliberate — nobody outside the platform team describes an incident or a change in those terms, and translating between the two is the skill being assessed.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Make the assessment criteria explicit before it starts.
TIMING: 4 min
SPEAKER NOTES
Publishing the rubric before the exercise is deliberate. Nothing here is a trick, and students who know what is being measured behave more like engineers and less like exam candidates.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Give a fair warning without revealing which incident it applies to.
TIMING: 3 min
SPEAKER NOTES
This is a fair warning, not a hint. It names a principle rather than an incident, and students who internalise it will handle all three faults better — not just the one it applies to.\n\nDo not elaborate if asked which fault. 'You will know it when you see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Consolidate the arc of the whole course.
TIMING: 4 min
SPEAKER NOTES
Walk it left to right and name what each day added to the SAME application. Nothing was thrown away; nothing was a toy.\n\nEnd on the correlation ID: written on Monday for no visible reason, and on Friday it is what turns seven services into one sorted list. Design decisions pay back on a delay, and recognising which ones will is most of what seniority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Close the week on the number that matters.
TIMING: 3 min
SPEAKER NOTES
Run the ledger query live as the final act of the course:\n\nkubectl -n axispay-data exec postgres-0 -- psql -U axispay_app -d axispay -t -c 'SELECT SUM(amount_minor) FROM ledger_entries;'\n\nZero. That is the note to end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Be honest about scope and give a genuine next step.
TIMING: 4 min
SPEAKER NOTES
Do not oversell what a week can do. They can deploy, operate and troubleshoot a real platform — that is a lot, and it is not everything.\n\nThe cost bullet is the one most courses omit and most employers care about within a month.
TRANSITION: Course feedback, then certificates.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rot="1080000">
            <a:off x="7711135" y="-1463040"/>
            <a:ext cx="5852160" cy="5852160"/>
          </a:xfrm>
          <a:prstGeom prst="roundRect">
            <a:avLst>
              <a:gd name="adj" fmla="val 15625"/>
            </a:avLst>
          </a:prstGeom>
          <a:solidFill>
            <a:srgbClr val="12314F"/>
          </a:solidFill>
          <a:ln w="12700">
            <a:solidFill>
              <a:srgbClr val="12314F"/>
            </a:solidFill>
            <a:prstDash val="solid"/>
          </a:ln>
        </p:spPr>
      </p:sp>
      <p:sp>
        <p:nvSpPr>
          <p:cNvPr id="3" name="Shape 1"/>
          <p:cNvSpPr/>
          <p:nvPr/>
        </p:nvSpPr>
        <p:spPr>
          <a:xfrm>
            <a:off x="9357055" y="4114800"/>
            <a:ext cx="2011680" cy="2011680"/>
          </a:xfrm>
          <a:prstGeom prst="ellipse">
            <a:avLst/>
          </a:prstGeom>
          <a:solidFill>
            <a:srgbClr val="1C7293">
              <a:alpha val="45000"/>
            </a:srgbClr>
          </a:solidFill>
          <a:ln w="12700">
            <a:solidFill>
              <a:srgbClr val="1C7293">
                <a:alpha val="60000"/>
              </a:srgbClr>
            </a:solidFill>
            <a:prstDash val="solid"/>
          </a:ln>
        </p:spPr>
      </p:sp>
      <p:sp>
        <p:nvSpPr>
          <p:cNvPr id="4" name="Text 2"/>
          <p:cNvSpPr/>
          <p:nvPr/>
        </p:nvSpPr>
        <p:spPr>
          <a:xfrm>
            <a:off x="566928" y="1234440"/>
            <a:ext cx="7680960" cy="365760"/>
          </a:xfrm>
          <a:prstGeom prst="rect">
            <a:avLst/>
          </a:prstGeom>
          <a:noFill/>
          <a:ln/>
        </p:spPr>
        <p:txBody>
          <a:bodyPr wrap="square" lIns="0" tIns="0" rIns="0" bIns="0" rtlCol="0" anchor="ctr"/>
          <a:lstStyle/>
          <a:p>
            <a:pPr indent="0" marL="0">
              <a:buNone/>
            </a:pPr>
            <a:r>
              <a:rPr lang="en-US" sz="1400" b="1" spc="200" kern="0" dirty="0">
                <a:solidFill>
                  <a:srgbClr val="F2A03D"/>
                </a:solidFill>
                <a:latin typeface="Calibri" pitchFamily="34" charset="0"/>
                <a:ea typeface="Calibri" pitchFamily="34" charset="-122"/>
                <a:cs typeface="Calibri" pitchFamily="34" charset="-120"/>
              </a:rPr>
              <a:t>KUBERNETES COMPREHENSIVE · AXP-K8S-5D</a:t>
            </a:r>
            <a:endParaRPr lang="en-US" sz="1400" dirty="0"/>
          </a:p>
        </p:txBody>
      </p:sp>
      <p:sp>
        <p:nvSpPr>
          <p:cNvPr id="5" name="Text 3"/>
          <p:cNvSpPr/>
          <p:nvPr/>
        </p:nvSpPr>
        <p:spPr>
          <a:xfrm>
            <a:off x="566928" y="1737360"/>
            <a:ext cx="7680960" cy="1737360"/>
          </a:xfrm>
          <a:prstGeom prst="rect">
            <a:avLst/>
          </a:prstGeom>
          <a:noFill/>
          <a:ln/>
        </p:spPr>
        <p:txBody>
          <a:bodyPr wrap="square" lIns="0" tIns="0" rIns="0" bIns="0" rtlCol="0" anchor="ctr"/>
          <a:lstStyle/>
          <a:p>
            <a:pPr indent="0" marL="0">
              <a:lnSpc>
                <a:spcPts val="5000"/>
              </a:lnSpc>
              <a:buNone/>
            </a:pPr>
            <a:r>
              <a:rPr lang="en-US" sz="5000" b="1" dirty="0">
                <a:solidFill>
                  <a:srgbClr val="FFFFFF"/>
                </a:solidFill>
                <a:latin typeface="Cambria" pitchFamily="34" charset="0"/>
                <a:ea typeface="Cambria" pitchFamily="34" charset="-122"/>
                <a:cs typeface="Cambria" pitchFamily="34" charset="-120"/>
              </a:rPr>
              <a:t>Day 5</a:t>
            </a:r>
            <a:endParaRPr lang="en-US" sz="5000" dirty="0"/>
          </a:p>
          <a:p>
            <a:pPr indent="0" marL="0">
              <a:lnSpc>
                <a:spcPts val="5000"/>
              </a:lnSpc>
              <a:buNone/>
            </a:pPr>
            <a:r>
              <a:rPr lang="en-US" sz="5000" b="1" dirty="0">
                <a:solidFill>
                  <a:srgbClr val="FFFFFF"/>
                </a:solidFill>
                <a:latin typeface="Cambria" pitchFamily="34" charset="0"/>
                <a:ea typeface="Cambria" pitchFamily="34" charset="-122"/>
                <a:cs typeface="Cambria" pitchFamily="34" charset="-120"/>
              </a:rPr>
              <a:t>Security, Packaging &amp; Running It</a:t>
            </a:r>
            <a:endParaRPr lang="en-US" sz="5000" dirty="0"/>
          </a:p>
        </p:txBody>
      </p:sp>
      <p:sp>
        <p:nvSpPr>
          <p:cNvPr id="6" name="Text 4"/>
          <p:cNvSpPr/>
          <p:nvPr/>
        </p:nvSpPr>
        <p:spPr>
          <a:xfrm>
            <a:off x="566928" y="3520440"/>
            <a:ext cx="7315200" cy="868680"/>
          </a:xfrm>
          <a:prstGeom prst="rect">
            <a:avLst/>
          </a:prstGeom>
          <a:noFill/>
          <a:ln/>
        </p:spPr>
        <p:txBody>
          <a:bodyPr wrap="square" lIns="0" tIns="0" rIns="0" bIns="0" rtlCol="0" anchor="ctr"/>
          <a:lstStyle/>
          <a:p>
            <a:pPr indent="0" marL="0">
              <a:buNone/>
            </a:pPr>
            <a:r>
              <a:rPr lang="en-US" sz="1700" dirty="0">
                <a:solidFill>
                  <a:srgbClr val="D8E6F2"/>
                </a:solidFill>
                <a:latin typeface="Calibri" pitchFamily="34" charset="0"/>
                <a:ea typeface="Calibri" pitchFamily="34" charset="-122"/>
                <a:cs typeface="Calibri" pitchFamily="34" charset="-120"/>
              </a:rPr>
              <a:t>Everything you built this week, made operable. By 17:00 you will have upgraded a payment platform under live traffic while three faults are injected and nobody tells you what they are.</a:t>
            </a:r>
            <a:endParaRPr lang="en-US" sz="1700" dirty="0"/>
          </a:p>
        </p:txBody>
      </p:sp>
      <p:sp>
        <p:nvSpPr>
          <p:cNvPr id="7" name="Shape 5"/>
          <p:cNvSpPr/>
          <p:nvPr/>
        </p:nvSpPr>
        <p:spPr>
          <a:xfrm>
            <a:off x="566928" y="4709160"/>
            <a:ext cx="2148840" cy="749808"/>
          </a:xfrm>
          <a:prstGeom prst="roundRect">
            <a:avLst>
              <a:gd name="adj" fmla="val 12195"/>
            </a:avLst>
          </a:prstGeom>
          <a:solidFill>
            <a:srgbClr val="12314F"/>
          </a:solidFill>
          <a:ln w="12700">
            <a:solidFill>
              <a:srgbClr val="1B4066"/>
            </a:solidFill>
            <a:prstDash val="solid"/>
          </a:ln>
        </p:spPr>
      </p:sp>
      <p:sp>
        <p:nvSpPr>
          <p:cNvPr id="8" name="Text 6"/>
          <p:cNvSpPr/>
          <p:nvPr/>
        </p:nvSpPr>
        <p:spPr>
          <a:xfrm>
            <a:off x="566928" y="4773168"/>
            <a:ext cx="2148840" cy="274320"/>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DURATION</a:t>
            </a:r>
            <a:endParaRPr lang="en-US" sz="900" dirty="0"/>
          </a:p>
        </p:txBody>
      </p:sp>
      <p:sp>
        <p:nvSpPr>
          <p:cNvPr id="9" name="Text 7"/>
          <p:cNvSpPr/>
          <p:nvPr/>
        </p:nvSpPr>
        <p:spPr>
          <a:xfrm>
            <a:off x="566928" y="502920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 hours</a:t>
            </a:r>
            <a:endParaRPr lang="en-US" sz="1300" dirty="0"/>
          </a:p>
        </p:txBody>
      </p:sp>
      <p:sp>
        <p:nvSpPr>
          <p:cNvPr id="10" name="Shape 8"/>
          <p:cNvSpPr/>
          <p:nvPr/>
        </p:nvSpPr>
        <p:spPr>
          <a:xfrm>
            <a:off x="2898648" y="4709160"/>
            <a:ext cx="2148840" cy="749808"/>
          </a:xfrm>
          <a:prstGeom prst="roundRect">
            <a:avLst>
              <a:gd name="adj" fmla="val 12195"/>
            </a:avLst>
          </a:prstGeom>
          <a:solidFill>
            <a:srgbClr val="12314F"/>
          </a:solidFill>
          <a:ln w="12700">
            <a:solidFill>
              <a:srgbClr val="1B4066"/>
            </a:solidFill>
            <a:prstDash val="solid"/>
          </a:ln>
        </p:spPr>
      </p:sp>
      <p:sp>
        <p:nvSpPr>
          <p:cNvPr id="11" name="Text 9"/>
          <p:cNvSpPr/>
          <p:nvPr/>
        </p:nvSpPr>
        <p:spPr>
          <a:xfrm>
            <a:off x="2898648" y="4773168"/>
            <a:ext cx="2148840" cy="274320"/>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THEORY</a:t>
            </a:r>
            <a:endParaRPr lang="en-US" sz="900" dirty="0"/>
          </a:p>
        </p:txBody>
      </p:sp>
      <p:sp>
        <p:nvSpPr>
          <p:cNvPr id="12" name="Text 10"/>
          <p:cNvSpPr/>
          <p:nvPr/>
        </p:nvSpPr>
        <p:spPr>
          <a:xfrm>
            <a:off x="2898648" y="502920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215 min</a:t>
            </a:r>
            <a:endParaRPr lang="en-US" sz="1300" dirty="0"/>
          </a:p>
        </p:txBody>
      </p:sp>
      <p:sp>
        <p:nvSpPr>
          <p:cNvPr id="13" name="Shape 11"/>
          <p:cNvSpPr/>
          <p:nvPr/>
        </p:nvSpPr>
        <p:spPr>
          <a:xfrm>
            <a:off x="5230368" y="4709160"/>
            <a:ext cx="2148840" cy="749808"/>
          </a:xfrm>
          <a:prstGeom prst="roundRect">
            <a:avLst>
              <a:gd name="adj" fmla="val 12195"/>
            </a:avLst>
          </a:prstGeom>
          <a:solidFill>
            <a:srgbClr val="12314F"/>
          </a:solidFill>
          <a:ln w="12700">
            <a:solidFill>
              <a:srgbClr val="1B4066"/>
            </a:solidFill>
            <a:prstDash val="solid"/>
          </a:ln>
        </p:spPr>
      </p:sp>
      <p:sp>
        <p:nvSpPr>
          <p:cNvPr id="14" name="Text 12"/>
          <p:cNvSpPr/>
          <p:nvPr/>
        </p:nvSpPr>
        <p:spPr>
          <a:xfrm>
            <a:off x="5230368" y="4773168"/>
            <a:ext cx="2148840" cy="274320"/>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HANDS-ON</a:t>
            </a:r>
            <a:endParaRPr lang="en-US" sz="900" dirty="0"/>
          </a:p>
        </p:txBody>
      </p:sp>
      <p:sp>
        <p:nvSpPr>
          <p:cNvPr id="15" name="Text 13"/>
          <p:cNvSpPr/>
          <p:nvPr/>
        </p:nvSpPr>
        <p:spPr>
          <a:xfrm>
            <a:off x="5230368" y="502920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365 min</a:t>
            </a:r>
            <a:endParaRPr lang="en-US" sz="1300" dirty="0"/>
          </a:p>
        </p:txBody>
      </p:sp>
      <p:sp>
        <p:nvSpPr>
          <p:cNvPr id="16" name="Shape 14"/>
          <p:cNvSpPr/>
          <p:nvPr/>
        </p:nvSpPr>
        <p:spPr>
          <a:xfrm>
            <a:off x="7562088" y="4709160"/>
            <a:ext cx="2148840" cy="749808"/>
          </a:xfrm>
          <a:prstGeom prst="roundRect">
            <a:avLst>
              <a:gd name="adj" fmla="val 12195"/>
            </a:avLst>
          </a:prstGeom>
          <a:solidFill>
            <a:srgbClr val="12314F"/>
          </a:solidFill>
          <a:ln w="12700">
            <a:solidFill>
              <a:srgbClr val="1B4066"/>
            </a:solidFill>
            <a:prstDash val="solid"/>
          </a:ln>
        </p:spPr>
      </p:sp>
      <p:sp>
        <p:nvSpPr>
          <p:cNvPr id="17" name="Text 15"/>
          <p:cNvSpPr/>
          <p:nvPr/>
        </p:nvSpPr>
        <p:spPr>
          <a:xfrm>
            <a:off x="7562088" y="4773168"/>
            <a:ext cx="2148840" cy="274320"/>
          </a:xfrm>
          <a:prstGeom prst="rect">
            <a:avLst/>
          </a:prstGeom>
          <a:noFill/>
          <a:ln/>
        </p:spPr>
        <p:txBody>
          <a:bodyPr wrap="square" lIns="0" tIns="0" rIns="0" bIns="0" rtlCol="0" anchor="ctr"/>
          <a:lstStyle/>
          <a:p>
            <a:pPr algn="ctr" indent="0" marL="0">
              <a:buNone/>
            </a:pPr>
            <a:r>
              <a:rPr lang="en-US" sz="900" b="1" spc="100" kern="0" dirty="0">
                <a:solidFill>
                  <a:srgbClr val="F2A03D"/>
                </a:solidFill>
                <a:latin typeface="Calibri" pitchFamily="34" charset="0"/>
                <a:ea typeface="Calibri" pitchFamily="34" charset="-122"/>
                <a:cs typeface="Calibri" pitchFamily="34" charset="-120"/>
              </a:rPr>
              <a:t>LABS</a:t>
            </a:r>
            <a:endParaRPr lang="en-US" sz="900" dirty="0"/>
          </a:p>
        </p:txBody>
      </p:sp>
      <p:sp>
        <p:nvSpPr>
          <p:cNvPr id="18" name="Text 16"/>
          <p:cNvSpPr/>
          <p:nvPr/>
        </p:nvSpPr>
        <p:spPr>
          <a:xfrm>
            <a:off x="7562088" y="5029200"/>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 + capstone</a:t>
            </a:r>
            <a:endParaRPr lang="en-US" sz="1300" dirty="0"/>
          </a:p>
        </p:txBody>
      </p:sp>
      <p:sp>
        <p:nvSpPr>
          <p:cNvPr id="19" name="Text 17"/>
          <p:cNvSpPr/>
          <p:nvPr/>
        </p:nvSpPr>
        <p:spPr>
          <a:xfrm>
            <a:off x="566928" y="5943600"/>
            <a:ext cx="8229600" cy="274320"/>
          </a:xfrm>
          <a:prstGeom prst="rect">
            <a:avLst/>
          </a:prstGeom>
          <a:noFill/>
          <a:ln/>
        </p:spPr>
        <p:txBody>
          <a:bodyPr wrap="square" lIns="0" tIns="0" rIns="0" bIns="0" rtlCol="0" anchor="ctr"/>
          <a:lstStyle/>
          <a:p>
            <a:pPr indent="0" marL="0">
              <a:buNone/>
            </a:pPr>
            <a:r>
              <a:rPr lang="en-US" sz="1000" dirty="0">
                <a:solidFill>
                  <a:srgbClr val="63758B"/>
                </a:solidFill>
                <a:latin typeface="Calibri" pitchFamily="34" charset="0"/>
                <a:ea typeface="Calibri" pitchFamily="34" charset="-122"/>
                <a:cs typeface="Calibri" pitchFamily="34" charset="-120"/>
              </a:rPr>
              <a:t>Four days of building. Today it becomes something you could hand to an on-call rotation.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751076"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75107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MORNING RECAP</a:t>
            </a:r>
            <a:endParaRPr lang="en-US" sz="1100" dirty="0"/>
          </a:p>
        </p:txBody>
      </p:sp>
      <p:sp>
        <p:nvSpPr>
          <p:cNvPr id="4" name="Shape 2"/>
          <p:cNvSpPr/>
          <p:nvPr/>
        </p:nvSpPr>
        <p:spPr>
          <a:xfrm>
            <a:off x="566928" y="1143000"/>
            <a:ext cx="11057839" cy="2286000"/>
          </a:xfrm>
          <a:prstGeom prst="roundRect">
            <a:avLst>
              <a:gd name="adj" fmla="val 4800"/>
            </a:avLst>
          </a:prstGeom>
          <a:solidFill>
            <a:srgbClr val="12314F"/>
          </a:solidFill>
          <a:ln w="12700">
            <a:solidFill>
              <a:srgbClr val="F2A03D"/>
            </a:solidFill>
            <a:prstDash val="solid"/>
          </a:ln>
        </p:spPr>
      </p:sp>
      <p:sp>
        <p:nvSpPr>
          <p:cNvPr id="5" name="Text 3"/>
          <p:cNvSpPr/>
          <p:nvPr/>
        </p:nvSpPr>
        <p:spPr>
          <a:xfrm>
            <a:off x="841248" y="1143000"/>
            <a:ext cx="914400" cy="2286000"/>
          </a:xfrm>
          <a:prstGeom prst="rect">
            <a:avLst/>
          </a:prstGeom>
          <a:noFill/>
          <a:ln/>
        </p:spPr>
        <p:txBody>
          <a:bodyPr wrap="square" lIns="0" tIns="0" rIns="0" bIns="0" rtlCol="0" anchor="ctr"/>
          <a:lstStyle/>
          <a:p>
            <a:pPr algn="ctr" indent="0" marL="0">
              <a:buNone/>
            </a:pPr>
            <a:r>
              <a:rPr lang="en-US" sz="7400" b="1" dirty="0">
                <a:solidFill>
                  <a:srgbClr val="F2A03D"/>
                </a:solidFill>
                <a:latin typeface="Cambria" pitchFamily="34" charset="0"/>
                <a:ea typeface="Cambria" pitchFamily="34" charset="-122"/>
                <a:cs typeface="Cambria" pitchFamily="34" charset="-120"/>
              </a:rPr>
              <a:t>?</a:t>
            </a:r>
            <a:endParaRPr lang="en-US" sz="7400" dirty="0"/>
          </a:p>
        </p:txBody>
      </p:sp>
      <p:sp>
        <p:nvSpPr>
          <p:cNvPr id="6" name="Text 4"/>
          <p:cNvSpPr/>
          <p:nvPr/>
        </p:nvSpPr>
        <p:spPr>
          <a:xfrm>
            <a:off x="1892808" y="1143000"/>
            <a:ext cx="9320479" cy="2286000"/>
          </a:xfrm>
          <a:prstGeom prst="rect">
            <a:avLst/>
          </a:prstGeom>
          <a:noFill/>
          <a:ln/>
        </p:spPr>
        <p:txBody>
          <a:bodyPr wrap="square" lIns="0" tIns="0" rIns="0" bIns="0" rtlCol="0" anchor="ctr"/>
          <a:lstStyle/>
          <a:p>
            <a:pPr indent="0" marL="0">
              <a:lnSpc>
                <a:spcPts val="3200"/>
              </a:lnSpc>
              <a:buNone/>
            </a:pPr>
            <a:r>
              <a:rPr lang="en-US" sz="2500" b="1" dirty="0">
                <a:solidFill>
                  <a:srgbClr val="FFFFFF"/>
                </a:solidFill>
                <a:latin typeface="Cambria" pitchFamily="34" charset="0"/>
                <a:ea typeface="Cambria" pitchFamily="34" charset="-122"/>
                <a:cs typeface="Cambria" pitchFamily="34" charset="-120"/>
              </a:rPr>
              <a:t>Five from yesterday. Answer out loud, no notes.</a:t>
            </a:r>
            <a:endParaRPr lang="en-US" sz="2500" dirty="0"/>
          </a:p>
        </p:txBody>
      </p:sp>
      <p:sp>
        <p:nvSpPr>
          <p:cNvPr id="7" name="Text 5"/>
          <p:cNvSpPr/>
          <p:nvPr/>
        </p:nvSpPr>
        <p:spPr>
          <a:xfrm>
            <a:off x="566928" y="3630168"/>
            <a:ext cx="6400800" cy="274320"/>
          </a:xfrm>
          <a:prstGeom prst="rect">
            <a:avLst/>
          </a:prstGeom>
          <a:noFill/>
          <a:ln/>
        </p:spPr>
        <p:txBody>
          <a:bodyPr wrap="square" lIns="0" tIns="0" rIns="0" bIns="0" rtlCol="0" anchor="ctr"/>
          <a:lstStyle/>
          <a:p>
            <a:pPr indent="0" marL="0">
              <a:buNone/>
            </a:pPr>
            <a:r>
              <a:rPr lang="en-US" sz="1100" b="1" spc="100" kern="0" dirty="0">
                <a:solidFill>
                  <a:srgbClr val="F2A03D"/>
                </a:solidFill>
                <a:latin typeface="Calibri" pitchFamily="34" charset="0"/>
                <a:ea typeface="Calibri" pitchFamily="34" charset="-122"/>
                <a:cs typeface="Calibri" pitchFamily="34" charset="-120"/>
              </a:rPr>
              <a:t>Answers</a:t>
            </a:r>
            <a:endParaRPr lang="en-US" sz="1100" dirty="0"/>
          </a:p>
        </p:txBody>
      </p:sp>
      <p:sp>
        <p:nvSpPr>
          <p:cNvPr id="8" name="Text 6"/>
          <p:cNvSpPr/>
          <p:nvPr/>
        </p:nvSpPr>
        <p:spPr>
          <a:xfrm>
            <a:off x="640080" y="3922776"/>
            <a:ext cx="10966399" cy="2450592"/>
          </a:xfrm>
          <a:prstGeom prst="rect">
            <a:avLst/>
          </a:prstGeom>
          <a:noFill/>
          <a:ln/>
        </p:spPr>
        <p:txBody>
          <a:bodyPr wrap="square" lIns="0" tIns="0" rIns="0" bIns="0" rtlCol="0" anchor="t"/>
          <a:lstStyle/>
          <a:p>
            <a:pPr marL="342900" indent="-342900">
              <a:spcAft>
                <a:spcPts val="700"/>
              </a:spcAft>
              <a:buSzPct val="100000"/>
              <a:buChar char="•"/>
            </a:pPr>
            <a:r>
              <a:rPr lang="en-US" sz="1350" dirty="0">
                <a:solidFill>
                  <a:srgbClr val="D8E6F2"/>
                </a:solidFill>
                <a:latin typeface="Calibri" pitchFamily="34" charset="0"/>
                <a:ea typeface="Calibri" pitchFamily="34" charset="-122"/>
                <a:cs typeface="Calibri" pitchFamily="34" charset="-120"/>
              </a:rPr>
              <a:t>A pod with no NetworkPolicy selecting it — allowed or denied?  →  ALLOWED. Default-allow until selected.</a:t>
            </a:r>
            <a:endParaRPr lang="en-US" sz="1350" dirty="0"/>
          </a:p>
          <a:p>
            <a:pPr marL="342900" indent="-342900">
              <a:spcAft>
                <a:spcPts val="700"/>
              </a:spcAft>
              <a:buSzPct val="100000"/>
              <a:buChar char="•"/>
            </a:pPr>
            <a:r>
              <a:rPr lang="en-US" sz="1350" dirty="0">
                <a:solidFill>
                  <a:srgbClr val="D8E6F2"/>
                </a:solidFill>
                <a:latin typeface="Calibri" pitchFamily="34" charset="0"/>
                <a:ea typeface="Calibri" pitchFamily="34" charset="-122"/>
                <a:cs typeface="Calibri" pitchFamily="34" charset="-120"/>
              </a:rPr>
              <a:t>How do you write a deny rule?  →  You cannot. You select the pod and permit nothing.</a:t>
            </a:r>
            <a:endParaRPr lang="en-US" sz="1350" dirty="0"/>
          </a:p>
          <a:p>
            <a:pPr marL="342900" indent="-342900">
              <a:spcAft>
                <a:spcPts val="700"/>
              </a:spcAft>
              <a:buSzPct val="100000"/>
              <a:buChar char="•"/>
            </a:pPr>
            <a:r>
              <a:rPr lang="en-US" sz="1350" dirty="0">
                <a:solidFill>
                  <a:srgbClr val="D8E6F2"/>
                </a:solidFill>
                <a:latin typeface="Calibri" pitchFamily="34" charset="0"/>
                <a:ea typeface="Calibri" pitchFamily="34" charset="-122"/>
                <a:cs typeface="Calibri" pitchFamily="34" charset="-120"/>
              </a:rPr>
              <a:t>Default-deny breaks everything. Why?  →  DNS is egress traffic on port 53.</a:t>
            </a:r>
            <a:endParaRPr lang="en-US" sz="1350" dirty="0"/>
          </a:p>
          <a:p>
            <a:pPr marL="342900" indent="-342900">
              <a:spcAft>
                <a:spcPts val="700"/>
              </a:spcAft>
              <a:buSzPct val="100000"/>
              <a:buChar char="•"/>
            </a:pPr>
            <a:r>
              <a:rPr lang="en-US" sz="1350" dirty="0">
                <a:solidFill>
                  <a:srgbClr val="D8E6F2"/>
                </a:solidFill>
                <a:latin typeface="Calibri" pitchFamily="34" charset="0"/>
                <a:ea typeface="Calibri" pitchFamily="34" charset="-122"/>
                <a:cs typeface="Calibri" pitchFamily="34" charset="-120"/>
              </a:rPr>
              <a:t>404, 502, 503 from an Ingress — three different layers. Which?  →  routing, backend unreachable, no ready endpoints.</a:t>
            </a:r>
            <a:endParaRPr lang="en-US" sz="1350" dirty="0"/>
          </a:p>
          <a:p>
            <a:pPr marL="342900" indent="-342900">
              <a:spcAft>
                <a:spcPts val="700"/>
              </a:spcAft>
              <a:buSzPct val="100000"/>
              <a:buChar char="•"/>
            </a:pPr>
            <a:r>
              <a:rPr lang="en-US" sz="1350" dirty="0">
                <a:solidFill>
                  <a:srgbClr val="D8E6F2"/>
                </a:solidFill>
                <a:latin typeface="Calibri" pitchFamily="34" charset="0"/>
                <a:ea typeface="Calibri" pitchFamily="34" charset="-122"/>
                <a:cs typeface="Calibri" pitchFamily="34" charset="-120"/>
              </a:rPr>
              <a:t>A PDB protects you from a node catching fire?  →  No. Voluntary disruption only.</a:t>
            </a:r>
            <a:endParaRPr lang="en-US" sz="1350" dirty="0"/>
          </a:p>
        </p:txBody>
      </p:sp>
      <p:sp>
        <p:nvSpPr>
          <p:cNvPr id="9" name="Text 7"/>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10" name="Text 8"/>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005840"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0058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TODAY</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What is still missing, and what it costs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1874520"/>
          <a:ext cx="11057839" cy="914400"/>
        </p:xfrm>
        <a:graphic>
          <a:graphicData uri="http://schemas.openxmlformats.org/drawingml/2006/table">
            <a:tbl>
              <a:tblPr/>
              <a:tblGrid>
                <a:gridCol w="3657600"/>
                <a:gridCol w="5303520"/>
                <a:gridCol w="210312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Missing right now</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costs you</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Fixed in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Every pod carries an API token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One RCE yields a Kubernetes credential</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L5.1</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RBAC</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The auditor arriving Monday gets cluster-admin or nothing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L5.2</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107 YAML files applied by hand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 second environment is four days of work</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L5.3</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environment definition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Nobody can say how staging differs from production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L5.4</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metrics, no dashboards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The SLO is an opinion, not a number</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L5.5</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No logs, no alerts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Every incident this week was reported by a merchant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L5.6</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bl>
          </a:graphicData>
        </a:graphic>
      </p:graphicFrame>
      <p:sp>
        <p:nvSpPr>
          <p:cNvPr id="6" name="Text 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7" name="Text 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4000" b="1" dirty="0">
                <a:solidFill>
                  <a:srgbClr val="F2A03D"/>
                </a:solidFill>
                <a:latin typeface="Cambria" pitchFamily="34" charset="0"/>
                <a:ea typeface="Cambria" pitchFamily="34" charset="-122"/>
                <a:cs typeface="Cambria" pitchFamily="34" charset="-120"/>
              </a:rPr>
              <a:t>M5.1 – M5.2</a:t>
            </a:r>
            <a:endParaRPr lang="en-US" sz="40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Identity and least privilege</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Who is this pod, and what is it allowed to do — two separate questions</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why an unused ServiceAccount token is a liability</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Apply Pod Security Admission and read a rejection</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Build and PROVE least-privilege RBAC with kubectl auth can-i</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80 min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961388"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96138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M5.1 · IDENTITY</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credential nobody asked for</a:t>
            </a:r>
            <a:endParaRPr lang="en-US" sz="3200" dirty="0"/>
          </a:p>
        </p:txBody>
      </p:sp>
      <p:sp>
        <p:nvSpPr>
          <p:cNvPr id="5" name="Shape 3"/>
          <p:cNvSpPr/>
          <p:nvPr/>
        </p:nvSpPr>
        <p:spPr>
          <a:xfrm>
            <a:off x="685800" y="1874520"/>
            <a:ext cx="5120640" cy="3246120"/>
          </a:xfrm>
          <a:prstGeom prst="roundRect">
            <a:avLst>
              <a:gd name="adj" fmla="val 3380"/>
            </a:avLst>
          </a:prstGeom>
          <a:solidFill>
            <a:srgbClr val="12314F"/>
          </a:solidFill>
          <a:ln w="25400">
            <a:solidFill>
              <a:srgbClr val="D64545"/>
            </a:solidFill>
            <a:prstDash val="solid"/>
          </a:ln>
        </p:spPr>
      </p:sp>
      <p:sp>
        <p:nvSpPr>
          <p:cNvPr id="6" name="Text 4"/>
          <p:cNvSpPr/>
          <p:nvPr/>
        </p:nvSpPr>
        <p:spPr>
          <a:xfrm>
            <a:off x="685800" y="1938528"/>
            <a:ext cx="5120640" cy="310896"/>
          </a:xfrm>
          <a:prstGeom prst="rect">
            <a:avLst/>
          </a:prstGeom>
          <a:noFill/>
          <a:ln/>
        </p:spPr>
        <p:txBody>
          <a:bodyPr wrap="square" lIns="0" tIns="0" rIns="0" bIns="0" rtlCol="0" anchor="ctr"/>
          <a:lstStyle/>
          <a:p>
            <a:pPr algn="ctr" indent="0" marL="0">
              <a:buNone/>
            </a:pPr>
            <a:r>
              <a:rPr lang="en-US" sz="1200" b="1" dirty="0">
                <a:solidFill>
                  <a:srgbClr val="D64545"/>
                </a:solidFill>
                <a:latin typeface="Cambria" pitchFamily="34" charset="0"/>
                <a:ea typeface="Cambria" pitchFamily="34" charset="-122"/>
                <a:cs typeface="Cambria" pitchFamily="34" charset="-120"/>
              </a:rPr>
              <a:t>TODAY</a:t>
            </a:r>
            <a:endParaRPr lang="en-US" sz="1200" dirty="0"/>
          </a:p>
        </p:txBody>
      </p:sp>
      <p:sp>
        <p:nvSpPr>
          <p:cNvPr id="7" name="Shape 5"/>
          <p:cNvSpPr/>
          <p:nvPr/>
        </p:nvSpPr>
        <p:spPr>
          <a:xfrm>
            <a:off x="960120" y="2395728"/>
            <a:ext cx="2148840" cy="868680"/>
          </a:xfrm>
          <a:prstGeom prst="roundRect">
            <a:avLst>
              <a:gd name="adj" fmla="val 8421"/>
            </a:avLst>
          </a:prstGeom>
          <a:solidFill>
            <a:srgbClr val="1B4066"/>
          </a:solidFill>
          <a:ln w="12700">
            <a:solidFill>
              <a:srgbClr val="1B4066"/>
            </a:solidFill>
            <a:prstDash val="solid"/>
          </a:ln>
        </p:spPr>
      </p:sp>
      <p:sp>
        <p:nvSpPr>
          <p:cNvPr id="8" name="Text 6"/>
          <p:cNvSpPr/>
          <p:nvPr/>
        </p:nvSpPr>
        <p:spPr>
          <a:xfrm>
            <a:off x="1033272" y="2487168"/>
            <a:ext cx="2002536" cy="399593"/>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payment-service</a:t>
            </a:r>
            <a:endParaRPr lang="en-US" sz="1300" dirty="0"/>
          </a:p>
        </p:txBody>
      </p:sp>
      <p:sp>
        <p:nvSpPr>
          <p:cNvPr id="9" name="Text 7"/>
          <p:cNvSpPr/>
          <p:nvPr/>
        </p:nvSpPr>
        <p:spPr>
          <a:xfrm>
            <a:off x="1033272" y="2812694"/>
            <a:ext cx="2002536" cy="399593"/>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ServiceAccount: default</a:t>
            </a:r>
            <a:endParaRPr lang="en-US" sz="1000" dirty="0"/>
          </a:p>
        </p:txBody>
      </p:sp>
      <p:sp>
        <p:nvSpPr>
          <p:cNvPr id="10" name="Shape 8"/>
          <p:cNvSpPr/>
          <p:nvPr/>
        </p:nvSpPr>
        <p:spPr>
          <a:xfrm>
            <a:off x="960120" y="3474720"/>
            <a:ext cx="2148840" cy="868680"/>
          </a:xfrm>
          <a:prstGeom prst="roundRect">
            <a:avLst>
              <a:gd name="adj" fmla="val 8421"/>
            </a:avLst>
          </a:prstGeom>
          <a:solidFill>
            <a:srgbClr val="1B4066"/>
          </a:solidFill>
          <a:ln w="12700">
            <a:solidFill>
              <a:srgbClr val="1B4066"/>
            </a:solidFill>
            <a:prstDash val="solid"/>
          </a:ln>
        </p:spPr>
      </p:sp>
      <p:sp>
        <p:nvSpPr>
          <p:cNvPr id="11" name="Text 9"/>
          <p:cNvSpPr/>
          <p:nvPr/>
        </p:nvSpPr>
        <p:spPr>
          <a:xfrm>
            <a:off x="1033272" y="3566160"/>
            <a:ext cx="2002536" cy="399593"/>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fraud-service</a:t>
            </a:r>
            <a:endParaRPr lang="en-US" sz="1300" dirty="0"/>
          </a:p>
        </p:txBody>
      </p:sp>
      <p:sp>
        <p:nvSpPr>
          <p:cNvPr id="12" name="Text 10"/>
          <p:cNvSpPr/>
          <p:nvPr/>
        </p:nvSpPr>
        <p:spPr>
          <a:xfrm>
            <a:off x="1033272" y="3891686"/>
            <a:ext cx="2002536" cy="399593"/>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ServiceAccount: default</a:t>
            </a:r>
            <a:endParaRPr lang="en-US" sz="1000" dirty="0"/>
          </a:p>
        </p:txBody>
      </p:sp>
      <p:sp>
        <p:nvSpPr>
          <p:cNvPr id="13" name="Shape 11"/>
          <p:cNvSpPr/>
          <p:nvPr/>
        </p:nvSpPr>
        <p:spPr>
          <a:xfrm>
            <a:off x="3977640" y="2834640"/>
            <a:ext cx="1600200" cy="1234440"/>
          </a:xfrm>
          <a:prstGeom prst="roundRect">
            <a:avLst>
              <a:gd name="adj" fmla="val 5926"/>
            </a:avLst>
          </a:prstGeom>
          <a:solidFill>
            <a:srgbClr val="1C7293"/>
          </a:solidFill>
          <a:ln w="12700">
            <a:solidFill>
              <a:srgbClr val="1C7293"/>
            </a:solidFill>
            <a:prstDash val="solid"/>
          </a:ln>
        </p:spPr>
      </p:sp>
      <p:sp>
        <p:nvSpPr>
          <p:cNvPr id="14" name="Text 12"/>
          <p:cNvSpPr/>
          <p:nvPr/>
        </p:nvSpPr>
        <p:spPr>
          <a:xfrm>
            <a:off x="4050792" y="2834640"/>
            <a:ext cx="1453896" cy="123444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API</a:t>
            </a:r>
            <a:endParaRPr lang="en-US" sz="1300" dirty="0"/>
          </a:p>
          <a:p>
            <a:pPr algn="ctr" indent="0" marL="0">
              <a:buNone/>
            </a:pPr>
            <a:r>
              <a:rPr lang="en-US" sz="1300" b="1" dirty="0">
                <a:solidFill>
                  <a:srgbClr val="FFFFFF"/>
                </a:solidFill>
                <a:latin typeface="Cambria" pitchFamily="34" charset="0"/>
                <a:ea typeface="Cambria" pitchFamily="34" charset="-122"/>
                <a:cs typeface="Cambria" pitchFamily="34" charset="-120"/>
              </a:rPr>
              <a:t>server</a:t>
            </a:r>
            <a:endParaRPr lang="en-US" sz="1300" dirty="0"/>
          </a:p>
        </p:txBody>
      </p:sp>
      <p:sp>
        <p:nvSpPr>
          <p:cNvPr id="15" name="Shape 13"/>
          <p:cNvSpPr/>
          <p:nvPr/>
        </p:nvSpPr>
        <p:spPr>
          <a:xfrm>
            <a:off x="3154680" y="2834640"/>
            <a:ext cx="777240" cy="274320"/>
          </a:xfrm>
          <a:prstGeom prst="line">
            <a:avLst/>
          </a:prstGeom>
          <a:noFill/>
          <a:ln w="25400">
            <a:solidFill>
              <a:srgbClr val="D64545"/>
            </a:solidFill>
            <a:prstDash val="solid"/>
            <a:tailEnd type="triangle"/>
          </a:ln>
        </p:spPr>
      </p:sp>
      <p:sp>
        <p:nvSpPr>
          <p:cNvPr id="16" name="Shape 14"/>
          <p:cNvSpPr/>
          <p:nvPr/>
        </p:nvSpPr>
        <p:spPr>
          <a:xfrm>
            <a:off x="3154680" y="3913632"/>
            <a:ext cx="777240" cy="-502920"/>
          </a:xfrm>
          <a:prstGeom prst="line">
            <a:avLst/>
          </a:prstGeom>
          <a:noFill/>
          <a:ln w="25400">
            <a:solidFill>
              <a:srgbClr val="D64545"/>
            </a:solidFill>
            <a:prstDash val="solid"/>
            <a:tailEnd type="triangle"/>
          </a:ln>
        </p:spPr>
      </p:sp>
      <p:sp>
        <p:nvSpPr>
          <p:cNvPr id="17" name="Text 15"/>
          <p:cNvSpPr/>
          <p:nvPr/>
        </p:nvSpPr>
        <p:spPr>
          <a:xfrm>
            <a:off x="3108960" y="2450592"/>
            <a:ext cx="868680" cy="256032"/>
          </a:xfrm>
          <a:prstGeom prst="rect">
            <a:avLst/>
          </a:prstGeom>
          <a:noFill/>
          <a:ln/>
        </p:spPr>
        <p:txBody>
          <a:bodyPr wrap="square" lIns="0" tIns="0" rIns="0" bIns="0" rtlCol="0" anchor="ctr"/>
          <a:lstStyle/>
          <a:p>
            <a:pPr algn="ctr" indent="0" marL="0">
              <a:buNone/>
            </a:pPr>
            <a:r>
              <a:rPr lang="en-US" sz="950" b="1" dirty="0">
                <a:solidFill>
                  <a:srgbClr val="D64545"/>
                </a:solidFill>
                <a:latin typeface="Calibri" pitchFamily="34" charset="0"/>
                <a:ea typeface="Calibri" pitchFamily="34" charset="-122"/>
                <a:cs typeface="Calibri" pitchFamily="34" charset="-120"/>
              </a:rPr>
              <a:t>token</a:t>
            </a:r>
            <a:endParaRPr lang="en-US" sz="950" dirty="0"/>
          </a:p>
        </p:txBody>
      </p:sp>
      <p:sp>
        <p:nvSpPr>
          <p:cNvPr id="18" name="Text 16"/>
          <p:cNvSpPr/>
          <p:nvPr/>
        </p:nvSpPr>
        <p:spPr>
          <a:xfrm>
            <a:off x="3108960" y="4041648"/>
            <a:ext cx="868680" cy="256032"/>
          </a:xfrm>
          <a:prstGeom prst="rect">
            <a:avLst/>
          </a:prstGeom>
          <a:noFill/>
          <a:ln/>
        </p:spPr>
        <p:txBody>
          <a:bodyPr wrap="square" lIns="0" tIns="0" rIns="0" bIns="0" rtlCol="0" anchor="ctr"/>
          <a:lstStyle/>
          <a:p>
            <a:pPr algn="ctr" indent="0" marL="0">
              <a:buNone/>
            </a:pPr>
            <a:r>
              <a:rPr lang="en-US" sz="950" b="1" dirty="0">
                <a:solidFill>
                  <a:srgbClr val="D64545"/>
                </a:solidFill>
                <a:latin typeface="Calibri" pitchFamily="34" charset="0"/>
                <a:ea typeface="Calibri" pitchFamily="34" charset="-122"/>
                <a:cs typeface="Calibri" pitchFamily="34" charset="-120"/>
              </a:rPr>
              <a:t>token</a:t>
            </a:r>
            <a:endParaRPr lang="en-US" sz="950" dirty="0"/>
          </a:p>
        </p:txBody>
      </p:sp>
      <p:sp>
        <p:nvSpPr>
          <p:cNvPr id="19" name="Text 17"/>
          <p:cNvSpPr/>
          <p:nvPr/>
        </p:nvSpPr>
        <p:spPr>
          <a:xfrm>
            <a:off x="960120" y="4462272"/>
            <a:ext cx="4572000" cy="548640"/>
          </a:xfrm>
          <a:prstGeom prst="rect">
            <a:avLst/>
          </a:prstGeom>
          <a:noFill/>
          <a:ln/>
        </p:spPr>
        <p:txBody>
          <a:bodyPr wrap="square" lIns="0" tIns="0" rIns="0" bIns="0" rtlCol="0" anchor="ctr"/>
          <a:lstStyle/>
          <a:p>
            <a:pPr algn="ctr" indent="0" marL="0">
              <a:lnSpc>
                <a:spcPts val="1300"/>
              </a:lnSpc>
              <a:buNone/>
            </a:pPr>
            <a:r>
              <a:rPr lang="en-US" sz="1050" dirty="0">
                <a:solidFill>
                  <a:srgbClr val="D64545"/>
                </a:solidFill>
                <a:latin typeface="Calibri" pitchFamily="34" charset="0"/>
                <a:ea typeface="Calibri" pitchFamily="34" charset="-122"/>
                <a:cs typeface="Calibri" pitchFamily="34" charset="-120"/>
              </a:rPr>
              <a:t>403 = the credential was ACCEPTED, then denied.</a:t>
            </a:r>
            <a:endParaRPr lang="en-US" sz="1050" dirty="0"/>
          </a:p>
          <a:p>
            <a:pPr algn="ctr" indent="0" marL="0">
              <a:lnSpc>
                <a:spcPts val="1300"/>
              </a:lnSpc>
              <a:buNone/>
            </a:pPr>
            <a:r>
              <a:rPr lang="en-US" sz="1050" dirty="0">
                <a:solidFill>
                  <a:srgbClr val="D64545"/>
                </a:solidFill>
                <a:latin typeface="Calibri" pitchFamily="34" charset="0"/>
                <a:ea typeface="Calibri" pitchFamily="34" charset="-122"/>
                <a:cs typeface="Calibri" pitchFamily="34" charset="-120"/>
              </a:rPr>
              <a:t>Only RBAC stands between it and the cluster.</a:t>
            </a:r>
            <a:endParaRPr lang="en-US" sz="1050" dirty="0"/>
          </a:p>
        </p:txBody>
      </p:sp>
      <p:sp>
        <p:nvSpPr>
          <p:cNvPr id="20" name="Shape 18"/>
          <p:cNvSpPr/>
          <p:nvPr/>
        </p:nvSpPr>
        <p:spPr>
          <a:xfrm>
            <a:off x="6400800" y="1874520"/>
            <a:ext cx="5074920" cy="3246120"/>
          </a:xfrm>
          <a:prstGeom prst="roundRect">
            <a:avLst>
              <a:gd name="adj" fmla="val 3380"/>
            </a:avLst>
          </a:prstGeom>
          <a:solidFill>
            <a:srgbClr val="12314F"/>
          </a:solidFill>
          <a:ln w="25400">
            <a:solidFill>
              <a:srgbClr val="2E9E63"/>
            </a:solidFill>
            <a:prstDash val="solid"/>
          </a:ln>
        </p:spPr>
      </p:sp>
      <p:sp>
        <p:nvSpPr>
          <p:cNvPr id="21" name="Text 19"/>
          <p:cNvSpPr/>
          <p:nvPr/>
        </p:nvSpPr>
        <p:spPr>
          <a:xfrm>
            <a:off x="6400800" y="1938528"/>
            <a:ext cx="5074920" cy="310896"/>
          </a:xfrm>
          <a:prstGeom prst="rect">
            <a:avLst/>
          </a:prstGeom>
          <a:noFill/>
          <a:ln/>
        </p:spPr>
        <p:txBody>
          <a:bodyPr wrap="square" lIns="0" tIns="0" rIns="0" bIns="0" rtlCol="0" anchor="ctr"/>
          <a:lstStyle/>
          <a:p>
            <a:pPr algn="ctr" indent="0" marL="0">
              <a:buNone/>
            </a:pPr>
            <a:r>
              <a:rPr lang="en-US" sz="1200" b="1" dirty="0">
                <a:solidFill>
                  <a:srgbClr val="2E9E63"/>
                </a:solidFill>
                <a:latin typeface="Cambria" pitchFamily="34" charset="0"/>
                <a:ea typeface="Cambria" pitchFamily="34" charset="-122"/>
                <a:cs typeface="Cambria" pitchFamily="34" charset="-120"/>
              </a:rPr>
              <a:t>AFTER L5.1</a:t>
            </a:r>
            <a:endParaRPr lang="en-US" sz="1200" dirty="0"/>
          </a:p>
        </p:txBody>
      </p:sp>
      <p:sp>
        <p:nvSpPr>
          <p:cNvPr id="22" name="Shape 20"/>
          <p:cNvSpPr/>
          <p:nvPr/>
        </p:nvSpPr>
        <p:spPr>
          <a:xfrm>
            <a:off x="6675120" y="2395728"/>
            <a:ext cx="2148840" cy="868680"/>
          </a:xfrm>
          <a:prstGeom prst="roundRect">
            <a:avLst>
              <a:gd name="adj" fmla="val 8421"/>
            </a:avLst>
          </a:prstGeom>
          <a:solidFill>
            <a:srgbClr val="1B4066"/>
          </a:solidFill>
          <a:ln w="12700">
            <a:solidFill>
              <a:srgbClr val="1B4066"/>
            </a:solidFill>
            <a:prstDash val="solid"/>
          </a:ln>
        </p:spPr>
      </p:sp>
      <p:sp>
        <p:nvSpPr>
          <p:cNvPr id="23" name="Text 21"/>
          <p:cNvSpPr/>
          <p:nvPr/>
        </p:nvSpPr>
        <p:spPr>
          <a:xfrm>
            <a:off x="6748272" y="2487168"/>
            <a:ext cx="2002536" cy="399593"/>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payment-service</a:t>
            </a:r>
            <a:endParaRPr lang="en-US" sz="1300" dirty="0"/>
          </a:p>
        </p:txBody>
      </p:sp>
      <p:sp>
        <p:nvSpPr>
          <p:cNvPr id="24" name="Text 22"/>
          <p:cNvSpPr/>
          <p:nvPr/>
        </p:nvSpPr>
        <p:spPr>
          <a:xfrm>
            <a:off x="6748272" y="2812694"/>
            <a:ext cx="2002536" cy="399593"/>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own SA · NO token</a:t>
            </a:r>
            <a:endParaRPr lang="en-US" sz="1000" dirty="0"/>
          </a:p>
        </p:txBody>
      </p:sp>
      <p:sp>
        <p:nvSpPr>
          <p:cNvPr id="25" name="Shape 23"/>
          <p:cNvSpPr/>
          <p:nvPr/>
        </p:nvSpPr>
        <p:spPr>
          <a:xfrm>
            <a:off x="6675120" y="3474720"/>
            <a:ext cx="2148840" cy="868680"/>
          </a:xfrm>
          <a:prstGeom prst="roundRect">
            <a:avLst>
              <a:gd name="adj" fmla="val 8421"/>
            </a:avLst>
          </a:prstGeom>
          <a:solidFill>
            <a:srgbClr val="1B4066"/>
          </a:solidFill>
          <a:ln w="12700">
            <a:solidFill>
              <a:srgbClr val="1B4066"/>
            </a:solidFill>
            <a:prstDash val="solid"/>
          </a:ln>
        </p:spPr>
      </p:sp>
      <p:sp>
        <p:nvSpPr>
          <p:cNvPr id="26" name="Text 24"/>
          <p:cNvSpPr/>
          <p:nvPr/>
        </p:nvSpPr>
        <p:spPr>
          <a:xfrm>
            <a:off x="6748272" y="3566160"/>
            <a:ext cx="2002536" cy="399593"/>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node-agent</a:t>
            </a:r>
            <a:endParaRPr lang="en-US" sz="1300" dirty="0"/>
          </a:p>
        </p:txBody>
      </p:sp>
      <p:sp>
        <p:nvSpPr>
          <p:cNvPr id="27" name="Text 25"/>
          <p:cNvSpPr/>
          <p:nvPr/>
        </p:nvSpPr>
        <p:spPr>
          <a:xfrm>
            <a:off x="6748272" y="3891686"/>
            <a:ext cx="2002536" cy="399593"/>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own SA · token</a:t>
            </a:r>
            <a:endParaRPr lang="en-US" sz="1000" dirty="0"/>
          </a:p>
        </p:txBody>
      </p:sp>
      <p:sp>
        <p:nvSpPr>
          <p:cNvPr id="28" name="Shape 26"/>
          <p:cNvSpPr/>
          <p:nvPr/>
        </p:nvSpPr>
        <p:spPr>
          <a:xfrm>
            <a:off x="9692640" y="2834640"/>
            <a:ext cx="1508760" cy="1234440"/>
          </a:xfrm>
          <a:prstGeom prst="roundRect">
            <a:avLst>
              <a:gd name="adj" fmla="val 5926"/>
            </a:avLst>
          </a:prstGeom>
          <a:solidFill>
            <a:srgbClr val="1C7293"/>
          </a:solidFill>
          <a:ln w="12700">
            <a:solidFill>
              <a:srgbClr val="1C7293"/>
            </a:solidFill>
            <a:prstDash val="solid"/>
          </a:ln>
        </p:spPr>
      </p:sp>
      <p:sp>
        <p:nvSpPr>
          <p:cNvPr id="29" name="Text 27"/>
          <p:cNvSpPr/>
          <p:nvPr/>
        </p:nvSpPr>
        <p:spPr>
          <a:xfrm>
            <a:off x="9765792" y="2834640"/>
            <a:ext cx="1362456" cy="123444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API</a:t>
            </a:r>
            <a:endParaRPr lang="en-US" sz="1300" dirty="0"/>
          </a:p>
          <a:p>
            <a:pPr algn="ctr" indent="0" marL="0">
              <a:buNone/>
            </a:pPr>
            <a:r>
              <a:rPr lang="en-US" sz="1300" b="1" dirty="0">
                <a:solidFill>
                  <a:srgbClr val="FFFFFF"/>
                </a:solidFill>
                <a:latin typeface="Cambria" pitchFamily="34" charset="0"/>
                <a:ea typeface="Cambria" pitchFamily="34" charset="-122"/>
                <a:cs typeface="Cambria" pitchFamily="34" charset="-120"/>
              </a:rPr>
              <a:t>server</a:t>
            </a:r>
            <a:endParaRPr lang="en-US" sz="1300" dirty="0"/>
          </a:p>
        </p:txBody>
      </p:sp>
      <p:sp>
        <p:nvSpPr>
          <p:cNvPr id="30" name="Shape 28"/>
          <p:cNvSpPr/>
          <p:nvPr/>
        </p:nvSpPr>
        <p:spPr>
          <a:xfrm>
            <a:off x="8869680" y="2834640"/>
            <a:ext cx="777240" cy="274320"/>
          </a:xfrm>
          <a:prstGeom prst="line">
            <a:avLst/>
          </a:prstGeom>
          <a:noFill/>
          <a:ln w="25400">
            <a:solidFill>
              <a:srgbClr val="63758B"/>
            </a:solidFill>
            <a:prstDash val="dash"/>
            <a:tailEnd type="triangle"/>
          </a:ln>
        </p:spPr>
      </p:sp>
      <p:sp>
        <p:nvSpPr>
          <p:cNvPr id="31" name="Shape 29"/>
          <p:cNvSpPr/>
          <p:nvPr/>
        </p:nvSpPr>
        <p:spPr>
          <a:xfrm>
            <a:off x="8869680" y="3913632"/>
            <a:ext cx="777240" cy="-502920"/>
          </a:xfrm>
          <a:prstGeom prst="line">
            <a:avLst/>
          </a:prstGeom>
          <a:noFill/>
          <a:ln w="25400">
            <a:solidFill>
              <a:srgbClr val="2E9E63"/>
            </a:solidFill>
            <a:prstDash val="solid"/>
            <a:tailEnd type="triangle"/>
          </a:ln>
        </p:spPr>
      </p:sp>
      <p:sp>
        <p:nvSpPr>
          <p:cNvPr id="32" name="Text 30"/>
          <p:cNvSpPr/>
          <p:nvPr/>
        </p:nvSpPr>
        <p:spPr>
          <a:xfrm>
            <a:off x="8778240" y="2450592"/>
            <a:ext cx="960120" cy="256032"/>
          </a:xfrm>
          <a:prstGeom prst="rect">
            <a:avLst/>
          </a:prstGeom>
          <a:noFill/>
          <a:ln/>
        </p:spPr>
        <p:txBody>
          <a:bodyPr wrap="square" lIns="0" tIns="0" rIns="0" bIns="0" rtlCol="0" anchor="ctr"/>
          <a:lstStyle/>
          <a:p>
            <a:pPr algn="ctr" indent="0" marL="0">
              <a:buNone/>
            </a:pPr>
            <a:r>
              <a:rPr lang="en-US" sz="950" b="1" dirty="0">
                <a:solidFill>
                  <a:srgbClr val="63758B"/>
                </a:solidFill>
                <a:latin typeface="Calibri" pitchFamily="34" charset="0"/>
                <a:ea typeface="Calibri" pitchFamily="34" charset="-122"/>
                <a:cs typeface="Calibri" pitchFamily="34" charset="-120"/>
              </a:rPr>
              <a:t>nothing</a:t>
            </a:r>
            <a:endParaRPr lang="en-US" sz="950" dirty="0"/>
          </a:p>
        </p:txBody>
      </p:sp>
      <p:sp>
        <p:nvSpPr>
          <p:cNvPr id="33" name="Text 31"/>
          <p:cNvSpPr/>
          <p:nvPr/>
        </p:nvSpPr>
        <p:spPr>
          <a:xfrm>
            <a:off x="8732520" y="4041648"/>
            <a:ext cx="1051560" cy="256032"/>
          </a:xfrm>
          <a:prstGeom prst="rect">
            <a:avLst/>
          </a:prstGeom>
          <a:noFill/>
          <a:ln/>
        </p:spPr>
        <p:txBody>
          <a:bodyPr wrap="square" lIns="0" tIns="0" rIns="0" bIns="0" rtlCol="0" anchor="ctr"/>
          <a:lstStyle/>
          <a:p>
            <a:pPr algn="ctr" indent="0" marL="0">
              <a:buNone/>
            </a:pPr>
            <a:r>
              <a:rPr lang="en-US" sz="950" b="1" dirty="0">
                <a:solidFill>
                  <a:srgbClr val="2E9E63"/>
                </a:solidFill>
                <a:latin typeface="Calibri" pitchFamily="34" charset="0"/>
                <a:ea typeface="Calibri" pitchFamily="34" charset="-122"/>
                <a:cs typeface="Calibri" pitchFamily="34" charset="-120"/>
              </a:rPr>
              <a:t>lists nodes</a:t>
            </a:r>
            <a:endParaRPr lang="en-US" sz="950" dirty="0"/>
          </a:p>
        </p:txBody>
      </p:sp>
      <p:sp>
        <p:nvSpPr>
          <p:cNvPr id="34" name="Text 32"/>
          <p:cNvSpPr/>
          <p:nvPr/>
        </p:nvSpPr>
        <p:spPr>
          <a:xfrm>
            <a:off x="6675120" y="4462272"/>
            <a:ext cx="4572000" cy="548640"/>
          </a:xfrm>
          <a:prstGeom prst="rect">
            <a:avLst/>
          </a:prstGeom>
          <a:noFill/>
          <a:ln/>
        </p:spPr>
        <p:txBody>
          <a:bodyPr wrap="square" lIns="0" tIns="0" rIns="0" bIns="0" rtlCol="0" anchor="ctr"/>
          <a:lstStyle/>
          <a:p>
            <a:pPr algn="ctr" indent="0" marL="0">
              <a:lnSpc>
                <a:spcPts val="1300"/>
              </a:lnSpc>
              <a:buNone/>
            </a:pPr>
            <a:r>
              <a:rPr lang="en-US" sz="1050" dirty="0">
                <a:solidFill>
                  <a:srgbClr val="2E9E63"/>
                </a:solidFill>
                <a:latin typeface="Calibri" pitchFamily="34" charset="0"/>
                <a:ea typeface="Calibri" pitchFamily="34" charset="-122"/>
                <a:cs typeface="Calibri" pitchFamily="34" charset="-120"/>
              </a:rPr>
              <a:t>One exception, and the reason is written next to it.</a:t>
            </a:r>
            <a:endParaRPr lang="en-US" sz="1050" dirty="0"/>
          </a:p>
        </p:txBody>
      </p:sp>
      <p:sp>
        <p:nvSpPr>
          <p:cNvPr id="35" name="Text 33"/>
          <p:cNvSpPr/>
          <p:nvPr/>
        </p:nvSpPr>
        <p:spPr>
          <a:xfrm>
            <a:off x="566928" y="5779008"/>
            <a:ext cx="11057839" cy="457200"/>
          </a:xfrm>
          <a:prstGeom prst="rect">
            <a:avLst/>
          </a:prstGeom>
          <a:noFill/>
          <a:ln/>
        </p:spPr>
        <p:txBody>
          <a:bodyPr wrap="square" lIns="0" tIns="0" rIns="0" bIns="0" rtlCol="0" anchor="ctr"/>
          <a:lstStyle/>
          <a:p>
            <a:pPr algn="ctr" indent="0" marL="0">
              <a:buNone/>
            </a:pPr>
            <a:r>
              <a:rPr lang="en-US" sz="1500" b="1" dirty="0">
                <a:solidFill>
                  <a:srgbClr val="F2A03D"/>
                </a:solidFill>
                <a:latin typeface="Calibri" pitchFamily="34" charset="0"/>
                <a:ea typeface="Calibri" pitchFamily="34" charset="-122"/>
                <a:cs typeface="Calibri" pitchFamily="34" charset="-120"/>
              </a:rPr>
              <a:t>An unused credential grants nothing the application needs and everything an attacker wants.</a:t>
            </a:r>
            <a:endParaRPr lang="en-US" sz="1500" dirty="0"/>
          </a:p>
        </p:txBody>
      </p:sp>
      <p:sp>
        <p:nvSpPr>
          <p:cNvPr id="36" name="Text 3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37" name="Text 3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382012"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38201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M5.1 · POD SECURITY</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Three tiers, three modes, and the one combination that lets you migrate</a:t>
            </a:r>
            <a:endParaRPr lang="en-US" sz="3200" dirty="0"/>
          </a:p>
        </p:txBody>
      </p:sp>
      <p:sp>
        <p:nvSpPr>
          <p:cNvPr id="5" name="Shape 3"/>
          <p:cNvSpPr/>
          <p:nvPr/>
        </p:nvSpPr>
        <p:spPr>
          <a:xfrm>
            <a:off x="566928" y="1737360"/>
            <a:ext cx="11057839" cy="566928"/>
          </a:xfrm>
          <a:prstGeom prst="roundRect">
            <a:avLst>
              <a:gd name="adj" fmla="val 12903"/>
            </a:avLst>
          </a:prstGeom>
          <a:solidFill>
            <a:srgbClr val="EAF1F8"/>
          </a:solidFill>
          <a:ln w="12700">
            <a:solidFill>
              <a:srgbClr val="1C7293"/>
            </a:solidFill>
            <a:prstDash val="solid"/>
          </a:ln>
        </p:spPr>
      </p:sp>
      <p:sp>
        <p:nvSpPr>
          <p:cNvPr id="6" name="Text 4"/>
          <p:cNvSpPr/>
          <p:nvPr/>
        </p:nvSpPr>
        <p:spPr>
          <a:xfrm>
            <a:off x="768096" y="1737360"/>
            <a:ext cx="10655503" cy="566928"/>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Why does Pod Security Admission have `audit` and `warn` as well as `enforce`?</a:t>
            </a:r>
            <a:endParaRPr lang="en-US" sz="1500" dirty="0"/>
          </a:p>
        </p:txBody>
      </p:sp>
      <p:sp>
        <p:nvSpPr>
          <p:cNvPr id="7" name="Shape 5"/>
          <p:cNvSpPr/>
          <p:nvPr/>
        </p:nvSpPr>
        <p:spPr>
          <a:xfrm>
            <a:off x="566928" y="2627071"/>
            <a:ext cx="402336" cy="402336"/>
          </a:xfrm>
          <a:prstGeom prst="ellipse">
            <a:avLst/>
          </a:prstGeom>
          <a:solidFill>
            <a:srgbClr val="1C7293"/>
          </a:solidFill>
          <a:ln w="12700">
            <a:solidFill>
              <a:srgbClr val="1C7293"/>
            </a:solidFill>
            <a:prstDash val="solid"/>
          </a:ln>
        </p:spPr>
      </p:sp>
      <p:sp>
        <p:nvSpPr>
          <p:cNvPr id="8" name="Text 6"/>
          <p:cNvSpPr/>
          <p:nvPr/>
        </p:nvSpPr>
        <p:spPr>
          <a:xfrm>
            <a:off x="566928" y="2627071"/>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p:nvPr/>
        </p:nvSpPr>
        <p:spPr>
          <a:xfrm>
            <a:off x="1133856" y="2487168"/>
            <a:ext cx="3200400" cy="68214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privileged / baseline / restricted</a:t>
            </a:r>
            <a:endParaRPr lang="en-US" sz="1400" dirty="0"/>
          </a:p>
        </p:txBody>
      </p:sp>
      <p:sp>
        <p:nvSpPr>
          <p:cNvPr id="10" name="Text 8"/>
          <p:cNvSpPr/>
          <p:nvPr/>
        </p:nvSpPr>
        <p:spPr>
          <a:xfrm>
            <a:off x="4407408" y="2487168"/>
            <a:ext cx="7217359" cy="68214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Three cumulative standards. Privileged permits everything. Baseline blocks the well-known escalations — privileged containers, host namespaces, hostPath. Restricted additionally demands non-root, dropped capabilities, a seccomp profile and no privilege escalation.</a:t>
            </a:r>
            <a:endParaRPr lang="en-US" sz="1250" dirty="0"/>
          </a:p>
        </p:txBody>
      </p:sp>
      <p:sp>
        <p:nvSpPr>
          <p:cNvPr id="11" name="Shape 9"/>
          <p:cNvSpPr/>
          <p:nvPr/>
        </p:nvSpPr>
        <p:spPr>
          <a:xfrm>
            <a:off x="566928" y="3309214"/>
            <a:ext cx="402336" cy="402336"/>
          </a:xfrm>
          <a:prstGeom prst="ellipse">
            <a:avLst/>
          </a:prstGeom>
          <a:solidFill>
            <a:srgbClr val="D64545"/>
          </a:solidFill>
          <a:ln w="12700">
            <a:solidFill>
              <a:srgbClr val="D64545"/>
            </a:solidFill>
            <a:prstDash val="solid"/>
          </a:ln>
        </p:spPr>
      </p:sp>
      <p:sp>
        <p:nvSpPr>
          <p:cNvPr id="12" name="Text 10"/>
          <p:cNvSpPr/>
          <p:nvPr/>
        </p:nvSpPr>
        <p:spPr>
          <a:xfrm>
            <a:off x="566928" y="330921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1133856" y="3169310"/>
            <a:ext cx="3200400" cy="68214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enforce — the pod is REJECTED</a:t>
            </a:r>
            <a:endParaRPr lang="en-US" sz="1400" dirty="0"/>
          </a:p>
        </p:txBody>
      </p:sp>
      <p:sp>
        <p:nvSpPr>
          <p:cNvPr id="14" name="Text 12"/>
          <p:cNvSpPr/>
          <p:nvPr/>
        </p:nvSpPr>
        <p:spPr>
          <a:xfrm>
            <a:off x="4407408" y="3169310"/>
            <a:ext cx="7217359" cy="68214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Admission control. The object is never created. There is no CrashLoopBackOff to investigate and no window in which it ran.</a:t>
            </a:r>
            <a:endParaRPr lang="en-US" sz="1250" dirty="0"/>
          </a:p>
        </p:txBody>
      </p:sp>
      <p:sp>
        <p:nvSpPr>
          <p:cNvPr id="15" name="Shape 13"/>
          <p:cNvSpPr/>
          <p:nvPr/>
        </p:nvSpPr>
        <p:spPr>
          <a:xfrm>
            <a:off x="566928" y="3991356"/>
            <a:ext cx="402336" cy="402336"/>
          </a:xfrm>
          <a:prstGeom prst="ellipse">
            <a:avLst/>
          </a:prstGeom>
          <a:solidFill>
            <a:srgbClr val="C97B1E"/>
          </a:solidFill>
          <a:ln w="12700">
            <a:solidFill>
              <a:srgbClr val="C97B1E"/>
            </a:solidFill>
            <a:prstDash val="solid"/>
          </a:ln>
        </p:spPr>
      </p:sp>
      <p:sp>
        <p:nvSpPr>
          <p:cNvPr id="16" name="Text 14"/>
          <p:cNvSpPr/>
          <p:nvPr/>
        </p:nvSpPr>
        <p:spPr>
          <a:xfrm>
            <a:off x="566928" y="39913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p:nvPr/>
        </p:nvSpPr>
        <p:spPr>
          <a:xfrm>
            <a:off x="1133856" y="3851453"/>
            <a:ext cx="3200400" cy="68214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audit — written to the audit log</a:t>
            </a:r>
            <a:endParaRPr lang="en-US" sz="1400" dirty="0"/>
          </a:p>
        </p:txBody>
      </p:sp>
      <p:sp>
        <p:nvSpPr>
          <p:cNvPr id="18" name="Text 16"/>
          <p:cNvSpPr/>
          <p:nvPr/>
        </p:nvSpPr>
        <p:spPr>
          <a:xfrm>
            <a:off x="4407408" y="3851453"/>
            <a:ext cx="7217359" cy="68214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The pod is created. A record appears in the API server's audit log. Nobody is interrupted.</a:t>
            </a:r>
            <a:endParaRPr lang="en-US" sz="1250" dirty="0"/>
          </a:p>
        </p:txBody>
      </p:sp>
      <p:sp>
        <p:nvSpPr>
          <p:cNvPr id="19" name="Shape 17"/>
          <p:cNvSpPr/>
          <p:nvPr/>
        </p:nvSpPr>
        <p:spPr>
          <a:xfrm>
            <a:off x="566928" y="4673498"/>
            <a:ext cx="402336" cy="402336"/>
          </a:xfrm>
          <a:prstGeom prst="ellipse">
            <a:avLst/>
          </a:prstGeom>
          <a:solidFill>
            <a:srgbClr val="2E9E63"/>
          </a:solidFill>
          <a:ln w="12700">
            <a:solidFill>
              <a:srgbClr val="2E9E63"/>
            </a:solidFill>
            <a:prstDash val="solid"/>
          </a:ln>
        </p:spPr>
      </p:sp>
      <p:sp>
        <p:nvSpPr>
          <p:cNvPr id="20" name="Text 18"/>
          <p:cNvSpPr/>
          <p:nvPr/>
        </p:nvSpPr>
        <p:spPr>
          <a:xfrm>
            <a:off x="566928" y="467349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1" name="Text 19"/>
          <p:cNvSpPr/>
          <p:nvPr/>
        </p:nvSpPr>
        <p:spPr>
          <a:xfrm>
            <a:off x="1133856" y="4533595"/>
            <a:ext cx="3200400" cy="68214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warn — printed to the person applying</a:t>
            </a:r>
            <a:endParaRPr lang="en-US" sz="1400" dirty="0"/>
          </a:p>
        </p:txBody>
      </p:sp>
      <p:sp>
        <p:nvSpPr>
          <p:cNvPr id="22" name="Text 20"/>
          <p:cNvSpPr/>
          <p:nvPr/>
        </p:nvSpPr>
        <p:spPr>
          <a:xfrm>
            <a:off x="4407408" y="4533595"/>
            <a:ext cx="7217359" cy="68214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The pod is created and whoever ran kubectl sees a warning immediately. This is the one that changes behaviour, because it reaches a human at the moment they can act.</a:t>
            </a:r>
            <a:endParaRPr lang="en-US" sz="1250" dirty="0"/>
          </a:p>
        </p:txBody>
      </p:sp>
      <p:sp>
        <p:nvSpPr>
          <p:cNvPr id="23" name="Shape 21"/>
          <p:cNvSpPr/>
          <p:nvPr/>
        </p:nvSpPr>
        <p:spPr>
          <a:xfrm>
            <a:off x="566928" y="5355641"/>
            <a:ext cx="402336" cy="402336"/>
          </a:xfrm>
          <a:prstGeom prst="ellipse">
            <a:avLst/>
          </a:prstGeom>
          <a:solidFill>
            <a:srgbClr val="8E6FBF"/>
          </a:solidFill>
          <a:ln w="12700">
            <a:solidFill>
              <a:srgbClr val="8E6FBF"/>
            </a:solidFill>
            <a:prstDash val="solid"/>
          </a:ln>
        </p:spPr>
      </p:sp>
      <p:sp>
        <p:nvSpPr>
          <p:cNvPr id="24" name="Text 22"/>
          <p:cNvSpPr/>
          <p:nvPr/>
        </p:nvSpPr>
        <p:spPr>
          <a:xfrm>
            <a:off x="566928" y="5355641"/>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5" name="Text 23"/>
          <p:cNvSpPr/>
          <p:nvPr/>
        </p:nvSpPr>
        <p:spPr>
          <a:xfrm>
            <a:off x="1133856" y="5215738"/>
            <a:ext cx="3200400" cy="682142"/>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The migration path</a:t>
            </a:r>
            <a:endParaRPr lang="en-US" sz="1400" dirty="0"/>
          </a:p>
        </p:txBody>
      </p:sp>
      <p:sp>
        <p:nvSpPr>
          <p:cNvPr id="26" name="Text 24"/>
          <p:cNvSpPr/>
          <p:nvPr/>
        </p:nvSpPr>
        <p:spPr>
          <a:xfrm>
            <a:off x="4407408" y="5215738"/>
            <a:ext cx="7217359" cy="682142"/>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Set `enforce` to what you can meet today and `warn`+`audit` to where you intend to be. The warnings tell you how far you have to go. Skipping this is how teams break production trying to become compliant.</a:t>
            </a:r>
            <a:endParaRPr lang="en-US" sz="1250" dirty="0"/>
          </a:p>
        </p:txBody>
      </p:sp>
      <p:sp>
        <p:nvSpPr>
          <p:cNvPr id="27" name="Text 25"/>
          <p:cNvSpPr/>
          <p:nvPr/>
        </p:nvSpPr>
        <p:spPr>
          <a:xfrm>
            <a:off x="566928" y="5687568"/>
            <a:ext cx="11057839" cy="548640"/>
          </a:xfrm>
          <a:prstGeom prst="rect">
            <a:avLst/>
          </a:prstGeom>
          <a:noFill/>
          <a:ln/>
        </p:spPr>
        <p:txBody>
          <a:bodyPr wrap="square" lIns="0" tIns="0" rIns="0" bIns="0"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axispay-data enforces baseline and warns at restricted. That gap is a to-do list, not an oversight.</a:t>
            </a:r>
            <a:endParaRPr lang="en-US" sz="1400" dirty="0"/>
          </a:p>
        </p:txBody>
      </p:sp>
      <p:sp>
        <p:nvSpPr>
          <p:cNvPr id="28" name="Text 2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29" name="Text 2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59232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59232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M5.1 · WORKED EXAMPLE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a rejection actually looks like</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F2A03D"/>
                </a:solidFill>
                <a:latin typeface="Calibri" pitchFamily="34" charset="0"/>
                <a:ea typeface="Calibri" pitchFamily="34" charset="-122"/>
                <a:cs typeface="Calibri" pitchFamily="34" charset="-120"/>
              </a:rPr>
              <a:t>Real output. Note that it names every rule broken at once, not just the first.</a:t>
            </a:r>
            <a:endParaRPr lang="en-US" sz="1400" dirty="0"/>
          </a:p>
        </p:txBody>
      </p:sp>
      <p:sp>
        <p:nvSpPr>
          <p:cNvPr id="6" name="Shape 4"/>
          <p:cNvSpPr/>
          <p:nvPr/>
        </p:nvSpPr>
        <p:spPr>
          <a:xfrm>
            <a:off x="566928" y="2249424"/>
            <a:ext cx="11057839" cy="3364230"/>
          </a:xfrm>
          <a:prstGeom prst="roundRect">
            <a:avLst>
              <a:gd name="adj" fmla="val 2174"/>
            </a:avLst>
          </a:prstGeom>
          <a:solidFill>
            <a:srgbClr val="0E2740"/>
          </a:solidFill>
          <a:ln w="12700">
            <a:solidFill>
              <a:srgbClr val="1B4066"/>
            </a:solidFill>
            <a:prstDash val="solid"/>
          </a:ln>
        </p:spPr>
      </p:sp>
      <p:sp>
        <p:nvSpPr>
          <p:cNvPr id="7" name="Shape 5"/>
          <p:cNvSpPr/>
          <p:nvPr/>
        </p:nvSpPr>
        <p:spPr>
          <a:xfrm>
            <a:off x="768096" y="2404872"/>
            <a:ext cx="118872" cy="118872"/>
          </a:xfrm>
          <a:prstGeom prst="ellipse">
            <a:avLst/>
          </a:prstGeom>
          <a:solidFill>
            <a:srgbClr val="D64545"/>
          </a:solidFill>
          <a:ln w="12700">
            <a:solidFill>
              <a:srgbClr val="D64545"/>
            </a:solidFill>
            <a:prstDash val="solid"/>
          </a:ln>
        </p:spPr>
      </p:sp>
      <p:sp>
        <p:nvSpPr>
          <p:cNvPr id="8" name="Shape 6"/>
          <p:cNvSpPr/>
          <p:nvPr/>
        </p:nvSpPr>
        <p:spPr>
          <a:xfrm>
            <a:off x="987552" y="2404872"/>
            <a:ext cx="118872" cy="118872"/>
          </a:xfrm>
          <a:prstGeom prst="ellipse">
            <a:avLst/>
          </a:prstGeom>
          <a:solidFill>
            <a:srgbClr val="F2A03D"/>
          </a:solidFill>
          <a:ln w="12700">
            <a:solidFill>
              <a:srgbClr val="F2A03D"/>
            </a:solidFill>
            <a:prstDash val="solid"/>
          </a:ln>
        </p:spPr>
      </p:sp>
      <p:sp>
        <p:nvSpPr>
          <p:cNvPr id="9" name="Shape 7"/>
          <p:cNvSpPr/>
          <p:nvPr/>
        </p:nvSpPr>
        <p:spPr>
          <a:xfrm>
            <a:off x="1207008" y="2404872"/>
            <a:ext cx="118872" cy="118872"/>
          </a:xfrm>
          <a:prstGeom prst="ellipse">
            <a:avLst/>
          </a:prstGeom>
          <a:solidFill>
            <a:srgbClr val="2E9E63"/>
          </a:solidFill>
          <a:ln w="12700">
            <a:solidFill>
              <a:srgbClr val="2E9E63"/>
            </a:solidFill>
            <a:prstDash val="solid"/>
          </a:ln>
        </p:spPr>
      </p:sp>
      <p:sp>
        <p:nvSpPr>
          <p:cNvPr id="10" name="Text 8"/>
          <p:cNvSpPr/>
          <p:nvPr/>
        </p:nvSpPr>
        <p:spPr>
          <a:xfrm>
            <a:off x="804672" y="2706624"/>
            <a:ext cx="10600639" cy="2724150"/>
          </a:xfrm>
          <a:prstGeom prst="rect">
            <a:avLst/>
          </a:prstGeom>
          <a:noFill/>
          <a:ln/>
        </p:spPr>
        <p:txBody>
          <a:bodyPr wrap="square" lIns="0" tIns="0" rIns="0" bIns="0" rtlCol="0" anchor="t"/>
          <a:lstStyle/>
          <a:p>
            <a:pPr indent="0" marL="0">
              <a:lnSpc>
                <a:spcPts val="1650"/>
              </a:lnSpc>
              <a:buNone/>
            </a:pPr>
            <a:r>
              <a:rPr lang="en-US" sz="1100" b="1" dirty="0">
                <a:solidFill>
                  <a:srgbClr val="F2A03D"/>
                </a:solidFill>
                <a:latin typeface="Courier New" pitchFamily="34" charset="0"/>
                <a:ea typeface="Courier New" pitchFamily="34" charset="-122"/>
                <a:cs typeface="Courier New" pitchFamily="34" charset="-120"/>
              </a:rPr>
              <a:t>$ kubectl run pci-violation -n axispay-core --image=busybox:1.37 \</a:t>
            </a:r>
            <a:endParaRPr lang="en-US" sz="1100" dirty="0"/>
          </a:p>
          <a:p>
            <a:pPr indent="0" marL="0">
              <a:lnSpc>
                <a:spcPts val="1650"/>
              </a:lnSpc>
              <a:buNone/>
            </a:pPr>
            <a:r>
              <a:rPr lang="en-US" sz="1100" b="1" dirty="0">
                <a:solidFill>
                  <a:srgbClr val="F2A03D"/>
                </a:solidFill>
                <a:latin typeface="Courier New" pitchFamily="34" charset="0"/>
                <a:ea typeface="Courier New" pitchFamily="34" charset="-122"/>
                <a:cs typeface="Courier New" pitchFamily="34" charset="-120"/>
              </a:rPr>
              <a:t>    --overrides='{"spec":{"containers":[{"name":"x",</a:t>
            </a:r>
            <a:endParaRPr lang="en-US" sz="1100" dirty="0"/>
          </a:p>
          <a:p>
            <a:pPr indent="0" marL="0">
              <a:lnSpc>
                <a:spcPts val="1650"/>
              </a:lnSpc>
              <a:buNone/>
            </a:pPr>
            <a:r>
              <a:rPr lang="en-US" sz="1100" b="1" dirty="0">
                <a:solidFill>
                  <a:srgbClr val="F2A03D"/>
                </a:solidFill>
                <a:latin typeface="Courier New" pitchFamily="34" charset="0"/>
                <a:ea typeface="Courier New" pitchFamily="34" charset="-122"/>
                <a:cs typeface="Courier New" pitchFamily="34" charset="-120"/>
              </a:rPr>
              <a:t>      "securityContext":{"privileged":true,"runAsUser":0}}]}}'</a:t>
            </a:r>
            <a:endParaRPr lang="en-US" sz="1100" dirty="0"/>
          </a:p>
          <a:p>
            <a:pPr indent="0" marL="0">
              <a:lnSpc>
                <a:spcPts val="1650"/>
              </a:lnSpc>
              <a:buNone/>
            </a:pPr>
            <a:r>
              <a:rPr lang="en-US" sz="1100" dirty="0">
                <a:solidFill>
                  <a:srgbClr val="D8E6F2"/>
                </a:solidFill>
                <a:latin typeface="Courier New" pitchFamily="34" charset="0"/>
                <a:ea typeface="Courier New" pitchFamily="34" charset="-122"/>
                <a:cs typeface="Courier New" pitchFamily="34" charset="-120"/>
              </a:rPr>
              <a:t> </a:t>
            </a:r>
            <a:endParaRPr lang="en-US" sz="1100" dirty="0"/>
          </a:p>
          <a:p>
            <a:pPr indent="0" marL="0">
              <a:lnSpc>
                <a:spcPts val="1650"/>
              </a:lnSpc>
              <a:buNone/>
            </a:pPr>
            <a:r>
              <a:rPr lang="en-US" sz="1100" dirty="0">
                <a:solidFill>
                  <a:srgbClr val="D64545"/>
                </a:solidFill>
                <a:latin typeface="Courier New" pitchFamily="34" charset="0"/>
                <a:ea typeface="Courier New" pitchFamily="34" charset="-122"/>
                <a:cs typeface="Courier New" pitchFamily="34" charset="-120"/>
              </a:rPr>
              <a:t>Error from server (Forbidden): pods "pci-violation" is forbidden:</a:t>
            </a:r>
            <a:endParaRPr lang="en-US" sz="1100" dirty="0"/>
          </a:p>
          <a:p>
            <a:pPr indent="0" marL="0">
              <a:lnSpc>
                <a:spcPts val="1650"/>
              </a:lnSpc>
              <a:buNone/>
            </a:pPr>
            <a:r>
              <a:rPr lang="en-US" sz="1100" dirty="0">
                <a:solidFill>
                  <a:srgbClr val="D64545"/>
                </a:solidFill>
                <a:latin typeface="Courier New" pitchFamily="34" charset="0"/>
                <a:ea typeface="Courier New" pitchFamily="34" charset="-122"/>
                <a:cs typeface="Courier New" pitchFamily="34" charset="-120"/>
              </a:rPr>
              <a:t>violates PodSecurity "restricted:latest": privileged (container "x"</a:t>
            </a:r>
            <a:endParaRPr lang="en-US" sz="1100" dirty="0"/>
          </a:p>
          <a:p>
            <a:pPr indent="0" marL="0">
              <a:lnSpc>
                <a:spcPts val="1650"/>
              </a:lnSpc>
              <a:buNone/>
            </a:pPr>
            <a:r>
              <a:rPr lang="en-US" sz="1100" dirty="0">
                <a:solidFill>
                  <a:srgbClr val="D64545"/>
                </a:solidFill>
                <a:latin typeface="Courier New" pitchFamily="34" charset="0"/>
                <a:ea typeface="Courier New" pitchFamily="34" charset="-122"/>
                <a:cs typeface="Courier New" pitchFamily="34" charset="-120"/>
              </a:rPr>
              <a:t>must not set securityContext.privileged=true), allowPrivilegeEscalation</a:t>
            </a:r>
            <a:endParaRPr lang="en-US" sz="1100" dirty="0"/>
          </a:p>
          <a:p>
            <a:pPr indent="0" marL="0">
              <a:lnSpc>
                <a:spcPts val="1650"/>
              </a:lnSpc>
              <a:buNone/>
            </a:pPr>
            <a:r>
              <a:rPr lang="en-US" sz="1100" dirty="0">
                <a:solidFill>
                  <a:srgbClr val="D64545"/>
                </a:solidFill>
                <a:latin typeface="Courier New" pitchFamily="34" charset="0"/>
                <a:ea typeface="Courier New" pitchFamily="34" charset="-122"/>
                <a:cs typeface="Courier New" pitchFamily="34" charset="-120"/>
              </a:rPr>
              <a:t>!= false, unrestricted capabilities, runAsNonRoot != true, seccompProfile</a:t>
            </a:r>
            <a:endParaRPr lang="en-US" sz="1100" dirty="0"/>
          </a:p>
          <a:p>
            <a:pPr indent="0" marL="0">
              <a:lnSpc>
                <a:spcPts val="1650"/>
              </a:lnSpc>
              <a:buNone/>
            </a:pPr>
            <a:r>
              <a:rPr lang="en-US" sz="1100" dirty="0">
                <a:solidFill>
                  <a:srgbClr val="D8E6F2"/>
                </a:solidFill>
                <a:latin typeface="Courier New" pitchFamily="34" charset="0"/>
                <a:ea typeface="Courier New" pitchFamily="34" charset="-122"/>
                <a:cs typeface="Courier New" pitchFamily="34" charset="-120"/>
              </a:rPr>
              <a:t> </a:t>
            </a:r>
            <a:endParaRPr lang="en-US" sz="1100" dirty="0"/>
          </a:p>
          <a:p>
            <a:pPr indent="0" marL="0">
              <a:lnSpc>
                <a:spcPts val="1650"/>
              </a:lnSpc>
              <a:buNone/>
            </a:pPr>
            <a:r>
              <a:rPr lang="en-US" sz="1100" dirty="0">
                <a:solidFill>
                  <a:srgbClr val="63758B"/>
                </a:solidFill>
                <a:latin typeface="Courier New" pitchFamily="34" charset="0"/>
                <a:ea typeface="Courier New" pitchFamily="34" charset="-122"/>
                <a:cs typeface="Courier New" pitchFamily="34" charset="-120"/>
              </a:rPr>
              <a:t># and in axispay-data, which enforces baseline but warns at restricted:</a:t>
            </a:r>
            <a:endParaRPr lang="en-US" sz="1100" dirty="0"/>
          </a:p>
          <a:p>
            <a:pPr indent="0" marL="0">
              <a:lnSpc>
                <a:spcPts val="1650"/>
              </a:lnSpc>
              <a:buNone/>
            </a:pPr>
            <a:r>
              <a:rPr lang="en-US" sz="1100" b="1" dirty="0">
                <a:solidFill>
                  <a:srgbClr val="F2A03D"/>
                </a:solidFill>
                <a:latin typeface="Courier New" pitchFamily="34" charset="0"/>
                <a:ea typeface="Courier New" pitchFamily="34" charset="-122"/>
                <a:cs typeface="Courier New" pitchFamily="34" charset="-120"/>
              </a:rPr>
              <a:t>$ kubectl run legacy-tool -n axispay-data --image=busybox:1.37 ...</a:t>
            </a:r>
            <a:endParaRPr lang="en-US" sz="1100" dirty="0"/>
          </a:p>
          <a:p>
            <a:pPr indent="0" marL="0">
              <a:lnSpc>
                <a:spcPts val="1650"/>
              </a:lnSpc>
              <a:buNone/>
            </a:pPr>
            <a:r>
              <a:rPr lang="en-US" sz="1100" dirty="0">
                <a:solidFill>
                  <a:srgbClr val="D8E6F2"/>
                </a:solidFill>
                <a:latin typeface="Courier New" pitchFamily="34" charset="0"/>
                <a:ea typeface="Courier New" pitchFamily="34" charset="-122"/>
                <a:cs typeface="Courier New" pitchFamily="34" charset="-120"/>
              </a:rPr>
              <a:t>Warning: would violate "restricted:latest": runAsNonRoot != true</a:t>
            </a:r>
            <a:endParaRPr lang="en-US" sz="1100" dirty="0"/>
          </a:p>
          <a:p>
            <a:pPr indent="0" marL="0">
              <a:lnSpc>
                <a:spcPts val="1650"/>
              </a:lnSpc>
              <a:buNone/>
            </a:pPr>
            <a:r>
              <a:rPr lang="en-US" sz="1100" dirty="0">
                <a:solidFill>
                  <a:srgbClr val="2E9E63"/>
                </a:solidFill>
                <a:latin typeface="Courier New" pitchFamily="34" charset="0"/>
                <a:ea typeface="Courier New" pitchFamily="34" charset="-122"/>
                <a:cs typeface="Courier New" pitchFamily="34" charset="-120"/>
              </a:rPr>
              <a:t>pod/legacy-tool created</a:t>
            </a:r>
            <a:endParaRPr lang="en-US" sz="1100" dirty="0"/>
          </a:p>
        </p:txBody>
      </p:sp>
      <p:sp>
        <p:nvSpPr>
          <p:cNvPr id="11" name="Text 9"/>
          <p:cNvSpPr/>
          <p:nvPr/>
        </p:nvSpPr>
        <p:spPr>
          <a:xfrm>
            <a:off x="566928" y="5778246"/>
            <a:ext cx="11057839" cy="457200"/>
          </a:xfrm>
          <a:prstGeom prst="rect">
            <a:avLst/>
          </a:prstGeom>
          <a:noFill/>
          <a:ln/>
        </p:spPr>
        <p:txBody>
          <a:bodyPr wrap="square" lIns="0" tIns="0" rIns="0" bIns="0" rtlCol="0" anchor="ctr"/>
          <a:lstStyle/>
          <a:p>
            <a:pPr indent="0" marL="0">
              <a:buNone/>
            </a:pPr>
            <a:r>
              <a:rPr lang="en-US" sz="1300" i="1" dirty="0">
                <a:solidFill>
                  <a:srgbClr val="D8E6F2"/>
                </a:solidFill>
                <a:latin typeface="Calibri" pitchFamily="34" charset="0"/>
                <a:ea typeface="Calibri" pitchFamily="34" charset="-122"/>
                <a:cs typeface="Calibri" pitchFamily="34" charset="-120"/>
              </a:rPr>
              <a:t>One is refused. The other is created with a warning. Same standard, different mode.</a:t>
            </a:r>
            <a:endParaRPr lang="en-US" sz="1300" dirty="0"/>
          </a:p>
        </p:txBody>
      </p:sp>
      <p:sp>
        <p:nvSpPr>
          <p:cNvPr id="12" name="Text 10"/>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13" name="Text 11"/>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54076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54076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M5.2 · RBAC</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Four objects, and the combination nobody teaches</a:t>
            </a:r>
            <a:endParaRPr lang="en-US" sz="3200" dirty="0"/>
          </a:p>
        </p:txBody>
      </p:sp>
      <p:sp>
        <p:nvSpPr>
          <p:cNvPr id="5" name="Text 3"/>
          <p:cNvSpPr/>
          <p:nvPr/>
        </p:nvSpPr>
        <p:spPr>
          <a:xfrm>
            <a:off x="685800" y="2148840"/>
            <a:ext cx="1965960" cy="1600200"/>
          </a:xfrm>
          <a:prstGeom prst="rect">
            <a:avLst/>
          </a:prstGeom>
          <a:noFill/>
          <a:ln/>
        </p:spPr>
        <p:txBody>
          <a:bodyPr wrap="square" lIns="0" tIns="0" rIns="0" bIns="0" rtlCol="0" anchor="ctr"/>
          <a:lstStyle/>
          <a:p>
            <a:pPr algn="r" indent="0" marL="0">
              <a:buNone/>
            </a:pPr>
            <a:r>
              <a:rPr lang="en-US" sz="1300" b="1" dirty="0">
                <a:solidFill>
                  <a:srgbClr val="0B1F3A"/>
                </a:solidFill>
                <a:latin typeface="Cambria" pitchFamily="34" charset="0"/>
                <a:ea typeface="Cambria" pitchFamily="34" charset="-122"/>
                <a:cs typeface="Cambria" pitchFamily="34" charset="-120"/>
              </a:rPr>
              <a:t>Role</a:t>
            </a:r>
            <a:endParaRPr lang="en-US" sz="1300" dirty="0"/>
          </a:p>
          <a:p>
            <a:pPr algn="r" indent="0" marL="0">
              <a:buNone/>
            </a:pPr>
            <a:r>
              <a:rPr lang="en-US" sz="1300" b="1" dirty="0">
                <a:solidFill>
                  <a:srgbClr val="0B1F3A"/>
                </a:solidFill>
                <a:latin typeface="Cambria" pitchFamily="34" charset="0"/>
                <a:ea typeface="Cambria" pitchFamily="34" charset="-122"/>
                <a:cs typeface="Cambria" pitchFamily="34" charset="-120"/>
              </a:rPr>
              <a:t>(one namespace)</a:t>
            </a:r>
            <a:endParaRPr lang="en-US" sz="1300" dirty="0"/>
          </a:p>
        </p:txBody>
      </p:sp>
      <p:sp>
        <p:nvSpPr>
          <p:cNvPr id="6" name="Text 4"/>
          <p:cNvSpPr/>
          <p:nvPr/>
        </p:nvSpPr>
        <p:spPr>
          <a:xfrm>
            <a:off x="685800" y="3931920"/>
            <a:ext cx="1965960" cy="1600200"/>
          </a:xfrm>
          <a:prstGeom prst="rect">
            <a:avLst/>
          </a:prstGeom>
          <a:noFill/>
          <a:ln/>
        </p:spPr>
        <p:txBody>
          <a:bodyPr wrap="square" lIns="0" tIns="0" rIns="0" bIns="0" rtlCol="0" anchor="ctr"/>
          <a:lstStyle/>
          <a:p>
            <a:pPr algn="r" indent="0" marL="0">
              <a:buNone/>
            </a:pPr>
            <a:r>
              <a:rPr lang="en-US" sz="1300" b="1" dirty="0">
                <a:solidFill>
                  <a:srgbClr val="0B1F3A"/>
                </a:solidFill>
                <a:latin typeface="Cambria" pitchFamily="34" charset="0"/>
                <a:ea typeface="Cambria" pitchFamily="34" charset="-122"/>
                <a:cs typeface="Cambria" pitchFamily="34" charset="-120"/>
              </a:rPr>
              <a:t>ClusterRole</a:t>
            </a:r>
            <a:endParaRPr lang="en-US" sz="1300" dirty="0"/>
          </a:p>
          <a:p>
            <a:pPr algn="r" indent="0" marL="0">
              <a:buNone/>
            </a:pPr>
            <a:r>
              <a:rPr lang="en-US" sz="1300" b="1" dirty="0">
                <a:solidFill>
                  <a:srgbClr val="0B1F3A"/>
                </a:solidFill>
                <a:latin typeface="Cambria" pitchFamily="34" charset="0"/>
                <a:ea typeface="Cambria" pitchFamily="34" charset="-122"/>
                <a:cs typeface="Cambria" pitchFamily="34" charset="-120"/>
              </a:rPr>
              <a:t>(cluster-wide)</a:t>
            </a:r>
            <a:endParaRPr lang="en-US" sz="1300" dirty="0"/>
          </a:p>
        </p:txBody>
      </p:sp>
      <p:sp>
        <p:nvSpPr>
          <p:cNvPr id="7" name="Text 5"/>
          <p:cNvSpPr/>
          <p:nvPr/>
        </p:nvSpPr>
        <p:spPr>
          <a:xfrm>
            <a:off x="2788920" y="1691640"/>
            <a:ext cx="4160520" cy="384048"/>
          </a:xfrm>
          <a:prstGeom prst="rect">
            <a:avLst/>
          </a:prstGeom>
          <a:noFill/>
          <a:ln/>
        </p:spPr>
        <p:txBody>
          <a:bodyPr wrap="square" lIns="0" tIns="0" rIns="0" bIns="0" rtlCol="0" anchor="ctr"/>
          <a:lstStyle/>
          <a:p>
            <a:pPr algn="ctr" indent="0" marL="0">
              <a:buNone/>
            </a:pPr>
            <a:r>
              <a:rPr lang="en-US" sz="1300" b="1" dirty="0">
                <a:solidFill>
                  <a:srgbClr val="1C7293"/>
                </a:solidFill>
                <a:latin typeface="Cambria" pitchFamily="34" charset="0"/>
                <a:ea typeface="Cambria" pitchFamily="34" charset="-122"/>
                <a:cs typeface="Cambria" pitchFamily="34" charset="-120"/>
              </a:rPr>
              <a:t>+ RoleBinding</a:t>
            </a:r>
            <a:endParaRPr lang="en-US" sz="1300" dirty="0"/>
          </a:p>
        </p:txBody>
      </p:sp>
      <p:sp>
        <p:nvSpPr>
          <p:cNvPr id="8" name="Text 6"/>
          <p:cNvSpPr/>
          <p:nvPr/>
        </p:nvSpPr>
        <p:spPr>
          <a:xfrm>
            <a:off x="7132320" y="1691640"/>
            <a:ext cx="4160520" cy="384048"/>
          </a:xfrm>
          <a:prstGeom prst="rect">
            <a:avLst/>
          </a:prstGeom>
          <a:noFill/>
          <a:ln/>
        </p:spPr>
        <p:txBody>
          <a:bodyPr wrap="square" lIns="0" tIns="0" rIns="0" bIns="0" rtlCol="0" anchor="ctr"/>
          <a:lstStyle/>
          <a:p>
            <a:pPr algn="ctr" indent="0" marL="0">
              <a:buNone/>
            </a:pPr>
            <a:r>
              <a:rPr lang="en-US" sz="1300" b="1" dirty="0">
                <a:solidFill>
                  <a:srgbClr val="1C7293"/>
                </a:solidFill>
                <a:latin typeface="Cambria" pitchFamily="34" charset="0"/>
                <a:ea typeface="Cambria" pitchFamily="34" charset="-122"/>
                <a:cs typeface="Cambria" pitchFamily="34" charset="-120"/>
              </a:rPr>
              <a:t>+ ClusterRoleBinding</a:t>
            </a:r>
            <a:endParaRPr lang="en-US" sz="1300" dirty="0"/>
          </a:p>
        </p:txBody>
      </p:sp>
      <p:sp>
        <p:nvSpPr>
          <p:cNvPr id="9" name="Shape 7"/>
          <p:cNvSpPr/>
          <p:nvPr/>
        </p:nvSpPr>
        <p:spPr>
          <a:xfrm>
            <a:off x="2788920" y="2148840"/>
            <a:ext cx="4160520" cy="1600200"/>
          </a:xfrm>
          <a:prstGeom prst="roundRect">
            <a:avLst>
              <a:gd name="adj" fmla="val 5714"/>
            </a:avLst>
          </a:prstGeom>
          <a:solidFill>
            <a:srgbClr val="1B4066"/>
          </a:solidFill>
          <a:ln w="12700">
            <a:solidFill>
              <a:srgbClr val="1B4066"/>
            </a:solidFill>
            <a:prstDash val="solid"/>
          </a:ln>
        </p:spPr>
      </p:sp>
      <p:sp>
        <p:nvSpPr>
          <p:cNvPr id="10" name="Text 8"/>
          <p:cNvSpPr/>
          <p:nvPr/>
        </p:nvSpPr>
        <p:spPr>
          <a:xfrm>
            <a:off x="2926080" y="2276856"/>
            <a:ext cx="3886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Works</a:t>
            </a:r>
            <a:endParaRPr lang="en-US" sz="1400" dirty="0"/>
          </a:p>
        </p:txBody>
      </p:sp>
      <p:sp>
        <p:nvSpPr>
          <p:cNvPr id="11" name="Text 9"/>
          <p:cNvSpPr/>
          <p:nvPr/>
        </p:nvSpPr>
        <p:spPr>
          <a:xfrm>
            <a:off x="2926080" y="2734056"/>
            <a:ext cx="3886200" cy="886968"/>
          </a:xfrm>
          <a:prstGeom prst="rect">
            <a:avLst/>
          </a:prstGeom>
          <a:noFill/>
          <a:ln/>
        </p:spPr>
        <p:txBody>
          <a:bodyPr wrap="square" lIns="0" tIns="0" rIns="0" bIns="0" rtlCol="0" anchor="t"/>
          <a:lstStyle/>
          <a:p>
            <a:pPr algn="ctr" indent="0" marL="0">
              <a:lnSpc>
                <a:spcPts val="1400"/>
              </a:lnSpc>
              <a:buNone/>
            </a:pPr>
            <a:r>
              <a:rPr lang="en-US" sz="1100" dirty="0">
                <a:solidFill>
                  <a:srgbClr val="F7F9FC"/>
                </a:solidFill>
                <a:latin typeface="Calibri" pitchFamily="34" charset="0"/>
                <a:ea typeface="Calibri" pitchFamily="34" charset="-122"/>
                <a:cs typeface="Calibri" pitchFamily="34" charset="-120"/>
              </a:rPr>
              <a:t>Permissions apply in that one namespace.</a:t>
            </a:r>
            <a:endParaRPr lang="en-US" sz="1100" dirty="0"/>
          </a:p>
          <a:p>
            <a:pPr algn="ctr" indent="0" marL="0">
              <a:lnSpc>
                <a:spcPts val="1400"/>
              </a:lnSpc>
              <a:buNone/>
            </a:pPr>
            <a:r>
              <a:rPr lang="en-US" sz="1100" dirty="0">
                <a:solidFill>
                  <a:srgbClr val="F7F9FC"/>
                </a:solidFill>
                <a:latin typeface="Calibri" pitchFamily="34" charset="0"/>
                <a:ea typeface="Calibri" pitchFamily="34" charset="-122"/>
                <a:cs typeface="Calibri" pitchFamily="34" charset="-120"/>
              </a:rPr>
              <a:t>The ordinary case.</a:t>
            </a:r>
            <a:endParaRPr lang="en-US" sz="1100" dirty="0"/>
          </a:p>
        </p:txBody>
      </p:sp>
      <p:sp>
        <p:nvSpPr>
          <p:cNvPr id="12" name="Shape 10"/>
          <p:cNvSpPr/>
          <p:nvPr/>
        </p:nvSpPr>
        <p:spPr>
          <a:xfrm>
            <a:off x="7132320" y="2148840"/>
            <a:ext cx="4160520" cy="1600200"/>
          </a:xfrm>
          <a:prstGeom prst="roundRect">
            <a:avLst>
              <a:gd name="adj" fmla="val 5714"/>
            </a:avLst>
          </a:prstGeom>
          <a:solidFill>
            <a:srgbClr val="63758B"/>
          </a:solidFill>
          <a:ln w="12700">
            <a:solidFill>
              <a:srgbClr val="63758B"/>
            </a:solidFill>
            <a:prstDash val="solid"/>
          </a:ln>
        </p:spPr>
      </p:sp>
      <p:sp>
        <p:nvSpPr>
          <p:cNvPr id="13" name="Text 11"/>
          <p:cNvSpPr/>
          <p:nvPr/>
        </p:nvSpPr>
        <p:spPr>
          <a:xfrm>
            <a:off x="7269480" y="2276856"/>
            <a:ext cx="3886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Does not work</a:t>
            </a:r>
            <a:endParaRPr lang="en-US" sz="1400" dirty="0"/>
          </a:p>
        </p:txBody>
      </p:sp>
      <p:sp>
        <p:nvSpPr>
          <p:cNvPr id="14" name="Text 12"/>
          <p:cNvSpPr/>
          <p:nvPr/>
        </p:nvSpPr>
        <p:spPr>
          <a:xfrm>
            <a:off x="7269480" y="2734056"/>
            <a:ext cx="3886200" cy="886968"/>
          </a:xfrm>
          <a:prstGeom prst="rect">
            <a:avLst/>
          </a:prstGeom>
          <a:noFill/>
          <a:ln/>
        </p:spPr>
        <p:txBody>
          <a:bodyPr wrap="square" lIns="0" tIns="0" rIns="0" bIns="0" rtlCol="0" anchor="t"/>
          <a:lstStyle/>
          <a:p>
            <a:pPr algn="ctr" indent="0" marL="0">
              <a:lnSpc>
                <a:spcPts val="1400"/>
              </a:lnSpc>
              <a:buNone/>
            </a:pPr>
            <a:r>
              <a:rPr lang="en-US" sz="1100" dirty="0">
                <a:solidFill>
                  <a:srgbClr val="F7F9FC"/>
                </a:solidFill>
                <a:latin typeface="Calibri" pitchFamily="34" charset="0"/>
                <a:ea typeface="Calibri" pitchFamily="34" charset="-122"/>
                <a:cs typeface="Calibri" pitchFamily="34" charset="-120"/>
              </a:rPr>
              <a:t>A ClusterRoleBinding cannot reference a</a:t>
            </a:r>
            <a:endParaRPr lang="en-US" sz="1100" dirty="0"/>
          </a:p>
          <a:p>
            <a:pPr algn="ctr" indent="0" marL="0">
              <a:lnSpc>
                <a:spcPts val="1400"/>
              </a:lnSpc>
              <a:buNone/>
            </a:pPr>
            <a:r>
              <a:rPr lang="en-US" sz="1100" dirty="0">
                <a:solidFill>
                  <a:srgbClr val="F7F9FC"/>
                </a:solidFill>
                <a:latin typeface="Calibri" pitchFamily="34" charset="0"/>
                <a:ea typeface="Calibri" pitchFamily="34" charset="-122"/>
                <a:cs typeface="Calibri" pitchFamily="34" charset="-120"/>
              </a:rPr>
              <a:t>namespaced Role. The API rejects it.</a:t>
            </a:r>
            <a:endParaRPr lang="en-US" sz="1100" dirty="0"/>
          </a:p>
        </p:txBody>
      </p:sp>
      <p:sp>
        <p:nvSpPr>
          <p:cNvPr id="15" name="Shape 13"/>
          <p:cNvSpPr/>
          <p:nvPr/>
        </p:nvSpPr>
        <p:spPr>
          <a:xfrm>
            <a:off x="2788920" y="3931920"/>
            <a:ext cx="4160520" cy="1600200"/>
          </a:xfrm>
          <a:prstGeom prst="roundRect">
            <a:avLst>
              <a:gd name="adj" fmla="val 5714"/>
            </a:avLst>
          </a:prstGeom>
          <a:solidFill>
            <a:srgbClr val="1C7293"/>
          </a:solidFill>
          <a:ln w="31750">
            <a:solidFill>
              <a:srgbClr val="F2A03D"/>
            </a:solidFill>
            <a:prstDash val="solid"/>
          </a:ln>
        </p:spPr>
      </p:sp>
      <p:sp>
        <p:nvSpPr>
          <p:cNvPr id="16" name="Text 14"/>
          <p:cNvSpPr/>
          <p:nvPr/>
        </p:nvSpPr>
        <p:spPr>
          <a:xfrm>
            <a:off x="2926080" y="4059936"/>
            <a:ext cx="3886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THE USEFUL ONE</a:t>
            </a:r>
            <a:endParaRPr lang="en-US" sz="1400" dirty="0"/>
          </a:p>
        </p:txBody>
      </p:sp>
      <p:sp>
        <p:nvSpPr>
          <p:cNvPr id="17" name="Text 15"/>
          <p:cNvSpPr/>
          <p:nvPr/>
        </p:nvSpPr>
        <p:spPr>
          <a:xfrm>
            <a:off x="2926080" y="4517136"/>
            <a:ext cx="3886200" cy="886968"/>
          </a:xfrm>
          <a:prstGeom prst="rect">
            <a:avLst/>
          </a:prstGeom>
          <a:noFill/>
          <a:ln/>
        </p:spPr>
        <p:txBody>
          <a:bodyPr wrap="square" lIns="0" tIns="0" rIns="0" bIns="0" rtlCol="0" anchor="t"/>
          <a:lstStyle/>
          <a:p>
            <a:pPr algn="ctr" indent="0" marL="0">
              <a:lnSpc>
                <a:spcPts val="1400"/>
              </a:lnSpc>
              <a:buNone/>
            </a:pPr>
            <a:r>
              <a:rPr lang="en-US" sz="1100" dirty="0">
                <a:solidFill>
                  <a:srgbClr val="F7F9FC"/>
                </a:solidFill>
                <a:latin typeface="Calibri" pitchFamily="34" charset="0"/>
                <a:ea typeface="Calibri" pitchFamily="34" charset="-122"/>
                <a:cs typeface="Calibri" pitchFamily="34" charset="-120"/>
              </a:rPr>
              <a:t>Define the permission set ONCE;</a:t>
            </a:r>
            <a:endParaRPr lang="en-US" sz="1100" dirty="0"/>
          </a:p>
          <a:p>
            <a:pPr algn="ctr" indent="0" marL="0">
              <a:lnSpc>
                <a:spcPts val="1400"/>
              </a:lnSpc>
              <a:buNone/>
            </a:pPr>
            <a:r>
              <a:rPr lang="en-US" sz="1100" dirty="0">
                <a:solidFill>
                  <a:srgbClr val="F7F9FC"/>
                </a:solidFill>
                <a:latin typeface="Calibri" pitchFamily="34" charset="0"/>
                <a:ea typeface="Calibri" pitchFamily="34" charset="-122"/>
                <a:cs typeface="Calibri" pitchFamily="34" charset="-120"/>
              </a:rPr>
              <a:t>bind it in three namespaces.</a:t>
            </a:r>
            <a:endParaRPr lang="en-US" sz="1100" dirty="0"/>
          </a:p>
          <a:p>
            <a:pPr algn="ctr" indent="0" marL="0">
              <a:lnSpc>
                <a:spcPts val="1400"/>
              </a:lnSpc>
              <a:buNone/>
            </a:pPr>
            <a:r>
              <a:rPr lang="en-US" sz="1100" dirty="0">
                <a:solidFill>
                  <a:srgbClr val="F7F9FC"/>
                </a:solidFill>
                <a:latin typeface="Calibri" pitchFamily="34" charset="0"/>
                <a:ea typeface="Calibri" pitchFamily="34" charset="-122"/>
                <a:cs typeface="Calibri" pitchFamily="34" charset="-120"/>
              </a:rPr>
              <a:t>axispay-auditor is exactly this.</a:t>
            </a:r>
            <a:endParaRPr lang="en-US" sz="1100" dirty="0"/>
          </a:p>
        </p:txBody>
      </p:sp>
      <p:sp>
        <p:nvSpPr>
          <p:cNvPr id="18" name="Shape 16"/>
          <p:cNvSpPr/>
          <p:nvPr/>
        </p:nvSpPr>
        <p:spPr>
          <a:xfrm>
            <a:off x="7132320" y="3931920"/>
            <a:ext cx="4160520" cy="1600200"/>
          </a:xfrm>
          <a:prstGeom prst="roundRect">
            <a:avLst>
              <a:gd name="adj" fmla="val 5714"/>
            </a:avLst>
          </a:prstGeom>
          <a:solidFill>
            <a:srgbClr val="1B4066"/>
          </a:solidFill>
          <a:ln w="12700">
            <a:solidFill>
              <a:srgbClr val="1B4066"/>
            </a:solidFill>
            <a:prstDash val="solid"/>
          </a:ln>
        </p:spPr>
      </p:sp>
      <p:sp>
        <p:nvSpPr>
          <p:cNvPr id="19" name="Text 17"/>
          <p:cNvSpPr/>
          <p:nvPr/>
        </p:nvSpPr>
        <p:spPr>
          <a:xfrm>
            <a:off x="7269480" y="4059936"/>
            <a:ext cx="3886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Cluster-wide</a:t>
            </a:r>
            <a:endParaRPr lang="en-US" sz="1400" dirty="0"/>
          </a:p>
        </p:txBody>
      </p:sp>
      <p:sp>
        <p:nvSpPr>
          <p:cNvPr id="20" name="Text 18"/>
          <p:cNvSpPr/>
          <p:nvPr/>
        </p:nvSpPr>
        <p:spPr>
          <a:xfrm>
            <a:off x="7269480" y="4517136"/>
            <a:ext cx="3886200" cy="886968"/>
          </a:xfrm>
          <a:prstGeom prst="rect">
            <a:avLst/>
          </a:prstGeom>
          <a:noFill/>
          <a:ln/>
        </p:spPr>
        <p:txBody>
          <a:bodyPr wrap="square" lIns="0" tIns="0" rIns="0" bIns="0" rtlCol="0" anchor="t"/>
          <a:lstStyle/>
          <a:p>
            <a:pPr algn="ctr" indent="0" marL="0">
              <a:lnSpc>
                <a:spcPts val="1400"/>
              </a:lnSpc>
              <a:buNone/>
            </a:pPr>
            <a:r>
              <a:rPr lang="en-US" sz="1100" dirty="0">
                <a:solidFill>
                  <a:srgbClr val="F7F9FC"/>
                </a:solidFill>
                <a:latin typeface="Calibri" pitchFamily="34" charset="0"/>
                <a:ea typeface="Calibri" pitchFamily="34" charset="-122"/>
                <a:cs typeface="Calibri" pitchFamily="34" charset="-120"/>
              </a:rPr>
              <a:t>Every namespace, including ones that</a:t>
            </a:r>
            <a:endParaRPr lang="en-US" sz="1100" dirty="0"/>
          </a:p>
          <a:p>
            <a:pPr algn="ctr" indent="0" marL="0">
              <a:lnSpc>
                <a:spcPts val="1400"/>
              </a:lnSpc>
              <a:buNone/>
            </a:pPr>
            <a:r>
              <a:rPr lang="en-US" sz="1100" dirty="0">
                <a:solidFill>
                  <a:srgbClr val="F7F9FC"/>
                </a:solidFill>
                <a:latin typeface="Calibri" pitchFamily="34" charset="0"/>
                <a:ea typeface="Calibri" pitchFamily="34" charset="-122"/>
                <a:cs typeface="Calibri" pitchFamily="34" charset="-120"/>
              </a:rPr>
              <a:t>do not exist yet. Use for nodes only.</a:t>
            </a:r>
            <a:endParaRPr lang="en-US" sz="1100" dirty="0"/>
          </a:p>
        </p:txBody>
      </p:sp>
      <p:sp>
        <p:nvSpPr>
          <p:cNvPr id="21" name="Text 19"/>
          <p:cNvSpPr/>
          <p:nvPr/>
        </p:nvSpPr>
        <p:spPr>
          <a:xfrm>
            <a:off x="566928" y="5779008"/>
            <a:ext cx="11057839" cy="457200"/>
          </a:xfrm>
          <a:prstGeom prst="rect">
            <a:avLst/>
          </a:prstGeom>
          <a:noFill/>
          <a:ln/>
        </p:spPr>
        <p:txBody>
          <a:bodyPr wrap="square" lIns="0" tIns="0" rIns="0" bIns="0" rtlCol="0" anchor="ctr"/>
          <a:lstStyle/>
          <a:p>
            <a:pPr algn="ctr" indent="0" marL="0">
              <a:buNone/>
            </a:pPr>
            <a:r>
              <a:rPr lang="en-US" sz="1500" b="1" dirty="0">
                <a:solidFill>
                  <a:srgbClr val="1C7293"/>
                </a:solidFill>
                <a:latin typeface="Calibri" pitchFamily="34" charset="0"/>
                <a:ea typeface="Calibri" pitchFamily="34" charset="-122"/>
                <a:cs typeface="Calibri" pitchFamily="34" charset="-120"/>
              </a:rPr>
              <a:t>RBAC is additive. There is no deny — you protect Secrets by never naming them.</a:t>
            </a:r>
            <a:endParaRPr lang="en-US" sz="1500" dirty="0"/>
          </a:p>
        </p:txBody>
      </p:sp>
      <p:sp>
        <p:nvSpPr>
          <p:cNvPr id="22" name="Text 20"/>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23" name="Text 21"/>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54076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54076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M5.2 · RBAC</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Four rules that decide every RBAC question</a:t>
            </a:r>
            <a:endParaRPr lang="en-US" sz="3200" dirty="0"/>
          </a:p>
        </p:txBody>
      </p:sp>
      <p:sp>
        <p:nvSpPr>
          <p:cNvPr id="5" name="Shape 3"/>
          <p:cNvSpPr/>
          <p:nvPr/>
        </p:nvSpPr>
        <p:spPr>
          <a:xfrm>
            <a:off x="566928" y="1737360"/>
            <a:ext cx="11057839" cy="566928"/>
          </a:xfrm>
          <a:prstGeom prst="roundRect">
            <a:avLst>
              <a:gd name="adj" fmla="val 12903"/>
            </a:avLst>
          </a:prstGeom>
          <a:solidFill>
            <a:srgbClr val="EAF1F8"/>
          </a:solidFill>
          <a:ln w="12700">
            <a:solidFill>
              <a:srgbClr val="1C7293"/>
            </a:solidFill>
            <a:prstDash val="solid"/>
          </a:ln>
        </p:spPr>
      </p:sp>
      <p:sp>
        <p:nvSpPr>
          <p:cNvPr id="6" name="Text 4"/>
          <p:cNvSpPr/>
          <p:nvPr/>
        </p:nvSpPr>
        <p:spPr>
          <a:xfrm>
            <a:off x="768096" y="1737360"/>
            <a:ext cx="10655503" cy="566928"/>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Why can you not simply revoke a permission from one user?</a:t>
            </a:r>
            <a:endParaRPr lang="en-US" sz="1500" dirty="0"/>
          </a:p>
        </p:txBody>
      </p:sp>
      <p:sp>
        <p:nvSpPr>
          <p:cNvPr id="7" name="Shape 5"/>
          <p:cNvSpPr/>
          <p:nvPr/>
        </p:nvSpPr>
        <p:spPr>
          <a:xfrm>
            <a:off x="566928" y="2712339"/>
            <a:ext cx="402336" cy="402336"/>
          </a:xfrm>
          <a:prstGeom prst="ellipse">
            <a:avLst/>
          </a:prstGeom>
          <a:solidFill>
            <a:srgbClr val="1C7293"/>
          </a:solidFill>
          <a:ln w="12700">
            <a:solidFill>
              <a:srgbClr val="1C7293"/>
            </a:solidFill>
            <a:prstDash val="solid"/>
          </a:ln>
        </p:spPr>
      </p:sp>
      <p:sp>
        <p:nvSpPr>
          <p:cNvPr id="8" name="Text 6"/>
          <p:cNvSpPr/>
          <p:nvPr/>
        </p:nvSpPr>
        <p:spPr>
          <a:xfrm>
            <a:off x="566928" y="271233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p:nvPr/>
        </p:nvSpPr>
        <p:spPr>
          <a:xfrm>
            <a:off x="1133856" y="2487168"/>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RBAC is purely additive</a:t>
            </a:r>
            <a:endParaRPr lang="en-US" sz="1400" dirty="0"/>
          </a:p>
        </p:txBody>
      </p:sp>
      <p:sp>
        <p:nvSpPr>
          <p:cNvPr id="10" name="Text 8"/>
          <p:cNvSpPr/>
          <p:nvPr/>
        </p:nvSpPr>
        <p:spPr>
          <a:xfrm>
            <a:off x="4407408" y="2487168"/>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There is no deny rule anywhere in Kubernetes RBAC. A permission is absent, never removed. This is the whole reason 'the auditor must never read Secrets' is easy: you write a role that does not mention them.</a:t>
            </a:r>
            <a:endParaRPr lang="en-US" sz="1250" dirty="0"/>
          </a:p>
        </p:txBody>
      </p:sp>
      <p:sp>
        <p:nvSpPr>
          <p:cNvPr id="11" name="Shape 9"/>
          <p:cNvSpPr/>
          <p:nvPr/>
        </p:nvSpPr>
        <p:spPr>
          <a:xfrm>
            <a:off x="566928" y="3565017"/>
            <a:ext cx="402336" cy="402336"/>
          </a:xfrm>
          <a:prstGeom prst="ellipse">
            <a:avLst/>
          </a:prstGeom>
          <a:solidFill>
            <a:srgbClr val="1C7293"/>
          </a:solidFill>
          <a:ln w="12700">
            <a:solidFill>
              <a:srgbClr val="1C7293"/>
            </a:solidFill>
            <a:prstDash val="solid"/>
          </a:ln>
        </p:spPr>
      </p:sp>
      <p:sp>
        <p:nvSpPr>
          <p:cNvPr id="12" name="Text 10"/>
          <p:cNvSpPr/>
          <p:nvPr/>
        </p:nvSpPr>
        <p:spPr>
          <a:xfrm>
            <a:off x="566928" y="356501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1133856" y="3339846"/>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The union of all bindings wins</a:t>
            </a:r>
            <a:endParaRPr lang="en-US" sz="1400" dirty="0"/>
          </a:p>
        </p:txBody>
      </p:sp>
      <p:sp>
        <p:nvSpPr>
          <p:cNvPr id="14" name="Text 12"/>
          <p:cNvSpPr/>
          <p:nvPr/>
        </p:nvSpPr>
        <p:spPr>
          <a:xfrm>
            <a:off x="4407408" y="3339846"/>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Two bindings granting different things grant both. If a permission appears from nowhere, another binding is granting it — `kubectl auth can-i --list` shows the total.</a:t>
            </a:r>
            <a:endParaRPr lang="en-US" sz="1250" dirty="0"/>
          </a:p>
        </p:txBody>
      </p:sp>
      <p:sp>
        <p:nvSpPr>
          <p:cNvPr id="15" name="Shape 13"/>
          <p:cNvSpPr/>
          <p:nvPr/>
        </p:nvSpPr>
        <p:spPr>
          <a:xfrm>
            <a:off x="566928" y="4417695"/>
            <a:ext cx="402336" cy="402336"/>
          </a:xfrm>
          <a:prstGeom prst="ellipse">
            <a:avLst/>
          </a:prstGeom>
          <a:solidFill>
            <a:srgbClr val="C97B1E"/>
          </a:solidFill>
          <a:ln w="12700">
            <a:solidFill>
              <a:srgbClr val="C97B1E"/>
            </a:solidFill>
            <a:prstDash val="solid"/>
          </a:ln>
        </p:spPr>
      </p:sp>
      <p:sp>
        <p:nvSpPr>
          <p:cNvPr id="16" name="Text 14"/>
          <p:cNvSpPr/>
          <p:nvPr/>
        </p:nvSpPr>
        <p:spPr>
          <a:xfrm>
            <a:off x="566928" y="441769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p:nvPr/>
        </p:nvSpPr>
        <p:spPr>
          <a:xfrm>
            <a:off x="1133856" y="4192524"/>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ClusterRole + RoleBinding is the useful pair</a:t>
            </a:r>
            <a:endParaRPr lang="en-US" sz="1400" dirty="0"/>
          </a:p>
        </p:txBody>
      </p:sp>
      <p:sp>
        <p:nvSpPr>
          <p:cNvPr id="18" name="Text 16"/>
          <p:cNvSpPr/>
          <p:nvPr/>
        </p:nvSpPr>
        <p:spPr>
          <a:xfrm>
            <a:off x="4407408" y="4192524"/>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Define the permission set once; bind it where it applies. Changing a RoleBinding to a ClusterRoleBinding silently promotes a namespace-scoped grant to the entire cluster.</a:t>
            </a:r>
            <a:endParaRPr lang="en-US" sz="1250" dirty="0"/>
          </a:p>
        </p:txBody>
      </p:sp>
      <p:sp>
        <p:nvSpPr>
          <p:cNvPr id="19" name="Shape 17"/>
          <p:cNvSpPr/>
          <p:nvPr/>
        </p:nvSpPr>
        <p:spPr>
          <a:xfrm>
            <a:off x="566928" y="5270373"/>
            <a:ext cx="402336" cy="402336"/>
          </a:xfrm>
          <a:prstGeom prst="ellipse">
            <a:avLst/>
          </a:prstGeom>
          <a:solidFill>
            <a:srgbClr val="D64545"/>
          </a:solidFill>
          <a:ln w="12700">
            <a:solidFill>
              <a:srgbClr val="D64545"/>
            </a:solidFill>
            <a:prstDash val="solid"/>
          </a:ln>
        </p:spPr>
      </p:sp>
      <p:sp>
        <p:nvSpPr>
          <p:cNvPr id="20" name="Text 18"/>
          <p:cNvSpPr/>
          <p:nvPr/>
        </p:nvSpPr>
        <p:spPr>
          <a:xfrm>
            <a:off x="566928" y="527037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1" name="Text 19"/>
          <p:cNvSpPr/>
          <p:nvPr/>
        </p:nvSpPr>
        <p:spPr>
          <a:xfrm>
            <a:off x="1133856" y="5045202"/>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Subresources are separate resources</a:t>
            </a:r>
            <a:endParaRPr lang="en-US" sz="1400" dirty="0"/>
          </a:p>
        </p:txBody>
      </p:sp>
      <p:sp>
        <p:nvSpPr>
          <p:cNvPr id="22" name="Text 20"/>
          <p:cNvSpPr/>
          <p:nvPr/>
        </p:nvSpPr>
        <p:spPr>
          <a:xfrm>
            <a:off x="4407408" y="5045202"/>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`pods`, `pods/log` and `pods/exec` are three independent grants. Granting `pods` grants none of the others — and `pods/exec` is equivalent to reading every Secret those pods use.</a:t>
            </a:r>
            <a:endParaRPr lang="en-US" sz="1250" dirty="0"/>
          </a:p>
        </p:txBody>
      </p:sp>
      <p:sp>
        <p:nvSpPr>
          <p:cNvPr id="23" name="Text 21"/>
          <p:cNvSpPr/>
          <p:nvPr/>
        </p:nvSpPr>
        <p:spPr>
          <a:xfrm>
            <a:off x="566928" y="5687568"/>
            <a:ext cx="11057839" cy="548640"/>
          </a:xfrm>
          <a:prstGeom prst="rect">
            <a:avLst/>
          </a:prstGeom>
          <a:noFill/>
          <a:ln/>
        </p:spPr>
        <p:txBody>
          <a:bodyPr wrap="square" lIns="0" tIns="0" rIns="0" bIns="0"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An RBAC review that checks the `secrets` resource and stops there has missed the larger hole.</a:t>
            </a:r>
            <a:endParaRPr lang="en-US" sz="1400" dirty="0"/>
          </a:p>
        </p:txBody>
      </p:sp>
      <p:sp>
        <p:nvSpPr>
          <p:cNvPr id="24" name="Text 22"/>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25" name="Text 23"/>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59232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59232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M5.2 · WORKED EXAMPLE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Proof, not assertion</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F2A03D"/>
                </a:solidFill>
                <a:latin typeface="Calibri" pitchFamily="34" charset="0"/>
                <a:ea typeface="Calibri" pitchFamily="34" charset="-122"/>
                <a:cs typeface="Calibri" pitchFamily="34" charset="-120"/>
              </a:rPr>
              <a:t>This block is the compliance evidence. Print it and attach it to the access review.</a:t>
            </a:r>
            <a:endParaRPr lang="en-US" sz="1400" dirty="0"/>
          </a:p>
        </p:txBody>
      </p:sp>
      <p:sp>
        <p:nvSpPr>
          <p:cNvPr id="6" name="Shape 4"/>
          <p:cNvSpPr/>
          <p:nvPr/>
        </p:nvSpPr>
        <p:spPr>
          <a:xfrm>
            <a:off x="566928" y="2249424"/>
            <a:ext cx="11057839" cy="3364230"/>
          </a:xfrm>
          <a:prstGeom prst="roundRect">
            <a:avLst>
              <a:gd name="adj" fmla="val 2174"/>
            </a:avLst>
          </a:prstGeom>
          <a:solidFill>
            <a:srgbClr val="0E2740"/>
          </a:solidFill>
          <a:ln w="12700">
            <a:solidFill>
              <a:srgbClr val="1B4066"/>
            </a:solidFill>
            <a:prstDash val="solid"/>
          </a:ln>
        </p:spPr>
      </p:sp>
      <p:sp>
        <p:nvSpPr>
          <p:cNvPr id="7" name="Shape 5"/>
          <p:cNvSpPr/>
          <p:nvPr/>
        </p:nvSpPr>
        <p:spPr>
          <a:xfrm>
            <a:off x="768096" y="2404872"/>
            <a:ext cx="118872" cy="118872"/>
          </a:xfrm>
          <a:prstGeom prst="ellipse">
            <a:avLst/>
          </a:prstGeom>
          <a:solidFill>
            <a:srgbClr val="D64545"/>
          </a:solidFill>
          <a:ln w="12700">
            <a:solidFill>
              <a:srgbClr val="D64545"/>
            </a:solidFill>
            <a:prstDash val="solid"/>
          </a:ln>
        </p:spPr>
      </p:sp>
      <p:sp>
        <p:nvSpPr>
          <p:cNvPr id="8" name="Shape 6"/>
          <p:cNvSpPr/>
          <p:nvPr/>
        </p:nvSpPr>
        <p:spPr>
          <a:xfrm>
            <a:off x="987552" y="2404872"/>
            <a:ext cx="118872" cy="118872"/>
          </a:xfrm>
          <a:prstGeom prst="ellipse">
            <a:avLst/>
          </a:prstGeom>
          <a:solidFill>
            <a:srgbClr val="F2A03D"/>
          </a:solidFill>
          <a:ln w="12700">
            <a:solidFill>
              <a:srgbClr val="F2A03D"/>
            </a:solidFill>
            <a:prstDash val="solid"/>
          </a:ln>
        </p:spPr>
      </p:sp>
      <p:sp>
        <p:nvSpPr>
          <p:cNvPr id="9" name="Shape 7"/>
          <p:cNvSpPr/>
          <p:nvPr/>
        </p:nvSpPr>
        <p:spPr>
          <a:xfrm>
            <a:off x="1207008" y="2404872"/>
            <a:ext cx="118872" cy="118872"/>
          </a:xfrm>
          <a:prstGeom prst="ellipse">
            <a:avLst/>
          </a:prstGeom>
          <a:solidFill>
            <a:srgbClr val="2E9E63"/>
          </a:solidFill>
          <a:ln w="12700">
            <a:solidFill>
              <a:srgbClr val="2E9E63"/>
            </a:solidFill>
            <a:prstDash val="solid"/>
          </a:ln>
        </p:spPr>
      </p:sp>
      <p:sp>
        <p:nvSpPr>
          <p:cNvPr id="10" name="Text 8"/>
          <p:cNvSpPr/>
          <p:nvPr/>
        </p:nvSpPr>
        <p:spPr>
          <a:xfrm>
            <a:off x="804672" y="2706624"/>
            <a:ext cx="10600639" cy="2724150"/>
          </a:xfrm>
          <a:prstGeom prst="rect">
            <a:avLst/>
          </a:prstGeom>
          <a:noFill/>
          <a:ln/>
        </p:spPr>
        <p:txBody>
          <a:bodyPr wrap="square" lIns="0" tIns="0" rIns="0" bIns="0" rtlCol="0" anchor="t"/>
          <a:lstStyle/>
          <a:p>
            <a:pPr indent="0" marL="0">
              <a:lnSpc>
                <a:spcPts val="1650"/>
              </a:lnSpc>
              <a:buNone/>
            </a:pPr>
            <a:r>
              <a:rPr lang="en-US" sz="1100" b="1" dirty="0">
                <a:solidFill>
                  <a:srgbClr val="F2A03D"/>
                </a:solidFill>
                <a:latin typeface="Courier New" pitchFamily="34" charset="0"/>
                <a:ea typeface="Courier New" pitchFamily="34" charset="-122"/>
                <a:cs typeface="Courier New" pitchFamily="34" charset="-120"/>
              </a:rPr>
              <a:t>$ A="--as=auditor@axis.example"</a:t>
            </a:r>
            <a:endParaRPr lang="en-US" sz="1100" dirty="0"/>
          </a:p>
          <a:p>
            <a:pPr indent="0" marL="0">
              <a:lnSpc>
                <a:spcPts val="1650"/>
              </a:lnSpc>
              <a:buNone/>
            </a:pPr>
            <a:r>
              <a:rPr lang="en-US" sz="1100" b="1" dirty="0">
                <a:solidFill>
                  <a:srgbClr val="F2A03D"/>
                </a:solidFill>
                <a:latin typeface="Courier New" pitchFamily="34" charset="0"/>
                <a:ea typeface="Courier New" pitchFamily="34" charset="-122"/>
                <a:cs typeface="Courier New" pitchFamily="34" charset="-120"/>
              </a:rPr>
              <a:t>$ kubectl auth can-i list pods    -n axispay-core $A</a:t>
            </a:r>
            <a:endParaRPr lang="en-US" sz="1100" dirty="0"/>
          </a:p>
          <a:p>
            <a:pPr indent="0" marL="0">
              <a:lnSpc>
                <a:spcPts val="1650"/>
              </a:lnSpc>
              <a:buNone/>
            </a:pPr>
            <a:r>
              <a:rPr lang="en-US" sz="1100" dirty="0">
                <a:solidFill>
                  <a:srgbClr val="2E9E63"/>
                </a:solidFill>
                <a:latin typeface="Courier New" pitchFamily="34" charset="0"/>
                <a:ea typeface="Courier New" pitchFamily="34" charset="-122"/>
                <a:cs typeface="Courier New" pitchFamily="34" charset="-120"/>
              </a:rPr>
              <a:t>yes</a:t>
            </a:r>
            <a:endParaRPr lang="en-US" sz="1100" dirty="0"/>
          </a:p>
          <a:p>
            <a:pPr indent="0" marL="0">
              <a:lnSpc>
                <a:spcPts val="1650"/>
              </a:lnSpc>
              <a:buNone/>
            </a:pPr>
            <a:r>
              <a:rPr lang="en-US" sz="1100" b="1" dirty="0">
                <a:solidFill>
                  <a:srgbClr val="F2A03D"/>
                </a:solidFill>
                <a:latin typeface="Courier New" pitchFamily="34" charset="0"/>
                <a:ea typeface="Courier New" pitchFamily="34" charset="-122"/>
                <a:cs typeface="Courier New" pitchFamily="34" charset="-120"/>
              </a:rPr>
              <a:t>$ kubectl auth can-i get  pods/log -n axispay-core $A</a:t>
            </a:r>
            <a:endParaRPr lang="en-US" sz="1100" dirty="0"/>
          </a:p>
          <a:p>
            <a:pPr indent="0" marL="0">
              <a:lnSpc>
                <a:spcPts val="1650"/>
              </a:lnSpc>
              <a:buNone/>
            </a:pPr>
            <a:r>
              <a:rPr lang="en-US" sz="1100" dirty="0">
                <a:solidFill>
                  <a:srgbClr val="2E9E63"/>
                </a:solidFill>
                <a:latin typeface="Courier New" pitchFamily="34" charset="0"/>
                <a:ea typeface="Courier New" pitchFamily="34" charset="-122"/>
                <a:cs typeface="Courier New" pitchFamily="34" charset="-120"/>
              </a:rPr>
              <a:t>yes</a:t>
            </a:r>
            <a:endParaRPr lang="en-US" sz="1100" dirty="0"/>
          </a:p>
          <a:p>
            <a:pPr indent="0" marL="0">
              <a:lnSpc>
                <a:spcPts val="1650"/>
              </a:lnSpc>
              <a:buNone/>
            </a:pPr>
            <a:r>
              <a:rPr lang="en-US" sz="1100" b="1" dirty="0">
                <a:solidFill>
                  <a:srgbClr val="F2A03D"/>
                </a:solidFill>
                <a:latin typeface="Courier New" pitchFamily="34" charset="0"/>
                <a:ea typeface="Courier New" pitchFamily="34" charset="-122"/>
                <a:cs typeface="Courier New" pitchFamily="34" charset="-120"/>
              </a:rPr>
              <a:t>$ kubectl auth can-i get  secrets  -n axispay-core $A</a:t>
            </a:r>
            <a:endParaRPr lang="en-US" sz="1100" dirty="0"/>
          </a:p>
          <a:p>
            <a:pPr indent="0" marL="0">
              <a:lnSpc>
                <a:spcPts val="1650"/>
              </a:lnSpc>
              <a:buNone/>
            </a:pPr>
            <a:r>
              <a:rPr lang="en-US" sz="1100" dirty="0">
                <a:solidFill>
                  <a:srgbClr val="D64545"/>
                </a:solidFill>
                <a:latin typeface="Courier New" pitchFamily="34" charset="0"/>
                <a:ea typeface="Courier New" pitchFamily="34" charset="-122"/>
                <a:cs typeface="Courier New" pitchFamily="34" charset="-120"/>
              </a:rPr>
              <a:t>no</a:t>
            </a:r>
            <a:endParaRPr lang="en-US" sz="1100" dirty="0"/>
          </a:p>
          <a:p>
            <a:pPr indent="0" marL="0">
              <a:lnSpc>
                <a:spcPts val="1650"/>
              </a:lnSpc>
              <a:buNone/>
            </a:pPr>
            <a:r>
              <a:rPr lang="en-US" sz="1100" b="1" dirty="0">
                <a:solidFill>
                  <a:srgbClr val="F2A03D"/>
                </a:solidFill>
                <a:latin typeface="Courier New" pitchFamily="34" charset="0"/>
                <a:ea typeface="Courier New" pitchFamily="34" charset="-122"/>
                <a:cs typeface="Courier New" pitchFamily="34" charset="-120"/>
              </a:rPr>
              <a:t>$ kubectl auth can-i create pods/exec -n axispay-core $A</a:t>
            </a:r>
            <a:endParaRPr lang="en-US" sz="1100" dirty="0"/>
          </a:p>
          <a:p>
            <a:pPr indent="0" marL="0">
              <a:lnSpc>
                <a:spcPts val="1650"/>
              </a:lnSpc>
              <a:buNone/>
            </a:pPr>
            <a:r>
              <a:rPr lang="en-US" sz="1100" dirty="0">
                <a:solidFill>
                  <a:srgbClr val="D64545"/>
                </a:solidFill>
                <a:latin typeface="Courier New" pitchFamily="34" charset="0"/>
                <a:ea typeface="Courier New" pitchFamily="34" charset="-122"/>
                <a:cs typeface="Courier New" pitchFamily="34" charset="-120"/>
              </a:rPr>
              <a:t>no        &lt;- the grant that would have defeated the one above</a:t>
            </a:r>
            <a:endParaRPr lang="en-US" sz="1100" dirty="0"/>
          </a:p>
          <a:p>
            <a:pPr indent="0" marL="0">
              <a:lnSpc>
                <a:spcPts val="1650"/>
              </a:lnSpc>
              <a:buNone/>
            </a:pPr>
            <a:r>
              <a:rPr lang="en-US" sz="1100" dirty="0">
                <a:solidFill>
                  <a:srgbClr val="D8E6F2"/>
                </a:solidFill>
                <a:latin typeface="Courier New" pitchFamily="34" charset="0"/>
                <a:ea typeface="Courier New" pitchFamily="34" charset="-122"/>
                <a:cs typeface="Courier New" pitchFamily="34" charset="-120"/>
              </a:rPr>
              <a:t> </a:t>
            </a:r>
            <a:endParaRPr lang="en-US" sz="1100" dirty="0"/>
          </a:p>
          <a:p>
            <a:pPr indent="0" marL="0">
              <a:lnSpc>
                <a:spcPts val="1650"/>
              </a:lnSpc>
              <a:buNone/>
            </a:pPr>
            <a:r>
              <a:rPr lang="en-US" sz="1100" b="1" dirty="0">
                <a:solidFill>
                  <a:srgbClr val="F2A03D"/>
                </a:solidFill>
                <a:latin typeface="Courier New" pitchFamily="34" charset="0"/>
                <a:ea typeface="Courier New" pitchFamily="34" charset="-122"/>
                <a:cs typeface="Courier New" pitchFamily="34" charset="-120"/>
              </a:rPr>
              <a:t>$ kubectl get secrets -n axispay-core $A</a:t>
            </a:r>
            <a:endParaRPr lang="en-US" sz="1100" dirty="0"/>
          </a:p>
          <a:p>
            <a:pPr indent="0" marL="0">
              <a:lnSpc>
                <a:spcPts val="1650"/>
              </a:lnSpc>
              <a:buNone/>
            </a:pPr>
            <a:r>
              <a:rPr lang="en-US" sz="1100" dirty="0">
                <a:solidFill>
                  <a:srgbClr val="D64545"/>
                </a:solidFill>
                <a:latin typeface="Courier New" pitchFamily="34" charset="0"/>
                <a:ea typeface="Courier New" pitchFamily="34" charset="-122"/>
                <a:cs typeface="Courier New" pitchFamily="34" charset="-120"/>
              </a:rPr>
              <a:t>Error from server (Forbidden): secrets is forbidden: User</a:t>
            </a:r>
            <a:endParaRPr lang="en-US" sz="1100" dirty="0"/>
          </a:p>
          <a:p>
            <a:pPr indent="0" marL="0">
              <a:lnSpc>
                <a:spcPts val="1650"/>
              </a:lnSpc>
              <a:buNone/>
            </a:pPr>
            <a:r>
              <a:rPr lang="en-US" sz="1100" dirty="0">
                <a:solidFill>
                  <a:srgbClr val="D64545"/>
                </a:solidFill>
                <a:latin typeface="Courier New" pitchFamily="34" charset="0"/>
                <a:ea typeface="Courier New" pitchFamily="34" charset="-122"/>
                <a:cs typeface="Courier New" pitchFamily="34" charset="-120"/>
              </a:rPr>
              <a:t>"auditor@axis.example" cannot list resource "secrets"</a:t>
            </a:r>
            <a:endParaRPr lang="en-US" sz="1100" dirty="0"/>
          </a:p>
        </p:txBody>
      </p:sp>
      <p:sp>
        <p:nvSpPr>
          <p:cNvPr id="11" name="Text 9"/>
          <p:cNvSpPr/>
          <p:nvPr/>
        </p:nvSpPr>
        <p:spPr>
          <a:xfrm>
            <a:off x="566928" y="5778246"/>
            <a:ext cx="11057839" cy="457200"/>
          </a:xfrm>
          <a:prstGeom prst="rect">
            <a:avLst/>
          </a:prstGeom>
          <a:noFill/>
          <a:ln/>
        </p:spPr>
        <p:txBody>
          <a:bodyPr wrap="square" lIns="0" tIns="0" rIns="0" bIns="0" rtlCol="0" anchor="ctr"/>
          <a:lstStyle/>
          <a:p>
            <a:pPr indent="0" marL="0">
              <a:buNone/>
            </a:pPr>
            <a:r>
              <a:rPr lang="en-US" sz="1300" i="1" dirty="0">
                <a:solidFill>
                  <a:srgbClr val="D8E6F2"/>
                </a:solidFill>
                <a:latin typeface="Calibri" pitchFamily="34" charset="0"/>
                <a:ea typeface="Calibri" pitchFamily="34" charset="-122"/>
                <a:cs typeface="Calibri" pitchFamily="34" charset="-120"/>
              </a:rPr>
              <a:t>grep -c 'secrets' manifests/day5/rbac/02-roles.yaml  →  0.  The absence is the control.</a:t>
            </a:r>
            <a:endParaRPr lang="en-US" sz="1300" dirty="0"/>
          </a:p>
        </p:txBody>
      </p:sp>
      <p:sp>
        <p:nvSpPr>
          <p:cNvPr id="12" name="Text 10"/>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13" name="Text 11"/>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540764"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154076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M5.1 – M5.2</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Five ways this goes wrong in production</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57839" cy="914400"/>
        </p:xfrm>
        <a:graphic>
          <a:graphicData uri="http://schemas.openxmlformats.org/drawingml/2006/table">
            <a:tbl>
              <a:tblPr/>
              <a:tblGrid>
                <a:gridCol w="3108960"/>
                <a:gridCol w="3931920"/>
                <a:gridCol w="402336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MISTAKE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YOU SEE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 THIS INSTEAD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Granting `*` on `*` 'temporarily'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It survives every access review. Nobody removes a grant that has not visibly broken anything.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Write the narrow role. It takes ten minutes and it is the only version that survives an audit.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Reviewing `secrets` and stopping</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 clean report while eleven engineers can exec into the pod holding the signing key.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Review the PATHS to a Secret: exec, portforward, create-on-pods, and the Secret itself.</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ClusterRoleBinding by reflex</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 grant in every namespace, including ones nobody has created yet.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RoleBinding unless the resource is genuinely cluster-scoped. Nodes yes; Deployments no.</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Turning on `restricted` everywhere at once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Nothing breaks today. Rollouts fail weeks later, apparently unconnected to the label change.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enforce what you meet today; warn and audit at the target. Let the warnings size the work.</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Leaving `automountServiceAccountToken` at its default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Every pod carries a live API credential it never uses.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false by default. Turn it on for the one workload that reads the API, and say why.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bl>
          </a:graphicData>
        </a:graphic>
      </p:graphicFrame>
      <p:sp>
        <p:nvSpPr>
          <p:cNvPr id="6" name="Text 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7" name="Text 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540764"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54076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GUIDED LABS</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L5.1 + L5.2</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Identity, Pod Security and least privilege</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Read a live API token out of a running pod, and use it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Give every service its own identity and remove the token</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Watch a privileged pod be refused at admission</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See the difference between enforce and warn, on the same cluster</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Prove every RBAC grant and every denial with auth can-i</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No workload uses `default`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Nothing mounts a token except node-agent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Six printable denials for the access review</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LAB=L5.1 &amp;&amp; make validate-lab LAB=L5.2</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80 minutes   ·   labs/day5/L5.1-identity-and-pod-security/, L5.2-rbac.md</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4000" b="1" dirty="0">
                <a:solidFill>
                  <a:srgbClr val="F2A03D"/>
                </a:solidFill>
                <a:latin typeface="Cambria" pitchFamily="34" charset="0"/>
                <a:ea typeface="Cambria" pitchFamily="34" charset="-122"/>
                <a:cs typeface="Cambria" pitchFamily="34" charset="-120"/>
              </a:rPr>
              <a:t>M5.3 – M5.4</a:t>
            </a:r>
            <a:endParaRPr lang="en-US" sz="40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Packaging and promotion</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One artefact, five configurations, and an honest account of what templating costs</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what a chart is: a data structure and string substitution</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Install the whole platform in one command</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Find the defect that only appears on the second release</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State the difference between three environments as data</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70 min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540764"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54076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M5.3 · HELM</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a chart actually is</a:t>
            </a:r>
            <a:endParaRPr lang="en-US" sz="3200" dirty="0"/>
          </a:p>
        </p:txBody>
      </p:sp>
      <p:sp>
        <p:nvSpPr>
          <p:cNvPr id="5" name="Shape 3"/>
          <p:cNvSpPr/>
          <p:nvPr/>
        </p:nvSpPr>
        <p:spPr>
          <a:xfrm>
            <a:off x="685800" y="2286000"/>
            <a:ext cx="2286000" cy="1051560"/>
          </a:xfrm>
          <a:prstGeom prst="roundRect">
            <a:avLst>
              <a:gd name="adj" fmla="val 6957"/>
            </a:avLst>
          </a:prstGeom>
          <a:solidFill>
            <a:srgbClr val="1B4066"/>
          </a:solidFill>
          <a:ln w="12700">
            <a:solidFill>
              <a:srgbClr val="1B4066"/>
            </a:solidFill>
            <a:prstDash val="solid"/>
          </a:ln>
        </p:spPr>
      </p:sp>
      <p:sp>
        <p:nvSpPr>
          <p:cNvPr id="6" name="Text 4"/>
          <p:cNvSpPr/>
          <p:nvPr/>
        </p:nvSpPr>
        <p:spPr>
          <a:xfrm>
            <a:off x="758952" y="2377440"/>
            <a:ext cx="2139696" cy="48371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values.yaml</a:t>
            </a:r>
            <a:endParaRPr lang="en-US" sz="1300" dirty="0"/>
          </a:p>
        </p:txBody>
      </p:sp>
      <p:sp>
        <p:nvSpPr>
          <p:cNvPr id="7" name="Text 5"/>
          <p:cNvSpPr/>
          <p:nvPr/>
        </p:nvSpPr>
        <p:spPr>
          <a:xfrm>
            <a:off x="758952" y="2790749"/>
            <a:ext cx="2139696" cy="483718"/>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the DATA</a:t>
            </a:r>
            <a:endParaRPr lang="en-US" sz="1000" dirty="0"/>
          </a:p>
        </p:txBody>
      </p:sp>
      <p:sp>
        <p:nvSpPr>
          <p:cNvPr id="8" name="Shape 6"/>
          <p:cNvSpPr/>
          <p:nvPr/>
        </p:nvSpPr>
        <p:spPr>
          <a:xfrm>
            <a:off x="685800" y="3611880"/>
            <a:ext cx="2286000" cy="1051560"/>
          </a:xfrm>
          <a:prstGeom prst="roundRect">
            <a:avLst>
              <a:gd name="adj" fmla="val 6957"/>
            </a:avLst>
          </a:prstGeom>
          <a:solidFill>
            <a:srgbClr val="1B4066"/>
          </a:solidFill>
          <a:ln w="12700">
            <a:solidFill>
              <a:srgbClr val="1B4066"/>
            </a:solidFill>
            <a:prstDash val="solid"/>
          </a:ln>
        </p:spPr>
      </p:sp>
      <p:sp>
        <p:nvSpPr>
          <p:cNvPr id="9" name="Text 7"/>
          <p:cNvSpPr/>
          <p:nvPr/>
        </p:nvSpPr>
        <p:spPr>
          <a:xfrm>
            <a:off x="758952" y="3703320"/>
            <a:ext cx="2139696" cy="48371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templates/</a:t>
            </a:r>
            <a:endParaRPr lang="en-US" sz="1300" dirty="0"/>
          </a:p>
        </p:txBody>
      </p:sp>
      <p:sp>
        <p:nvSpPr>
          <p:cNvPr id="10" name="Text 8"/>
          <p:cNvSpPr/>
          <p:nvPr/>
        </p:nvSpPr>
        <p:spPr>
          <a:xfrm>
            <a:off x="758952" y="4116629"/>
            <a:ext cx="2139696" cy="483718"/>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the SUBSTITUTION</a:t>
            </a:r>
            <a:endParaRPr lang="en-US" sz="1000" dirty="0"/>
          </a:p>
        </p:txBody>
      </p:sp>
      <p:sp>
        <p:nvSpPr>
          <p:cNvPr id="11" name="Shape 9"/>
          <p:cNvSpPr/>
          <p:nvPr/>
        </p:nvSpPr>
        <p:spPr>
          <a:xfrm>
            <a:off x="3794760" y="2926080"/>
            <a:ext cx="2103120" cy="1097280"/>
          </a:xfrm>
          <a:prstGeom prst="roundRect">
            <a:avLst>
              <a:gd name="adj" fmla="val 6667"/>
            </a:avLst>
          </a:prstGeom>
          <a:solidFill>
            <a:srgbClr val="1C7293"/>
          </a:solidFill>
          <a:ln w="12700">
            <a:solidFill>
              <a:srgbClr val="1C7293"/>
            </a:solidFill>
            <a:prstDash val="solid"/>
          </a:ln>
        </p:spPr>
      </p:sp>
      <p:sp>
        <p:nvSpPr>
          <p:cNvPr id="12" name="Text 10"/>
          <p:cNvSpPr/>
          <p:nvPr/>
        </p:nvSpPr>
        <p:spPr>
          <a:xfrm>
            <a:off x="3867912" y="3017520"/>
            <a:ext cx="1956816" cy="504749"/>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render</a:t>
            </a:r>
            <a:endParaRPr lang="en-US" sz="1300" dirty="0"/>
          </a:p>
        </p:txBody>
      </p:sp>
      <p:sp>
        <p:nvSpPr>
          <p:cNvPr id="13" name="Text 11"/>
          <p:cNvSpPr/>
          <p:nvPr/>
        </p:nvSpPr>
        <p:spPr>
          <a:xfrm>
            <a:off x="3867912" y="3452774"/>
            <a:ext cx="1956816" cy="504749"/>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text in, text out</a:t>
            </a:r>
            <a:endParaRPr lang="en-US" sz="1000" dirty="0"/>
          </a:p>
        </p:txBody>
      </p:sp>
      <p:sp>
        <p:nvSpPr>
          <p:cNvPr id="14" name="Shape 12"/>
          <p:cNvSpPr/>
          <p:nvPr/>
        </p:nvSpPr>
        <p:spPr>
          <a:xfrm>
            <a:off x="6720840" y="2926080"/>
            <a:ext cx="2194560" cy="1097280"/>
          </a:xfrm>
          <a:prstGeom prst="roundRect">
            <a:avLst>
              <a:gd name="adj" fmla="val 6667"/>
            </a:avLst>
          </a:prstGeom>
          <a:solidFill>
            <a:srgbClr val="2E9E63"/>
          </a:solidFill>
          <a:ln w="12700">
            <a:solidFill>
              <a:srgbClr val="2E9E63"/>
            </a:solidFill>
            <a:prstDash val="solid"/>
          </a:ln>
        </p:spPr>
      </p:sp>
      <p:sp>
        <p:nvSpPr>
          <p:cNvPr id="15" name="Text 13"/>
          <p:cNvSpPr/>
          <p:nvPr/>
        </p:nvSpPr>
        <p:spPr>
          <a:xfrm>
            <a:off x="6793992" y="3017520"/>
            <a:ext cx="2048256" cy="504749"/>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69 objects</a:t>
            </a:r>
            <a:endParaRPr lang="en-US" sz="1300" dirty="0"/>
          </a:p>
        </p:txBody>
      </p:sp>
      <p:sp>
        <p:nvSpPr>
          <p:cNvPr id="16" name="Text 14"/>
          <p:cNvSpPr/>
          <p:nvPr/>
        </p:nvSpPr>
        <p:spPr>
          <a:xfrm>
            <a:off x="6793992" y="3452774"/>
            <a:ext cx="2048256" cy="504749"/>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ordinary YAML</a:t>
            </a:r>
            <a:endParaRPr lang="en-US" sz="1000" dirty="0"/>
          </a:p>
        </p:txBody>
      </p:sp>
      <p:sp>
        <p:nvSpPr>
          <p:cNvPr id="17" name="Shape 15"/>
          <p:cNvSpPr/>
          <p:nvPr/>
        </p:nvSpPr>
        <p:spPr>
          <a:xfrm>
            <a:off x="9738360" y="2926080"/>
            <a:ext cx="1737360" cy="1097280"/>
          </a:xfrm>
          <a:prstGeom prst="roundRect">
            <a:avLst>
              <a:gd name="adj" fmla="val 6667"/>
            </a:avLst>
          </a:prstGeom>
          <a:solidFill>
            <a:srgbClr val="F2A03D"/>
          </a:solidFill>
          <a:ln w="12700">
            <a:solidFill>
              <a:srgbClr val="F2A03D"/>
            </a:solidFill>
            <a:prstDash val="solid"/>
          </a:ln>
        </p:spPr>
      </p:sp>
      <p:sp>
        <p:nvSpPr>
          <p:cNvPr id="18" name="Text 16"/>
          <p:cNvSpPr/>
          <p:nvPr/>
        </p:nvSpPr>
        <p:spPr>
          <a:xfrm>
            <a:off x="9811512" y="2926080"/>
            <a:ext cx="1591056" cy="1097280"/>
          </a:xfrm>
          <a:prstGeom prst="rect">
            <a:avLst/>
          </a:prstGeom>
          <a:noFill/>
          <a:ln/>
        </p:spPr>
        <p:txBody>
          <a:bodyPr wrap="square" lIns="0" tIns="0" rIns="0" bIns="0" rtlCol="0" anchor="ctr"/>
          <a:lstStyle/>
          <a:p>
            <a:pPr algn="ctr" indent="0" marL="0">
              <a:buNone/>
            </a:pPr>
            <a:r>
              <a:rPr lang="en-US" sz="1300" b="1" dirty="0">
                <a:solidFill>
                  <a:srgbClr val="0B1F3A"/>
                </a:solidFill>
                <a:latin typeface="Cambria" pitchFamily="34" charset="0"/>
                <a:ea typeface="Cambria" pitchFamily="34" charset="-122"/>
                <a:cs typeface="Cambria" pitchFamily="34" charset="-120"/>
              </a:rPr>
              <a:t>cluster</a:t>
            </a:r>
            <a:endParaRPr lang="en-US" sz="1300" dirty="0"/>
          </a:p>
        </p:txBody>
      </p:sp>
      <p:sp>
        <p:nvSpPr>
          <p:cNvPr id="19" name="Shape 17"/>
          <p:cNvSpPr/>
          <p:nvPr/>
        </p:nvSpPr>
        <p:spPr>
          <a:xfrm>
            <a:off x="3017520" y="2788920"/>
            <a:ext cx="731520" cy="457200"/>
          </a:xfrm>
          <a:prstGeom prst="line">
            <a:avLst/>
          </a:prstGeom>
          <a:noFill/>
          <a:ln w="25400">
            <a:solidFill>
              <a:srgbClr val="F2A03D"/>
            </a:solidFill>
            <a:prstDash val="solid"/>
            <a:tailEnd type="triangle"/>
          </a:ln>
        </p:spPr>
      </p:sp>
      <p:sp>
        <p:nvSpPr>
          <p:cNvPr id="20" name="Shape 18"/>
          <p:cNvSpPr/>
          <p:nvPr/>
        </p:nvSpPr>
        <p:spPr>
          <a:xfrm>
            <a:off x="3017520" y="4114800"/>
            <a:ext cx="731520" cy="-548640"/>
          </a:xfrm>
          <a:prstGeom prst="line">
            <a:avLst/>
          </a:prstGeom>
          <a:noFill/>
          <a:ln w="25400">
            <a:solidFill>
              <a:srgbClr val="F2A03D"/>
            </a:solidFill>
            <a:prstDash val="solid"/>
            <a:tailEnd type="triangle"/>
          </a:ln>
        </p:spPr>
      </p:sp>
      <p:sp>
        <p:nvSpPr>
          <p:cNvPr id="21" name="Shape 19"/>
          <p:cNvSpPr/>
          <p:nvPr/>
        </p:nvSpPr>
        <p:spPr>
          <a:xfrm>
            <a:off x="5943600" y="3474720"/>
            <a:ext cx="731520" cy="0"/>
          </a:xfrm>
          <a:prstGeom prst="line">
            <a:avLst/>
          </a:prstGeom>
          <a:noFill/>
          <a:ln w="25400">
            <a:solidFill>
              <a:srgbClr val="F2A03D"/>
            </a:solidFill>
            <a:prstDash val="solid"/>
            <a:tailEnd type="triangle"/>
          </a:ln>
        </p:spPr>
      </p:sp>
      <p:sp>
        <p:nvSpPr>
          <p:cNvPr id="22" name="Text 20"/>
          <p:cNvSpPr/>
          <p:nvPr/>
        </p:nvSpPr>
        <p:spPr>
          <a:xfrm>
            <a:off x="5440680" y="3108960"/>
            <a:ext cx="2286000" cy="292608"/>
          </a:xfrm>
          <a:prstGeom prst="rect">
            <a:avLst/>
          </a:prstGeom>
          <a:noFill/>
          <a:ln/>
        </p:spPr>
        <p:txBody>
          <a:bodyPr wrap="square" lIns="0" tIns="0" rIns="0" bIns="0" rtlCol="0" anchor="ctr"/>
          <a:lstStyle/>
          <a:p>
            <a:pPr algn="ctr" indent="0" marL="0">
              <a:buNone/>
            </a:pPr>
            <a:r>
              <a:rPr lang="en-US" sz="950" b="1" dirty="0">
                <a:solidFill>
                  <a:srgbClr val="F2A03D"/>
                </a:solidFill>
                <a:latin typeface="Calibri" pitchFamily="34" charset="0"/>
                <a:ea typeface="Calibri" pitchFamily="34" charset="-122"/>
                <a:cs typeface="Calibri" pitchFamily="34" charset="-120"/>
              </a:rPr>
              <a:t>helm template</a:t>
            </a:r>
            <a:endParaRPr lang="en-US" sz="950" dirty="0"/>
          </a:p>
        </p:txBody>
      </p:sp>
      <p:sp>
        <p:nvSpPr>
          <p:cNvPr id="23" name="Shape 21"/>
          <p:cNvSpPr/>
          <p:nvPr/>
        </p:nvSpPr>
        <p:spPr>
          <a:xfrm>
            <a:off x="8961120" y="3474720"/>
            <a:ext cx="731520" cy="0"/>
          </a:xfrm>
          <a:prstGeom prst="line">
            <a:avLst/>
          </a:prstGeom>
          <a:noFill/>
          <a:ln w="25400">
            <a:solidFill>
              <a:srgbClr val="F2A03D"/>
            </a:solidFill>
            <a:prstDash val="solid"/>
            <a:tailEnd type="triangle"/>
          </a:ln>
        </p:spPr>
      </p:sp>
      <p:sp>
        <p:nvSpPr>
          <p:cNvPr id="24" name="Text 22"/>
          <p:cNvSpPr/>
          <p:nvPr/>
        </p:nvSpPr>
        <p:spPr>
          <a:xfrm>
            <a:off x="8458200" y="3108960"/>
            <a:ext cx="2286000" cy="292608"/>
          </a:xfrm>
          <a:prstGeom prst="rect">
            <a:avLst/>
          </a:prstGeom>
          <a:noFill/>
          <a:ln/>
        </p:spPr>
        <p:txBody>
          <a:bodyPr wrap="square" lIns="0" tIns="0" rIns="0" bIns="0" rtlCol="0" anchor="ctr"/>
          <a:lstStyle/>
          <a:p>
            <a:pPr algn="ctr" indent="0" marL="0">
              <a:buNone/>
            </a:pPr>
            <a:r>
              <a:rPr lang="en-US" sz="950" b="1" dirty="0">
                <a:solidFill>
                  <a:srgbClr val="F2A03D"/>
                </a:solidFill>
                <a:latin typeface="Calibri" pitchFamily="34" charset="0"/>
                <a:ea typeface="Calibri" pitchFamily="34" charset="-122"/>
                <a:cs typeface="Calibri" pitchFamily="34" charset="-120"/>
              </a:rPr>
              <a:t>apply</a:t>
            </a:r>
            <a:endParaRPr lang="en-US" sz="950" dirty="0"/>
          </a:p>
        </p:txBody>
      </p:sp>
      <p:sp>
        <p:nvSpPr>
          <p:cNvPr id="25" name="Shape 23"/>
          <p:cNvSpPr/>
          <p:nvPr/>
        </p:nvSpPr>
        <p:spPr>
          <a:xfrm>
            <a:off x="3794760" y="4709160"/>
            <a:ext cx="5120640" cy="777240"/>
          </a:xfrm>
          <a:prstGeom prst="roundRect">
            <a:avLst>
              <a:gd name="adj" fmla="val 11765"/>
            </a:avLst>
          </a:prstGeom>
          <a:solidFill>
            <a:srgbClr val="12314F"/>
          </a:solidFill>
          <a:ln w="25400">
            <a:solidFill>
              <a:srgbClr val="8E6FBF"/>
            </a:solidFill>
            <a:prstDash val="solid"/>
          </a:ln>
        </p:spPr>
      </p:sp>
      <p:sp>
        <p:nvSpPr>
          <p:cNvPr id="26" name="Text 24"/>
          <p:cNvSpPr/>
          <p:nvPr/>
        </p:nvSpPr>
        <p:spPr>
          <a:xfrm>
            <a:off x="3794760" y="4709160"/>
            <a:ext cx="5120640" cy="777240"/>
          </a:xfrm>
          <a:prstGeom prst="rect">
            <a:avLst/>
          </a:prstGeom>
          <a:noFill/>
          <a:ln/>
        </p:spPr>
        <p:txBody>
          <a:bodyPr wrap="square" lIns="0" tIns="0" rIns="0" bIns="0" rtlCol="0" anchor="ctr"/>
          <a:lstStyle/>
          <a:p>
            <a:pPr algn="ctr" indent="0" marL="0">
              <a:buNone/>
            </a:pPr>
            <a:r>
              <a:rPr lang="en-US" sz="1150" b="1" dirty="0">
                <a:solidFill>
                  <a:srgbClr val="8E6FBF"/>
                </a:solidFill>
                <a:latin typeface="Calibri" pitchFamily="34" charset="0"/>
                <a:ea typeface="Calibri" pitchFamily="34" charset="-122"/>
                <a:cs typeface="Calibri" pitchFamily="34" charset="-120"/>
              </a:rPr>
              <a:t>Release = a Secret holding a gzipped copy of the rendered YAML</a:t>
            </a:r>
            <a:endParaRPr lang="en-US" sz="1150" dirty="0"/>
          </a:p>
        </p:txBody>
      </p:sp>
      <p:sp>
        <p:nvSpPr>
          <p:cNvPr id="27" name="Shape 25"/>
          <p:cNvSpPr/>
          <p:nvPr/>
        </p:nvSpPr>
        <p:spPr>
          <a:xfrm>
            <a:off x="7772400" y="4069080"/>
            <a:ext cx="-914400" cy="594360"/>
          </a:xfrm>
          <a:prstGeom prst="line">
            <a:avLst/>
          </a:prstGeom>
          <a:noFill/>
          <a:ln w="25400">
            <a:solidFill>
              <a:srgbClr val="8E6FBF"/>
            </a:solidFill>
            <a:prstDash val="solid"/>
            <a:tailEnd type="triangle"/>
          </a:ln>
        </p:spPr>
      </p:sp>
      <p:sp>
        <p:nvSpPr>
          <p:cNvPr id="28" name="Text 26"/>
          <p:cNvSpPr/>
          <p:nvPr/>
        </p:nvSpPr>
        <p:spPr>
          <a:xfrm>
            <a:off x="685800" y="4709160"/>
            <a:ext cx="2926080" cy="777240"/>
          </a:xfrm>
          <a:prstGeom prst="rect">
            <a:avLst/>
          </a:prstGeom>
          <a:noFill/>
          <a:ln/>
        </p:spPr>
        <p:txBody>
          <a:bodyPr wrap="square" lIns="0" tIns="0" rIns="0" bIns="0" rtlCol="0" anchor="ctr"/>
          <a:lstStyle/>
          <a:p>
            <a:pPr algn="ctr" indent="0" marL="0">
              <a:lnSpc>
                <a:spcPts val="1300"/>
              </a:lnSpc>
              <a:buNone/>
            </a:pPr>
            <a:r>
              <a:rPr lang="en-US" sz="1050" dirty="0">
                <a:solidFill>
                  <a:srgbClr val="D8E6F2"/>
                </a:solidFill>
                <a:latin typeface="Calibri" pitchFamily="34" charset="0"/>
                <a:ea typeface="Calibri" pitchFamily="34" charset="-122"/>
                <a:cs typeface="Calibri" pitchFamily="34" charset="-120"/>
              </a:rPr>
              <a:t>helm rollback re-applies a STORED copy —</a:t>
            </a:r>
            <a:endParaRPr lang="en-US" sz="1050" dirty="0"/>
          </a:p>
          <a:p>
            <a:pPr algn="ctr" indent="0" marL="0">
              <a:lnSpc>
                <a:spcPts val="1300"/>
              </a:lnSpc>
              <a:buNone/>
            </a:pPr>
            <a:r>
              <a:rPr lang="en-US" sz="1050" dirty="0">
                <a:solidFill>
                  <a:srgbClr val="D8E6F2"/>
                </a:solidFill>
                <a:latin typeface="Calibri" pitchFamily="34" charset="0"/>
                <a:ea typeface="Calibri" pitchFamily="34" charset="-122"/>
                <a:cs typeface="Calibri" pitchFamily="34" charset="-120"/>
              </a:rPr>
              <a:t>it does not re-render from git.</a:t>
            </a:r>
            <a:endParaRPr lang="en-US" sz="1050" dirty="0"/>
          </a:p>
        </p:txBody>
      </p:sp>
      <p:sp>
        <p:nvSpPr>
          <p:cNvPr id="29" name="Text 27"/>
          <p:cNvSpPr/>
          <p:nvPr/>
        </p:nvSpPr>
        <p:spPr>
          <a:xfrm>
            <a:off x="566928" y="5779008"/>
            <a:ext cx="11057839" cy="457200"/>
          </a:xfrm>
          <a:prstGeom prst="rect">
            <a:avLst/>
          </a:prstGeom>
          <a:noFill/>
          <a:ln/>
        </p:spPr>
        <p:txBody>
          <a:bodyPr wrap="square" lIns="0" tIns="0" rIns="0" bIns="0" rtlCol="0" anchor="ctr"/>
          <a:lstStyle/>
          <a:p>
            <a:pPr algn="ctr" indent="0" marL="0">
              <a:buNone/>
            </a:pPr>
            <a:r>
              <a:rPr lang="en-US" sz="1500" b="1" dirty="0">
                <a:solidFill>
                  <a:srgbClr val="F2A03D"/>
                </a:solidFill>
                <a:latin typeface="Calibri" pitchFamily="34" charset="0"/>
                <a:ea typeface="Calibri" pitchFamily="34" charset="-122"/>
                <a:cs typeface="Calibri" pitchFamily="34" charset="-120"/>
              </a:rPr>
              <a:t>Nothing watches your chart. Between commands, Helm is not running.</a:t>
            </a:r>
            <a:endParaRPr lang="en-US" sz="1500" dirty="0"/>
          </a:p>
        </p:txBody>
      </p:sp>
      <p:sp>
        <p:nvSpPr>
          <p:cNvPr id="30" name="Text 28"/>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31" name="Text 29"/>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59232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59232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M5.3 · WORKED EXAMPLE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Render before you install. Always.</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F2A03D"/>
                </a:solidFill>
                <a:latin typeface="Calibri" pitchFamily="34" charset="0"/>
                <a:ea typeface="Calibri" pitchFamily="34" charset="-122"/>
                <a:cs typeface="Calibri" pitchFamily="34" charset="-120"/>
              </a:rPr>
              <a:t>Three seconds, and it is the only way to see what will actually be applied.</a:t>
            </a:r>
            <a:endParaRPr lang="en-US" sz="1400" dirty="0"/>
          </a:p>
        </p:txBody>
      </p:sp>
      <p:sp>
        <p:nvSpPr>
          <p:cNvPr id="6" name="Shape 4"/>
          <p:cNvSpPr/>
          <p:nvPr/>
        </p:nvSpPr>
        <p:spPr>
          <a:xfrm>
            <a:off x="566928" y="2249424"/>
            <a:ext cx="11057839" cy="3364230"/>
          </a:xfrm>
          <a:prstGeom prst="roundRect">
            <a:avLst>
              <a:gd name="adj" fmla="val 2174"/>
            </a:avLst>
          </a:prstGeom>
          <a:solidFill>
            <a:srgbClr val="0E2740"/>
          </a:solidFill>
          <a:ln w="12700">
            <a:solidFill>
              <a:srgbClr val="1B4066"/>
            </a:solidFill>
            <a:prstDash val="solid"/>
          </a:ln>
        </p:spPr>
      </p:sp>
      <p:sp>
        <p:nvSpPr>
          <p:cNvPr id="7" name="Shape 5"/>
          <p:cNvSpPr/>
          <p:nvPr/>
        </p:nvSpPr>
        <p:spPr>
          <a:xfrm>
            <a:off x="768096" y="2404872"/>
            <a:ext cx="118872" cy="118872"/>
          </a:xfrm>
          <a:prstGeom prst="ellipse">
            <a:avLst/>
          </a:prstGeom>
          <a:solidFill>
            <a:srgbClr val="D64545"/>
          </a:solidFill>
          <a:ln w="12700">
            <a:solidFill>
              <a:srgbClr val="D64545"/>
            </a:solidFill>
            <a:prstDash val="solid"/>
          </a:ln>
        </p:spPr>
      </p:sp>
      <p:sp>
        <p:nvSpPr>
          <p:cNvPr id="8" name="Shape 6"/>
          <p:cNvSpPr/>
          <p:nvPr/>
        </p:nvSpPr>
        <p:spPr>
          <a:xfrm>
            <a:off x="987552" y="2404872"/>
            <a:ext cx="118872" cy="118872"/>
          </a:xfrm>
          <a:prstGeom prst="ellipse">
            <a:avLst/>
          </a:prstGeom>
          <a:solidFill>
            <a:srgbClr val="F2A03D"/>
          </a:solidFill>
          <a:ln w="12700">
            <a:solidFill>
              <a:srgbClr val="F2A03D"/>
            </a:solidFill>
            <a:prstDash val="solid"/>
          </a:ln>
        </p:spPr>
      </p:sp>
      <p:sp>
        <p:nvSpPr>
          <p:cNvPr id="9" name="Shape 7"/>
          <p:cNvSpPr/>
          <p:nvPr/>
        </p:nvSpPr>
        <p:spPr>
          <a:xfrm>
            <a:off x="1207008" y="2404872"/>
            <a:ext cx="118872" cy="118872"/>
          </a:xfrm>
          <a:prstGeom prst="ellipse">
            <a:avLst/>
          </a:prstGeom>
          <a:solidFill>
            <a:srgbClr val="2E9E63"/>
          </a:solidFill>
          <a:ln w="12700">
            <a:solidFill>
              <a:srgbClr val="2E9E63"/>
            </a:solidFill>
            <a:prstDash val="solid"/>
          </a:ln>
        </p:spPr>
      </p:sp>
      <p:sp>
        <p:nvSpPr>
          <p:cNvPr id="10" name="Text 8"/>
          <p:cNvSpPr/>
          <p:nvPr/>
        </p:nvSpPr>
        <p:spPr>
          <a:xfrm>
            <a:off x="804672" y="2706624"/>
            <a:ext cx="10600639" cy="2724150"/>
          </a:xfrm>
          <a:prstGeom prst="rect">
            <a:avLst/>
          </a:prstGeom>
          <a:noFill/>
          <a:ln/>
        </p:spPr>
        <p:txBody>
          <a:bodyPr wrap="square" lIns="0" tIns="0" rIns="0" bIns="0" rtlCol="0" anchor="t"/>
          <a:lstStyle/>
          <a:p>
            <a:pPr indent="0" marL="0">
              <a:lnSpc>
                <a:spcPts val="1650"/>
              </a:lnSpc>
              <a:buNone/>
            </a:pPr>
            <a:r>
              <a:rPr lang="en-US" sz="1100" b="1" dirty="0">
                <a:solidFill>
                  <a:srgbClr val="F2A03D"/>
                </a:solidFill>
                <a:latin typeface="Courier New" pitchFamily="34" charset="0"/>
                <a:ea typeface="Courier New" pitchFamily="34" charset="-122"/>
                <a:cs typeface="Courier New" pitchFamily="34" charset="-120"/>
              </a:rPr>
              <a:t>$ helm template axispay ./charts/axispay | grep '^kind:' | sort | uniq -c</a:t>
            </a:r>
            <a:endParaRPr lang="en-US" sz="1100" dirty="0"/>
          </a:p>
          <a:p>
            <a:pPr indent="0" marL="0">
              <a:lnSpc>
                <a:spcPts val="1650"/>
              </a:lnSpc>
              <a:buNone/>
            </a:pPr>
            <a:r>
              <a:rPr lang="en-US" sz="1100" dirty="0">
                <a:solidFill>
                  <a:srgbClr val="D8E6F2"/>
                </a:solidFill>
                <a:latin typeface="Courier New" pitchFamily="34" charset="0"/>
                <a:ea typeface="Courier New" pitchFamily="34" charset="-122"/>
                <a:cs typeface="Courier New" pitchFamily="34" charset="-120"/>
              </a:rPr>
              <a:t>     15 kind: NetworkPolicy      13 kind: Deployment</a:t>
            </a:r>
            <a:endParaRPr lang="en-US" sz="1100" dirty="0"/>
          </a:p>
          <a:p>
            <a:pPr indent="0" marL="0">
              <a:lnSpc>
                <a:spcPts val="1650"/>
              </a:lnSpc>
              <a:buNone/>
            </a:pPr>
            <a:r>
              <a:rPr lang="en-US" sz="1100" dirty="0">
                <a:solidFill>
                  <a:srgbClr val="D8E6F2"/>
                </a:solidFill>
                <a:latin typeface="Courier New" pitchFamily="34" charset="0"/>
                <a:ea typeface="Courier New" pitchFamily="34" charset="-122"/>
                <a:cs typeface="Courier New" pitchFamily="34" charset="-120"/>
              </a:rPr>
              <a:t>     15 kind: ServiceAccount     13 kind: Service</a:t>
            </a:r>
            <a:endParaRPr lang="en-US" sz="1100" dirty="0"/>
          </a:p>
          <a:p>
            <a:pPr indent="0" marL="0">
              <a:lnSpc>
                <a:spcPts val="1650"/>
              </a:lnSpc>
              <a:buNone/>
            </a:pPr>
            <a:r>
              <a:rPr lang="en-US" sz="1100" dirty="0">
                <a:solidFill>
                  <a:srgbClr val="D8E6F2"/>
                </a:solidFill>
                <a:latin typeface="Courier New" pitchFamily="34" charset="0"/>
                <a:ea typeface="Courier New" pitchFamily="34" charset="-122"/>
                <a:cs typeface="Courier New" pitchFamily="34" charset="-120"/>
              </a:rPr>
              <a:t>      5 kind: PodDisruptionBudget 4 kind: ServiceMonitor</a:t>
            </a:r>
            <a:endParaRPr lang="en-US" sz="1100" dirty="0"/>
          </a:p>
          <a:p>
            <a:pPr indent="0" marL="0">
              <a:lnSpc>
                <a:spcPts val="1650"/>
              </a:lnSpc>
              <a:buNone/>
            </a:pPr>
            <a:r>
              <a:rPr lang="en-US" sz="1100" dirty="0">
                <a:solidFill>
                  <a:srgbClr val="D8E6F2"/>
                </a:solidFill>
                <a:latin typeface="Courier New" pitchFamily="34" charset="0"/>
                <a:ea typeface="Courier New" pitchFamily="34" charset="-122"/>
                <a:cs typeface="Courier New" pitchFamily="34" charset="-120"/>
              </a:rPr>
              <a:t>      2 kind: HorizontalPodAutoscaler  2 kind: Ingress</a:t>
            </a:r>
            <a:endParaRPr lang="en-US" sz="1100" dirty="0"/>
          </a:p>
          <a:p>
            <a:pPr indent="0" marL="0">
              <a:lnSpc>
                <a:spcPts val="1650"/>
              </a:lnSpc>
              <a:buNone/>
            </a:pPr>
            <a:r>
              <a:rPr lang="en-US" sz="1100" dirty="0">
                <a:solidFill>
                  <a:srgbClr val="D8E6F2"/>
                </a:solidFill>
                <a:latin typeface="Courier New" pitchFamily="34" charset="0"/>
                <a:ea typeface="Courier New" pitchFamily="34" charset="-122"/>
                <a:cs typeface="Courier New" pitchFamily="34" charset="-120"/>
              </a:rPr>
              <a:t>      1 kind: PrometheusRule      1 kind: DaemonSet  1 kind: CronJob</a:t>
            </a:r>
            <a:endParaRPr lang="en-US" sz="1100" dirty="0"/>
          </a:p>
          <a:p>
            <a:pPr indent="0" marL="0">
              <a:lnSpc>
                <a:spcPts val="1650"/>
              </a:lnSpc>
              <a:buNone/>
            </a:pPr>
            <a:r>
              <a:rPr lang="en-US" sz="1100" dirty="0">
                <a:solidFill>
                  <a:srgbClr val="D8E6F2"/>
                </a:solidFill>
                <a:latin typeface="Courier New" pitchFamily="34" charset="0"/>
                <a:ea typeface="Courier New" pitchFamily="34" charset="-122"/>
                <a:cs typeface="Courier New" pitchFamily="34" charset="-120"/>
              </a:rPr>
              <a:t> </a:t>
            </a:r>
            <a:endParaRPr lang="en-US" sz="1100" dirty="0"/>
          </a:p>
          <a:p>
            <a:pPr indent="0" marL="0">
              <a:lnSpc>
                <a:spcPts val="1650"/>
              </a:lnSpc>
              <a:buNone/>
            </a:pPr>
            <a:r>
              <a:rPr lang="en-US" sz="1100" b="1" dirty="0">
                <a:solidFill>
                  <a:srgbClr val="F2A03D"/>
                </a:solidFill>
                <a:latin typeface="Courier New" pitchFamily="34" charset="0"/>
                <a:ea typeface="Courier New" pitchFamily="34" charset="-122"/>
                <a:cs typeface="Courier New" pitchFamily="34" charset="-120"/>
              </a:rPr>
              <a:t>$ make helm-check</a:t>
            </a:r>
            <a:endParaRPr lang="en-US" sz="1100" dirty="0"/>
          </a:p>
          <a:p>
            <a:pPr indent="0" marL="0">
              <a:lnSpc>
                <a:spcPts val="1650"/>
              </a:lnSpc>
              <a:buNone/>
            </a:pPr>
            <a:r>
              <a:rPr lang="en-US" sz="1100" dirty="0">
                <a:solidFill>
                  <a:srgbClr val="2E9E63"/>
                </a:solidFill>
                <a:latin typeface="Courier New" pitchFamily="34" charset="0"/>
                <a:ea typeface="Courier New" pitchFamily="34" charset="-122"/>
                <a:cs typeface="Courier New" pitchFamily="34" charset="-120"/>
              </a:rPr>
              <a:t>All 94 chart assertions hold.</a:t>
            </a:r>
            <a:endParaRPr lang="en-US" sz="1100" dirty="0"/>
          </a:p>
          <a:p>
            <a:pPr indent="0" marL="0">
              <a:lnSpc>
                <a:spcPts val="1650"/>
              </a:lnSpc>
              <a:buNone/>
            </a:pPr>
            <a:r>
              <a:rPr lang="en-US" sz="1100" dirty="0">
                <a:solidFill>
                  <a:srgbClr val="63758B"/>
                </a:solidFill>
                <a:latin typeface="Courier New" pitchFamily="34" charset="0"/>
                <a:ea typeface="Courier New" pitchFamily="34" charset="-122"/>
                <a:cs typeface="Courier New" pitchFamily="34" charset="-120"/>
              </a:rPr>
              <a:t>  every container has three probes, liveness != readiness</a:t>
            </a:r>
            <a:endParaRPr lang="en-US" sz="1100" dirty="0"/>
          </a:p>
          <a:p>
            <a:pPr indent="0" marL="0">
              <a:lnSpc>
                <a:spcPts val="1650"/>
              </a:lnSpc>
              <a:buNone/>
            </a:pPr>
            <a:r>
              <a:rPr lang="en-US" sz="1100" dirty="0">
                <a:solidFill>
                  <a:srgbClr val="63758B"/>
                </a:solidFill>
                <a:latin typeface="Courier New" pitchFamily="34" charset="0"/>
                <a:ea typeface="Courier New" pitchFamily="34" charset="-122"/>
                <a:cs typeface="Courier New" pitchFamily="34" charset="-120"/>
              </a:rPr>
              <a:t>  no selector carries a version label</a:t>
            </a:r>
            <a:endParaRPr lang="en-US" sz="1100" dirty="0"/>
          </a:p>
          <a:p>
            <a:pPr indent="0" marL="0">
              <a:lnSpc>
                <a:spcPts val="1650"/>
              </a:lnSpc>
              <a:buNone/>
            </a:pPr>
            <a:r>
              <a:rPr lang="en-US" sz="1100" dirty="0">
                <a:solidFill>
                  <a:srgbClr val="63758B"/>
                </a:solidFill>
                <a:latin typeface="Courier New" pitchFamily="34" charset="0"/>
                <a:ea typeface="Courier New" pitchFamily="34" charset="-122"/>
                <a:cs typeface="Courier New" pitchFamily="34" charset="-120"/>
              </a:rPr>
              <a:t>  no HPA-managed Deployment pins .spec.replicas</a:t>
            </a:r>
            <a:endParaRPr lang="en-US" sz="1100" dirty="0"/>
          </a:p>
          <a:p>
            <a:pPr indent="0" marL="0">
              <a:lnSpc>
                <a:spcPts val="1650"/>
              </a:lnSpc>
              <a:buNone/>
            </a:pPr>
            <a:r>
              <a:rPr lang="en-US" sz="1100" dirty="0">
                <a:solidFill>
                  <a:srgbClr val="63758B"/>
                </a:solidFill>
                <a:latin typeface="Courier New" pitchFamily="34" charset="0"/>
                <a:ea typeface="Courier New" pitchFamily="34" charset="-122"/>
                <a:cs typeface="Courier New" pitchFamily="34" charset="-120"/>
              </a:rPr>
              <a:t>  every *_SERVICE_URL resolves to a Service the chart creates</a:t>
            </a:r>
            <a:endParaRPr lang="en-US" sz="1100" dirty="0"/>
          </a:p>
        </p:txBody>
      </p:sp>
      <p:sp>
        <p:nvSpPr>
          <p:cNvPr id="11" name="Text 9"/>
          <p:cNvSpPr/>
          <p:nvPr/>
        </p:nvSpPr>
        <p:spPr>
          <a:xfrm>
            <a:off x="566928" y="5778246"/>
            <a:ext cx="11057839" cy="457200"/>
          </a:xfrm>
          <a:prstGeom prst="rect">
            <a:avLst/>
          </a:prstGeom>
          <a:noFill/>
          <a:ln/>
        </p:spPr>
        <p:txBody>
          <a:bodyPr wrap="square" lIns="0" tIns="0" rIns="0" bIns="0" rtlCol="0" anchor="ctr"/>
          <a:lstStyle/>
          <a:p>
            <a:pPr indent="0" marL="0">
              <a:buNone/>
            </a:pPr>
            <a:r>
              <a:rPr lang="en-US" sz="1300" i="1" dirty="0">
                <a:solidFill>
                  <a:srgbClr val="D8E6F2"/>
                </a:solidFill>
                <a:latin typeface="Calibri" pitchFamily="34" charset="0"/>
                <a:ea typeface="Calibri" pitchFamily="34" charset="-122"/>
                <a:cs typeface="Calibri" pitchFamily="34" charset="-120"/>
              </a:rPr>
              <a:t>94 assertions, offline, no cluster and no helm binary required.</a:t>
            </a:r>
            <a:endParaRPr lang="en-US" sz="1300" dirty="0"/>
          </a:p>
        </p:txBody>
      </p:sp>
      <p:sp>
        <p:nvSpPr>
          <p:cNvPr id="12" name="Text 10"/>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13" name="Text 11"/>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435608"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1435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 DEFECT</a:t>
            </a:r>
            <a:endParaRPr lang="en-US" sz="1100" dirty="0"/>
          </a:p>
        </p:txBody>
      </p:sp>
      <p:sp>
        <p:nvSpPr>
          <p:cNvPr id="4" name="Shape 2"/>
          <p:cNvSpPr/>
          <p:nvPr/>
        </p:nvSpPr>
        <p:spPr>
          <a:xfrm>
            <a:off x="566928" y="1554480"/>
            <a:ext cx="11057839" cy="3017520"/>
          </a:xfrm>
          <a:prstGeom prst="roundRect">
            <a:avLst>
              <a:gd name="adj" fmla="val 3636"/>
            </a:avLst>
          </a:prstGeom>
          <a:solidFill>
            <a:srgbClr val="12314F"/>
          </a:solidFill>
          <a:ln w="12700">
            <a:solidFill>
              <a:srgbClr val="D64545"/>
            </a:solidFill>
            <a:prstDash val="solid"/>
          </a:ln>
        </p:spPr>
      </p:sp>
      <p:sp>
        <p:nvSpPr>
          <p:cNvPr id="5" name="Text 3"/>
          <p:cNvSpPr/>
          <p:nvPr/>
        </p:nvSpPr>
        <p:spPr>
          <a:xfrm>
            <a:off x="1115568" y="1920240"/>
            <a:ext cx="9960559" cy="1463040"/>
          </a:xfrm>
          <a:prstGeom prst="rect">
            <a:avLst/>
          </a:prstGeom>
          <a:noFill/>
          <a:ln/>
        </p:spPr>
        <p:txBody>
          <a:bodyPr wrap="square" lIns="0" tIns="0" rIns="0" bIns="0" rtlCol="0" anchor="ctr"/>
          <a:lstStyle/>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It works on the first release.</a:t>
            </a:r>
            <a:endParaRPr lang="en-US" sz="3000" dirty="0"/>
          </a:p>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It fails on the second.</a:t>
            </a:r>
            <a:endParaRPr lang="en-US" sz="3000" dirty="0"/>
          </a:p>
        </p:txBody>
      </p:sp>
      <p:sp>
        <p:nvSpPr>
          <p:cNvPr id="6" name="Text 4"/>
          <p:cNvSpPr/>
          <p:nvPr/>
        </p:nvSpPr>
        <p:spPr>
          <a:xfrm>
            <a:off x="1115568" y="3429000"/>
            <a:ext cx="9960559" cy="914400"/>
          </a:xfrm>
          <a:prstGeom prst="rect">
            <a:avLst/>
          </a:prstGeom>
          <a:noFill/>
          <a:ln/>
        </p:spPr>
        <p:txBody>
          <a:bodyPr wrap="square" lIns="0" tIns="0" rIns="0" bIns="0" rtlCol="0" anchor="ctr"/>
          <a:lstStyle/>
          <a:p>
            <a:pPr indent="0" marL="0">
              <a:lnSpc>
                <a:spcPts val="2100"/>
              </a:lnSpc>
              <a:buNone/>
            </a:pPr>
            <a:r>
              <a:rPr lang="en-US" sz="1500" dirty="0">
                <a:solidFill>
                  <a:srgbClr val="D8E6F2"/>
                </a:solidFill>
                <a:latin typeface="Calibri" pitchFamily="34" charset="0"/>
                <a:ea typeface="Calibri" pitchFamily="34" charset="-122"/>
                <a:cs typeface="Calibri" pitchFamily="34" charset="-120"/>
              </a:rPr>
              <a:t>Put a version label in .spec.selector and the NEXT upgrade that changes the version fails with `field is immutable` — often weeks later, usually at 02:00.</a:t>
            </a:r>
            <a:endParaRPr lang="en-US" sz="1500" dirty="0"/>
          </a:p>
        </p:txBody>
      </p:sp>
      <p:sp>
        <p:nvSpPr>
          <p:cNvPr id="7" name="Text 5"/>
          <p:cNvSpPr/>
          <p:nvPr/>
        </p:nvSpPr>
        <p:spPr>
          <a:xfrm>
            <a:off x="658368" y="4800600"/>
            <a:ext cx="11057839" cy="118872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A Deployment's .spec.selector cannot be changed after creation. Ever.</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helm.sh/chart and app.kubernetes.io/version change on every release.</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The first install succeeds. The first upgrade succeeds. The version bump does not.</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The only fix is deleting the Deployment — in production, during the incident.</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This is why axispay.selectorLabels contains identity ONLY, and why check-helm-chart.py asserts it.</a:t>
            </a:r>
            <a:endParaRPr lang="en-US" sz="1350" dirty="0"/>
          </a:p>
        </p:txBody>
      </p:sp>
      <p:sp>
        <p:nvSpPr>
          <p:cNvPr id="8" name="Text 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9" name="Text 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06654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06654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M5.4 · PROMOTION</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Three environments, one artefact</a:t>
            </a:r>
            <a:endParaRPr lang="en-US" sz="3200" dirty="0"/>
          </a:p>
        </p:txBody>
      </p:sp>
      <p:sp>
        <p:nvSpPr>
          <p:cNvPr id="5" name="Shape 3"/>
          <p:cNvSpPr/>
          <p:nvPr/>
        </p:nvSpPr>
        <p:spPr>
          <a:xfrm>
            <a:off x="685800" y="2926080"/>
            <a:ext cx="2377440" cy="1517904"/>
          </a:xfrm>
          <a:prstGeom prst="roundRect">
            <a:avLst>
              <a:gd name="adj" fmla="val 6024"/>
            </a:avLst>
          </a:prstGeom>
          <a:solidFill>
            <a:srgbClr val="0B1F3A"/>
          </a:solidFill>
          <a:ln w="12700">
            <a:solidFill>
              <a:srgbClr val="0B1F3A"/>
            </a:solidFill>
            <a:prstDash val="solid"/>
          </a:ln>
        </p:spPr>
      </p:sp>
      <p:sp>
        <p:nvSpPr>
          <p:cNvPr id="6" name="Text 4"/>
          <p:cNvSpPr/>
          <p:nvPr/>
        </p:nvSpPr>
        <p:spPr>
          <a:xfrm>
            <a:off x="685800" y="3054096"/>
            <a:ext cx="237744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charts/axispay</a:t>
            </a:r>
            <a:endParaRPr lang="en-US" sz="1400" dirty="0"/>
          </a:p>
        </p:txBody>
      </p:sp>
      <p:sp>
        <p:nvSpPr>
          <p:cNvPr id="7" name="Text 5"/>
          <p:cNvSpPr/>
          <p:nvPr/>
        </p:nvSpPr>
        <p:spPr>
          <a:xfrm>
            <a:off x="685800" y="3511296"/>
            <a:ext cx="2377440" cy="822960"/>
          </a:xfrm>
          <a:prstGeom prst="rect">
            <a:avLst/>
          </a:prstGeom>
          <a:noFill/>
          <a:ln/>
        </p:spPr>
        <p:txBody>
          <a:bodyPr wrap="square" lIns="0" tIns="0" rIns="0" bIns="0" rtlCol="0" anchor="ctr"/>
          <a:lstStyle/>
          <a:p>
            <a:pPr algn="ctr" indent="0" marL="0">
              <a:lnSpc>
                <a:spcPts val="1300"/>
              </a:lnSpc>
              <a:buNone/>
            </a:pPr>
            <a:r>
              <a:rPr lang="en-US" sz="1050" i="1" dirty="0">
                <a:solidFill>
                  <a:srgbClr val="D8E6F2"/>
                </a:solidFill>
                <a:latin typeface="Calibri" pitchFamily="34" charset="0"/>
                <a:ea typeface="Calibri" pitchFamily="34" charset="-122"/>
                <a:cs typeface="Calibri" pitchFamily="34" charset="-120"/>
              </a:rPr>
              <a:t>ONE chart</a:t>
            </a:r>
            <a:endParaRPr lang="en-US" sz="1050" dirty="0"/>
          </a:p>
          <a:p>
            <a:pPr algn="ctr" indent="0" marL="0">
              <a:lnSpc>
                <a:spcPts val="1300"/>
              </a:lnSpc>
              <a:buNone/>
            </a:pPr>
            <a:r>
              <a:rPr lang="en-US" sz="1050" i="1" dirty="0">
                <a:solidFill>
                  <a:srgbClr val="D8E6F2"/>
                </a:solidFill>
                <a:latin typeface="Calibri" pitchFamily="34" charset="0"/>
                <a:ea typeface="Calibri" pitchFamily="34" charset="-122"/>
                <a:cs typeface="Calibri" pitchFamily="34" charset="-120"/>
              </a:rPr>
              <a:t>ONE set of templates</a:t>
            </a:r>
            <a:endParaRPr lang="en-US" sz="1050" dirty="0"/>
          </a:p>
        </p:txBody>
      </p:sp>
      <p:sp>
        <p:nvSpPr>
          <p:cNvPr id="8" name="Shape 6"/>
          <p:cNvSpPr/>
          <p:nvPr/>
        </p:nvSpPr>
        <p:spPr>
          <a:xfrm>
            <a:off x="4754880" y="1938528"/>
            <a:ext cx="3017520" cy="1024128"/>
          </a:xfrm>
          <a:prstGeom prst="roundRect">
            <a:avLst>
              <a:gd name="adj" fmla="val 8929"/>
            </a:avLst>
          </a:prstGeom>
          <a:solidFill>
            <a:srgbClr val="2E93B8"/>
          </a:solidFill>
          <a:ln w="12700">
            <a:solidFill>
              <a:srgbClr val="2E93B8"/>
            </a:solidFill>
            <a:prstDash val="solid"/>
          </a:ln>
        </p:spPr>
      </p:sp>
      <p:sp>
        <p:nvSpPr>
          <p:cNvPr id="9" name="Text 7"/>
          <p:cNvSpPr/>
          <p:nvPr/>
        </p:nvSpPr>
        <p:spPr>
          <a:xfrm>
            <a:off x="4754880" y="2029968"/>
            <a:ext cx="301752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values-dev.yaml</a:t>
            </a:r>
            <a:endParaRPr lang="en-US" sz="1300" dirty="0"/>
          </a:p>
        </p:txBody>
      </p:sp>
      <p:sp>
        <p:nvSpPr>
          <p:cNvPr id="10" name="Text 8"/>
          <p:cNvSpPr/>
          <p:nvPr/>
        </p:nvSpPr>
        <p:spPr>
          <a:xfrm>
            <a:off x="4754880" y="2414016"/>
            <a:ext cx="301752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Courier New" pitchFamily="34" charset="0"/>
                <a:ea typeface="Courier New" pitchFamily="34" charset="-122"/>
                <a:cs typeface="Courier New" pitchFamily="34" charset="-120"/>
              </a:rPr>
              <a:t>12 pods · 760m</a:t>
            </a:r>
            <a:endParaRPr lang="en-US" sz="1000" dirty="0"/>
          </a:p>
        </p:txBody>
      </p:sp>
      <p:sp>
        <p:nvSpPr>
          <p:cNvPr id="11" name="Text 9"/>
          <p:cNvSpPr/>
          <p:nvPr/>
        </p:nvSpPr>
        <p:spPr>
          <a:xfrm>
            <a:off x="8001000" y="1993392"/>
            <a:ext cx="3566160" cy="914400"/>
          </a:xfrm>
          <a:prstGeom prst="rect">
            <a:avLst/>
          </a:prstGeom>
          <a:noFill/>
          <a:ln/>
        </p:spPr>
        <p:txBody>
          <a:bodyPr wrap="square" lIns="0" tIns="0" rIns="0" bIns="0" rtlCol="0" anchor="ctr"/>
          <a:lstStyle/>
          <a:p>
            <a:pPr indent="0" marL="0">
              <a:lnSpc>
                <a:spcPts val="1400"/>
              </a:lnSpc>
              <a:buNone/>
            </a:pPr>
            <a:r>
              <a:rPr lang="en-US" sz="1050" dirty="0">
                <a:solidFill>
                  <a:srgbClr val="16232F"/>
                </a:solidFill>
                <a:latin typeface="Calibri" pitchFamily="34" charset="0"/>
                <a:ea typeface="Calibri" pitchFamily="34" charset="-122"/>
                <a:cs typeface="Calibri" pitchFamily="34" charset="-120"/>
              </a:rPr>
              <a:t>1 replica · no Ingress</a:t>
            </a:r>
            <a:endParaRPr lang="en-US" sz="1050" dirty="0"/>
          </a:p>
          <a:p>
            <a:pPr indent="0" marL="0">
              <a:lnSpc>
                <a:spcPts val="1400"/>
              </a:lnSpc>
              <a:buNone/>
            </a:pPr>
            <a:r>
              <a:rPr lang="en-US" sz="1050" dirty="0">
                <a:solidFill>
                  <a:srgbClr val="16232F"/>
                </a:solidFill>
                <a:latin typeface="Calibri" pitchFamily="34" charset="0"/>
                <a:ea typeface="Calibri" pitchFamily="34" charset="-122"/>
                <a:cs typeface="Calibri" pitchFamily="34" charset="-120"/>
              </a:rPr>
              <a:t>debug logs · no PDBs</a:t>
            </a:r>
            <a:endParaRPr lang="en-US" sz="1050" dirty="0"/>
          </a:p>
        </p:txBody>
      </p:sp>
      <p:sp>
        <p:nvSpPr>
          <p:cNvPr id="12" name="Shape 10"/>
          <p:cNvSpPr/>
          <p:nvPr/>
        </p:nvSpPr>
        <p:spPr>
          <a:xfrm>
            <a:off x="3108960" y="3685032"/>
            <a:ext cx="1554480" cy="-1234440"/>
          </a:xfrm>
          <a:prstGeom prst="line">
            <a:avLst/>
          </a:prstGeom>
          <a:noFill/>
          <a:ln w="25400">
            <a:solidFill>
              <a:srgbClr val="2E93B8"/>
            </a:solidFill>
            <a:prstDash val="solid"/>
            <a:tailEnd type="triangle"/>
          </a:ln>
        </p:spPr>
      </p:sp>
      <p:sp>
        <p:nvSpPr>
          <p:cNvPr id="13" name="Shape 11"/>
          <p:cNvSpPr/>
          <p:nvPr/>
        </p:nvSpPr>
        <p:spPr>
          <a:xfrm>
            <a:off x="4754880" y="3172968"/>
            <a:ext cx="3017520" cy="1024128"/>
          </a:xfrm>
          <a:prstGeom prst="roundRect">
            <a:avLst>
              <a:gd name="adj" fmla="val 8929"/>
            </a:avLst>
          </a:prstGeom>
          <a:solidFill>
            <a:srgbClr val="1C7293"/>
          </a:solidFill>
          <a:ln w="12700">
            <a:solidFill>
              <a:srgbClr val="1C7293"/>
            </a:solidFill>
            <a:prstDash val="solid"/>
          </a:ln>
        </p:spPr>
      </p:sp>
      <p:sp>
        <p:nvSpPr>
          <p:cNvPr id="14" name="Text 12"/>
          <p:cNvSpPr/>
          <p:nvPr/>
        </p:nvSpPr>
        <p:spPr>
          <a:xfrm>
            <a:off x="4754880" y="3264408"/>
            <a:ext cx="301752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values-staging.yaml</a:t>
            </a:r>
            <a:endParaRPr lang="en-US" sz="1300" dirty="0"/>
          </a:p>
        </p:txBody>
      </p:sp>
      <p:sp>
        <p:nvSpPr>
          <p:cNvPr id="15" name="Text 13"/>
          <p:cNvSpPr/>
          <p:nvPr/>
        </p:nvSpPr>
        <p:spPr>
          <a:xfrm>
            <a:off x="4754880" y="3648456"/>
            <a:ext cx="301752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Courier New" pitchFamily="34" charset="0"/>
                <a:ea typeface="Courier New" pitchFamily="34" charset="-122"/>
                <a:cs typeface="Courier New" pitchFamily="34" charset="-120"/>
              </a:rPr>
              <a:t>22 pods · 1420m</a:t>
            </a:r>
            <a:endParaRPr lang="en-US" sz="1000" dirty="0"/>
          </a:p>
        </p:txBody>
      </p:sp>
      <p:sp>
        <p:nvSpPr>
          <p:cNvPr id="16" name="Text 14"/>
          <p:cNvSpPr/>
          <p:nvPr/>
        </p:nvSpPr>
        <p:spPr>
          <a:xfrm>
            <a:off x="8001000" y="3227832"/>
            <a:ext cx="3566160" cy="914400"/>
          </a:xfrm>
          <a:prstGeom prst="rect">
            <a:avLst/>
          </a:prstGeom>
          <a:noFill/>
          <a:ln/>
        </p:spPr>
        <p:txBody>
          <a:bodyPr wrap="square" lIns="0" tIns="0" rIns="0" bIns="0" rtlCol="0" anchor="ctr"/>
          <a:lstStyle/>
          <a:p>
            <a:pPr indent="0" marL="0">
              <a:lnSpc>
                <a:spcPts val="1400"/>
              </a:lnSpc>
              <a:buNone/>
            </a:pPr>
            <a:r>
              <a:rPr lang="en-US" sz="1050" dirty="0">
                <a:solidFill>
                  <a:srgbClr val="16232F"/>
                </a:solidFill>
                <a:latin typeface="Calibri" pitchFamily="34" charset="0"/>
                <a:ea typeface="Calibri" pitchFamily="34" charset="-122"/>
                <a:cs typeface="Calibri" pitchFamily="34" charset="-120"/>
              </a:rPr>
              <a:t>production's SHAPE</a:t>
            </a:r>
            <a:endParaRPr lang="en-US" sz="1050" dirty="0"/>
          </a:p>
          <a:p>
            <a:pPr indent="0" marL="0">
              <a:lnSpc>
                <a:spcPts val="1400"/>
              </a:lnSpc>
              <a:buNone/>
            </a:pPr>
            <a:r>
              <a:rPr lang="en-US" sz="1050" dirty="0">
                <a:solidFill>
                  <a:srgbClr val="16232F"/>
                </a:solidFill>
                <a:latin typeface="Calibri" pitchFamily="34" charset="0"/>
                <a:ea typeface="Calibri" pitchFamily="34" charset="-122"/>
                <a:cs typeface="Calibri" pitchFamily="34" charset="-120"/>
              </a:rPr>
              <a:t>smaller numbers</a:t>
            </a:r>
            <a:endParaRPr lang="en-US" sz="1050" dirty="0"/>
          </a:p>
        </p:txBody>
      </p:sp>
      <p:sp>
        <p:nvSpPr>
          <p:cNvPr id="17" name="Shape 15"/>
          <p:cNvSpPr/>
          <p:nvPr/>
        </p:nvSpPr>
        <p:spPr>
          <a:xfrm>
            <a:off x="3108960" y="3685032"/>
            <a:ext cx="1554480" cy="0"/>
          </a:xfrm>
          <a:prstGeom prst="line">
            <a:avLst/>
          </a:prstGeom>
          <a:noFill/>
          <a:ln w="25400">
            <a:solidFill>
              <a:srgbClr val="1C7293"/>
            </a:solidFill>
            <a:prstDash val="solid"/>
            <a:tailEnd type="triangle"/>
          </a:ln>
        </p:spPr>
      </p:sp>
      <p:sp>
        <p:nvSpPr>
          <p:cNvPr id="18" name="Shape 16"/>
          <p:cNvSpPr/>
          <p:nvPr/>
        </p:nvSpPr>
        <p:spPr>
          <a:xfrm>
            <a:off x="4754880" y="4407408"/>
            <a:ext cx="3017520" cy="1024128"/>
          </a:xfrm>
          <a:prstGeom prst="roundRect">
            <a:avLst>
              <a:gd name="adj" fmla="val 8929"/>
            </a:avLst>
          </a:prstGeom>
          <a:solidFill>
            <a:srgbClr val="C97B1E"/>
          </a:solidFill>
          <a:ln w="12700">
            <a:solidFill>
              <a:srgbClr val="C97B1E"/>
            </a:solidFill>
            <a:prstDash val="solid"/>
          </a:ln>
        </p:spPr>
      </p:sp>
      <p:sp>
        <p:nvSpPr>
          <p:cNvPr id="19" name="Text 17"/>
          <p:cNvSpPr/>
          <p:nvPr/>
        </p:nvSpPr>
        <p:spPr>
          <a:xfrm>
            <a:off x="4754880" y="4498848"/>
            <a:ext cx="301752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values-prod.yaml</a:t>
            </a:r>
            <a:endParaRPr lang="en-US" sz="1300" dirty="0"/>
          </a:p>
        </p:txBody>
      </p:sp>
      <p:sp>
        <p:nvSpPr>
          <p:cNvPr id="20" name="Text 18"/>
          <p:cNvSpPr/>
          <p:nvPr/>
        </p:nvSpPr>
        <p:spPr>
          <a:xfrm>
            <a:off x="4754880" y="4882896"/>
            <a:ext cx="3017520" cy="274320"/>
          </a:xfrm>
          <a:prstGeom prst="rect">
            <a:avLst/>
          </a:prstGeom>
          <a:noFill/>
          <a:ln/>
        </p:spPr>
        <p:txBody>
          <a:bodyPr wrap="square" lIns="0" tIns="0" rIns="0" bIns="0" rtlCol="0" anchor="ctr"/>
          <a:lstStyle/>
          <a:p>
            <a:pPr algn="ctr" indent="0" marL="0">
              <a:buNone/>
            </a:pPr>
            <a:r>
              <a:rPr lang="en-US" sz="1000" dirty="0">
                <a:solidFill>
                  <a:srgbClr val="FFFFFF"/>
                </a:solidFill>
                <a:latin typeface="Courier New" pitchFamily="34" charset="0"/>
                <a:ea typeface="Courier New" pitchFamily="34" charset="-122"/>
                <a:cs typeface="Courier New" pitchFamily="34" charset="-120"/>
              </a:rPr>
              <a:t>41 pods · 3380m</a:t>
            </a:r>
            <a:endParaRPr lang="en-US" sz="1000" dirty="0"/>
          </a:p>
        </p:txBody>
      </p:sp>
      <p:sp>
        <p:nvSpPr>
          <p:cNvPr id="21" name="Text 19"/>
          <p:cNvSpPr/>
          <p:nvPr/>
        </p:nvSpPr>
        <p:spPr>
          <a:xfrm>
            <a:off x="8001000" y="4462272"/>
            <a:ext cx="3566160" cy="914400"/>
          </a:xfrm>
          <a:prstGeom prst="rect">
            <a:avLst/>
          </a:prstGeom>
          <a:noFill/>
          <a:ln/>
        </p:spPr>
        <p:txBody>
          <a:bodyPr wrap="square" lIns="0" tIns="0" rIns="0" bIns="0" rtlCol="0" anchor="ctr"/>
          <a:lstStyle/>
          <a:p>
            <a:pPr indent="0" marL="0">
              <a:lnSpc>
                <a:spcPts val="1400"/>
              </a:lnSpc>
              <a:buNone/>
            </a:pPr>
            <a:r>
              <a:rPr lang="en-US" sz="1050" dirty="0">
                <a:solidFill>
                  <a:srgbClr val="16232F"/>
                </a:solidFill>
                <a:latin typeface="Calibri" pitchFamily="34" charset="0"/>
                <a:ea typeface="Calibri" pitchFamily="34" charset="-122"/>
                <a:cs typeface="Calibri" pitchFamily="34" charset="-120"/>
              </a:rPr>
              <a:t>anti-affinity · PDBs</a:t>
            </a:r>
            <a:endParaRPr lang="en-US" sz="1050" dirty="0"/>
          </a:p>
          <a:p>
            <a:pPr indent="0" marL="0">
              <a:lnSpc>
                <a:spcPts val="1400"/>
              </a:lnSpc>
              <a:buNone/>
            </a:pPr>
            <a:r>
              <a:rPr lang="en-US" sz="1050" dirty="0">
                <a:solidFill>
                  <a:srgbClr val="16232F"/>
                </a:solidFill>
                <a:latin typeface="Calibri" pitchFamily="34" charset="0"/>
                <a:ea typeface="Calibri" pitchFamily="34" charset="-122"/>
                <a:cs typeface="Calibri" pitchFamily="34" charset="-120"/>
              </a:rPr>
              <a:t>maxUnavailable 0</a:t>
            </a:r>
            <a:endParaRPr lang="en-US" sz="1050" dirty="0"/>
          </a:p>
        </p:txBody>
      </p:sp>
      <p:sp>
        <p:nvSpPr>
          <p:cNvPr id="22" name="Shape 20"/>
          <p:cNvSpPr/>
          <p:nvPr/>
        </p:nvSpPr>
        <p:spPr>
          <a:xfrm>
            <a:off x="3108960" y="3685032"/>
            <a:ext cx="1554480" cy="1234440"/>
          </a:xfrm>
          <a:prstGeom prst="line">
            <a:avLst/>
          </a:prstGeom>
          <a:noFill/>
          <a:ln w="25400">
            <a:solidFill>
              <a:srgbClr val="C97B1E"/>
            </a:solidFill>
            <a:prstDash val="solid"/>
            <a:tailEnd type="triangle"/>
          </a:ln>
        </p:spPr>
      </p:sp>
      <p:sp>
        <p:nvSpPr>
          <p:cNvPr id="23" name="Shape 21"/>
          <p:cNvSpPr/>
          <p:nvPr/>
        </p:nvSpPr>
        <p:spPr>
          <a:xfrm>
            <a:off x="4754880" y="5623560"/>
            <a:ext cx="6812280" cy="566928"/>
          </a:xfrm>
          <a:prstGeom prst="roundRect">
            <a:avLst>
              <a:gd name="adj" fmla="val 16129"/>
            </a:avLst>
          </a:prstGeom>
          <a:solidFill>
            <a:srgbClr val="2E9E63"/>
          </a:solidFill>
          <a:ln w="12700">
            <a:solidFill>
              <a:srgbClr val="2E9E63"/>
            </a:solidFill>
            <a:prstDash val="solid"/>
          </a:ln>
        </p:spPr>
      </p:sp>
      <p:sp>
        <p:nvSpPr>
          <p:cNvPr id="24" name="Text 22"/>
          <p:cNvSpPr/>
          <p:nvPr/>
        </p:nvSpPr>
        <p:spPr>
          <a:xfrm>
            <a:off x="4754880" y="5623560"/>
            <a:ext cx="6812280" cy="56692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NEVER relaxed per environment:  NetworkPolicy · Pod Security · token mounting</a:t>
            </a:r>
            <a:endParaRPr lang="en-US" sz="1150" dirty="0"/>
          </a:p>
        </p:txBody>
      </p:sp>
      <p:sp>
        <p:nvSpPr>
          <p:cNvPr id="25" name="Text 23"/>
          <p:cNvSpPr/>
          <p:nvPr/>
        </p:nvSpPr>
        <p:spPr>
          <a:xfrm>
            <a:off x="685800" y="4800600"/>
            <a:ext cx="2377440" cy="731520"/>
          </a:xfrm>
          <a:prstGeom prst="rect">
            <a:avLst/>
          </a:prstGeom>
          <a:noFill/>
          <a:ln/>
        </p:spPr>
        <p:txBody>
          <a:bodyPr wrap="square" lIns="0" tIns="0" rIns="0" bIns="0" rtlCol="0" anchor="ctr"/>
          <a:lstStyle/>
          <a:p>
            <a:pPr algn="ctr" indent="0" marL="0">
              <a:lnSpc>
                <a:spcPts val="1400"/>
              </a:lnSpc>
              <a:buNone/>
            </a:pPr>
            <a:r>
              <a:rPr lang="en-US" sz="1150" b="1" dirty="0">
                <a:solidFill>
                  <a:srgbClr val="1C7293"/>
                </a:solidFill>
                <a:latin typeface="Calibri" pitchFamily="34" charset="0"/>
                <a:ea typeface="Calibri" pitchFamily="34" charset="-122"/>
                <a:cs typeface="Calibri" pitchFamily="34" charset="-120"/>
              </a:rPr>
              <a:t>Structure identical.</a:t>
            </a:r>
            <a:endParaRPr lang="en-US" sz="1150" dirty="0"/>
          </a:p>
          <a:p>
            <a:pPr algn="ctr" indent="0" marL="0">
              <a:lnSpc>
                <a:spcPts val="1400"/>
              </a:lnSpc>
              <a:buNone/>
            </a:pPr>
            <a:r>
              <a:rPr lang="en-US" sz="1150" b="1" dirty="0">
                <a:solidFill>
                  <a:srgbClr val="1C7293"/>
                </a:solidFill>
                <a:latin typeface="Calibri" pitchFamily="34" charset="0"/>
                <a:ea typeface="Calibri" pitchFamily="34" charset="-122"/>
                <a:cs typeface="Calibri" pitchFamily="34" charset="-120"/>
              </a:rPr>
              <a:t>Only numbers differ.</a:t>
            </a:r>
            <a:endParaRPr lang="en-US" sz="1150" dirty="0"/>
          </a:p>
        </p:txBody>
      </p:sp>
      <p:sp>
        <p:nvSpPr>
          <p:cNvPr id="26" name="Text 2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27" name="Text 2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005840"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00584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M5.4</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The five values files, and when each is right</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Read them in that order. Each is a set of arguments about trade-offs; the comments are the teaching material.</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7839" cy="914400"/>
        </p:xfrm>
        <a:graphic>
          <a:graphicData uri="http://schemas.openxmlformats.org/drawingml/2006/table">
            <a:tbl>
              <a:tblPr/>
              <a:tblGrid>
                <a:gridCol w="2651760"/>
                <a:gridCol w="2286000"/>
                <a:gridCol w="612648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File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Pods · CPU</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is for</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values.yaml</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26 · 1670m</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The classroom default. Profile A, three nodes.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values-dev.yaml</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12 · 760m</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One replica each. No Ingress, no operator CRs, debug logs.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values-staging.yaml</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22 · 1420m</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Production's SHAPE at smaller numbers. Load generator on.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values-prod.yaml</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41 · 3380m</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Anti-affinity, PDBs, maxSurge 2, 99.95% SLO. Read it; do not install it.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values-slim.yaml</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9 · 275m</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The rescue for a constrained laptop. Says at the top what you lose.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8" name="Text 5"/>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540764"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54076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GUIDED LABS</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L5.3 + L5.4</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Packaging and promotion</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Render 69 objects and predict them before you look</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Install the entire platform in one command</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Deliberately break the selector and read `field is immutable`</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Wedge a release with a bad image, then --atomic your way out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Diff three environments as data, and reconcile real drift</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The platform installs from zero in one command</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You have caused and recovered from a failed release</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LAB=L5.3 &amp;&amp; make validate-lab LAB=L5.4</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90 minutes   ·   labs/day5/L5.3-helm-packaging/, L5.4-promotion.md</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4000" b="1" dirty="0">
                <a:solidFill>
                  <a:srgbClr val="F2A03D"/>
                </a:solidFill>
                <a:latin typeface="Cambria" pitchFamily="34" charset="0"/>
                <a:ea typeface="Cambria" pitchFamily="34" charset="-122"/>
                <a:cs typeface="Cambria" pitchFamily="34" charset="-120"/>
              </a:rPr>
              <a:t>M5.5 – M5.6</a:t>
            </a:r>
            <a:endParaRPr lang="en-US" sz="40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Observability</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Make the SLO a query, and connect a spike on a graph to the line that caused it</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Trace the path from a Python counter to a graph, naming every hop</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Write PromQL for the four golden signals and one business question</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Explain why a histogram, not an average, answers 'how slow is it'</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Follow one payment across seven services from a single ID</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65 min</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856232"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8562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M5.5 · METRICS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Four hops from a counter to a graph</a:t>
            </a:r>
            <a:endParaRPr lang="en-US" sz="3200" dirty="0"/>
          </a:p>
        </p:txBody>
      </p:sp>
      <p:sp>
        <p:nvSpPr>
          <p:cNvPr id="5" name="Shape 3"/>
          <p:cNvSpPr/>
          <p:nvPr/>
        </p:nvSpPr>
        <p:spPr>
          <a:xfrm>
            <a:off x="685800" y="2651760"/>
            <a:ext cx="2148840" cy="1188720"/>
          </a:xfrm>
          <a:prstGeom prst="roundRect">
            <a:avLst>
              <a:gd name="adj" fmla="val 6154"/>
            </a:avLst>
          </a:prstGeom>
          <a:solidFill>
            <a:srgbClr val="1B4066"/>
          </a:solidFill>
          <a:ln w="12700">
            <a:solidFill>
              <a:srgbClr val="1B4066"/>
            </a:solidFill>
            <a:prstDash val="solid"/>
          </a:ln>
        </p:spPr>
      </p:sp>
      <p:sp>
        <p:nvSpPr>
          <p:cNvPr id="6" name="Text 4"/>
          <p:cNvSpPr/>
          <p:nvPr/>
        </p:nvSpPr>
        <p:spPr>
          <a:xfrm>
            <a:off x="758952" y="2743200"/>
            <a:ext cx="2002536" cy="546811"/>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Counter.inc()</a:t>
            </a:r>
            <a:endParaRPr lang="en-US" sz="1300" dirty="0"/>
          </a:p>
        </p:txBody>
      </p:sp>
      <p:sp>
        <p:nvSpPr>
          <p:cNvPr id="7" name="Text 5"/>
          <p:cNvSpPr/>
          <p:nvPr/>
        </p:nvSpPr>
        <p:spPr>
          <a:xfrm>
            <a:off x="758952" y="3222346"/>
            <a:ext cx="2002536" cy="546811"/>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in the code</a:t>
            </a:r>
            <a:endParaRPr lang="en-US" sz="1000" dirty="0"/>
          </a:p>
        </p:txBody>
      </p:sp>
      <p:sp>
        <p:nvSpPr>
          <p:cNvPr id="8" name="Shape 6"/>
          <p:cNvSpPr/>
          <p:nvPr/>
        </p:nvSpPr>
        <p:spPr>
          <a:xfrm>
            <a:off x="3246120" y="2651760"/>
            <a:ext cx="1965960" cy="1188720"/>
          </a:xfrm>
          <a:prstGeom prst="roundRect">
            <a:avLst>
              <a:gd name="adj" fmla="val 6154"/>
            </a:avLst>
          </a:prstGeom>
          <a:solidFill>
            <a:srgbClr val="1B4066"/>
          </a:solidFill>
          <a:ln w="12700">
            <a:solidFill>
              <a:srgbClr val="1B4066"/>
            </a:solidFill>
            <a:prstDash val="solid"/>
          </a:ln>
        </p:spPr>
      </p:sp>
      <p:sp>
        <p:nvSpPr>
          <p:cNvPr id="9" name="Text 7"/>
          <p:cNvSpPr/>
          <p:nvPr/>
        </p:nvSpPr>
        <p:spPr>
          <a:xfrm>
            <a:off x="3319272" y="2743200"/>
            <a:ext cx="1819656" cy="546811"/>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/metrics</a:t>
            </a:r>
            <a:endParaRPr lang="en-US" sz="1300" dirty="0"/>
          </a:p>
        </p:txBody>
      </p:sp>
      <p:sp>
        <p:nvSpPr>
          <p:cNvPr id="10" name="Text 8"/>
          <p:cNvSpPr/>
          <p:nvPr/>
        </p:nvSpPr>
        <p:spPr>
          <a:xfrm>
            <a:off x="3319272" y="3222346"/>
            <a:ext cx="1819656" cy="546811"/>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a text endpoint</a:t>
            </a:r>
            <a:endParaRPr lang="en-US" sz="1000" dirty="0"/>
          </a:p>
        </p:txBody>
      </p:sp>
      <p:sp>
        <p:nvSpPr>
          <p:cNvPr id="11" name="Shape 9"/>
          <p:cNvSpPr/>
          <p:nvPr/>
        </p:nvSpPr>
        <p:spPr>
          <a:xfrm>
            <a:off x="5623560" y="2651760"/>
            <a:ext cx="2194560" cy="1188720"/>
          </a:xfrm>
          <a:prstGeom prst="roundRect">
            <a:avLst>
              <a:gd name="adj" fmla="val 6154"/>
            </a:avLst>
          </a:prstGeom>
          <a:solidFill>
            <a:srgbClr val="1C7293"/>
          </a:solidFill>
          <a:ln w="12700">
            <a:solidFill>
              <a:srgbClr val="1C7293"/>
            </a:solidFill>
            <a:prstDash val="solid"/>
          </a:ln>
        </p:spPr>
      </p:sp>
      <p:sp>
        <p:nvSpPr>
          <p:cNvPr id="12" name="Text 10"/>
          <p:cNvSpPr/>
          <p:nvPr/>
        </p:nvSpPr>
        <p:spPr>
          <a:xfrm>
            <a:off x="5696712" y="2743200"/>
            <a:ext cx="2048256" cy="546811"/>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Prometheus</a:t>
            </a:r>
            <a:endParaRPr lang="en-US" sz="1300" dirty="0"/>
          </a:p>
        </p:txBody>
      </p:sp>
      <p:sp>
        <p:nvSpPr>
          <p:cNvPr id="13" name="Text 11"/>
          <p:cNvSpPr/>
          <p:nvPr/>
        </p:nvSpPr>
        <p:spPr>
          <a:xfrm>
            <a:off x="5696712" y="3222346"/>
            <a:ext cx="2048256" cy="546811"/>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PULLS every 15s</a:t>
            </a:r>
            <a:endParaRPr lang="en-US" sz="1000" dirty="0"/>
          </a:p>
        </p:txBody>
      </p:sp>
      <p:sp>
        <p:nvSpPr>
          <p:cNvPr id="14" name="Shape 12"/>
          <p:cNvSpPr/>
          <p:nvPr/>
        </p:nvSpPr>
        <p:spPr>
          <a:xfrm>
            <a:off x="8229600" y="2651760"/>
            <a:ext cx="1508760" cy="1188720"/>
          </a:xfrm>
          <a:prstGeom prst="roundRect">
            <a:avLst>
              <a:gd name="adj" fmla="val 6154"/>
            </a:avLst>
          </a:prstGeom>
          <a:solidFill>
            <a:srgbClr val="1B4066"/>
          </a:solidFill>
          <a:ln w="12700">
            <a:solidFill>
              <a:srgbClr val="1B4066"/>
            </a:solidFill>
            <a:prstDash val="solid"/>
          </a:ln>
        </p:spPr>
      </p:sp>
      <p:sp>
        <p:nvSpPr>
          <p:cNvPr id="15" name="Text 13"/>
          <p:cNvSpPr/>
          <p:nvPr/>
        </p:nvSpPr>
        <p:spPr>
          <a:xfrm>
            <a:off x="8302752" y="2743200"/>
            <a:ext cx="1362456" cy="546811"/>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TSDB</a:t>
            </a:r>
            <a:endParaRPr lang="en-US" sz="1300" dirty="0"/>
          </a:p>
        </p:txBody>
      </p:sp>
      <p:sp>
        <p:nvSpPr>
          <p:cNvPr id="16" name="Text 14"/>
          <p:cNvSpPr/>
          <p:nvPr/>
        </p:nvSpPr>
        <p:spPr>
          <a:xfrm>
            <a:off x="8302752" y="3222346"/>
            <a:ext cx="1362456" cy="546811"/>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6h</a:t>
            </a:r>
            <a:endParaRPr lang="en-US" sz="1000" dirty="0"/>
          </a:p>
        </p:txBody>
      </p:sp>
      <p:sp>
        <p:nvSpPr>
          <p:cNvPr id="17" name="Shape 15"/>
          <p:cNvSpPr/>
          <p:nvPr/>
        </p:nvSpPr>
        <p:spPr>
          <a:xfrm>
            <a:off x="10149840" y="2651760"/>
            <a:ext cx="1325880" cy="1188720"/>
          </a:xfrm>
          <a:prstGeom prst="roundRect">
            <a:avLst>
              <a:gd name="adj" fmla="val 6154"/>
            </a:avLst>
          </a:prstGeom>
          <a:solidFill>
            <a:srgbClr val="2E9E63"/>
          </a:solidFill>
          <a:ln w="12700">
            <a:solidFill>
              <a:srgbClr val="2E9E63"/>
            </a:solidFill>
            <a:prstDash val="solid"/>
          </a:ln>
        </p:spPr>
      </p:sp>
      <p:sp>
        <p:nvSpPr>
          <p:cNvPr id="18" name="Text 16"/>
          <p:cNvSpPr/>
          <p:nvPr/>
        </p:nvSpPr>
        <p:spPr>
          <a:xfrm>
            <a:off x="10222992" y="2651760"/>
            <a:ext cx="1179576" cy="11887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Grafana</a:t>
            </a:r>
            <a:endParaRPr lang="en-US" sz="1300" dirty="0"/>
          </a:p>
        </p:txBody>
      </p:sp>
      <p:sp>
        <p:nvSpPr>
          <p:cNvPr id="19" name="Shape 17"/>
          <p:cNvSpPr/>
          <p:nvPr/>
        </p:nvSpPr>
        <p:spPr>
          <a:xfrm>
            <a:off x="2880360" y="3246120"/>
            <a:ext cx="320040" cy="0"/>
          </a:xfrm>
          <a:prstGeom prst="line">
            <a:avLst/>
          </a:prstGeom>
          <a:noFill/>
          <a:ln w="25400">
            <a:solidFill>
              <a:srgbClr val="F2A03D"/>
            </a:solidFill>
            <a:prstDash val="solid"/>
            <a:tailEnd type="triangle"/>
          </a:ln>
        </p:spPr>
      </p:sp>
      <p:sp>
        <p:nvSpPr>
          <p:cNvPr id="20" name="Shape 18"/>
          <p:cNvSpPr/>
          <p:nvPr/>
        </p:nvSpPr>
        <p:spPr>
          <a:xfrm>
            <a:off x="5257800" y="3246120"/>
            <a:ext cx="320040" cy="0"/>
          </a:xfrm>
          <a:prstGeom prst="line">
            <a:avLst/>
          </a:prstGeom>
          <a:noFill/>
          <a:ln w="25400">
            <a:solidFill>
              <a:srgbClr val="F2A03D"/>
            </a:solidFill>
            <a:prstDash val="solid"/>
            <a:tailEnd type="triangle"/>
          </a:ln>
        </p:spPr>
      </p:sp>
      <p:sp>
        <p:nvSpPr>
          <p:cNvPr id="21" name="Shape 19"/>
          <p:cNvSpPr/>
          <p:nvPr/>
        </p:nvSpPr>
        <p:spPr>
          <a:xfrm>
            <a:off x="7863840" y="3246120"/>
            <a:ext cx="320040" cy="0"/>
          </a:xfrm>
          <a:prstGeom prst="line">
            <a:avLst/>
          </a:prstGeom>
          <a:noFill/>
          <a:ln w="25400">
            <a:solidFill>
              <a:srgbClr val="F2A03D"/>
            </a:solidFill>
            <a:prstDash val="solid"/>
            <a:tailEnd type="triangle"/>
          </a:ln>
        </p:spPr>
      </p:sp>
      <p:sp>
        <p:nvSpPr>
          <p:cNvPr id="22" name="Shape 20"/>
          <p:cNvSpPr/>
          <p:nvPr/>
        </p:nvSpPr>
        <p:spPr>
          <a:xfrm>
            <a:off x="9784080" y="3246120"/>
            <a:ext cx="320040" cy="0"/>
          </a:xfrm>
          <a:prstGeom prst="line">
            <a:avLst/>
          </a:prstGeom>
          <a:noFill/>
          <a:ln w="25400">
            <a:solidFill>
              <a:srgbClr val="F2A03D"/>
            </a:solidFill>
            <a:prstDash val="solid"/>
            <a:tailEnd type="triangle"/>
          </a:ln>
        </p:spPr>
      </p:sp>
      <p:sp>
        <p:nvSpPr>
          <p:cNvPr id="23" name="Shape 21"/>
          <p:cNvSpPr/>
          <p:nvPr/>
        </p:nvSpPr>
        <p:spPr>
          <a:xfrm>
            <a:off x="5394960" y="4480560"/>
            <a:ext cx="2651760" cy="914400"/>
          </a:xfrm>
          <a:prstGeom prst="roundRect">
            <a:avLst>
              <a:gd name="adj" fmla="val 8000"/>
            </a:avLst>
          </a:prstGeom>
          <a:solidFill>
            <a:srgbClr val="8E6FBF"/>
          </a:solidFill>
          <a:ln w="12700">
            <a:solidFill>
              <a:srgbClr val="8E6FBF"/>
            </a:solidFill>
            <a:prstDash val="solid"/>
          </a:ln>
        </p:spPr>
      </p:sp>
      <p:sp>
        <p:nvSpPr>
          <p:cNvPr id="24" name="Text 22"/>
          <p:cNvSpPr/>
          <p:nvPr/>
        </p:nvSpPr>
        <p:spPr>
          <a:xfrm>
            <a:off x="5468112" y="4572000"/>
            <a:ext cx="2505456"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ServiceMonitor</a:t>
            </a:r>
            <a:endParaRPr lang="en-US" sz="1300" dirty="0"/>
          </a:p>
        </p:txBody>
      </p:sp>
      <p:sp>
        <p:nvSpPr>
          <p:cNvPr id="25" name="Text 23"/>
          <p:cNvSpPr/>
          <p:nvPr/>
        </p:nvSpPr>
        <p:spPr>
          <a:xfrm>
            <a:off x="5468112" y="4919472"/>
            <a:ext cx="2505456" cy="420624"/>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a CRD, not Kubernetes</a:t>
            </a:r>
            <a:endParaRPr lang="en-US" sz="1000" dirty="0"/>
          </a:p>
        </p:txBody>
      </p:sp>
      <p:sp>
        <p:nvSpPr>
          <p:cNvPr id="26" name="Shape 24"/>
          <p:cNvSpPr/>
          <p:nvPr/>
        </p:nvSpPr>
        <p:spPr>
          <a:xfrm>
            <a:off x="6720840" y="4434840"/>
            <a:ext cx="0" cy="-548640"/>
          </a:xfrm>
          <a:prstGeom prst="line">
            <a:avLst/>
          </a:prstGeom>
          <a:noFill/>
          <a:ln w="25400">
            <a:solidFill>
              <a:srgbClr val="8E6FBF"/>
            </a:solidFill>
            <a:prstDash val="dash"/>
            <a:tailEnd type="triangle"/>
          </a:ln>
        </p:spPr>
      </p:sp>
      <p:sp>
        <p:nvSpPr>
          <p:cNvPr id="27" name="Text 25"/>
          <p:cNvSpPr/>
          <p:nvPr/>
        </p:nvSpPr>
        <p:spPr>
          <a:xfrm>
            <a:off x="8183880" y="4526280"/>
            <a:ext cx="3291840" cy="822960"/>
          </a:xfrm>
          <a:prstGeom prst="rect">
            <a:avLst/>
          </a:prstGeom>
          <a:noFill/>
          <a:ln/>
        </p:spPr>
        <p:txBody>
          <a:bodyPr wrap="square" lIns="0" tIns="0" rIns="0" bIns="0" rtlCol="0" anchor="ctr"/>
          <a:lstStyle/>
          <a:p>
            <a:pPr indent="0" marL="0">
              <a:lnSpc>
                <a:spcPts val="1300"/>
              </a:lnSpc>
              <a:buNone/>
            </a:pPr>
            <a:r>
              <a:rPr lang="en-US" sz="1050" dirty="0">
                <a:solidFill>
                  <a:srgbClr val="D8E6F2"/>
                </a:solidFill>
                <a:latin typeface="Calibri" pitchFamily="34" charset="0"/>
                <a:ea typeface="Calibri" pitchFamily="34" charset="-122"/>
                <a:cs typeface="Calibri" pitchFamily="34" charset="-120"/>
              </a:rPr>
              <a:t>the operator generates</a:t>
            </a:r>
            <a:endParaRPr lang="en-US" sz="1050" dirty="0"/>
          </a:p>
          <a:p>
            <a:pPr indent="0" marL="0">
              <a:lnSpc>
                <a:spcPts val="1300"/>
              </a:lnSpc>
              <a:buNone/>
            </a:pPr>
            <a:r>
              <a:rPr lang="en-US" sz="1050" dirty="0">
                <a:solidFill>
                  <a:srgbClr val="D8E6F2"/>
                </a:solidFill>
                <a:latin typeface="Calibri" pitchFamily="34" charset="0"/>
                <a:ea typeface="Calibri" pitchFamily="34" charset="-122"/>
                <a:cs typeface="Calibri" pitchFamily="34" charset="-120"/>
              </a:rPr>
              <a:t>the scrape config</a:t>
            </a:r>
            <a:endParaRPr lang="en-US" sz="1050" dirty="0"/>
          </a:p>
        </p:txBody>
      </p:sp>
      <p:sp>
        <p:nvSpPr>
          <p:cNvPr id="28" name="Shape 26"/>
          <p:cNvSpPr/>
          <p:nvPr/>
        </p:nvSpPr>
        <p:spPr>
          <a:xfrm>
            <a:off x="685800" y="4480560"/>
            <a:ext cx="4434840" cy="914400"/>
          </a:xfrm>
          <a:prstGeom prst="roundRect">
            <a:avLst>
              <a:gd name="adj" fmla="val 10000"/>
            </a:avLst>
          </a:prstGeom>
          <a:solidFill>
            <a:srgbClr val="12314F"/>
          </a:solidFill>
          <a:ln w="25400">
            <a:solidFill>
              <a:srgbClr val="D64545"/>
            </a:solidFill>
            <a:prstDash val="solid"/>
          </a:ln>
        </p:spPr>
      </p:sp>
      <p:sp>
        <p:nvSpPr>
          <p:cNvPr id="29" name="Text 27"/>
          <p:cNvSpPr/>
          <p:nvPr/>
        </p:nvSpPr>
        <p:spPr>
          <a:xfrm>
            <a:off x="777240" y="4553712"/>
            <a:ext cx="4251960" cy="329184"/>
          </a:xfrm>
          <a:prstGeom prst="rect">
            <a:avLst/>
          </a:prstGeom>
          <a:noFill/>
          <a:ln/>
        </p:spPr>
        <p:txBody>
          <a:bodyPr wrap="square" lIns="0" tIns="0" rIns="0" bIns="0" rtlCol="0" anchor="ctr"/>
          <a:lstStyle/>
          <a:p>
            <a:pPr algn="ctr" indent="0" marL="0">
              <a:buNone/>
            </a:pPr>
            <a:r>
              <a:rPr lang="en-US" sz="1200" b="1" dirty="0">
                <a:solidFill>
                  <a:srgbClr val="D64545"/>
                </a:solidFill>
                <a:latin typeface="Cambria" pitchFamily="34" charset="0"/>
                <a:ea typeface="Cambria" pitchFamily="34" charset="-122"/>
                <a:cs typeface="Cambria" pitchFamily="34" charset="-120"/>
              </a:rPr>
              <a:t>MISSING ≠ DOWN</a:t>
            </a:r>
            <a:endParaRPr lang="en-US" sz="1200" dirty="0"/>
          </a:p>
        </p:txBody>
      </p:sp>
      <p:sp>
        <p:nvSpPr>
          <p:cNvPr id="30" name="Text 28"/>
          <p:cNvSpPr/>
          <p:nvPr/>
        </p:nvSpPr>
        <p:spPr>
          <a:xfrm>
            <a:off x="777240" y="4882896"/>
            <a:ext cx="4251960" cy="457200"/>
          </a:xfrm>
          <a:prstGeom prst="rect">
            <a:avLst/>
          </a:prstGeom>
          <a:noFill/>
          <a:ln/>
        </p:spPr>
        <p:txBody>
          <a:bodyPr wrap="square" lIns="0" tIns="0" rIns="0" bIns="0" rtlCol="0" anchor="ctr"/>
          <a:lstStyle/>
          <a:p>
            <a:pPr algn="ctr" indent="0" marL="0">
              <a:buNone/>
            </a:pPr>
            <a:r>
              <a:rPr lang="en-US" sz="1050" dirty="0">
                <a:solidFill>
                  <a:srgbClr val="D8E6F2"/>
                </a:solidFill>
                <a:latin typeface="Calibri" pitchFamily="34" charset="0"/>
                <a:ea typeface="Calibri" pitchFamily="34" charset="-122"/>
                <a:cs typeface="Calibri" pitchFamily="34" charset="-120"/>
              </a:rPr>
              <a:t>down = tried and failed.   missing = never selected.</a:t>
            </a:r>
            <a:endParaRPr lang="en-US" sz="1050" dirty="0"/>
          </a:p>
        </p:txBody>
      </p:sp>
      <p:sp>
        <p:nvSpPr>
          <p:cNvPr id="31" name="Text 29"/>
          <p:cNvSpPr/>
          <p:nvPr/>
        </p:nvSpPr>
        <p:spPr>
          <a:xfrm>
            <a:off x="566928" y="5779008"/>
            <a:ext cx="11057839" cy="457200"/>
          </a:xfrm>
          <a:prstGeom prst="rect">
            <a:avLst/>
          </a:prstGeom>
          <a:noFill/>
          <a:ln/>
        </p:spPr>
        <p:txBody>
          <a:bodyPr wrap="square" lIns="0" tIns="0" rIns="0" bIns="0" rtlCol="0" anchor="ctr"/>
          <a:lstStyle/>
          <a:p>
            <a:pPr algn="ctr" indent="0" marL="0">
              <a:buNone/>
            </a:pPr>
            <a:r>
              <a:rPr lang="en-US" sz="1500" b="1" dirty="0">
                <a:solidFill>
                  <a:srgbClr val="F2A03D"/>
                </a:solidFill>
                <a:latin typeface="Calibri" pitchFamily="34" charset="0"/>
                <a:ea typeface="Calibri" pitchFamily="34" charset="-122"/>
                <a:cs typeface="Calibri" pitchFamily="34" charset="-120"/>
              </a:rPr>
              <a:t>No release label → Prometheus ignores the object. Valid YAML, zero targets.</a:t>
            </a:r>
            <a:endParaRPr lang="en-US" sz="1500" dirty="0"/>
          </a:p>
        </p:txBody>
      </p:sp>
      <p:sp>
        <p:nvSpPr>
          <p:cNvPr id="32" name="Text 30"/>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33" name="Text 31"/>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59232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59232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M5.5 · GOLDEN SIGNALS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Four signals, and the two mistakes almost everyone makes</a:t>
            </a:r>
            <a:endParaRPr lang="en-US" sz="3200" dirty="0"/>
          </a:p>
        </p:txBody>
      </p:sp>
      <p:sp>
        <p:nvSpPr>
          <p:cNvPr id="5" name="Shape 3"/>
          <p:cNvSpPr/>
          <p:nvPr/>
        </p:nvSpPr>
        <p:spPr>
          <a:xfrm>
            <a:off x="566928" y="1737360"/>
            <a:ext cx="11057839" cy="566928"/>
          </a:xfrm>
          <a:prstGeom prst="roundRect">
            <a:avLst>
              <a:gd name="adj" fmla="val 12903"/>
            </a:avLst>
          </a:prstGeom>
          <a:solidFill>
            <a:srgbClr val="EAF1F8"/>
          </a:solidFill>
          <a:ln w="12700">
            <a:solidFill>
              <a:srgbClr val="1C7293"/>
            </a:solidFill>
            <a:prstDash val="solid"/>
          </a:ln>
        </p:spPr>
      </p:sp>
      <p:sp>
        <p:nvSpPr>
          <p:cNvPr id="6" name="Text 4"/>
          <p:cNvSpPr/>
          <p:nvPr/>
        </p:nvSpPr>
        <p:spPr>
          <a:xfrm>
            <a:off x="768096" y="1737360"/>
            <a:ext cx="10655503" cy="566928"/>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Why is the average latency the wrong number, and why is a 409 not an error?</a:t>
            </a:r>
            <a:endParaRPr lang="en-US" sz="1500" dirty="0"/>
          </a:p>
        </p:txBody>
      </p:sp>
      <p:sp>
        <p:nvSpPr>
          <p:cNvPr id="7" name="Shape 5"/>
          <p:cNvSpPr/>
          <p:nvPr/>
        </p:nvSpPr>
        <p:spPr>
          <a:xfrm>
            <a:off x="566928" y="2712339"/>
            <a:ext cx="402336" cy="402336"/>
          </a:xfrm>
          <a:prstGeom prst="ellipse">
            <a:avLst/>
          </a:prstGeom>
          <a:solidFill>
            <a:srgbClr val="1C7293"/>
          </a:solidFill>
          <a:ln w="12700">
            <a:solidFill>
              <a:srgbClr val="1C7293"/>
            </a:solidFill>
            <a:prstDash val="solid"/>
          </a:ln>
        </p:spPr>
      </p:sp>
      <p:sp>
        <p:nvSpPr>
          <p:cNvPr id="8" name="Text 6"/>
          <p:cNvSpPr/>
          <p:nvPr/>
        </p:nvSpPr>
        <p:spPr>
          <a:xfrm>
            <a:off x="566928" y="271233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p:nvPr/>
        </p:nvSpPr>
        <p:spPr>
          <a:xfrm>
            <a:off x="1133856" y="2487168"/>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Traffic — how much is happening</a:t>
            </a:r>
            <a:endParaRPr lang="en-US" sz="1400" dirty="0"/>
          </a:p>
        </p:txBody>
      </p:sp>
      <p:sp>
        <p:nvSpPr>
          <p:cNvPr id="10" name="Text 8"/>
          <p:cNvSpPr/>
          <p:nvPr/>
        </p:nvSpPr>
        <p:spPr>
          <a:xfrm>
            <a:off x="4407408" y="2487168"/>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sum by (service) (rate(axispay_http_requests_total[5m])). Probe endpoints are excluded at the application, so this is real traffic and not the kubelet checking on you.</a:t>
            </a:r>
            <a:endParaRPr lang="en-US" sz="1250" dirty="0"/>
          </a:p>
        </p:txBody>
      </p:sp>
      <p:sp>
        <p:nvSpPr>
          <p:cNvPr id="11" name="Shape 9"/>
          <p:cNvSpPr/>
          <p:nvPr/>
        </p:nvSpPr>
        <p:spPr>
          <a:xfrm>
            <a:off x="566928" y="3565017"/>
            <a:ext cx="402336" cy="402336"/>
          </a:xfrm>
          <a:prstGeom prst="ellipse">
            <a:avLst/>
          </a:prstGeom>
          <a:solidFill>
            <a:srgbClr val="D64545"/>
          </a:solidFill>
          <a:ln w="12700">
            <a:solidFill>
              <a:srgbClr val="D64545"/>
            </a:solidFill>
            <a:prstDash val="solid"/>
          </a:ln>
        </p:spPr>
      </p:sp>
      <p:sp>
        <p:nvSpPr>
          <p:cNvPr id="12" name="Text 10"/>
          <p:cNvSpPr/>
          <p:nvPr/>
        </p:nvSpPr>
        <p:spPr>
          <a:xfrm>
            <a:off x="566928" y="356501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1133856" y="3339846"/>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Errors — only 5xx counts</a:t>
            </a:r>
            <a:endParaRPr lang="en-US" sz="1400" dirty="0"/>
          </a:p>
        </p:txBody>
      </p:sp>
      <p:sp>
        <p:nvSpPr>
          <p:cNvPr id="14" name="Text 12"/>
          <p:cNvSpPr/>
          <p:nvPr/>
        </p:nvSpPr>
        <p:spPr>
          <a:xfrm>
            <a:off x="4407408" y="3339846"/>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A 409 from a fraud decline and a 402 for insufficient funds are the system working correctly. Counting them burns the error budget on the risk engine doing its job, and trains the on-call to ignore the alert.</a:t>
            </a:r>
            <a:endParaRPr lang="en-US" sz="1250" dirty="0"/>
          </a:p>
        </p:txBody>
      </p:sp>
      <p:sp>
        <p:nvSpPr>
          <p:cNvPr id="15" name="Shape 13"/>
          <p:cNvSpPr/>
          <p:nvPr/>
        </p:nvSpPr>
        <p:spPr>
          <a:xfrm>
            <a:off x="566928" y="4417695"/>
            <a:ext cx="402336" cy="402336"/>
          </a:xfrm>
          <a:prstGeom prst="ellipse">
            <a:avLst/>
          </a:prstGeom>
          <a:solidFill>
            <a:srgbClr val="C97B1E"/>
          </a:solidFill>
          <a:ln w="12700">
            <a:solidFill>
              <a:srgbClr val="C97B1E"/>
            </a:solidFill>
            <a:prstDash val="solid"/>
          </a:ln>
        </p:spPr>
      </p:sp>
      <p:sp>
        <p:nvSpPr>
          <p:cNvPr id="16" name="Text 14"/>
          <p:cNvSpPr/>
          <p:nvPr/>
        </p:nvSpPr>
        <p:spPr>
          <a:xfrm>
            <a:off x="566928" y="441769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7" name="Text 15"/>
          <p:cNvSpPr/>
          <p:nvPr/>
        </p:nvSpPr>
        <p:spPr>
          <a:xfrm>
            <a:off x="1133856" y="4192524"/>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Latency — a histogram, never an average</a:t>
            </a:r>
            <a:endParaRPr lang="en-US" sz="1400" dirty="0"/>
          </a:p>
        </p:txBody>
      </p:sp>
      <p:sp>
        <p:nvSpPr>
          <p:cNvPr id="18" name="Text 16"/>
          <p:cNvSpPr/>
          <p:nvPr/>
        </p:nvSpPr>
        <p:spPr>
          <a:xfrm>
            <a:off x="4407408" y="4192524"/>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If 99 requests take 10ms and one takes 3s, the average is 40ms. One merchant in a hundred waited three seconds. The SLO is written on the p99 because that is the customer you are about to lose.</a:t>
            </a:r>
            <a:endParaRPr lang="en-US" sz="1250" dirty="0"/>
          </a:p>
        </p:txBody>
      </p:sp>
      <p:sp>
        <p:nvSpPr>
          <p:cNvPr id="19" name="Shape 17"/>
          <p:cNvSpPr/>
          <p:nvPr/>
        </p:nvSpPr>
        <p:spPr>
          <a:xfrm>
            <a:off x="566928" y="5270373"/>
            <a:ext cx="402336" cy="402336"/>
          </a:xfrm>
          <a:prstGeom prst="ellipse">
            <a:avLst/>
          </a:prstGeom>
          <a:solidFill>
            <a:srgbClr val="8E6FBF"/>
          </a:solidFill>
          <a:ln w="12700">
            <a:solidFill>
              <a:srgbClr val="8E6FBF"/>
            </a:solidFill>
            <a:prstDash val="solid"/>
          </a:ln>
        </p:spPr>
      </p:sp>
      <p:sp>
        <p:nvSpPr>
          <p:cNvPr id="20" name="Text 18"/>
          <p:cNvSpPr/>
          <p:nvPr/>
        </p:nvSpPr>
        <p:spPr>
          <a:xfrm>
            <a:off x="566928" y="527037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1" name="Text 19"/>
          <p:cNvSpPr/>
          <p:nvPr/>
        </p:nvSpPr>
        <p:spPr>
          <a:xfrm>
            <a:off x="1133856" y="5045202"/>
            <a:ext cx="3200400" cy="85267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Saturation — measured against the REQUEST</a:t>
            </a:r>
            <a:endParaRPr lang="en-US" sz="1400" dirty="0"/>
          </a:p>
        </p:txBody>
      </p:sp>
      <p:sp>
        <p:nvSpPr>
          <p:cNvPr id="22" name="Text 20"/>
          <p:cNvSpPr/>
          <p:nvPr/>
        </p:nvSpPr>
        <p:spPr>
          <a:xfrm>
            <a:off x="4407408" y="5045202"/>
            <a:ext cx="7217359" cy="852678"/>
          </a:xfrm>
          <a:prstGeom prst="rect">
            <a:avLst/>
          </a:prstGeom>
          <a:noFill/>
          <a:ln/>
        </p:spPr>
        <p:txBody>
          <a:bodyPr wrap="square" lIns="0" tIns="0" rIns="0" bIns="0" rtlCol="0" anchor="ctr"/>
          <a:lstStyle/>
          <a:p>
            <a:pPr indent="0" marL="0">
              <a:lnSpc>
                <a:spcPts val="1600"/>
              </a:lnSpc>
              <a:buNone/>
            </a:pPr>
            <a:r>
              <a:rPr lang="en-US" sz="1250" dirty="0">
                <a:solidFill>
                  <a:srgbClr val="16232F"/>
                </a:solidFill>
                <a:latin typeface="Calibri" pitchFamily="34" charset="0"/>
                <a:ea typeface="Calibri" pitchFamily="34" charset="-122"/>
                <a:cs typeface="Calibri" pitchFamily="34" charset="-120"/>
              </a:rPr>
              <a:t>Not the limit. The HPA divides usage by the request, so that is the number that predicts scaling behaviour. Requests are what the scheduler reserved; limits are where the kernel starts throttling.</a:t>
            </a:r>
            <a:endParaRPr lang="en-US" sz="1250" dirty="0"/>
          </a:p>
        </p:txBody>
      </p:sp>
      <p:sp>
        <p:nvSpPr>
          <p:cNvPr id="23" name="Text 21"/>
          <p:cNvSpPr/>
          <p:nvPr/>
        </p:nvSpPr>
        <p:spPr>
          <a:xfrm>
            <a:off x="566928" y="5687568"/>
            <a:ext cx="11057839" cy="548640"/>
          </a:xfrm>
          <a:prstGeom prst="rect">
            <a:avLst/>
          </a:prstGeom>
          <a:noFill/>
          <a:ln/>
        </p:spPr>
        <p:txBody>
          <a:bodyPr wrap="square" lIns="0" tIns="0" rIns="0" bIns="0" rtlCol="0" anchor="ctr"/>
          <a:lstStyle/>
          <a:p>
            <a:pPr algn="ctr" indent="0" marL="0">
              <a:buNone/>
            </a:pPr>
            <a:r>
              <a:rPr lang="en-US" sz="1400" b="1" dirty="0">
                <a:solidFill>
                  <a:srgbClr val="1C7293"/>
                </a:solidFill>
                <a:latin typeface="Calibri" pitchFamily="34" charset="0"/>
                <a:ea typeface="Calibri" pitchFamily="34" charset="-122"/>
                <a:cs typeface="Calibri" pitchFamily="34" charset="-120"/>
              </a:rPr>
              <a:t>Bucket boundaries sit around 300ms on purpose, so the p99 is accurate exactly where the threshold is.</a:t>
            </a:r>
            <a:endParaRPr lang="en-US" sz="1400" dirty="0"/>
          </a:p>
        </p:txBody>
      </p:sp>
      <p:sp>
        <p:nvSpPr>
          <p:cNvPr id="24" name="Text 22"/>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25" name="Text 23"/>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59232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59232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M5.5 · WORKED EXAMPLE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SLO, as a query</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F2A03D"/>
                </a:solidFill>
                <a:latin typeface="Calibri" pitchFamily="34" charset="0"/>
                <a:ea typeface="Calibri" pitchFamily="34" charset="-122"/>
                <a:cs typeface="Calibri" pitchFamily="34" charset="-120"/>
              </a:rPr>
              <a:t>Availability stops being an opinion the moment it is written down like this.</a:t>
            </a:r>
            <a:endParaRPr lang="en-US" sz="1400" dirty="0"/>
          </a:p>
        </p:txBody>
      </p:sp>
      <p:sp>
        <p:nvSpPr>
          <p:cNvPr id="6" name="Shape 4"/>
          <p:cNvSpPr/>
          <p:nvPr/>
        </p:nvSpPr>
        <p:spPr>
          <a:xfrm>
            <a:off x="566928" y="2249424"/>
            <a:ext cx="11057839" cy="3354705"/>
          </a:xfrm>
          <a:prstGeom prst="roundRect">
            <a:avLst>
              <a:gd name="adj" fmla="val 2181"/>
            </a:avLst>
          </a:prstGeom>
          <a:solidFill>
            <a:srgbClr val="0E2740"/>
          </a:solidFill>
          <a:ln w="12700">
            <a:solidFill>
              <a:srgbClr val="1B4066"/>
            </a:solidFill>
            <a:prstDash val="solid"/>
          </a:ln>
        </p:spPr>
      </p:sp>
      <p:sp>
        <p:nvSpPr>
          <p:cNvPr id="7" name="Shape 5"/>
          <p:cNvSpPr/>
          <p:nvPr/>
        </p:nvSpPr>
        <p:spPr>
          <a:xfrm>
            <a:off x="768096" y="2404872"/>
            <a:ext cx="118872" cy="118872"/>
          </a:xfrm>
          <a:prstGeom prst="ellipse">
            <a:avLst/>
          </a:prstGeom>
          <a:solidFill>
            <a:srgbClr val="D64545"/>
          </a:solidFill>
          <a:ln w="12700">
            <a:solidFill>
              <a:srgbClr val="D64545"/>
            </a:solidFill>
            <a:prstDash val="solid"/>
          </a:ln>
        </p:spPr>
      </p:sp>
      <p:sp>
        <p:nvSpPr>
          <p:cNvPr id="8" name="Shape 6"/>
          <p:cNvSpPr/>
          <p:nvPr/>
        </p:nvSpPr>
        <p:spPr>
          <a:xfrm>
            <a:off x="987552" y="2404872"/>
            <a:ext cx="118872" cy="118872"/>
          </a:xfrm>
          <a:prstGeom prst="ellipse">
            <a:avLst/>
          </a:prstGeom>
          <a:solidFill>
            <a:srgbClr val="F2A03D"/>
          </a:solidFill>
          <a:ln w="12700">
            <a:solidFill>
              <a:srgbClr val="F2A03D"/>
            </a:solidFill>
            <a:prstDash val="solid"/>
          </a:ln>
        </p:spPr>
      </p:sp>
      <p:sp>
        <p:nvSpPr>
          <p:cNvPr id="9" name="Shape 7"/>
          <p:cNvSpPr/>
          <p:nvPr/>
        </p:nvSpPr>
        <p:spPr>
          <a:xfrm>
            <a:off x="1207008" y="2404872"/>
            <a:ext cx="118872" cy="118872"/>
          </a:xfrm>
          <a:prstGeom prst="ellipse">
            <a:avLst/>
          </a:prstGeom>
          <a:solidFill>
            <a:srgbClr val="2E9E63"/>
          </a:solidFill>
          <a:ln w="12700">
            <a:solidFill>
              <a:srgbClr val="2E9E63"/>
            </a:solidFill>
            <a:prstDash val="solid"/>
          </a:ln>
        </p:spPr>
      </p:sp>
      <p:sp>
        <p:nvSpPr>
          <p:cNvPr id="10" name="Text 8"/>
          <p:cNvSpPr/>
          <p:nvPr/>
        </p:nvSpPr>
        <p:spPr>
          <a:xfrm>
            <a:off x="804672" y="2706624"/>
            <a:ext cx="10600639" cy="2714625"/>
          </a:xfrm>
          <a:prstGeom prst="rect">
            <a:avLst/>
          </a:prstGeom>
          <a:noFill/>
          <a:ln/>
        </p:spPr>
        <p:txBody>
          <a:bodyPr wrap="square" lIns="0" tIns="0" rIns="0" bIns="0" rtlCol="0" anchor="t"/>
          <a:lstStyle/>
          <a:p>
            <a:pPr indent="0" marL="0">
              <a:lnSpc>
                <a:spcPts val="1425"/>
              </a:lnSpc>
              <a:buNone/>
            </a:pPr>
            <a:r>
              <a:rPr lang="en-US" sz="950" dirty="0">
                <a:solidFill>
                  <a:srgbClr val="63758B"/>
                </a:solidFill>
                <a:latin typeface="Courier New" pitchFamily="34" charset="0"/>
                <a:ea typeface="Courier New" pitchFamily="34" charset="-122"/>
                <a:cs typeface="Courier New" pitchFamily="34" charset="-120"/>
              </a:rPr>
              <a:t># availability across a change window</a:t>
            </a:r>
            <a:endParaRPr lang="en-US" sz="950" dirty="0"/>
          </a:p>
          <a:p>
            <a:pPr indent="0" marL="0">
              <a:lnSpc>
                <a:spcPts val="1425"/>
              </a:lnSpc>
              <a:buNone/>
            </a:pPr>
            <a:r>
              <a:rPr lang="en-US" sz="950" b="1" dirty="0">
                <a:solidFill>
                  <a:srgbClr val="F2A03D"/>
                </a:solidFill>
                <a:latin typeface="Courier New" pitchFamily="34" charset="0"/>
                <a:ea typeface="Courier New" pitchFamily="34" charset="-122"/>
                <a:cs typeface="Courier New" pitchFamily="34" charset="-120"/>
              </a:rPr>
              <a:t>sum(rate(axispay_http_requests_total{service="payment-service",</a:t>
            </a:r>
            <a:endParaRPr lang="en-US" sz="950" dirty="0"/>
          </a:p>
          <a:p>
            <a:pPr indent="0" marL="0">
              <a:lnSpc>
                <a:spcPts val="1425"/>
              </a:lnSpc>
              <a:buNone/>
            </a:pPr>
            <a:r>
              <a:rPr lang="en-US" sz="950" b="1" dirty="0">
                <a:solidFill>
                  <a:srgbClr val="F2A03D"/>
                </a:solidFill>
                <a:latin typeface="Courier New" pitchFamily="34" charset="0"/>
                <a:ea typeface="Courier New" pitchFamily="34" charset="-122"/>
                <a:cs typeface="Courier New" pitchFamily="34" charset="-120"/>
              </a:rPr>
              <a:t>                                     status!~"5.."}[110m]))</a:t>
            </a:r>
            <a:endParaRPr lang="en-US" sz="950" dirty="0"/>
          </a:p>
          <a:p>
            <a:pPr indent="0" marL="0">
              <a:lnSpc>
                <a:spcPts val="1425"/>
              </a:lnSpc>
              <a:buNone/>
            </a:pPr>
            <a:r>
              <a:rPr lang="en-US" sz="950" b="1" dirty="0">
                <a:solidFill>
                  <a:srgbClr val="F2A03D"/>
                </a:solidFill>
                <a:latin typeface="Courier New" pitchFamily="34" charset="0"/>
                <a:ea typeface="Courier New" pitchFamily="34" charset="-122"/>
                <a:cs typeface="Courier New" pitchFamily="34" charset="-120"/>
              </a:rPr>
              <a:t>  / sum(rate(axispay_http_requests_total{service="payment-service"}[110m]))</a:t>
            </a:r>
            <a:endParaRPr lang="en-US" sz="950" dirty="0"/>
          </a:p>
          <a:p>
            <a:pPr indent="0" marL="0">
              <a:lnSpc>
                <a:spcPts val="1425"/>
              </a:lnSpc>
              <a:buNone/>
            </a:pPr>
            <a:r>
              <a:rPr lang="en-US" sz="950" dirty="0">
                <a:solidFill>
                  <a:srgbClr val="2E9E63"/>
                </a:solidFill>
                <a:latin typeface="Courier New" pitchFamily="34" charset="0"/>
                <a:ea typeface="Courier New" pitchFamily="34" charset="-122"/>
                <a:cs typeface="Courier New" pitchFamily="34" charset="-120"/>
              </a:rPr>
              <a:t>0.99871      &lt;- 99.87%, against an SLO of 99.5%</a:t>
            </a:r>
            <a:endParaRPr lang="en-US" sz="950" dirty="0"/>
          </a:p>
          <a:p>
            <a:pPr indent="0" marL="0">
              <a:lnSpc>
                <a:spcPts val="1425"/>
              </a:lnSpc>
              <a:buNone/>
            </a:pPr>
            <a:r>
              <a:rPr lang="en-US" sz="950" dirty="0">
                <a:solidFill>
                  <a:srgbClr val="D8E6F2"/>
                </a:solidFill>
                <a:latin typeface="Courier New" pitchFamily="34" charset="0"/>
                <a:ea typeface="Courier New" pitchFamily="34" charset="-122"/>
                <a:cs typeface="Courier New" pitchFamily="34" charset="-120"/>
              </a:rPr>
              <a:t> </a:t>
            </a:r>
            <a:endParaRPr lang="en-US" sz="950" dirty="0"/>
          </a:p>
          <a:p>
            <a:pPr indent="0" marL="0">
              <a:lnSpc>
                <a:spcPts val="1425"/>
              </a:lnSpc>
              <a:buNone/>
            </a:pPr>
            <a:r>
              <a:rPr lang="en-US" sz="950" dirty="0">
                <a:solidFill>
                  <a:srgbClr val="63758B"/>
                </a:solidFill>
                <a:latin typeface="Courier New" pitchFamily="34" charset="0"/>
                <a:ea typeface="Courier New" pitchFamily="34" charset="-122"/>
                <a:cs typeface="Courier New" pitchFamily="34" charset="-120"/>
              </a:rPr>
              <a:t># p99 latency — histogram, not average</a:t>
            </a:r>
            <a:endParaRPr lang="en-US" sz="950" dirty="0"/>
          </a:p>
          <a:p>
            <a:pPr indent="0" marL="0">
              <a:lnSpc>
                <a:spcPts val="1425"/>
              </a:lnSpc>
              <a:buNone/>
            </a:pPr>
            <a:r>
              <a:rPr lang="en-US" sz="950" b="1" dirty="0">
                <a:solidFill>
                  <a:srgbClr val="F2A03D"/>
                </a:solidFill>
                <a:latin typeface="Courier New" pitchFamily="34" charset="0"/>
                <a:ea typeface="Courier New" pitchFamily="34" charset="-122"/>
                <a:cs typeface="Courier New" pitchFamily="34" charset="-120"/>
              </a:rPr>
              <a:t>histogram_quantile(0.99, sum by (le) (rate(</a:t>
            </a:r>
            <a:endParaRPr lang="en-US" sz="950" dirty="0"/>
          </a:p>
          <a:p>
            <a:pPr indent="0" marL="0">
              <a:lnSpc>
                <a:spcPts val="1425"/>
              </a:lnSpc>
              <a:buNone/>
            </a:pPr>
            <a:r>
              <a:rPr lang="en-US" sz="950" b="1" dirty="0">
                <a:solidFill>
                  <a:srgbClr val="F2A03D"/>
                </a:solidFill>
                <a:latin typeface="Courier New" pitchFamily="34" charset="0"/>
                <a:ea typeface="Courier New" pitchFamily="34" charset="-122"/>
                <a:cs typeface="Courier New" pitchFamily="34" charset="-120"/>
              </a:rPr>
              <a:t>  axispay_http_request_duration_seconds_bucket{service="payment-service"}[5m])))</a:t>
            </a:r>
            <a:endParaRPr lang="en-US" sz="950" dirty="0"/>
          </a:p>
          <a:p>
            <a:pPr indent="0" marL="0">
              <a:lnSpc>
                <a:spcPts val="1425"/>
              </a:lnSpc>
              <a:buNone/>
            </a:pPr>
            <a:r>
              <a:rPr lang="en-US" sz="950" dirty="0">
                <a:solidFill>
                  <a:srgbClr val="2E9E63"/>
                </a:solidFill>
                <a:latin typeface="Courier New" pitchFamily="34" charset="0"/>
                <a:ea typeface="Courier New" pitchFamily="34" charset="-122"/>
                <a:cs typeface="Courier New" pitchFamily="34" charset="-120"/>
              </a:rPr>
              <a:t>0.241        &lt;- 241ms, against an SLO of 300ms</a:t>
            </a:r>
            <a:endParaRPr lang="en-US" sz="950" dirty="0"/>
          </a:p>
          <a:p>
            <a:pPr indent="0" marL="0">
              <a:lnSpc>
                <a:spcPts val="1425"/>
              </a:lnSpc>
              <a:buNone/>
            </a:pPr>
            <a:r>
              <a:rPr lang="en-US" sz="950" dirty="0">
                <a:solidFill>
                  <a:srgbClr val="D8E6F2"/>
                </a:solidFill>
                <a:latin typeface="Courier New" pitchFamily="34" charset="0"/>
                <a:ea typeface="Courier New" pitchFamily="34" charset="-122"/>
                <a:cs typeface="Courier New" pitchFamily="34" charset="-120"/>
              </a:rPr>
              <a:t> </a:t>
            </a:r>
            <a:endParaRPr lang="en-US" sz="950" dirty="0"/>
          </a:p>
          <a:p>
            <a:pPr indent="0" marL="0">
              <a:lnSpc>
                <a:spcPts val="1425"/>
              </a:lnSpc>
              <a:buNone/>
            </a:pPr>
            <a:r>
              <a:rPr lang="en-US" sz="950" b="1" dirty="0">
                <a:solidFill>
                  <a:srgbClr val="F2A03D"/>
                </a:solidFill>
                <a:latin typeface="Courier New" pitchFamily="34" charset="0"/>
                <a:ea typeface="Courier New" pitchFamily="34" charset="-122"/>
                <a:cs typeface="Courier New" pitchFamily="34" charset="-120"/>
              </a:rPr>
              <a:t>$ make validate-promql</a:t>
            </a:r>
            <a:endParaRPr lang="en-US" sz="950" dirty="0"/>
          </a:p>
          <a:p>
            <a:pPr indent="0" marL="0">
              <a:lnSpc>
                <a:spcPts val="1425"/>
              </a:lnSpc>
              <a:buNone/>
            </a:pPr>
            <a:r>
              <a:rPr lang="en-US" sz="950" dirty="0">
                <a:solidFill>
                  <a:srgbClr val="2E9E63"/>
                </a:solidFill>
                <a:latin typeface="Courier New" pitchFamily="34" charset="0"/>
                <a:ea typeface="Courier New" pitchFamily="34" charset="-122"/>
                <a:cs typeface="Courier New" pitchFamily="34" charset="-120"/>
              </a:rPr>
              <a:t>All 11 PromQL assertions hold (47 expressions, 2 LogQL queries).</a:t>
            </a:r>
            <a:endParaRPr lang="en-US" sz="950" dirty="0"/>
          </a:p>
          <a:p>
            <a:pPr indent="0" marL="0">
              <a:lnSpc>
                <a:spcPts val="1425"/>
              </a:lnSpc>
              <a:buNone/>
            </a:pPr>
            <a:r>
              <a:rPr lang="en-US" sz="950" dirty="0">
                <a:solidFill>
                  <a:srgbClr val="63758B"/>
                </a:solidFill>
                <a:latin typeface="Courier New" pitchFamily="34" charset="0"/>
                <a:ea typeface="Courier New" pitchFamily="34" charset="-122"/>
                <a:cs typeface="Courier New" pitchFamily="34" charset="-120"/>
              </a:rPr>
              <a:t>  a misspelled metric evaluates to an empty vector — the alert</a:t>
            </a:r>
            <a:endParaRPr lang="en-US" sz="950" dirty="0"/>
          </a:p>
          <a:p>
            <a:pPr indent="0" marL="0">
              <a:lnSpc>
                <a:spcPts val="1425"/>
              </a:lnSpc>
              <a:buNone/>
            </a:pPr>
            <a:r>
              <a:rPr lang="en-US" sz="950" dirty="0">
                <a:solidFill>
                  <a:srgbClr val="63758B"/>
                </a:solidFill>
                <a:latin typeface="Courier New" pitchFamily="34" charset="0"/>
                <a:ea typeface="Courier New" pitchFamily="34" charset="-122"/>
                <a:cs typeface="Courier New" pitchFamily="34" charset="-120"/>
              </a:rPr>
              <a:t>  never fires, and nothing tells you</a:t>
            </a:r>
            <a:endParaRPr lang="en-US" sz="950" dirty="0"/>
          </a:p>
        </p:txBody>
      </p:sp>
      <p:sp>
        <p:nvSpPr>
          <p:cNvPr id="11" name="Text 9"/>
          <p:cNvSpPr/>
          <p:nvPr/>
        </p:nvSpPr>
        <p:spPr>
          <a:xfrm>
            <a:off x="566928" y="5768721"/>
            <a:ext cx="11057839" cy="457200"/>
          </a:xfrm>
          <a:prstGeom prst="rect">
            <a:avLst/>
          </a:prstGeom>
          <a:noFill/>
          <a:ln/>
        </p:spPr>
        <p:txBody>
          <a:bodyPr wrap="square" lIns="0" tIns="0" rIns="0" bIns="0" rtlCol="0" anchor="ctr"/>
          <a:lstStyle/>
          <a:p>
            <a:pPr indent="0" marL="0">
              <a:buNone/>
            </a:pPr>
            <a:r>
              <a:rPr lang="en-US" sz="1300" i="1" dirty="0">
                <a:solidFill>
                  <a:srgbClr val="D8E6F2"/>
                </a:solidFill>
                <a:latin typeface="Calibri" pitchFamily="34" charset="0"/>
                <a:ea typeface="Calibri" pitchFamily="34" charset="-122"/>
                <a:cs typeface="Calibri" pitchFamily="34" charset="-120"/>
              </a:rPr>
              <a:t>Every expression in this repository is parsed and every metric name checked against what actually exists.</a:t>
            </a:r>
            <a:endParaRPr lang="en-US" sz="1300" dirty="0"/>
          </a:p>
        </p:txBody>
      </p:sp>
      <p:sp>
        <p:nvSpPr>
          <p:cNvPr id="12" name="Text 10"/>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13" name="Text 11"/>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3223260" cy="292608"/>
          </a:xfrm>
          <a:prstGeom prst="roundRect">
            <a:avLst>
              <a:gd name="adj" fmla="val 50000"/>
            </a:avLst>
          </a:prstGeom>
          <a:solidFill>
            <a:srgbClr val="F2A03D"/>
          </a:solidFill>
          <a:ln w="12700">
            <a:solidFill>
              <a:srgbClr val="F2A03D"/>
            </a:solidFill>
            <a:prstDash val="solid"/>
          </a:ln>
        </p:spPr>
      </p:sp>
      <p:sp>
        <p:nvSpPr>
          <p:cNvPr id="3" name="Text 1"/>
          <p:cNvSpPr/>
          <p:nvPr/>
        </p:nvSpPr>
        <p:spPr>
          <a:xfrm>
            <a:off x="566928" y="384048"/>
            <a:ext cx="32232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 ALERT THAT MATTERS MOST</a:t>
            </a:r>
            <a:endParaRPr lang="en-US" sz="1100" dirty="0"/>
          </a:p>
        </p:txBody>
      </p:sp>
      <p:sp>
        <p:nvSpPr>
          <p:cNvPr id="4" name="Shape 2"/>
          <p:cNvSpPr/>
          <p:nvPr/>
        </p:nvSpPr>
        <p:spPr>
          <a:xfrm>
            <a:off x="566928" y="1554480"/>
            <a:ext cx="11057839" cy="3017520"/>
          </a:xfrm>
          <a:prstGeom prst="roundRect">
            <a:avLst>
              <a:gd name="adj" fmla="val 3636"/>
            </a:avLst>
          </a:prstGeom>
          <a:solidFill>
            <a:srgbClr val="12314F"/>
          </a:solidFill>
          <a:ln w="12700">
            <a:solidFill>
              <a:srgbClr val="F2A03D"/>
            </a:solidFill>
            <a:prstDash val="solid"/>
          </a:ln>
        </p:spPr>
      </p:sp>
      <p:sp>
        <p:nvSpPr>
          <p:cNvPr id="5" name="Text 3"/>
          <p:cNvSpPr/>
          <p:nvPr/>
        </p:nvSpPr>
        <p:spPr>
          <a:xfrm>
            <a:off x="1115568" y="1920240"/>
            <a:ext cx="9960559" cy="1463040"/>
          </a:xfrm>
          <a:prstGeom prst="rect">
            <a:avLst/>
          </a:prstGeom>
          <a:noFill/>
          <a:ln/>
        </p:spPr>
        <p:txBody>
          <a:bodyPr wrap="square" lIns="0" tIns="0" rIns="0" bIns="0" rtlCol="0" anchor="ctr"/>
          <a:lstStyle/>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sum(rate(axispay_payments_total[10m])) == 0</a:t>
            </a:r>
            <a:endParaRPr lang="en-US" sz="3000" dirty="0"/>
          </a:p>
        </p:txBody>
      </p:sp>
      <p:sp>
        <p:nvSpPr>
          <p:cNvPr id="6" name="Text 4"/>
          <p:cNvSpPr/>
          <p:nvPr/>
        </p:nvSpPr>
        <p:spPr>
          <a:xfrm>
            <a:off x="1115568" y="3429000"/>
            <a:ext cx="9960559" cy="914400"/>
          </a:xfrm>
          <a:prstGeom prst="rect">
            <a:avLst/>
          </a:prstGeom>
          <a:noFill/>
          <a:ln/>
        </p:spPr>
        <p:txBody>
          <a:bodyPr wrap="square" lIns="0" tIns="0" rIns="0" bIns="0" rtlCol="0" anchor="ctr"/>
          <a:lstStyle/>
          <a:p>
            <a:pPr indent="0" marL="0">
              <a:lnSpc>
                <a:spcPts val="2100"/>
              </a:lnSpc>
              <a:buNone/>
            </a:pPr>
            <a:r>
              <a:rPr lang="en-US" sz="1500" dirty="0">
                <a:solidFill>
                  <a:srgbClr val="D8E6F2"/>
                </a:solidFill>
                <a:latin typeface="Calibri" pitchFamily="34" charset="0"/>
                <a:ea typeface="Calibri" pitchFamily="34" charset="-122"/>
                <a:cs typeface="Calibri" pitchFamily="34" charset="-120"/>
              </a:rPr>
              <a:t>The most valuable alert you will build today fires when NOTHING is happening.</a:t>
            </a:r>
            <a:endParaRPr lang="en-US" sz="1500" dirty="0"/>
          </a:p>
        </p:txBody>
      </p:sp>
      <p:sp>
        <p:nvSpPr>
          <p:cNvPr id="7" name="Text 5"/>
          <p:cNvSpPr/>
          <p:nvPr/>
        </p:nvSpPr>
        <p:spPr>
          <a:xfrm>
            <a:off x="658368" y="4800600"/>
            <a:ext cx="11057839" cy="118872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Every pod Ready. No error rate elevated. Latency perfect — there is no traffic to be slow.</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Not one infrastructure alert will fire, because nothing infrastructural is wrong.</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The cause is upstream: a DNS record still pointing at the old load balancer, an expired merchant API key, a CDN rule swallowing POSTs.</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Alerting on the ABSENCE of traffic is the only way to see it.</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Most platforms discover they need this the expensive way.</a:t>
            </a:r>
            <a:endParaRPr lang="en-US" sz="1350" dirty="0"/>
          </a:p>
        </p:txBody>
      </p:sp>
      <p:sp>
        <p:nvSpPr>
          <p:cNvPr id="8" name="Text 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9" name="Text 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961388"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96138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M5.6 · ALERTING</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WHETHER is Prometheus. WHO is Alertmanager.</a:t>
            </a:r>
            <a:endParaRPr lang="en-US" sz="3200" dirty="0"/>
          </a:p>
        </p:txBody>
      </p:sp>
      <p:sp>
        <p:nvSpPr>
          <p:cNvPr id="5" name="Shape 3"/>
          <p:cNvSpPr/>
          <p:nvPr/>
        </p:nvSpPr>
        <p:spPr>
          <a:xfrm>
            <a:off x="685800" y="2651760"/>
            <a:ext cx="2103120" cy="1051560"/>
          </a:xfrm>
          <a:prstGeom prst="roundRect">
            <a:avLst>
              <a:gd name="adj" fmla="val 6957"/>
            </a:avLst>
          </a:prstGeom>
          <a:solidFill>
            <a:srgbClr val="1B4066"/>
          </a:solidFill>
          <a:ln w="12700">
            <a:solidFill>
              <a:srgbClr val="1B4066"/>
            </a:solidFill>
            <a:prstDash val="solid"/>
          </a:ln>
        </p:spPr>
      </p:sp>
      <p:sp>
        <p:nvSpPr>
          <p:cNvPr id="6" name="Text 4"/>
          <p:cNvSpPr/>
          <p:nvPr/>
        </p:nvSpPr>
        <p:spPr>
          <a:xfrm>
            <a:off x="758952" y="2743200"/>
            <a:ext cx="1956816" cy="48371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Prometheus</a:t>
            </a:r>
            <a:endParaRPr lang="en-US" sz="1300" dirty="0"/>
          </a:p>
        </p:txBody>
      </p:sp>
      <p:sp>
        <p:nvSpPr>
          <p:cNvPr id="7" name="Text 5"/>
          <p:cNvSpPr/>
          <p:nvPr/>
        </p:nvSpPr>
        <p:spPr>
          <a:xfrm>
            <a:off x="758952" y="3156509"/>
            <a:ext cx="1956816" cy="483718"/>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evaluates the rule</a:t>
            </a:r>
            <a:endParaRPr lang="en-US" sz="1000" dirty="0"/>
          </a:p>
        </p:txBody>
      </p:sp>
      <p:sp>
        <p:nvSpPr>
          <p:cNvPr id="8" name="Text 6"/>
          <p:cNvSpPr/>
          <p:nvPr/>
        </p:nvSpPr>
        <p:spPr>
          <a:xfrm>
            <a:off x="685800" y="2286000"/>
            <a:ext cx="2103120" cy="310896"/>
          </a:xfrm>
          <a:prstGeom prst="rect">
            <a:avLst/>
          </a:prstGeom>
          <a:noFill/>
          <a:ln/>
        </p:spPr>
        <p:txBody>
          <a:bodyPr wrap="square" lIns="0" tIns="0" rIns="0" bIns="0" rtlCol="0" anchor="ctr"/>
          <a:lstStyle/>
          <a:p>
            <a:pPr algn="ctr" indent="0" marL="0">
              <a:buNone/>
            </a:pPr>
            <a:r>
              <a:rPr lang="en-US" sz="1100" b="1" dirty="0">
                <a:solidFill>
                  <a:srgbClr val="63758B"/>
                </a:solidFill>
                <a:latin typeface="Cambria" pitchFamily="34" charset="0"/>
                <a:ea typeface="Cambria" pitchFamily="34" charset="-122"/>
                <a:cs typeface="Cambria" pitchFamily="34" charset="-120"/>
              </a:rPr>
              <a:t>WHETHER</a:t>
            </a:r>
            <a:endParaRPr lang="en-US" sz="1100" dirty="0"/>
          </a:p>
        </p:txBody>
      </p:sp>
      <p:sp>
        <p:nvSpPr>
          <p:cNvPr id="9" name="Shape 7"/>
          <p:cNvSpPr/>
          <p:nvPr/>
        </p:nvSpPr>
        <p:spPr>
          <a:xfrm>
            <a:off x="3657600" y="2651760"/>
            <a:ext cx="2834640" cy="1051560"/>
          </a:xfrm>
          <a:prstGeom prst="roundRect">
            <a:avLst>
              <a:gd name="adj" fmla="val 6957"/>
            </a:avLst>
          </a:prstGeom>
          <a:solidFill>
            <a:srgbClr val="1C7293"/>
          </a:solidFill>
          <a:ln w="12700">
            <a:solidFill>
              <a:srgbClr val="1C7293"/>
            </a:solidFill>
            <a:prstDash val="solid"/>
          </a:ln>
        </p:spPr>
      </p:sp>
      <p:sp>
        <p:nvSpPr>
          <p:cNvPr id="10" name="Text 8"/>
          <p:cNvSpPr/>
          <p:nvPr/>
        </p:nvSpPr>
        <p:spPr>
          <a:xfrm>
            <a:off x="3730752" y="2651760"/>
            <a:ext cx="2688336" cy="10515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Alertmanager</a:t>
            </a:r>
            <a:endParaRPr lang="en-US" sz="1300" dirty="0"/>
          </a:p>
        </p:txBody>
      </p:sp>
      <p:sp>
        <p:nvSpPr>
          <p:cNvPr id="11" name="Text 9"/>
          <p:cNvSpPr/>
          <p:nvPr/>
        </p:nvSpPr>
        <p:spPr>
          <a:xfrm>
            <a:off x="3657600" y="2286000"/>
            <a:ext cx="2834640" cy="310896"/>
          </a:xfrm>
          <a:prstGeom prst="rect">
            <a:avLst/>
          </a:prstGeom>
          <a:noFill/>
          <a:ln/>
        </p:spPr>
        <p:txBody>
          <a:bodyPr wrap="square" lIns="0" tIns="0" rIns="0" bIns="0" rtlCol="0" anchor="ctr"/>
          <a:lstStyle/>
          <a:p>
            <a:pPr algn="ctr" indent="0" marL="0">
              <a:buNone/>
            </a:pPr>
            <a:r>
              <a:rPr lang="en-US" sz="1100" b="1" dirty="0">
                <a:solidFill>
                  <a:srgbClr val="63758B"/>
                </a:solidFill>
                <a:latin typeface="Cambria" pitchFamily="34" charset="0"/>
                <a:ea typeface="Cambria" pitchFamily="34" charset="-122"/>
                <a:cs typeface="Cambria" pitchFamily="34" charset="-120"/>
              </a:rPr>
              <a:t>WHO, and HOW OFTEN</a:t>
            </a:r>
            <a:endParaRPr lang="en-US" sz="1100" dirty="0"/>
          </a:p>
        </p:txBody>
      </p:sp>
      <p:sp>
        <p:nvSpPr>
          <p:cNvPr id="12" name="Shape 10"/>
          <p:cNvSpPr/>
          <p:nvPr/>
        </p:nvSpPr>
        <p:spPr>
          <a:xfrm>
            <a:off x="2834640" y="3172968"/>
            <a:ext cx="731520" cy="0"/>
          </a:xfrm>
          <a:prstGeom prst="line">
            <a:avLst/>
          </a:prstGeom>
          <a:noFill/>
          <a:ln w="25400">
            <a:solidFill>
              <a:srgbClr val="C97B1E"/>
            </a:solidFill>
            <a:prstDash val="solid"/>
            <a:tailEnd type="triangle"/>
          </a:ln>
        </p:spPr>
      </p:sp>
      <p:sp>
        <p:nvSpPr>
          <p:cNvPr id="13" name="Text 11"/>
          <p:cNvSpPr/>
          <p:nvPr/>
        </p:nvSpPr>
        <p:spPr>
          <a:xfrm>
            <a:off x="2331720" y="2807208"/>
            <a:ext cx="2286000" cy="292608"/>
          </a:xfrm>
          <a:prstGeom prst="rect">
            <a:avLst/>
          </a:prstGeom>
          <a:noFill/>
          <a:ln/>
        </p:spPr>
        <p:txBody>
          <a:bodyPr wrap="square" lIns="0" tIns="0" rIns="0" bIns="0" rtlCol="0" anchor="ctr"/>
          <a:lstStyle/>
          <a:p>
            <a:pPr algn="ctr" indent="0" marL="0">
              <a:buNone/>
            </a:pPr>
            <a:r>
              <a:rPr lang="en-US" sz="950" b="1" dirty="0">
                <a:solidFill>
                  <a:srgbClr val="C97B1E"/>
                </a:solidFill>
                <a:latin typeface="Calibri" pitchFamily="34" charset="0"/>
                <a:ea typeface="Calibri" pitchFamily="34" charset="-122"/>
                <a:cs typeface="Calibri" pitchFamily="34" charset="-120"/>
              </a:rPr>
              <a:t>firing</a:t>
            </a:r>
            <a:endParaRPr lang="en-US" sz="950" dirty="0"/>
          </a:p>
        </p:txBody>
      </p:sp>
      <p:sp>
        <p:nvSpPr>
          <p:cNvPr id="14" name="Shape 12"/>
          <p:cNvSpPr/>
          <p:nvPr/>
        </p:nvSpPr>
        <p:spPr>
          <a:xfrm>
            <a:off x="3657600" y="3977640"/>
            <a:ext cx="1234440" cy="384048"/>
          </a:xfrm>
          <a:prstGeom prst="roundRect">
            <a:avLst>
              <a:gd name="adj" fmla="val 14286"/>
            </a:avLst>
          </a:prstGeom>
          <a:solidFill>
            <a:srgbClr val="1B4066"/>
          </a:solidFill>
          <a:ln w="12700">
            <a:solidFill>
              <a:srgbClr val="1B4066"/>
            </a:solidFill>
            <a:prstDash val="solid"/>
          </a:ln>
        </p:spPr>
      </p:sp>
      <p:sp>
        <p:nvSpPr>
          <p:cNvPr id="15" name="Text 13"/>
          <p:cNvSpPr/>
          <p:nvPr/>
        </p:nvSpPr>
        <p:spPr>
          <a:xfrm>
            <a:off x="3657600" y="3977640"/>
            <a:ext cx="123444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GROUP</a:t>
            </a:r>
            <a:endParaRPr lang="en-US" sz="1000" dirty="0"/>
          </a:p>
        </p:txBody>
      </p:sp>
      <p:sp>
        <p:nvSpPr>
          <p:cNvPr id="16" name="Text 14"/>
          <p:cNvSpPr/>
          <p:nvPr/>
        </p:nvSpPr>
        <p:spPr>
          <a:xfrm>
            <a:off x="5029200" y="3977640"/>
            <a:ext cx="3657600" cy="384048"/>
          </a:xfrm>
          <a:prstGeom prst="rect">
            <a:avLst/>
          </a:prstGeom>
          <a:noFill/>
          <a:ln/>
        </p:spPr>
        <p:txBody>
          <a:bodyPr wrap="square" lIns="0" tIns="0" rIns="0" bIns="0" rtlCol="0" anchor="ctr"/>
          <a:lstStyle/>
          <a:p>
            <a:pPr indent="0" marL="0">
              <a:buNone/>
            </a:pPr>
            <a:r>
              <a:rPr lang="en-US" sz="1050" dirty="0">
                <a:solidFill>
                  <a:srgbClr val="16232F"/>
                </a:solidFill>
                <a:latin typeface="Calibri" pitchFamily="34" charset="0"/>
                <a:ea typeface="Calibri" pitchFamily="34" charset="-122"/>
                <a:cs typeface="Calibri" pitchFamily="34" charset="-120"/>
              </a:rPr>
              <a:t>8 pods, 1 fault → 1 notification</a:t>
            </a:r>
            <a:endParaRPr lang="en-US" sz="1050" dirty="0"/>
          </a:p>
        </p:txBody>
      </p:sp>
      <p:sp>
        <p:nvSpPr>
          <p:cNvPr id="17" name="Shape 15"/>
          <p:cNvSpPr/>
          <p:nvPr/>
        </p:nvSpPr>
        <p:spPr>
          <a:xfrm>
            <a:off x="3657600" y="4453128"/>
            <a:ext cx="1234440" cy="384048"/>
          </a:xfrm>
          <a:prstGeom prst="roundRect">
            <a:avLst>
              <a:gd name="adj" fmla="val 14286"/>
            </a:avLst>
          </a:prstGeom>
          <a:solidFill>
            <a:srgbClr val="1B4066"/>
          </a:solidFill>
          <a:ln w="12700">
            <a:solidFill>
              <a:srgbClr val="1B4066"/>
            </a:solidFill>
            <a:prstDash val="solid"/>
          </a:ln>
        </p:spPr>
      </p:sp>
      <p:sp>
        <p:nvSpPr>
          <p:cNvPr id="18" name="Text 16"/>
          <p:cNvSpPr/>
          <p:nvPr/>
        </p:nvSpPr>
        <p:spPr>
          <a:xfrm>
            <a:off x="3657600" y="4453128"/>
            <a:ext cx="123444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INHIBIT</a:t>
            </a:r>
            <a:endParaRPr lang="en-US" sz="1000" dirty="0"/>
          </a:p>
        </p:txBody>
      </p:sp>
      <p:sp>
        <p:nvSpPr>
          <p:cNvPr id="19" name="Text 17"/>
          <p:cNvSpPr/>
          <p:nvPr/>
        </p:nvSpPr>
        <p:spPr>
          <a:xfrm>
            <a:off x="5029200" y="4453128"/>
            <a:ext cx="3657600" cy="384048"/>
          </a:xfrm>
          <a:prstGeom prst="rect">
            <a:avLst/>
          </a:prstGeom>
          <a:noFill/>
          <a:ln/>
        </p:spPr>
        <p:txBody>
          <a:bodyPr wrap="square" lIns="0" tIns="0" rIns="0" bIns="0" rtlCol="0" anchor="ctr"/>
          <a:lstStyle/>
          <a:p>
            <a:pPr indent="0" marL="0">
              <a:buNone/>
            </a:pPr>
            <a:r>
              <a:rPr lang="en-US" sz="1050" dirty="0">
                <a:solidFill>
                  <a:srgbClr val="16232F"/>
                </a:solidFill>
                <a:latin typeface="Calibri" pitchFamily="34" charset="0"/>
                <a:ea typeface="Calibri" pitchFamily="34" charset="-122"/>
                <a:cs typeface="Calibri" pitchFamily="34" charset="-120"/>
              </a:rPr>
              <a:t>root symptom suppresses the derived ones</a:t>
            </a:r>
            <a:endParaRPr lang="en-US" sz="1050" dirty="0"/>
          </a:p>
        </p:txBody>
      </p:sp>
      <p:sp>
        <p:nvSpPr>
          <p:cNvPr id="20" name="Shape 18"/>
          <p:cNvSpPr/>
          <p:nvPr/>
        </p:nvSpPr>
        <p:spPr>
          <a:xfrm>
            <a:off x="3657600" y="4928616"/>
            <a:ext cx="1234440" cy="384048"/>
          </a:xfrm>
          <a:prstGeom prst="roundRect">
            <a:avLst>
              <a:gd name="adj" fmla="val 14286"/>
            </a:avLst>
          </a:prstGeom>
          <a:solidFill>
            <a:srgbClr val="1B4066"/>
          </a:solidFill>
          <a:ln w="12700">
            <a:solidFill>
              <a:srgbClr val="1B4066"/>
            </a:solidFill>
            <a:prstDash val="solid"/>
          </a:ln>
        </p:spPr>
      </p:sp>
      <p:sp>
        <p:nvSpPr>
          <p:cNvPr id="21" name="Text 19"/>
          <p:cNvSpPr/>
          <p:nvPr/>
        </p:nvSpPr>
        <p:spPr>
          <a:xfrm>
            <a:off x="3657600" y="4928616"/>
            <a:ext cx="123444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THROTTLE</a:t>
            </a:r>
            <a:endParaRPr lang="en-US" sz="1000" dirty="0"/>
          </a:p>
        </p:txBody>
      </p:sp>
      <p:sp>
        <p:nvSpPr>
          <p:cNvPr id="22" name="Text 20"/>
          <p:cNvSpPr/>
          <p:nvPr/>
        </p:nvSpPr>
        <p:spPr>
          <a:xfrm>
            <a:off x="5029200" y="4928616"/>
            <a:ext cx="3657600" cy="384048"/>
          </a:xfrm>
          <a:prstGeom prst="rect">
            <a:avLst/>
          </a:prstGeom>
          <a:noFill/>
          <a:ln/>
        </p:spPr>
        <p:txBody>
          <a:bodyPr wrap="square" lIns="0" tIns="0" rIns="0" bIns="0" rtlCol="0" anchor="ctr"/>
          <a:lstStyle/>
          <a:p>
            <a:pPr indent="0" marL="0">
              <a:buNone/>
            </a:pPr>
            <a:r>
              <a:rPr lang="en-US" sz="1050" dirty="0">
                <a:solidFill>
                  <a:srgbClr val="16232F"/>
                </a:solidFill>
                <a:latin typeface="Calibri" pitchFamily="34" charset="0"/>
                <a:ea typeface="Calibri" pitchFamily="34" charset="-122"/>
                <a:cs typeface="Calibri" pitchFamily="34" charset="-120"/>
              </a:rPr>
              <a:t>repeatInterval stops a 4-hour page storm</a:t>
            </a:r>
            <a:endParaRPr lang="en-US" sz="1050" dirty="0"/>
          </a:p>
        </p:txBody>
      </p:sp>
      <p:sp>
        <p:nvSpPr>
          <p:cNvPr id="23" name="Shape 21"/>
          <p:cNvSpPr/>
          <p:nvPr/>
        </p:nvSpPr>
        <p:spPr>
          <a:xfrm>
            <a:off x="3657600" y="5404104"/>
            <a:ext cx="1234440" cy="384048"/>
          </a:xfrm>
          <a:prstGeom prst="roundRect">
            <a:avLst>
              <a:gd name="adj" fmla="val 14286"/>
            </a:avLst>
          </a:prstGeom>
          <a:solidFill>
            <a:srgbClr val="1B4066"/>
          </a:solidFill>
          <a:ln w="12700">
            <a:solidFill>
              <a:srgbClr val="1B4066"/>
            </a:solidFill>
            <a:prstDash val="solid"/>
          </a:ln>
        </p:spPr>
      </p:sp>
      <p:sp>
        <p:nvSpPr>
          <p:cNvPr id="24" name="Text 22"/>
          <p:cNvSpPr/>
          <p:nvPr/>
        </p:nvSpPr>
        <p:spPr>
          <a:xfrm>
            <a:off x="3657600" y="5404104"/>
            <a:ext cx="123444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mbria" pitchFamily="34" charset="0"/>
                <a:ea typeface="Cambria" pitchFamily="34" charset="-122"/>
                <a:cs typeface="Cambria" pitchFamily="34" charset="-120"/>
              </a:rPr>
              <a:t>ROUTE</a:t>
            </a:r>
            <a:endParaRPr lang="en-US" sz="1000" dirty="0"/>
          </a:p>
        </p:txBody>
      </p:sp>
      <p:sp>
        <p:nvSpPr>
          <p:cNvPr id="25" name="Text 23"/>
          <p:cNvSpPr/>
          <p:nvPr/>
        </p:nvSpPr>
        <p:spPr>
          <a:xfrm>
            <a:off x="5029200" y="5404104"/>
            <a:ext cx="3657600" cy="384048"/>
          </a:xfrm>
          <a:prstGeom prst="rect">
            <a:avLst/>
          </a:prstGeom>
          <a:noFill/>
          <a:ln/>
        </p:spPr>
        <p:txBody>
          <a:bodyPr wrap="square" lIns="0" tIns="0" rIns="0" bIns="0" rtlCol="0" anchor="ctr"/>
          <a:lstStyle/>
          <a:p>
            <a:pPr indent="0" marL="0">
              <a:buNone/>
            </a:pPr>
            <a:r>
              <a:rPr lang="en-US" sz="1050" dirty="0">
                <a:solidFill>
                  <a:srgbClr val="16232F"/>
                </a:solidFill>
                <a:latin typeface="Calibri" pitchFamily="34" charset="0"/>
                <a:ea typeface="Calibri" pitchFamily="34" charset="-122"/>
                <a:cs typeface="Calibri" pitchFamily="34" charset="-120"/>
              </a:rPr>
              <a:t>match on labels → the team that can act</a:t>
            </a:r>
            <a:endParaRPr lang="en-US" sz="1050" dirty="0"/>
          </a:p>
        </p:txBody>
      </p:sp>
      <p:sp>
        <p:nvSpPr>
          <p:cNvPr id="26" name="Shape 24"/>
          <p:cNvSpPr/>
          <p:nvPr/>
        </p:nvSpPr>
        <p:spPr>
          <a:xfrm>
            <a:off x="6537960" y="3172968"/>
            <a:ext cx="2194560" cy="0"/>
          </a:xfrm>
          <a:prstGeom prst="line">
            <a:avLst/>
          </a:prstGeom>
          <a:noFill/>
          <a:ln w="25400">
            <a:solidFill>
              <a:srgbClr val="63758B"/>
            </a:solidFill>
            <a:prstDash val="solid"/>
          </a:ln>
        </p:spPr>
      </p:sp>
      <p:sp>
        <p:nvSpPr>
          <p:cNvPr id="27" name="Shape 25"/>
          <p:cNvSpPr/>
          <p:nvPr/>
        </p:nvSpPr>
        <p:spPr>
          <a:xfrm>
            <a:off x="9281160" y="2377440"/>
            <a:ext cx="2240280" cy="566928"/>
          </a:xfrm>
          <a:prstGeom prst="roundRect">
            <a:avLst>
              <a:gd name="adj" fmla="val 12903"/>
            </a:avLst>
          </a:prstGeom>
          <a:solidFill>
            <a:srgbClr val="D64545"/>
          </a:solidFill>
          <a:ln w="12700">
            <a:solidFill>
              <a:srgbClr val="D64545"/>
            </a:solidFill>
            <a:prstDash val="solid"/>
          </a:ln>
        </p:spPr>
      </p:sp>
      <p:sp>
        <p:nvSpPr>
          <p:cNvPr id="28" name="Text 26"/>
          <p:cNvSpPr/>
          <p:nvPr/>
        </p:nvSpPr>
        <p:spPr>
          <a:xfrm>
            <a:off x="9281160" y="2377440"/>
            <a:ext cx="224028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payments-oncall</a:t>
            </a:r>
            <a:endParaRPr lang="en-US" sz="1100" dirty="0"/>
          </a:p>
        </p:txBody>
      </p:sp>
      <p:sp>
        <p:nvSpPr>
          <p:cNvPr id="29" name="Shape 27"/>
          <p:cNvSpPr/>
          <p:nvPr/>
        </p:nvSpPr>
        <p:spPr>
          <a:xfrm>
            <a:off x="8778240" y="3172968"/>
            <a:ext cx="411480" cy="-512064"/>
          </a:xfrm>
          <a:prstGeom prst="line">
            <a:avLst/>
          </a:prstGeom>
          <a:noFill/>
          <a:ln w="25400">
            <a:solidFill>
              <a:srgbClr val="D64545"/>
            </a:solidFill>
            <a:prstDash val="solid"/>
            <a:tailEnd type="triangle"/>
          </a:ln>
        </p:spPr>
      </p:sp>
      <p:sp>
        <p:nvSpPr>
          <p:cNvPr id="30" name="Shape 28"/>
          <p:cNvSpPr/>
          <p:nvPr/>
        </p:nvSpPr>
        <p:spPr>
          <a:xfrm>
            <a:off x="9281160" y="3200400"/>
            <a:ext cx="2240280" cy="566928"/>
          </a:xfrm>
          <a:prstGeom prst="roundRect">
            <a:avLst>
              <a:gd name="adj" fmla="val 12903"/>
            </a:avLst>
          </a:prstGeom>
          <a:solidFill>
            <a:srgbClr val="C97B1E"/>
          </a:solidFill>
          <a:ln w="12700">
            <a:solidFill>
              <a:srgbClr val="C97B1E"/>
            </a:solidFill>
            <a:prstDash val="solid"/>
          </a:ln>
        </p:spPr>
      </p:sp>
      <p:sp>
        <p:nvSpPr>
          <p:cNvPr id="31" name="Text 29"/>
          <p:cNvSpPr/>
          <p:nvPr/>
        </p:nvSpPr>
        <p:spPr>
          <a:xfrm>
            <a:off x="9281160" y="3200400"/>
            <a:ext cx="224028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finance-ops</a:t>
            </a:r>
            <a:endParaRPr lang="en-US" sz="1100" dirty="0"/>
          </a:p>
        </p:txBody>
      </p:sp>
      <p:sp>
        <p:nvSpPr>
          <p:cNvPr id="32" name="Shape 30"/>
          <p:cNvSpPr/>
          <p:nvPr/>
        </p:nvSpPr>
        <p:spPr>
          <a:xfrm>
            <a:off x="8778240" y="3172968"/>
            <a:ext cx="411480" cy="310896"/>
          </a:xfrm>
          <a:prstGeom prst="line">
            <a:avLst/>
          </a:prstGeom>
          <a:noFill/>
          <a:ln w="25400">
            <a:solidFill>
              <a:srgbClr val="C97B1E"/>
            </a:solidFill>
            <a:prstDash val="solid"/>
            <a:tailEnd type="triangle"/>
          </a:ln>
        </p:spPr>
      </p:sp>
      <p:sp>
        <p:nvSpPr>
          <p:cNvPr id="33" name="Shape 31"/>
          <p:cNvSpPr/>
          <p:nvPr/>
        </p:nvSpPr>
        <p:spPr>
          <a:xfrm>
            <a:off x="9281160" y="4023360"/>
            <a:ext cx="2240280" cy="566928"/>
          </a:xfrm>
          <a:prstGeom prst="roundRect">
            <a:avLst>
              <a:gd name="adj" fmla="val 12903"/>
            </a:avLst>
          </a:prstGeom>
          <a:solidFill>
            <a:srgbClr val="8E6FBF"/>
          </a:solidFill>
          <a:ln w="12700">
            <a:solidFill>
              <a:srgbClr val="8E6FBF"/>
            </a:solidFill>
            <a:prstDash val="solid"/>
          </a:ln>
        </p:spPr>
      </p:sp>
      <p:sp>
        <p:nvSpPr>
          <p:cNvPr id="34" name="Text 32"/>
          <p:cNvSpPr/>
          <p:nvPr/>
        </p:nvSpPr>
        <p:spPr>
          <a:xfrm>
            <a:off x="9281160" y="4023360"/>
            <a:ext cx="224028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risk-team</a:t>
            </a:r>
            <a:endParaRPr lang="en-US" sz="1100" dirty="0"/>
          </a:p>
        </p:txBody>
      </p:sp>
      <p:sp>
        <p:nvSpPr>
          <p:cNvPr id="35" name="Shape 33"/>
          <p:cNvSpPr/>
          <p:nvPr/>
        </p:nvSpPr>
        <p:spPr>
          <a:xfrm>
            <a:off x="8778240" y="3172968"/>
            <a:ext cx="411480" cy="1133856"/>
          </a:xfrm>
          <a:prstGeom prst="line">
            <a:avLst/>
          </a:prstGeom>
          <a:noFill/>
          <a:ln w="25400">
            <a:solidFill>
              <a:srgbClr val="8E6FBF"/>
            </a:solidFill>
            <a:prstDash val="solid"/>
            <a:tailEnd type="triangle"/>
          </a:ln>
        </p:spPr>
      </p:sp>
      <p:sp>
        <p:nvSpPr>
          <p:cNvPr id="36" name="Shape 34"/>
          <p:cNvSpPr/>
          <p:nvPr/>
        </p:nvSpPr>
        <p:spPr>
          <a:xfrm>
            <a:off x="9281160" y="4846320"/>
            <a:ext cx="2240280" cy="566928"/>
          </a:xfrm>
          <a:prstGeom prst="roundRect">
            <a:avLst>
              <a:gd name="adj" fmla="val 12903"/>
            </a:avLst>
          </a:prstGeom>
          <a:solidFill>
            <a:srgbClr val="1C7293"/>
          </a:solidFill>
          <a:ln w="12700">
            <a:solidFill>
              <a:srgbClr val="1C7293"/>
            </a:solidFill>
            <a:prstDash val="solid"/>
          </a:ln>
        </p:spPr>
      </p:sp>
      <p:sp>
        <p:nvSpPr>
          <p:cNvPr id="37" name="Text 35"/>
          <p:cNvSpPr/>
          <p:nvPr/>
        </p:nvSpPr>
        <p:spPr>
          <a:xfrm>
            <a:off x="9281160" y="4846320"/>
            <a:ext cx="224028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platform</a:t>
            </a:r>
            <a:endParaRPr lang="en-US" sz="1100" dirty="0"/>
          </a:p>
        </p:txBody>
      </p:sp>
      <p:sp>
        <p:nvSpPr>
          <p:cNvPr id="38" name="Shape 36"/>
          <p:cNvSpPr/>
          <p:nvPr/>
        </p:nvSpPr>
        <p:spPr>
          <a:xfrm>
            <a:off x="8778240" y="3172968"/>
            <a:ext cx="411480" cy="1956816"/>
          </a:xfrm>
          <a:prstGeom prst="line">
            <a:avLst/>
          </a:prstGeom>
          <a:noFill/>
          <a:ln w="25400">
            <a:solidFill>
              <a:srgbClr val="1C7293"/>
            </a:solidFill>
            <a:prstDash val="solid"/>
            <a:tailEnd type="triangle"/>
          </a:ln>
        </p:spPr>
      </p:sp>
      <p:sp>
        <p:nvSpPr>
          <p:cNvPr id="39" name="Text 37"/>
          <p:cNvSpPr/>
          <p:nvPr/>
        </p:nvSpPr>
        <p:spPr>
          <a:xfrm>
            <a:off x="566928" y="5779008"/>
            <a:ext cx="11057839" cy="457200"/>
          </a:xfrm>
          <a:prstGeom prst="rect">
            <a:avLst/>
          </a:prstGeom>
          <a:noFill/>
          <a:ln/>
        </p:spPr>
        <p:txBody>
          <a:bodyPr wrap="square" lIns="0" tIns="0" rIns="0" bIns="0" rtlCol="0" anchor="ctr"/>
          <a:lstStyle/>
          <a:p>
            <a:pPr algn="ctr" indent="0" marL="0">
              <a:buNone/>
            </a:pPr>
            <a:r>
              <a:rPr lang="en-US" sz="1500" b="1" dirty="0">
                <a:solidFill>
                  <a:srgbClr val="1C7293"/>
                </a:solidFill>
                <a:latin typeface="Calibri" pitchFamily="34" charset="0"/>
                <a:ea typeface="Calibri" pitchFamily="34" charset="-122"/>
                <a:cs typeface="Calibri" pitchFamily="34" charset="-120"/>
              </a:rPr>
              <a:t>alert-sink proves the routing. A route that matches too broadly looks correct until 03:00.</a:t>
            </a:r>
            <a:endParaRPr lang="en-US" sz="1500" dirty="0"/>
          </a:p>
        </p:txBody>
      </p:sp>
      <p:sp>
        <p:nvSpPr>
          <p:cNvPr id="40" name="Text 38"/>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41" name="Text 39"/>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540764"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54076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M5.6 · LOGS</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Labels are indexed. Content is scanned.</a:t>
            </a:r>
            <a:endParaRPr lang="en-US" sz="3200" dirty="0"/>
          </a:p>
        </p:txBody>
      </p:sp>
      <p:sp>
        <p:nvSpPr>
          <p:cNvPr id="5" name="Shape 3"/>
          <p:cNvSpPr/>
          <p:nvPr/>
        </p:nvSpPr>
        <p:spPr>
          <a:xfrm>
            <a:off x="685800" y="2377440"/>
            <a:ext cx="2011680" cy="1005840"/>
          </a:xfrm>
          <a:prstGeom prst="roundRect">
            <a:avLst>
              <a:gd name="adj" fmla="val 7273"/>
            </a:avLst>
          </a:prstGeom>
          <a:solidFill>
            <a:srgbClr val="1B4066"/>
          </a:solidFill>
          <a:ln w="12700">
            <a:solidFill>
              <a:srgbClr val="1B4066"/>
            </a:solidFill>
            <a:prstDash val="solid"/>
          </a:ln>
        </p:spPr>
      </p:sp>
      <p:sp>
        <p:nvSpPr>
          <p:cNvPr id="6" name="Text 4"/>
          <p:cNvSpPr/>
          <p:nvPr/>
        </p:nvSpPr>
        <p:spPr>
          <a:xfrm>
            <a:off x="758952" y="2468880"/>
            <a:ext cx="1865376" cy="46268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pod</a:t>
            </a:r>
            <a:endParaRPr lang="en-US" sz="1300" dirty="0"/>
          </a:p>
        </p:txBody>
      </p:sp>
      <p:sp>
        <p:nvSpPr>
          <p:cNvPr id="7" name="Text 5"/>
          <p:cNvSpPr/>
          <p:nvPr/>
        </p:nvSpPr>
        <p:spPr>
          <a:xfrm>
            <a:off x="758952" y="2860243"/>
            <a:ext cx="1865376" cy="462686"/>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JSON to stdout</a:t>
            </a:r>
            <a:endParaRPr lang="en-US" sz="1000" dirty="0"/>
          </a:p>
        </p:txBody>
      </p:sp>
      <p:sp>
        <p:nvSpPr>
          <p:cNvPr id="8" name="Shape 6"/>
          <p:cNvSpPr/>
          <p:nvPr/>
        </p:nvSpPr>
        <p:spPr>
          <a:xfrm>
            <a:off x="3108960" y="2377440"/>
            <a:ext cx="2011680" cy="1005840"/>
          </a:xfrm>
          <a:prstGeom prst="roundRect">
            <a:avLst>
              <a:gd name="adj" fmla="val 7273"/>
            </a:avLst>
          </a:prstGeom>
          <a:solidFill>
            <a:srgbClr val="1B4066"/>
          </a:solidFill>
          <a:ln w="12700">
            <a:solidFill>
              <a:srgbClr val="1B4066"/>
            </a:solidFill>
            <a:prstDash val="solid"/>
          </a:ln>
        </p:spPr>
      </p:sp>
      <p:sp>
        <p:nvSpPr>
          <p:cNvPr id="9" name="Text 7"/>
          <p:cNvSpPr/>
          <p:nvPr/>
        </p:nvSpPr>
        <p:spPr>
          <a:xfrm>
            <a:off x="3182112" y="2468880"/>
            <a:ext cx="1865376" cy="46268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the NODE</a:t>
            </a:r>
            <a:endParaRPr lang="en-US" sz="1300" dirty="0"/>
          </a:p>
        </p:txBody>
      </p:sp>
      <p:sp>
        <p:nvSpPr>
          <p:cNvPr id="10" name="Text 8"/>
          <p:cNvSpPr/>
          <p:nvPr/>
        </p:nvSpPr>
        <p:spPr>
          <a:xfrm>
            <a:off x="3182112" y="2860243"/>
            <a:ext cx="1865376" cy="462686"/>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/var/log/pods</a:t>
            </a:r>
            <a:endParaRPr lang="en-US" sz="1000" dirty="0"/>
          </a:p>
        </p:txBody>
      </p:sp>
      <p:sp>
        <p:nvSpPr>
          <p:cNvPr id="11" name="Shape 9"/>
          <p:cNvSpPr/>
          <p:nvPr/>
        </p:nvSpPr>
        <p:spPr>
          <a:xfrm>
            <a:off x="5532120" y="2377440"/>
            <a:ext cx="2194560" cy="1005840"/>
          </a:xfrm>
          <a:prstGeom prst="roundRect">
            <a:avLst>
              <a:gd name="adj" fmla="val 7273"/>
            </a:avLst>
          </a:prstGeom>
          <a:solidFill>
            <a:srgbClr val="1C7293"/>
          </a:solidFill>
          <a:ln w="12700">
            <a:solidFill>
              <a:srgbClr val="1C7293"/>
            </a:solidFill>
            <a:prstDash val="solid"/>
          </a:ln>
        </p:spPr>
      </p:sp>
      <p:sp>
        <p:nvSpPr>
          <p:cNvPr id="12" name="Text 10"/>
          <p:cNvSpPr/>
          <p:nvPr/>
        </p:nvSpPr>
        <p:spPr>
          <a:xfrm>
            <a:off x="5605272" y="2468880"/>
            <a:ext cx="2048256" cy="46268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Alloy</a:t>
            </a:r>
            <a:endParaRPr lang="en-US" sz="1300" dirty="0"/>
          </a:p>
        </p:txBody>
      </p:sp>
      <p:sp>
        <p:nvSpPr>
          <p:cNvPr id="13" name="Text 11"/>
          <p:cNvSpPr/>
          <p:nvPr/>
        </p:nvSpPr>
        <p:spPr>
          <a:xfrm>
            <a:off x="5605272" y="2860243"/>
            <a:ext cx="2048256" cy="462686"/>
          </a:xfrm>
          <a:prstGeom prst="rect">
            <a:avLst/>
          </a:prstGeom>
          <a:noFill/>
          <a:ln/>
        </p:spPr>
        <p:txBody>
          <a:bodyPr wrap="square" lIns="0" tIns="0" rIns="0" bIns="0" rtlCol="0" anchor="ctr"/>
          <a:lstStyle/>
          <a:p>
            <a:pPr algn="ctr" indent="0" marL="0">
              <a:buNone/>
            </a:pPr>
            <a:r>
              <a:rPr lang="en-US" sz="1000" i="1" dirty="0">
                <a:solidFill>
                  <a:srgbClr val="D8E6F2"/>
                </a:solidFill>
                <a:latin typeface="Calibri" pitchFamily="34" charset="0"/>
                <a:ea typeface="Calibri" pitchFamily="34" charset="-122"/>
                <a:cs typeface="Calibri" pitchFamily="34" charset="-120"/>
              </a:rPr>
              <a:t>DaemonSet — one per node</a:t>
            </a:r>
            <a:endParaRPr lang="en-US" sz="1000" dirty="0"/>
          </a:p>
        </p:txBody>
      </p:sp>
      <p:sp>
        <p:nvSpPr>
          <p:cNvPr id="14" name="Shape 12"/>
          <p:cNvSpPr/>
          <p:nvPr/>
        </p:nvSpPr>
        <p:spPr>
          <a:xfrm>
            <a:off x="8138160" y="2377440"/>
            <a:ext cx="1737360" cy="1005840"/>
          </a:xfrm>
          <a:prstGeom prst="roundRect">
            <a:avLst>
              <a:gd name="adj" fmla="val 7273"/>
            </a:avLst>
          </a:prstGeom>
          <a:solidFill>
            <a:srgbClr val="2E9E63"/>
          </a:solidFill>
          <a:ln w="12700">
            <a:solidFill>
              <a:srgbClr val="2E9E63"/>
            </a:solidFill>
            <a:prstDash val="solid"/>
          </a:ln>
        </p:spPr>
      </p:sp>
      <p:sp>
        <p:nvSpPr>
          <p:cNvPr id="15" name="Text 13"/>
          <p:cNvSpPr/>
          <p:nvPr/>
        </p:nvSpPr>
        <p:spPr>
          <a:xfrm>
            <a:off x="8211312" y="2377440"/>
            <a:ext cx="1591056"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Loki</a:t>
            </a:r>
            <a:endParaRPr lang="en-US" sz="1300" dirty="0"/>
          </a:p>
        </p:txBody>
      </p:sp>
      <p:sp>
        <p:nvSpPr>
          <p:cNvPr id="16" name="Shape 14"/>
          <p:cNvSpPr/>
          <p:nvPr/>
        </p:nvSpPr>
        <p:spPr>
          <a:xfrm>
            <a:off x="10287000" y="2377440"/>
            <a:ext cx="1188720" cy="1005840"/>
          </a:xfrm>
          <a:prstGeom prst="roundRect">
            <a:avLst>
              <a:gd name="adj" fmla="val 7273"/>
            </a:avLst>
          </a:prstGeom>
          <a:solidFill>
            <a:srgbClr val="1B4066"/>
          </a:solidFill>
          <a:ln w="12700">
            <a:solidFill>
              <a:srgbClr val="1B4066"/>
            </a:solidFill>
            <a:prstDash val="solid"/>
          </a:ln>
        </p:spPr>
      </p:sp>
      <p:sp>
        <p:nvSpPr>
          <p:cNvPr id="17" name="Text 15"/>
          <p:cNvSpPr/>
          <p:nvPr/>
        </p:nvSpPr>
        <p:spPr>
          <a:xfrm>
            <a:off x="10360152" y="2377440"/>
            <a:ext cx="1042416"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Grafana</a:t>
            </a:r>
            <a:endParaRPr lang="en-US" sz="1300" dirty="0"/>
          </a:p>
        </p:txBody>
      </p:sp>
      <p:sp>
        <p:nvSpPr>
          <p:cNvPr id="18" name="Shape 16"/>
          <p:cNvSpPr/>
          <p:nvPr/>
        </p:nvSpPr>
        <p:spPr>
          <a:xfrm>
            <a:off x="2743200" y="2880360"/>
            <a:ext cx="320040" cy="0"/>
          </a:xfrm>
          <a:prstGeom prst="line">
            <a:avLst/>
          </a:prstGeom>
          <a:noFill/>
          <a:ln w="25400">
            <a:solidFill>
              <a:srgbClr val="F2A03D"/>
            </a:solidFill>
            <a:prstDash val="solid"/>
            <a:tailEnd type="triangle"/>
          </a:ln>
        </p:spPr>
      </p:sp>
      <p:sp>
        <p:nvSpPr>
          <p:cNvPr id="19" name="Shape 17"/>
          <p:cNvSpPr/>
          <p:nvPr/>
        </p:nvSpPr>
        <p:spPr>
          <a:xfrm>
            <a:off x="5166360" y="2880360"/>
            <a:ext cx="320040" cy="0"/>
          </a:xfrm>
          <a:prstGeom prst="line">
            <a:avLst/>
          </a:prstGeom>
          <a:noFill/>
          <a:ln w="25400">
            <a:solidFill>
              <a:srgbClr val="F2A03D"/>
            </a:solidFill>
            <a:prstDash val="solid"/>
            <a:tailEnd type="triangle"/>
          </a:ln>
        </p:spPr>
      </p:sp>
      <p:sp>
        <p:nvSpPr>
          <p:cNvPr id="20" name="Shape 18"/>
          <p:cNvSpPr/>
          <p:nvPr/>
        </p:nvSpPr>
        <p:spPr>
          <a:xfrm>
            <a:off x="7772400" y="2880360"/>
            <a:ext cx="320040" cy="0"/>
          </a:xfrm>
          <a:prstGeom prst="line">
            <a:avLst/>
          </a:prstGeom>
          <a:noFill/>
          <a:ln w="25400">
            <a:solidFill>
              <a:srgbClr val="F2A03D"/>
            </a:solidFill>
            <a:prstDash val="solid"/>
            <a:tailEnd type="triangle"/>
          </a:ln>
        </p:spPr>
      </p:sp>
      <p:sp>
        <p:nvSpPr>
          <p:cNvPr id="21" name="Shape 19"/>
          <p:cNvSpPr/>
          <p:nvPr/>
        </p:nvSpPr>
        <p:spPr>
          <a:xfrm>
            <a:off x="9921240" y="2880360"/>
            <a:ext cx="320040" cy="0"/>
          </a:xfrm>
          <a:prstGeom prst="line">
            <a:avLst/>
          </a:prstGeom>
          <a:noFill/>
          <a:ln w="25400">
            <a:solidFill>
              <a:srgbClr val="F2A03D"/>
            </a:solidFill>
            <a:prstDash val="solid"/>
            <a:tailEnd type="triangle"/>
          </a:ln>
        </p:spPr>
      </p:sp>
      <p:sp>
        <p:nvSpPr>
          <p:cNvPr id="22" name="Shape 20"/>
          <p:cNvSpPr/>
          <p:nvPr/>
        </p:nvSpPr>
        <p:spPr>
          <a:xfrm>
            <a:off x="685800" y="3886200"/>
            <a:ext cx="5257800" cy="1600200"/>
          </a:xfrm>
          <a:prstGeom prst="roundRect">
            <a:avLst>
              <a:gd name="adj" fmla="val 5714"/>
            </a:avLst>
          </a:prstGeom>
          <a:solidFill>
            <a:srgbClr val="12314F"/>
          </a:solidFill>
          <a:ln w="25400">
            <a:solidFill>
              <a:srgbClr val="2E9E63"/>
            </a:solidFill>
            <a:prstDash val="solid"/>
          </a:ln>
        </p:spPr>
      </p:sp>
      <p:sp>
        <p:nvSpPr>
          <p:cNvPr id="23" name="Text 21"/>
          <p:cNvSpPr/>
          <p:nvPr/>
        </p:nvSpPr>
        <p:spPr>
          <a:xfrm>
            <a:off x="822960" y="3977640"/>
            <a:ext cx="4983480" cy="329184"/>
          </a:xfrm>
          <a:prstGeom prst="rect">
            <a:avLst/>
          </a:prstGeom>
          <a:noFill/>
          <a:ln/>
        </p:spPr>
        <p:txBody>
          <a:bodyPr wrap="square" lIns="0" tIns="0" rIns="0" bIns="0" rtlCol="0" anchor="ctr"/>
          <a:lstStyle/>
          <a:p>
            <a:pPr algn="ctr" indent="0" marL="0">
              <a:buNone/>
            </a:pPr>
            <a:r>
              <a:rPr lang="en-US" sz="1200" b="1" dirty="0">
                <a:solidFill>
                  <a:srgbClr val="2E9E63"/>
                </a:solidFill>
                <a:latin typeface="Cambria" pitchFamily="34" charset="0"/>
                <a:ea typeface="Cambria" pitchFamily="34" charset="-122"/>
                <a:cs typeface="Cambria" pitchFamily="34" charset="-120"/>
              </a:rPr>
              <a:t>LABELS — indexed, must be BOUNDED</a:t>
            </a:r>
            <a:endParaRPr lang="en-US" sz="1200" dirty="0"/>
          </a:p>
        </p:txBody>
      </p:sp>
      <p:sp>
        <p:nvSpPr>
          <p:cNvPr id="24" name="Text 22"/>
          <p:cNvSpPr/>
          <p:nvPr/>
        </p:nvSpPr>
        <p:spPr>
          <a:xfrm>
            <a:off x="822960" y="4315968"/>
            <a:ext cx="4983480" cy="1097280"/>
          </a:xfrm>
          <a:prstGeom prst="rect">
            <a:avLst/>
          </a:prstGeom>
          <a:noFill/>
          <a:ln/>
        </p:spPr>
        <p:txBody>
          <a:bodyPr wrap="square" lIns="0" tIns="0" rIns="0" bIns="0" rtlCol="0" anchor="ctr"/>
          <a:lstStyle/>
          <a:p>
            <a:pPr algn="ctr" indent="0" marL="0">
              <a:lnSpc>
                <a:spcPts val="1400"/>
              </a:lnSpc>
              <a:buNone/>
            </a:pPr>
            <a:r>
              <a:rPr lang="en-US" sz="1050" dirty="0">
                <a:solidFill>
                  <a:srgbClr val="D8E6F2"/>
                </a:solidFill>
                <a:latin typeface="Courier New" pitchFamily="34" charset="0"/>
                <a:ea typeface="Courier New" pitchFamily="34" charset="-122"/>
                <a:cs typeface="Courier New" pitchFamily="34" charset="-120"/>
              </a:rPr>
              <a:t>namespace · service · pod · container · node</a:t>
            </a:r>
            <a:endParaRPr lang="en-US" sz="1050" dirty="0"/>
          </a:p>
          <a:p>
            <a:pPr algn="ctr" indent="0" marL="0">
              <a:lnSpc>
                <a:spcPts val="1400"/>
              </a:lnSpc>
              <a:buNone/>
            </a:pPr>
            <a:endParaRPr lang="en-US" sz="1050" dirty="0"/>
          </a:p>
          <a:p>
            <a:pPr algn="ctr" indent="0" marL="0">
              <a:lnSpc>
                <a:spcPts val="1400"/>
              </a:lnSpc>
              <a:buNone/>
            </a:pPr>
            <a:r>
              <a:rPr lang="en-US" sz="1050" dirty="0">
                <a:solidFill>
                  <a:srgbClr val="D8E6F2"/>
                </a:solidFill>
                <a:latin typeface="Courier New" pitchFamily="34" charset="0"/>
                <a:ea typeface="Courier New" pitchFamily="34" charset="-122"/>
                <a:cs typeface="Courier New" pitchFamily="34" charset="-120"/>
              </a:rPr>
              <a:t>{namespace="axispay-core"}  ← index lookup</a:t>
            </a:r>
            <a:endParaRPr lang="en-US" sz="1050" dirty="0"/>
          </a:p>
        </p:txBody>
      </p:sp>
      <p:sp>
        <p:nvSpPr>
          <p:cNvPr id="25" name="Shape 23"/>
          <p:cNvSpPr/>
          <p:nvPr/>
        </p:nvSpPr>
        <p:spPr>
          <a:xfrm>
            <a:off x="6263640" y="3886200"/>
            <a:ext cx="5212080" cy="1600200"/>
          </a:xfrm>
          <a:prstGeom prst="roundRect">
            <a:avLst>
              <a:gd name="adj" fmla="val 5714"/>
            </a:avLst>
          </a:prstGeom>
          <a:solidFill>
            <a:srgbClr val="12314F"/>
          </a:solidFill>
          <a:ln w="25400">
            <a:solidFill>
              <a:srgbClr val="F2A03D"/>
            </a:solidFill>
            <a:prstDash val="solid"/>
          </a:ln>
        </p:spPr>
      </p:sp>
      <p:sp>
        <p:nvSpPr>
          <p:cNvPr id="26" name="Text 24"/>
          <p:cNvSpPr/>
          <p:nvPr/>
        </p:nvSpPr>
        <p:spPr>
          <a:xfrm>
            <a:off x="6400800" y="3977640"/>
            <a:ext cx="4937760" cy="329184"/>
          </a:xfrm>
          <a:prstGeom prst="rect">
            <a:avLst/>
          </a:prstGeom>
          <a:noFill/>
          <a:ln/>
        </p:spPr>
        <p:txBody>
          <a:bodyPr wrap="square" lIns="0" tIns="0" rIns="0" bIns="0" rtlCol="0" anchor="ctr"/>
          <a:lstStyle/>
          <a:p>
            <a:pPr algn="ctr" indent="0" marL="0">
              <a:buNone/>
            </a:pPr>
            <a:r>
              <a:rPr lang="en-US" sz="1200" b="1" dirty="0">
                <a:solidFill>
                  <a:srgbClr val="F2A03D"/>
                </a:solidFill>
                <a:latin typeface="Cambria" pitchFamily="34" charset="0"/>
                <a:ea typeface="Cambria" pitchFamily="34" charset="-122"/>
                <a:cs typeface="Cambria" pitchFamily="34" charset="-120"/>
              </a:rPr>
              <a:t>BODY — scanned, may be UNBOUNDED</a:t>
            </a:r>
            <a:endParaRPr lang="en-US" sz="1200" dirty="0"/>
          </a:p>
        </p:txBody>
      </p:sp>
      <p:sp>
        <p:nvSpPr>
          <p:cNvPr id="27" name="Text 25"/>
          <p:cNvSpPr/>
          <p:nvPr/>
        </p:nvSpPr>
        <p:spPr>
          <a:xfrm>
            <a:off x="6400800" y="4315968"/>
            <a:ext cx="4937760" cy="1097280"/>
          </a:xfrm>
          <a:prstGeom prst="rect">
            <a:avLst/>
          </a:prstGeom>
          <a:noFill/>
          <a:ln/>
        </p:spPr>
        <p:txBody>
          <a:bodyPr wrap="square" lIns="0" tIns="0" rIns="0" bIns="0" rtlCol="0" anchor="ctr"/>
          <a:lstStyle/>
          <a:p>
            <a:pPr algn="ctr" indent="0" marL="0">
              <a:lnSpc>
                <a:spcPts val="1400"/>
              </a:lnSpc>
              <a:buNone/>
            </a:pPr>
            <a:r>
              <a:rPr lang="en-US" sz="1050" dirty="0">
                <a:solidFill>
                  <a:srgbClr val="D8E6F2"/>
                </a:solidFill>
                <a:latin typeface="Courier New" pitchFamily="34" charset="0"/>
                <a:ea typeface="Courier New" pitchFamily="34" charset="-122"/>
                <a:cs typeface="Courier New" pitchFamily="34" charset="-120"/>
              </a:rPr>
              <a:t>correlation_id · payment_id · merchant_id</a:t>
            </a:r>
            <a:endParaRPr lang="en-US" sz="1050" dirty="0"/>
          </a:p>
          <a:p>
            <a:pPr algn="ctr" indent="0" marL="0">
              <a:lnSpc>
                <a:spcPts val="1400"/>
              </a:lnSpc>
              <a:buNone/>
            </a:pPr>
            <a:endParaRPr lang="en-US" sz="1050" dirty="0"/>
          </a:p>
          <a:p>
            <a:pPr algn="ctr" indent="0" marL="0">
              <a:lnSpc>
                <a:spcPts val="1400"/>
              </a:lnSpc>
              <a:buNone/>
            </a:pPr>
            <a:r>
              <a:rPr lang="en-US" sz="1050" dirty="0">
                <a:solidFill>
                  <a:srgbClr val="D8E6F2"/>
                </a:solidFill>
                <a:latin typeface="Courier New" pitchFamily="34" charset="0"/>
                <a:ea typeface="Courier New" pitchFamily="34" charset="-122"/>
                <a:cs typeface="Courier New" pitchFamily="34" charset="-120"/>
              </a:rPr>
              <a:t>| json | correlation_id="..."  ← a scan</a:t>
            </a:r>
            <a:endParaRPr lang="en-US" sz="1050" dirty="0"/>
          </a:p>
        </p:txBody>
      </p:sp>
      <p:sp>
        <p:nvSpPr>
          <p:cNvPr id="28" name="Text 26"/>
          <p:cNvSpPr/>
          <p:nvPr/>
        </p:nvSpPr>
        <p:spPr>
          <a:xfrm>
            <a:off x="566928" y="5779008"/>
            <a:ext cx="11057839" cy="457200"/>
          </a:xfrm>
          <a:prstGeom prst="rect">
            <a:avLst/>
          </a:prstGeom>
          <a:noFill/>
          <a:ln/>
        </p:spPr>
        <p:txBody>
          <a:bodyPr wrap="square" lIns="0" tIns="0" rIns="0" bIns="0" rtlCol="0" anchor="ctr"/>
          <a:lstStyle/>
          <a:p>
            <a:pPr algn="ctr" indent="0" marL="0">
              <a:buNone/>
            </a:pPr>
            <a:r>
              <a:rPr lang="en-US" sz="1500" b="1" dirty="0">
                <a:solidFill>
                  <a:srgbClr val="D64545"/>
                </a:solidFill>
                <a:latin typeface="Calibri" pitchFamily="34" charset="0"/>
                <a:ea typeface="Calibri" pitchFamily="34" charset="-122"/>
                <a:cs typeface="Calibri" pitchFamily="34" charset="-120"/>
              </a:rPr>
              <a:t>correlation_id as a LABEL = one stream per request = 1.7 million streams a day.</a:t>
            </a:r>
            <a:endParaRPr lang="en-US" sz="1500" dirty="0"/>
          </a:p>
        </p:txBody>
      </p:sp>
      <p:sp>
        <p:nvSpPr>
          <p:cNvPr id="29" name="Text 27"/>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30" name="Text 28"/>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59232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59232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M5.6 · WORKED EXAMPLE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Monday's header, Friday's answer</a:t>
            </a:r>
            <a:endParaRPr lang="en-US" sz="3200" dirty="0"/>
          </a:p>
        </p:txBody>
      </p:sp>
      <p:sp>
        <p:nvSpPr>
          <p:cNvPr id="5" name="Text 3"/>
          <p:cNvSpPr/>
          <p:nvPr/>
        </p:nvSpPr>
        <p:spPr>
          <a:xfrm>
            <a:off x="566928" y="1737360"/>
            <a:ext cx="11057839" cy="384048"/>
          </a:xfrm>
          <a:prstGeom prst="rect">
            <a:avLst/>
          </a:prstGeom>
          <a:noFill/>
          <a:ln/>
        </p:spPr>
        <p:txBody>
          <a:bodyPr wrap="square" lIns="0" tIns="0" rIns="0" bIns="0" rtlCol="0" anchor="ctr"/>
          <a:lstStyle/>
          <a:p>
            <a:pPr indent="0" marL="0">
              <a:buNone/>
            </a:pPr>
            <a:r>
              <a:rPr lang="en-US" sz="1400" i="1" dirty="0">
                <a:solidFill>
                  <a:srgbClr val="F2A03D"/>
                </a:solidFill>
                <a:latin typeface="Calibri" pitchFamily="34" charset="0"/>
                <a:ea typeface="Calibri" pitchFamily="34" charset="-122"/>
                <a:cs typeface="Calibri" pitchFamily="34" charset="-120"/>
              </a:rPr>
              <a:t>One correlation ID. Seven services. One query. This is the payoff for the whole week.</a:t>
            </a:r>
            <a:endParaRPr lang="en-US" sz="1400" dirty="0"/>
          </a:p>
        </p:txBody>
      </p:sp>
      <p:sp>
        <p:nvSpPr>
          <p:cNvPr id="6" name="Shape 4"/>
          <p:cNvSpPr/>
          <p:nvPr/>
        </p:nvSpPr>
        <p:spPr>
          <a:xfrm>
            <a:off x="566928" y="2249424"/>
            <a:ext cx="11057839" cy="3268980"/>
          </a:xfrm>
          <a:prstGeom prst="roundRect">
            <a:avLst>
              <a:gd name="adj" fmla="val 2238"/>
            </a:avLst>
          </a:prstGeom>
          <a:solidFill>
            <a:srgbClr val="0E2740"/>
          </a:solidFill>
          <a:ln w="12700">
            <a:solidFill>
              <a:srgbClr val="1B4066"/>
            </a:solidFill>
            <a:prstDash val="solid"/>
          </a:ln>
        </p:spPr>
      </p:sp>
      <p:sp>
        <p:nvSpPr>
          <p:cNvPr id="7" name="Shape 5"/>
          <p:cNvSpPr/>
          <p:nvPr/>
        </p:nvSpPr>
        <p:spPr>
          <a:xfrm>
            <a:off x="768096" y="2404872"/>
            <a:ext cx="118872" cy="118872"/>
          </a:xfrm>
          <a:prstGeom prst="ellipse">
            <a:avLst/>
          </a:prstGeom>
          <a:solidFill>
            <a:srgbClr val="D64545"/>
          </a:solidFill>
          <a:ln w="12700">
            <a:solidFill>
              <a:srgbClr val="D64545"/>
            </a:solidFill>
            <a:prstDash val="solid"/>
          </a:ln>
        </p:spPr>
      </p:sp>
      <p:sp>
        <p:nvSpPr>
          <p:cNvPr id="8" name="Shape 6"/>
          <p:cNvSpPr/>
          <p:nvPr/>
        </p:nvSpPr>
        <p:spPr>
          <a:xfrm>
            <a:off x="987552" y="2404872"/>
            <a:ext cx="118872" cy="118872"/>
          </a:xfrm>
          <a:prstGeom prst="ellipse">
            <a:avLst/>
          </a:prstGeom>
          <a:solidFill>
            <a:srgbClr val="F2A03D"/>
          </a:solidFill>
          <a:ln w="12700">
            <a:solidFill>
              <a:srgbClr val="F2A03D"/>
            </a:solidFill>
            <a:prstDash val="solid"/>
          </a:ln>
        </p:spPr>
      </p:sp>
      <p:sp>
        <p:nvSpPr>
          <p:cNvPr id="9" name="Shape 7"/>
          <p:cNvSpPr/>
          <p:nvPr/>
        </p:nvSpPr>
        <p:spPr>
          <a:xfrm>
            <a:off x="1207008" y="2404872"/>
            <a:ext cx="118872" cy="118872"/>
          </a:xfrm>
          <a:prstGeom prst="ellipse">
            <a:avLst/>
          </a:prstGeom>
          <a:solidFill>
            <a:srgbClr val="2E9E63"/>
          </a:solidFill>
          <a:ln w="12700">
            <a:solidFill>
              <a:srgbClr val="2E9E63"/>
            </a:solidFill>
            <a:prstDash val="solid"/>
          </a:ln>
        </p:spPr>
      </p:sp>
      <p:sp>
        <p:nvSpPr>
          <p:cNvPr id="10" name="Text 8"/>
          <p:cNvSpPr/>
          <p:nvPr/>
        </p:nvSpPr>
        <p:spPr>
          <a:xfrm>
            <a:off x="804672" y="2706624"/>
            <a:ext cx="10600639" cy="2628900"/>
          </a:xfrm>
          <a:prstGeom prst="rect">
            <a:avLst/>
          </a:prstGeom>
          <a:noFill/>
          <a:ln/>
        </p:spPr>
        <p:txBody>
          <a:bodyPr wrap="square" lIns="0" tIns="0" rIns="0" bIns="0" rtlCol="0" anchor="t"/>
          <a:lstStyle/>
          <a:p>
            <a:pPr indent="0" marL="0">
              <a:lnSpc>
                <a:spcPts val="1725"/>
              </a:lnSpc>
              <a:buNone/>
            </a:pPr>
            <a:r>
              <a:rPr lang="en-US" sz="1150" b="1" dirty="0">
                <a:solidFill>
                  <a:srgbClr val="F2A03D"/>
                </a:solidFill>
                <a:latin typeface="Courier New" pitchFamily="34" charset="0"/>
                <a:ea typeface="Courier New" pitchFamily="34" charset="-122"/>
                <a:cs typeface="Courier New" pitchFamily="34" charset="-120"/>
              </a:rPr>
              <a:t>{namespace=~"axispay-.*"} | json | correlation_id="7f3a9c21-..."</a:t>
            </a:r>
            <a:endParaRPr lang="en-US" sz="1150" dirty="0"/>
          </a:p>
          <a:p>
            <a:pPr indent="0" marL="0">
              <a:lnSpc>
                <a:spcPts val="1725"/>
              </a:lnSpc>
              <a:buNone/>
            </a:pPr>
            <a:r>
              <a:rPr lang="en-US" sz="1150" dirty="0">
                <a:solidFill>
                  <a:srgbClr val="D8E6F2"/>
                </a:solidFill>
                <a:latin typeface="Courier New" pitchFamily="34" charset="0"/>
                <a:ea typeface="Courier New" pitchFamily="34" charset="-122"/>
                <a:cs typeface="Courier New" pitchFamily="34" charset="-120"/>
              </a:rPr>
              <a:t> </a:t>
            </a:r>
            <a:endParaRPr lang="en-US" sz="1150" dirty="0"/>
          </a:p>
          <a:p>
            <a:pPr indent="0" marL="0">
              <a:lnSpc>
                <a:spcPts val="1725"/>
              </a:lnSpc>
              <a:buNone/>
            </a:pPr>
            <a:r>
              <a:rPr lang="en-US" sz="1150" dirty="0">
                <a:solidFill>
                  <a:srgbClr val="D8E6F2"/>
                </a:solidFill>
                <a:latin typeface="Courier New" pitchFamily="34" charset="0"/>
                <a:ea typeface="Courier New" pitchFamily="34" charset="-122"/>
                <a:cs typeface="Courier New" pitchFamily="34" charset="-120"/>
              </a:rPr>
              <a:t>02:14:07  edge-gateway      request            1247.3 ms</a:t>
            </a:r>
            <a:endParaRPr lang="en-US" sz="1150" dirty="0"/>
          </a:p>
          <a:p>
            <a:pPr indent="0" marL="0">
              <a:lnSpc>
                <a:spcPts val="1725"/>
              </a:lnSpc>
              <a:buNone/>
            </a:pPr>
            <a:r>
              <a:rPr lang="en-US" sz="1150" dirty="0">
                <a:solidFill>
                  <a:srgbClr val="D8E6F2"/>
                </a:solidFill>
                <a:latin typeface="Courier New" pitchFamily="34" charset="0"/>
                <a:ea typeface="Courier New" pitchFamily="34" charset="-122"/>
                <a:cs typeface="Courier New" pitchFamily="34" charset="-120"/>
              </a:rPr>
              <a:t>02:14:07  auth-service      request               3.1 ms</a:t>
            </a:r>
            <a:endParaRPr lang="en-US" sz="1150" dirty="0"/>
          </a:p>
          <a:p>
            <a:pPr indent="0" marL="0">
              <a:lnSpc>
                <a:spcPts val="1725"/>
              </a:lnSpc>
              <a:buNone/>
            </a:pPr>
            <a:r>
              <a:rPr lang="en-US" sz="1150" dirty="0">
                <a:solidFill>
                  <a:srgbClr val="D8E6F2"/>
                </a:solidFill>
                <a:latin typeface="Courier New" pitchFamily="34" charset="0"/>
                <a:ea typeface="Courier New" pitchFamily="34" charset="-122"/>
                <a:cs typeface="Courier New" pitchFamily="34" charset="-120"/>
              </a:rPr>
              <a:t>02:14:07  payment-service   payment created    1198.7 ms</a:t>
            </a:r>
            <a:endParaRPr lang="en-US" sz="1150" dirty="0"/>
          </a:p>
          <a:p>
            <a:pPr indent="0" marL="0">
              <a:lnSpc>
                <a:spcPts val="1725"/>
              </a:lnSpc>
              <a:buNone/>
            </a:pPr>
            <a:r>
              <a:rPr lang="en-US" sz="1150" dirty="0">
                <a:solidFill>
                  <a:srgbClr val="D8E6F2"/>
                </a:solidFill>
                <a:latin typeface="Courier New" pitchFamily="34" charset="0"/>
                <a:ea typeface="Courier New" pitchFamily="34" charset="-122"/>
                <a:cs typeface="Courier New" pitchFamily="34" charset="-120"/>
              </a:rPr>
              <a:t>02:14:07  merchant-service  request               4.8 ms</a:t>
            </a:r>
            <a:endParaRPr lang="en-US" sz="1150" dirty="0"/>
          </a:p>
          <a:p>
            <a:pPr indent="0" marL="0">
              <a:lnSpc>
                <a:spcPts val="1725"/>
              </a:lnSpc>
              <a:buNone/>
            </a:pPr>
            <a:r>
              <a:rPr lang="en-US" sz="1150" dirty="0">
                <a:solidFill>
                  <a:srgbClr val="D64545"/>
                </a:solidFill>
                <a:latin typeface="Courier New" pitchFamily="34" charset="0"/>
                <a:ea typeface="Courier New" pitchFamily="34" charset="-122"/>
                <a:cs typeface="Courier New" pitchFamily="34" charset="-120"/>
              </a:rPr>
              <a:t>02:14:07  fraud-service     risk assessed      1102.4 ms   &lt;-- here</a:t>
            </a:r>
            <a:endParaRPr lang="en-US" sz="1150" dirty="0"/>
          </a:p>
          <a:p>
            <a:pPr indent="0" marL="0">
              <a:lnSpc>
                <a:spcPts val="1725"/>
              </a:lnSpc>
              <a:buNone/>
            </a:pPr>
            <a:r>
              <a:rPr lang="en-US" sz="1150" dirty="0">
                <a:solidFill>
                  <a:srgbClr val="D8E6F2"/>
                </a:solidFill>
                <a:latin typeface="Courier New" pitchFamily="34" charset="0"/>
                <a:ea typeface="Courier New" pitchFamily="34" charset="-122"/>
                <a:cs typeface="Courier New" pitchFamily="34" charset="-120"/>
              </a:rPr>
              <a:t>02:14:08  routing-service   request              12.2 ms</a:t>
            </a:r>
            <a:endParaRPr lang="en-US" sz="1150" dirty="0"/>
          </a:p>
          <a:p>
            <a:pPr indent="0" marL="0">
              <a:lnSpc>
                <a:spcPts val="1725"/>
              </a:lnSpc>
              <a:buNone/>
            </a:pPr>
            <a:r>
              <a:rPr lang="en-US" sz="1150" dirty="0">
                <a:solidFill>
                  <a:srgbClr val="D8E6F2"/>
                </a:solidFill>
                <a:latin typeface="Courier New" pitchFamily="34" charset="0"/>
                <a:ea typeface="Courier New" pitchFamily="34" charset="-122"/>
                <a:cs typeface="Courier New" pitchFamily="34" charset="-120"/>
              </a:rPr>
              <a:t>02:14:08  ledger-service    journal posted        6.9 ms</a:t>
            </a:r>
            <a:endParaRPr lang="en-US" sz="1150" dirty="0"/>
          </a:p>
          <a:p>
            <a:pPr indent="0" marL="0">
              <a:lnSpc>
                <a:spcPts val="1725"/>
              </a:lnSpc>
              <a:buNone/>
            </a:pPr>
            <a:r>
              <a:rPr lang="en-US" sz="1150" dirty="0">
                <a:solidFill>
                  <a:srgbClr val="D8E6F2"/>
                </a:solidFill>
                <a:latin typeface="Courier New" pitchFamily="34" charset="0"/>
                <a:ea typeface="Courier New" pitchFamily="34" charset="-122"/>
                <a:cs typeface="Courier New" pitchFamily="34" charset="-120"/>
              </a:rPr>
              <a:t> </a:t>
            </a:r>
            <a:endParaRPr lang="en-US" sz="1150" dirty="0"/>
          </a:p>
          <a:p>
            <a:pPr indent="0" marL="0">
              <a:lnSpc>
                <a:spcPts val="1725"/>
              </a:lnSpc>
              <a:buNone/>
            </a:pPr>
            <a:r>
              <a:rPr lang="en-US" sz="1150" dirty="0">
                <a:solidFill>
                  <a:srgbClr val="63758B"/>
                </a:solidFill>
                <a:latin typeface="Courier New" pitchFamily="34" charset="0"/>
                <a:ea typeface="Courier New" pitchFamily="34" charset="-122"/>
                <a:cs typeface="Courier New" pitchFamily="34" charset="-120"/>
              </a:rPr>
              <a:t># the merchant gave you a payment reference and nothing else.</a:t>
            </a:r>
            <a:endParaRPr lang="en-US" sz="1150" dirty="0"/>
          </a:p>
          <a:p>
            <a:pPr indent="0" marL="0">
              <a:lnSpc>
                <a:spcPts val="1725"/>
              </a:lnSpc>
              <a:buNone/>
            </a:pPr>
            <a:r>
              <a:rPr lang="en-US" sz="1150" dirty="0">
                <a:solidFill>
                  <a:srgbClr val="63758B"/>
                </a:solidFill>
                <a:latin typeface="Courier New" pitchFamily="34" charset="0"/>
                <a:ea typeface="Courier New" pitchFamily="34" charset="-122"/>
                <a:cs typeface="Courier New" pitchFamily="34" charset="-120"/>
              </a:rPr>
              <a:t># reference -&gt; payment -&gt; correlation_id -&gt; this.</a:t>
            </a:r>
            <a:endParaRPr lang="en-US" sz="1150" dirty="0"/>
          </a:p>
        </p:txBody>
      </p:sp>
      <p:sp>
        <p:nvSpPr>
          <p:cNvPr id="11" name="Text 9"/>
          <p:cNvSpPr/>
          <p:nvPr/>
        </p:nvSpPr>
        <p:spPr>
          <a:xfrm>
            <a:off x="566928" y="5682996"/>
            <a:ext cx="11057839" cy="457200"/>
          </a:xfrm>
          <a:prstGeom prst="rect">
            <a:avLst/>
          </a:prstGeom>
          <a:noFill/>
          <a:ln/>
        </p:spPr>
        <p:txBody>
          <a:bodyPr wrap="square" lIns="0" tIns="0" rIns="0" bIns="0" rtlCol="0" anchor="ctr"/>
          <a:lstStyle/>
          <a:p>
            <a:pPr indent="0" marL="0">
              <a:buNone/>
            </a:pPr>
            <a:r>
              <a:rPr lang="en-US" sz="1300" i="1" dirty="0">
                <a:solidFill>
                  <a:srgbClr val="D8E6F2"/>
                </a:solidFill>
                <a:latin typeface="Calibri" pitchFamily="34" charset="0"/>
                <a:ea typeface="Calibri" pitchFamily="34" charset="-122"/>
                <a:cs typeface="Calibri" pitchFamily="34" charset="-120"/>
              </a:rPr>
              <a:t>edge-gateway has been minting X-Correlation-Id since Monday. Nobody was told why.</a:t>
            </a:r>
            <a:endParaRPr lang="en-US" sz="1300" dirty="0"/>
          </a:p>
        </p:txBody>
      </p:sp>
      <p:sp>
        <p:nvSpPr>
          <p:cNvPr id="12" name="Text 10"/>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13" name="Text 11"/>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540764"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154076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M5.5 – M5.6</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Five ways observability becomes useless</a:t>
            </a:r>
            <a:endParaRPr lang="en-US" sz="3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57839" cy="914400"/>
        </p:xfrm>
        <a:graphic>
          <a:graphicData uri="http://schemas.openxmlformats.org/drawingml/2006/table">
            <a:tbl>
              <a:tblPr/>
              <a:tblGrid>
                <a:gridCol w="3108960"/>
                <a:gridCol w="3931920"/>
                <a:gridCol w="402336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MISTAKE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YOU SEE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 THIS INSTEAD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A label with unbounded values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One series per request. Prometheus or Loki runs out of memory during the incident you needed it for.</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Bounded dimensions only. Unbounded values go in the log body, queried with | json.</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Alerting on causes rather than symptoms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Pages for facts. 'CPU is high' may be exactly what you sized for.</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Alert on what a merchant would notice. Every rule in axispay-slo does.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No `for:` clause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One slow scrape pages someone at 03:00. Within a month the channel is muted.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5m for error rate, 2m for missing endpoints, 15m for a business trend.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Counting 4xx as errors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The error budget burns while the risk engine does its job correctly.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status=~"5.." only. A 409 decline and a 402 are outcomes, not failures.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75488">
                <a:tc>
                  <a:txBody>
                    <a:bodyPr/>
                    <a:lstStyle/>
                    <a:p>
                      <a:pPr indent="0" marL="0">
                        <a:buNone/>
                      </a:pPr>
                      <a:r>
                        <a:rPr lang="en-US" sz="1200" b="1" dirty="0">
                          <a:solidFill>
                            <a:srgbClr val="D64545"/>
                          </a:solidFill>
                          <a:latin typeface="Calibri" pitchFamily="34" charset="0"/>
                          <a:ea typeface="Calibri" pitchFamily="34" charset="-122"/>
                          <a:cs typeface="Calibri" pitchFamily="34" charset="-120"/>
                        </a:rPr>
                        <a:t>Dashboards edited in the UI</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Gone at the next Grafana restart, and never reviewable in a merge request.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2E9E63"/>
                          </a:solidFill>
                          <a:latin typeface="Calibri" pitchFamily="34" charset="0"/>
                          <a:ea typeface="Calibri" pitchFamily="34" charset="-122"/>
                          <a:cs typeface="Calibri" pitchFamily="34" charset="-120"/>
                        </a:rPr>
                        <a:t>Edit build-dashboards.py and run make dashboards. The ConfigMap is the source of truth.</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bl>
          </a:graphicData>
        </a:graphic>
      </p:graphicFrame>
      <p:sp>
        <p:nvSpPr>
          <p:cNvPr id="6" name="Text 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7" name="Text 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540764" cy="292608"/>
          </a:xfrm>
          <a:prstGeom prst="roundRect">
            <a:avLst>
              <a:gd name="adj" fmla="val 50000"/>
            </a:avLst>
          </a:prstGeom>
          <a:solidFill>
            <a:srgbClr val="2E9E63"/>
          </a:solidFill>
          <a:ln w="12700">
            <a:solidFill>
              <a:srgbClr val="2E9E63"/>
            </a:solidFill>
            <a:prstDash val="solid"/>
          </a:ln>
        </p:spPr>
      </p:sp>
      <p:sp>
        <p:nvSpPr>
          <p:cNvPr id="3" name="Text 1"/>
          <p:cNvSpPr/>
          <p:nvPr/>
        </p:nvSpPr>
        <p:spPr>
          <a:xfrm>
            <a:off x="566928" y="384048"/>
            <a:ext cx="154076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GUIDED LABS</a:t>
            </a:r>
            <a:endParaRPr lang="en-US" sz="1100" dirty="0"/>
          </a:p>
        </p:txBody>
      </p:sp>
      <p:sp>
        <p:nvSpPr>
          <p:cNvPr id="4" name="Text 2"/>
          <p:cNvSpPr/>
          <p:nvPr/>
        </p:nvSpPr>
        <p:spPr>
          <a:xfrm>
            <a:off x="566928" y="914400"/>
            <a:ext cx="2743200" cy="777240"/>
          </a:xfrm>
          <a:prstGeom prst="rect">
            <a:avLst/>
          </a:prstGeom>
          <a:noFill/>
          <a:ln/>
        </p:spPr>
        <p:txBody>
          <a:bodyPr wrap="square" lIns="0" tIns="0" rIns="0" bIns="0" rtlCol="0" anchor="ctr"/>
          <a:lstStyle/>
          <a:p>
            <a:pPr indent="0" marL="0">
              <a:buNone/>
            </a:pPr>
            <a:r>
              <a:rPr lang="en-US" sz="4000" b="1" dirty="0">
                <a:solidFill>
                  <a:srgbClr val="2E9E63"/>
                </a:solidFill>
                <a:latin typeface="Cambria" pitchFamily="34" charset="0"/>
                <a:ea typeface="Cambria" pitchFamily="34" charset="-122"/>
                <a:cs typeface="Cambria" pitchFamily="34" charset="-120"/>
              </a:rPr>
              <a:t>L5.5 + L5.6</a:t>
            </a:r>
            <a:endParaRPr lang="en-US" sz="4000" dirty="0"/>
          </a:p>
        </p:txBody>
      </p:sp>
      <p:sp>
        <p:nvSpPr>
          <p:cNvPr id="5" name="Text 3"/>
          <p:cNvSpPr/>
          <p:nvPr/>
        </p:nvSpPr>
        <p:spPr>
          <a:xfrm>
            <a:off x="566928" y="1691640"/>
            <a:ext cx="11057839"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Metrics, dashboards, logs and alerts</a:t>
            </a:r>
            <a:endParaRPr lang="en-US" sz="3000" dirty="0"/>
          </a:p>
        </p:txBody>
      </p:sp>
      <p:sp>
        <p:nvSpPr>
          <p:cNvPr id="6" name="Shape 4"/>
          <p:cNvSpPr/>
          <p:nvPr/>
        </p:nvSpPr>
        <p:spPr>
          <a:xfrm>
            <a:off x="566928" y="2560320"/>
            <a:ext cx="5577840" cy="2834640"/>
          </a:xfrm>
          <a:prstGeom prst="roundRect">
            <a:avLst>
              <a:gd name="adj" fmla="val 3226"/>
            </a:avLst>
          </a:prstGeom>
          <a:solidFill>
            <a:srgbClr val="12314F"/>
          </a:solidFill>
          <a:ln w="12700">
            <a:solidFill>
              <a:srgbClr val="1B4066"/>
            </a:solidFill>
            <a:prstDash val="solid"/>
          </a:ln>
        </p:spPr>
      </p:sp>
      <p:sp>
        <p:nvSpPr>
          <p:cNvPr id="7" name="Text 5"/>
          <p:cNvSpPr/>
          <p:nvPr/>
        </p:nvSpPr>
        <p:spPr>
          <a:xfrm>
            <a:off x="841248" y="2724912"/>
            <a:ext cx="5029200" cy="274320"/>
          </a:xfrm>
          <a:prstGeom prst="rect">
            <a:avLst/>
          </a:prstGeom>
          <a:noFill/>
          <a:ln/>
        </p:spPr>
        <p:txBody>
          <a:bodyPr wrap="square" lIns="0" tIns="0" rIns="0" bIns="0" rtlCol="0" anchor="ctr"/>
          <a:lstStyle/>
          <a:p>
            <a:pPr indent="0" marL="0">
              <a:buNone/>
            </a:pPr>
            <a:r>
              <a:rPr lang="en-US" sz="1000" b="1" spc="100" kern="0" dirty="0">
                <a:solidFill>
                  <a:srgbClr val="F2A03D"/>
                </a:solidFill>
                <a:latin typeface="Calibri" pitchFamily="34" charset="0"/>
                <a:ea typeface="Calibri" pitchFamily="34" charset="-122"/>
                <a:cs typeface="Calibri" pitchFamily="34" charset="-120"/>
              </a:rPr>
              <a:t>YOU WILL</a:t>
            </a:r>
            <a:endParaRPr lang="en-US" sz="1000" dirty="0"/>
          </a:p>
        </p:txBody>
      </p:sp>
      <p:sp>
        <p:nvSpPr>
          <p:cNvPr id="8" name="Text 6"/>
          <p:cNvSpPr/>
          <p:nvPr/>
        </p:nvSpPr>
        <p:spPr>
          <a:xfrm>
            <a:off x="886968" y="3017520"/>
            <a:ext cx="5029200" cy="219456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Break Prometheus discovery on purpose and see MISSING rather than down</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Write the four golden signals, and one business query you cannot answer yet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Build the alert that fires on silence, and watch it fire</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Follow one payment across seven services from a single ID</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Prove an alert reached the payments channel and NOT the finance one</a:t>
            </a:r>
            <a:endParaRPr lang="en-US" sz="1300" dirty="0"/>
          </a:p>
        </p:txBody>
      </p:sp>
      <p:sp>
        <p:nvSpPr>
          <p:cNvPr id="9" name="Shape 7"/>
          <p:cNvSpPr/>
          <p:nvPr/>
        </p:nvSpPr>
        <p:spPr>
          <a:xfrm>
            <a:off x="6464808" y="2560320"/>
            <a:ext cx="5120640" cy="2834640"/>
          </a:xfrm>
          <a:prstGeom prst="roundRect">
            <a:avLst>
              <a:gd name="adj" fmla="val 3226"/>
            </a:avLst>
          </a:prstGeom>
          <a:solidFill>
            <a:srgbClr val="12314F"/>
          </a:solidFill>
          <a:ln w="12700">
            <a:solidFill>
              <a:srgbClr val="1B4066"/>
            </a:solidFill>
            <a:prstDash val="solid"/>
          </a:ln>
        </p:spPr>
      </p:sp>
      <p:sp>
        <p:nvSpPr>
          <p:cNvPr id="10" name="Text 8"/>
          <p:cNvSpPr/>
          <p:nvPr/>
        </p:nvSpPr>
        <p:spPr>
          <a:xfrm>
            <a:off x="6739128" y="2724912"/>
            <a:ext cx="4572000" cy="274320"/>
          </a:xfrm>
          <a:prstGeom prst="rect">
            <a:avLst/>
          </a:prstGeom>
          <a:noFill/>
          <a:ln/>
        </p:spPr>
        <p:txBody>
          <a:bodyPr wrap="square" lIns="0" tIns="0" rIns="0" bIns="0" rtlCol="0" anchor="ctr"/>
          <a:lstStyle/>
          <a:p>
            <a:pPr indent="0" marL="0">
              <a:buNone/>
            </a:pPr>
            <a:r>
              <a:rPr lang="en-US" sz="1000" b="1" spc="100" kern="0" dirty="0">
                <a:solidFill>
                  <a:srgbClr val="2E9E63"/>
                </a:solidFill>
                <a:latin typeface="Calibri" pitchFamily="34" charset="0"/>
                <a:ea typeface="Calibri" pitchFamily="34" charset="-122"/>
                <a:cs typeface="Calibri" pitchFamily="34" charset="-120"/>
              </a:rPr>
              <a:t>DONE WHEN</a:t>
            </a:r>
            <a:endParaRPr lang="en-US" sz="1000" dirty="0"/>
          </a:p>
        </p:txBody>
      </p:sp>
      <p:sp>
        <p:nvSpPr>
          <p:cNvPr id="11" name="Text 9"/>
          <p:cNvSpPr/>
          <p:nvPr/>
        </p:nvSpPr>
        <p:spPr>
          <a:xfrm>
            <a:off x="6784848" y="3017520"/>
            <a:ext cx="4572000" cy="1463040"/>
          </a:xfrm>
          <a:prstGeom prst="rect">
            <a:avLst/>
          </a:prstGeom>
          <a:noFill/>
          <a:ln/>
        </p:spPr>
        <p:txBody>
          <a:bodyPr wrap="square" lIns="0" tIns="0" rIns="0" bIns="0" rtlCol="0" anchor="ctr"/>
          <a:lstStyle/>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The SLO is a query</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 latency spike leads to the log line that caused it</a:t>
            </a:r>
            <a:endParaRPr lang="en-US" sz="1300" dirty="0"/>
          </a:p>
          <a:p>
            <a:pPr marL="342900" indent="-3429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Alert routing is proven rather than assumed</a:t>
            </a:r>
            <a:endParaRPr lang="en-US" sz="1300" dirty="0"/>
          </a:p>
        </p:txBody>
      </p:sp>
      <p:sp>
        <p:nvSpPr>
          <p:cNvPr id="12" name="Shape 10"/>
          <p:cNvSpPr/>
          <p:nvPr/>
        </p:nvSpPr>
        <p:spPr>
          <a:xfrm>
            <a:off x="6739128" y="4617720"/>
            <a:ext cx="4572000" cy="566928"/>
          </a:xfrm>
          <a:prstGeom prst="roundRect">
            <a:avLst>
              <a:gd name="adj" fmla="val 12903"/>
            </a:avLst>
          </a:prstGeom>
          <a:solidFill>
            <a:srgbClr val="0E2740"/>
          </a:solidFill>
          <a:ln w="12700">
            <a:solidFill>
              <a:srgbClr val="1C7293"/>
            </a:solidFill>
            <a:prstDash val="solid"/>
          </a:ln>
        </p:spPr>
      </p:sp>
      <p:sp>
        <p:nvSpPr>
          <p:cNvPr id="13" name="Text 11"/>
          <p:cNvSpPr/>
          <p:nvPr/>
        </p:nvSpPr>
        <p:spPr>
          <a:xfrm>
            <a:off x="6876288" y="4617720"/>
            <a:ext cx="4297680" cy="566928"/>
          </a:xfrm>
          <a:prstGeom prst="rect">
            <a:avLst/>
          </a:prstGeom>
          <a:noFill/>
          <a:ln/>
        </p:spPr>
        <p:txBody>
          <a:bodyPr wrap="square" lIns="0" tIns="0" rIns="0" bIns="0" rtlCol="0" anchor="ctr"/>
          <a:lstStyle/>
          <a:p>
            <a:pPr indent="0" marL="0">
              <a:buNone/>
            </a:pPr>
            <a:r>
              <a:rPr lang="en-US" sz="1150" dirty="0">
                <a:solidFill>
                  <a:srgbClr val="F2A03D"/>
                </a:solidFill>
                <a:latin typeface="Courier New" pitchFamily="34" charset="0"/>
                <a:ea typeface="Courier New" pitchFamily="34" charset="-122"/>
                <a:cs typeface="Courier New" pitchFamily="34" charset="-120"/>
              </a:rPr>
              <a:t>make validate-lab LAB=L5.5 &amp;&amp; make validate-lab LAB=L5.6</a:t>
            </a:r>
            <a:endParaRPr lang="en-US" sz="1150" dirty="0"/>
          </a:p>
        </p:txBody>
      </p:sp>
      <p:sp>
        <p:nvSpPr>
          <p:cNvPr id="14" name="Text 12"/>
          <p:cNvSpPr/>
          <p:nvPr/>
        </p:nvSpPr>
        <p:spPr>
          <a:xfrm>
            <a:off x="566928" y="5577840"/>
            <a:ext cx="11057839" cy="365760"/>
          </a:xfrm>
          <a:prstGeom prst="rect">
            <a:avLst/>
          </a:prstGeom>
          <a:noFill/>
          <a:ln/>
        </p:spPr>
        <p:txBody>
          <a:bodyPr wrap="square" lIns="0" tIns="0" rIns="0" bIns="0" rtlCol="0" anchor="ctr"/>
          <a:lstStyle/>
          <a:p>
            <a:pPr indent="0" marL="0">
              <a:buNone/>
            </a:pPr>
            <a:r>
              <a:rPr lang="en-US" sz="1200" dirty="0">
                <a:solidFill>
                  <a:srgbClr val="63758B"/>
                </a:solidFill>
                <a:latin typeface="Calibri" pitchFamily="34" charset="0"/>
                <a:ea typeface="Calibri" pitchFamily="34" charset="-122"/>
                <a:cs typeface="Calibri" pitchFamily="34" charset="-120"/>
              </a:rPr>
              <a:t>100 minutes   ·   labs/day5/L5.5-metrics-and-dashboards/, L5.6-logs-and-alerts.md</a:t>
            </a:r>
            <a:endParaRPr lang="en-US" sz="1200" dirty="0"/>
          </a:p>
        </p:txBody>
      </p:sp>
      <p:sp>
        <p:nvSpPr>
          <p:cNvPr id="15" name="Text 1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16" name="Text 1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8351215" y="-1097280"/>
            <a:ext cx="5120640" cy="5120640"/>
          </a:xfrm>
          <a:prstGeom prst="ellipse">
            <a:avLst/>
          </a:prstGeom>
          <a:solidFill>
            <a:srgbClr val="12314F"/>
          </a:solidFill>
          <a:ln w="12700">
            <a:solidFill>
              <a:srgbClr val="12314F"/>
            </a:solidFill>
            <a:prstDash val="solid"/>
          </a:ln>
        </p:spPr>
      </p:sp>
      <p:sp>
        <p:nvSpPr>
          <p:cNvPr id="3" name="Text 1"/>
          <p:cNvSpPr/>
          <p:nvPr/>
        </p:nvSpPr>
        <p:spPr>
          <a:xfrm>
            <a:off x="566928" y="1600200"/>
            <a:ext cx="5669280" cy="1463040"/>
          </a:xfrm>
          <a:prstGeom prst="rect">
            <a:avLst/>
          </a:prstGeom>
          <a:noFill/>
          <a:ln/>
        </p:spPr>
        <p:txBody>
          <a:bodyPr wrap="square" lIns="0" tIns="0" rIns="0" bIns="0" rtlCol="0" anchor="ctr"/>
          <a:lstStyle/>
          <a:p>
            <a:pPr indent="0" marL="0">
              <a:buNone/>
            </a:pPr>
            <a:r>
              <a:rPr lang="en-US" sz="5200" b="1" dirty="0">
                <a:solidFill>
                  <a:srgbClr val="F2A03D"/>
                </a:solidFill>
                <a:latin typeface="Cambria" pitchFamily="34" charset="0"/>
                <a:ea typeface="Cambria" pitchFamily="34" charset="-122"/>
                <a:cs typeface="Cambria" pitchFamily="34" charset="-120"/>
              </a:rPr>
              <a:t>CAPSTONE</a:t>
            </a:r>
            <a:endParaRPr lang="en-US" sz="5200" dirty="0"/>
          </a:p>
        </p:txBody>
      </p:sp>
      <p:sp>
        <p:nvSpPr>
          <p:cNvPr id="4" name="Text 2"/>
          <p:cNvSpPr/>
          <p:nvPr/>
        </p:nvSpPr>
        <p:spPr>
          <a:xfrm>
            <a:off x="566928" y="2971800"/>
            <a:ext cx="786384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Production upgrade under fire</a:t>
            </a:r>
            <a:endParaRPr lang="en-US" sz="3800" dirty="0"/>
          </a:p>
        </p:txBody>
      </p:sp>
      <p:sp>
        <p:nvSpPr>
          <p:cNvPr id="5" name="Text 3"/>
          <p:cNvSpPr/>
          <p:nvPr/>
        </p:nvSpPr>
        <p:spPr>
          <a:xfrm>
            <a:off x="566928" y="3886200"/>
            <a:ext cx="7498080" cy="822960"/>
          </a:xfrm>
          <a:prstGeom prst="rect">
            <a:avLst/>
          </a:prstGeom>
          <a:noFill/>
          <a:ln/>
        </p:spPr>
        <p:txBody>
          <a:bodyPr wrap="square" lIns="0" tIns="0" rIns="0" bIns="0" rtlCol="0" anchor="ctr"/>
          <a:lstStyle/>
          <a:p>
            <a:pPr indent="0" marL="0">
              <a:buNone/>
            </a:pPr>
            <a:r>
              <a:rPr lang="en-US" sz="1500" dirty="0">
                <a:solidFill>
                  <a:srgbClr val="D8E6F2"/>
                </a:solidFill>
                <a:latin typeface="Calibri" pitchFamily="34" charset="0"/>
                <a:ea typeface="Calibri" pitchFamily="34" charset="-122"/>
                <a:cs typeface="Calibri" pitchFamily="34" charset="-120"/>
              </a:rPr>
              <a:t>110 minutes · individual · observed · 25% of the course</a:t>
            </a:r>
            <a:endParaRPr lang="en-US" sz="1500" dirty="0"/>
          </a:p>
        </p:txBody>
      </p:sp>
      <p:sp>
        <p:nvSpPr>
          <p:cNvPr id="6" name="Text 4"/>
          <p:cNvSpPr/>
          <p:nvPr/>
        </p:nvSpPr>
        <p:spPr>
          <a:xfrm>
            <a:off x="566928" y="4709160"/>
            <a:ext cx="7498080" cy="274320"/>
          </a:xfrm>
          <a:prstGeom prst="rect">
            <a:avLst/>
          </a:prstGeom>
          <a:noFill/>
          <a:ln/>
        </p:spPr>
        <p:txBody>
          <a:bodyPr wrap="square" lIns="0" tIns="0" rIns="0" bIns="0" rtlCol="0" anchor="ctr"/>
          <a:lstStyle/>
          <a:p>
            <a:pPr indent="0" marL="0">
              <a:buNone/>
            </a:pPr>
            <a:r>
              <a:rPr lang="en-US" sz="1100" b="1" dirty="0">
                <a:solidFill>
                  <a:srgbClr val="F2A03D"/>
                </a:solidFill>
                <a:latin typeface="Calibri" pitchFamily="34" charset="0"/>
                <a:ea typeface="Calibri" pitchFamily="34" charset="-122"/>
                <a:cs typeface="Calibri" pitchFamily="34" charset="-120"/>
              </a:rPr>
              <a:t>By the end of this module you will be able to:</a:t>
            </a:r>
            <a:endParaRPr lang="en-US" sz="1100" dirty="0"/>
          </a:p>
        </p:txBody>
      </p:sp>
      <p:sp>
        <p:nvSpPr>
          <p:cNvPr id="7" name="Text 5"/>
          <p:cNvSpPr/>
          <p:nvPr/>
        </p:nvSpPr>
        <p:spPr>
          <a:xfrm>
            <a:off x="658368" y="4983480"/>
            <a:ext cx="7498080" cy="109728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Upgrade a payment platform under live traffic with no maintenance window</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Triage three unannounced faults while defending an SLO</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Recover, validate, and present an incident report to a change board</a:t>
            </a:r>
            <a:endParaRPr lang="en-US" sz="1200" dirty="0"/>
          </a:p>
        </p:txBody>
      </p:sp>
      <p:sp>
        <p:nvSpPr>
          <p:cNvPr id="8" name="Text 6"/>
          <p:cNvSpPr/>
          <p:nvPr/>
        </p:nvSpPr>
        <p:spPr>
          <a:xfrm>
            <a:off x="9814255" y="5989320"/>
            <a:ext cx="1828800" cy="320040"/>
          </a:xfrm>
          <a:prstGeom prst="rect">
            <a:avLst/>
          </a:prstGeom>
          <a:noFill/>
          <a:ln/>
        </p:spPr>
        <p:txBody>
          <a:bodyPr wrap="square" lIns="0" tIns="0" rIns="0" bIns="0" rtlCol="0" anchor="ctr"/>
          <a:lstStyle/>
          <a:p>
            <a:pPr algn="r" indent="0" marL="0">
              <a:buNone/>
            </a:pPr>
            <a:r>
              <a:rPr lang="en-US" sz="1100" dirty="0">
                <a:solidFill>
                  <a:srgbClr val="63758B"/>
                </a:solidFill>
                <a:latin typeface="Calibri" pitchFamily="34" charset="0"/>
                <a:ea typeface="Calibri" pitchFamily="34" charset="-122"/>
                <a:cs typeface="Calibri" pitchFamily="34" charset="-120"/>
              </a:rPr>
              <a:t>110 min</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802636"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280263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CR-2026-0814 · APPROVED</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The change request</a:t>
            </a:r>
            <a:endParaRPr lang="en-US" sz="3200" dirty="0"/>
          </a:p>
        </p:txBody>
      </p:sp>
      <p:sp>
        <p:nvSpPr>
          <p:cNvPr id="5" name="Text 3"/>
          <p:cNvSpPr/>
          <p:nvPr/>
        </p:nvSpPr>
        <p:spPr>
          <a:xfrm>
            <a:off x="566928" y="1783080"/>
            <a:ext cx="11057839" cy="548640"/>
          </a:xfrm>
          <a:prstGeom prst="rect">
            <a:avLst/>
          </a:prstGeom>
          <a:noFill/>
          <a:ln/>
        </p:spPr>
        <p:txBody>
          <a:bodyPr wrap="square" lIns="0" tIns="0" rIns="0" bIns="0" rtlCol="0" anchor="ctr"/>
          <a:lstStyle/>
          <a:p>
            <a:pPr indent="0" marL="0">
              <a:buNone/>
            </a:pPr>
            <a:r>
              <a:rPr lang="en-US" sz="1600" i="1" dirty="0">
                <a:solidFill>
                  <a:srgbClr val="1C7293"/>
                </a:solidFill>
                <a:latin typeface="Calibri" pitchFamily="34" charset="0"/>
                <a:ea typeface="Calibri" pitchFamily="34" charset="-122"/>
                <a:cs typeface="Calibri" pitchFamily="34" charset="-120"/>
              </a:rPr>
              <a:t>Platform 1.1.0 to 2.0.0. The window is 110 minutes. Merchant traffic does not stop.</a:t>
            </a:r>
            <a:endParaRPr lang="en-US" sz="1600" dirty="0"/>
          </a:p>
        </p:txBody>
      </p:sp>
      <p:sp>
        <p:nvSpPr>
          <p:cNvPr id="6" name="Text 4"/>
          <p:cNvSpPr/>
          <p:nvPr/>
        </p:nvSpPr>
        <p:spPr>
          <a:xfrm>
            <a:off x="640080" y="2441448"/>
            <a:ext cx="10966399" cy="3502152"/>
          </a:xfrm>
          <a:prstGeom prst="rect">
            <a:avLst/>
          </a:prstGeom>
          <a:noFill/>
          <a:ln/>
        </p:spPr>
        <p:txBody>
          <a:bodyPr wrap="square" lIns="0" tIns="0" rIns="0" bIns="0" rtlCol="0" anchor="ctr"/>
          <a:lstStyle/>
          <a:p>
            <a:pPr marL="342900" indent="-342900">
              <a:spcAft>
                <a:spcPts val="1000"/>
              </a:spcAft>
              <a:buSzPct val="100000"/>
              <a:buChar char="•"/>
            </a:pPr>
            <a:r>
              <a:rPr lang="en-US" sz="1500" dirty="0">
                <a:solidFill>
                  <a:srgbClr val="16232F"/>
                </a:solidFill>
                <a:latin typeface="Calibri" pitchFamily="34" charset="0"/>
                <a:ea typeface="Calibri" pitchFamily="34" charset="-122"/>
                <a:cs typeface="Calibri" pitchFamily="34" charset="-120"/>
              </a:rPr>
              <a:t>Payment API availability must not drop below 99.5% during the window.</a:t>
            </a:r>
            <a:endParaRPr lang="en-US" sz="1500" dirty="0"/>
          </a:p>
          <a:p>
            <a:pPr marL="342900" indent="-342900">
              <a:spcAft>
                <a:spcPts val="1000"/>
              </a:spcAft>
              <a:buSzPct val="100000"/>
              <a:buChar char="•"/>
            </a:pPr>
            <a:r>
              <a:rPr lang="en-US" sz="1500" dirty="0">
                <a:solidFill>
                  <a:srgbClr val="16232F"/>
                </a:solidFill>
                <a:latin typeface="Calibri" pitchFamily="34" charset="0"/>
                <a:ea typeface="Calibri" pitchFamily="34" charset="-122"/>
                <a:cs typeface="Calibri" pitchFamily="34" charset="-120"/>
              </a:rPr>
              <a:t>p99 authorisation latency must stay under 300 ms.</a:t>
            </a:r>
            <a:endParaRPr lang="en-US" sz="1500" dirty="0"/>
          </a:p>
          <a:p>
            <a:pPr marL="342900" indent="-342900">
              <a:spcAft>
                <a:spcPts val="1000"/>
              </a:spcAft>
              <a:buSzPct val="100000"/>
              <a:buChar char="•"/>
            </a:pPr>
            <a:r>
              <a:rPr lang="en-US" sz="1500" dirty="0">
                <a:solidFill>
                  <a:srgbClr val="16232F"/>
                </a:solidFill>
                <a:latin typeface="Calibri" pitchFamily="34" charset="0"/>
                <a:ea typeface="Calibri" pitchFamily="34" charset="-122"/>
                <a:cs typeface="Calibri" pitchFamily="34" charset="-120"/>
              </a:rPr>
              <a:t>ZERO payments may be lost or double-processed.</a:t>
            </a:r>
            <a:endParaRPr lang="en-US" sz="1500" dirty="0"/>
          </a:p>
          <a:p>
            <a:pPr marL="342900" indent="-342900">
              <a:spcAft>
                <a:spcPts val="1000"/>
              </a:spcAft>
              <a:buSzPct val="100000"/>
              <a:buChar char="•"/>
            </a:pPr>
            <a:r>
              <a:rPr lang="en-US" sz="1500" dirty="0">
                <a:solidFill>
                  <a:srgbClr val="16232F"/>
                </a:solidFill>
                <a:latin typeface="Calibri" pitchFamily="34" charset="0"/>
                <a:ea typeface="Calibri" pitchFamily="34" charset="-122"/>
                <a:cs typeface="Calibri" pitchFamily="34" charset="-120"/>
              </a:rPr>
              <a:t>The ledger must balance to zero at the end.</a:t>
            </a:r>
            <a:endParaRPr lang="en-US" sz="1500" dirty="0"/>
          </a:p>
          <a:p>
            <a:pPr marL="342900" indent="-342900">
              <a:spcAft>
                <a:spcPts val="1000"/>
              </a:spcAft>
              <a:buSzPct val="100000"/>
              <a:buChar char="•"/>
            </a:pPr>
            <a:r>
              <a:rPr lang="en-US" sz="1500" dirty="0">
                <a:solidFill>
                  <a:srgbClr val="16232F"/>
                </a:solidFill>
                <a:latin typeface="Calibri" pitchFamily="34" charset="0"/>
                <a:ea typeface="Calibri" pitchFamily="34" charset="-122"/>
                <a:cs typeface="Calibri" pitchFamily="34" charset="-120"/>
              </a:rPr>
              <a:t>Every action must be auditable.</a:t>
            </a:r>
            <a:endParaRPr lang="en-US" sz="1500" dirty="0"/>
          </a:p>
          <a:p>
            <a:pPr marL="342900" indent="-342900">
              <a:spcAft>
                <a:spcPts val="1000"/>
              </a:spcAft>
              <a:buSzPct val="100000"/>
              <a:buChar char="•"/>
            </a:pPr>
            <a:r>
              <a:rPr lang="en-US" sz="1500" dirty="0">
                <a:solidFill>
                  <a:srgbClr val="16232F"/>
                </a:solidFill>
                <a:latin typeface="Calibri" pitchFamily="34" charset="0"/>
                <a:ea typeface="Calibri" pitchFamily="34" charset="-122"/>
                <a:cs typeface="Calibri" pitchFamily="34" charset="-120"/>
              </a:rPr>
              <a:t>Release 2.0.0 contains a new fraud model, a settlement schema migration, a larger connection pool and a new reporting endpoint.</a:t>
            </a:r>
            <a:endParaRPr lang="en-US" sz="1500" dirty="0"/>
          </a:p>
        </p:txBody>
      </p:sp>
      <p:sp>
        <p:nvSpPr>
          <p:cNvPr id="7" name="Text 5"/>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8" name="Text 6"/>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1225296"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22529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CAPSTONE</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The nine competencies, and where each is assessed</a:t>
            </a:r>
            <a:endParaRPr lang="en-US" sz="32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66928" y="1874520"/>
          <a:ext cx="11057839" cy="914400"/>
        </p:xfrm>
        <a:graphic>
          <a:graphicData uri="http://schemas.openxmlformats.org/drawingml/2006/table">
            <a:tbl>
              <a:tblPr/>
              <a:tblGrid>
                <a:gridCol w="2377440"/>
                <a:gridCol w="3017520"/>
                <a:gridCol w="5669280"/>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Competency</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Where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Evidence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0B1F3A"/>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Deploy · Upgrade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Phase 2</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Release 2.0.0 deployed; migration ran exactly once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Scale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Phase 3</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Replica count reacts to load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Secure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Phase 3</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Nothing weakened to restore service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Monitor</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Throughout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Two of three incidents detected BEFORE the ticket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Troubleshoot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Phase 3</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Three root causes, correctly identified</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Recover · Validate</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Phase 4</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capstone-validate.sh exits 0; the ledger balances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EEF2F8"/>
                    </a:solidFill>
                  </a:tcPr>
                </a:tc>
              </a:tr>
              <a:tr h="438912">
                <a:tc>
                  <a:txBody>
                    <a:bodyPr/>
                    <a:lstStyle/>
                    <a:p>
                      <a:pPr indent="0" marL="0">
                        <a:buNone/>
                      </a:pPr>
                      <a:r>
                        <a:rPr lang="en-US" sz="1200" b="1" dirty="0">
                          <a:solidFill>
                            <a:srgbClr val="0B1F3A"/>
                          </a:solidFill>
                          <a:latin typeface="Calibri" pitchFamily="34" charset="0"/>
                          <a:ea typeface="Calibri" pitchFamily="34" charset="-122"/>
                          <a:cs typeface="Calibri" pitchFamily="34" charset="-120"/>
                        </a:rPr>
                        <a:t>Present</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Phase 5</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c>
                  <a:txBody>
                    <a:bodyPr/>
                    <a:lstStyle/>
                    <a:p>
                      <a:pPr indent="0" marL="0">
                        <a:buNone/>
                      </a:pPr>
                      <a:r>
                        <a:rPr lang="en-US" sz="1200" dirty="0">
                          <a:solidFill>
                            <a:srgbClr val="16232F"/>
                          </a:solidFill>
                          <a:latin typeface="Calibri" pitchFamily="34" charset="0"/>
                          <a:ea typeface="Calibri" pitchFamily="34" charset="-122"/>
                          <a:cs typeface="Calibri" pitchFamily="34" charset="-120"/>
                        </a:rPr>
                        <a:t>Timeline, causes, impact, two preventive actions</a:t>
                      </a:r>
                      <a:endParaRPr lang="en-US" sz="1200" dirty="0">
                        <a:latin typeface="Calibri" charset="0"/>
                        <a:ea typeface="Calibri" charset="0"/>
                        <a:cs typeface="Calibri" charset="0"/>
                      </a:endParaRPr>
                    </a:p>
                  </a:txBody>
                  <a:tcPr marL="91440" marR="91440" marT="45720" marB="45720" anchor="ctr">
                    <a:lnL w="12700" cap="flat" cmpd="sng" algn="ctr">
                      <a:solidFill>
                        <a:srgbClr val="DCE4EE"/>
                      </a:solidFill>
                      <a:prstDash val="solid"/>
                      <a:round/>
                      <a:headEnd type="none" w="med" len="med"/>
                      <a:tailEnd type="none" w="med" len="med"/>
                    </a:lnL>
                    <a:lnR w="12700" cap="flat" cmpd="sng" algn="ctr">
                      <a:solidFill>
                        <a:srgbClr val="DCE4EE"/>
                      </a:solidFill>
                      <a:prstDash val="solid"/>
                      <a:round/>
                      <a:headEnd type="none" w="med" len="med"/>
                      <a:tailEnd type="none" w="med" len="med"/>
                    </a:lnR>
                    <a:lnT w="12700" cap="flat" cmpd="sng" algn="ctr">
                      <a:solidFill>
                        <a:srgbClr val="DCE4EE"/>
                      </a:solidFill>
                      <a:prstDash val="solid"/>
                      <a:round/>
                      <a:headEnd type="none" w="med" len="med"/>
                      <a:tailEnd type="none" w="med" len="med"/>
                    </a:lnT>
                    <a:lnB w="12700" cap="flat" cmpd="sng" algn="ctr">
                      <a:solidFill>
                        <a:srgbClr val="DCE4EE"/>
                      </a:solidFill>
                      <a:prstDash val="solid"/>
                      <a:round/>
                      <a:headEnd type="none" w="med" len="med"/>
                      <a:tailEnd type="none" w="med" len="med"/>
                    </a:lnB>
                    <a:solidFill>
                      <a:srgbClr val="FFFFFF"/>
                    </a:solidFill>
                  </a:tcPr>
                </a:tc>
              </a:tr>
            </a:tbl>
          </a:graphicData>
        </a:graphic>
      </p:graphicFrame>
      <p:sp>
        <p:nvSpPr>
          <p:cNvPr id="6" name="Text 3"/>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7" name="Text 4"/>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2066544" cy="292608"/>
          </a:xfrm>
          <a:prstGeom prst="roundRect">
            <a:avLst>
              <a:gd name="adj" fmla="val 50000"/>
            </a:avLst>
          </a:prstGeom>
          <a:solidFill>
            <a:srgbClr val="D64545"/>
          </a:solidFill>
          <a:ln w="12700">
            <a:solidFill>
              <a:srgbClr val="D64545"/>
            </a:solidFill>
            <a:prstDash val="solid"/>
          </a:ln>
        </p:spPr>
      </p:sp>
      <p:sp>
        <p:nvSpPr>
          <p:cNvPr id="3" name="Text 1"/>
          <p:cNvSpPr/>
          <p:nvPr/>
        </p:nvSpPr>
        <p:spPr>
          <a:xfrm>
            <a:off x="566928" y="384048"/>
            <a:ext cx="206654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BEFORE YOU START</a:t>
            </a:r>
            <a:endParaRPr lang="en-US" sz="1100" dirty="0"/>
          </a:p>
        </p:txBody>
      </p:sp>
      <p:sp>
        <p:nvSpPr>
          <p:cNvPr id="4" name="Shape 2"/>
          <p:cNvSpPr/>
          <p:nvPr/>
        </p:nvSpPr>
        <p:spPr>
          <a:xfrm>
            <a:off x="566928" y="1554480"/>
            <a:ext cx="11057839" cy="3017520"/>
          </a:xfrm>
          <a:prstGeom prst="roundRect">
            <a:avLst>
              <a:gd name="adj" fmla="val 3636"/>
            </a:avLst>
          </a:prstGeom>
          <a:solidFill>
            <a:srgbClr val="12314F"/>
          </a:solidFill>
          <a:ln w="12700">
            <a:solidFill>
              <a:srgbClr val="D64545"/>
            </a:solidFill>
            <a:prstDash val="solid"/>
          </a:ln>
        </p:spPr>
      </p:sp>
      <p:sp>
        <p:nvSpPr>
          <p:cNvPr id="5" name="Text 3"/>
          <p:cNvSpPr/>
          <p:nvPr/>
        </p:nvSpPr>
        <p:spPr>
          <a:xfrm>
            <a:off x="1115568" y="1920240"/>
            <a:ext cx="9960559" cy="1463040"/>
          </a:xfrm>
          <a:prstGeom prst="rect">
            <a:avLst/>
          </a:prstGeom>
          <a:noFill/>
          <a:ln/>
        </p:spPr>
        <p:txBody>
          <a:bodyPr wrap="square" lIns="0" tIns="0" rIns="0" bIns="0" rtlCol="0" anchor="ctr"/>
          <a:lstStyle/>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The fastest fix and the correct fix are</a:t>
            </a:r>
            <a:endParaRPr lang="en-US" sz="3000" dirty="0"/>
          </a:p>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frequently different.</a:t>
            </a:r>
            <a:endParaRPr lang="en-US" sz="3000" dirty="0"/>
          </a:p>
        </p:txBody>
      </p:sp>
      <p:sp>
        <p:nvSpPr>
          <p:cNvPr id="6" name="Text 4"/>
          <p:cNvSpPr/>
          <p:nvPr/>
        </p:nvSpPr>
        <p:spPr>
          <a:xfrm>
            <a:off x="1115568" y="3429000"/>
            <a:ext cx="9960559" cy="914400"/>
          </a:xfrm>
          <a:prstGeom prst="rect">
            <a:avLst/>
          </a:prstGeom>
          <a:noFill/>
          <a:ln/>
        </p:spPr>
        <p:txBody>
          <a:bodyPr wrap="square" lIns="0" tIns="0" rIns="0" bIns="0" rtlCol="0" anchor="ctr"/>
          <a:lstStyle/>
          <a:p>
            <a:pPr indent="0" marL="0">
              <a:lnSpc>
                <a:spcPts val="2100"/>
              </a:lnSpc>
              <a:buNone/>
            </a:pPr>
            <a:r>
              <a:rPr lang="en-US" sz="1500" dirty="0">
                <a:solidFill>
                  <a:srgbClr val="D8E6F2"/>
                </a:solidFill>
                <a:latin typeface="Calibri" pitchFamily="34" charset="0"/>
                <a:ea typeface="Calibri" pitchFamily="34" charset="-122"/>
                <a:cs typeface="Calibri" pitchFamily="34" charset="-120"/>
              </a:rPr>
              <a:t>In a regulated environment, knowing the difference is the job — and it is worth more than the minutes you save.</a:t>
            </a:r>
            <a:endParaRPr lang="en-US" sz="1500" dirty="0"/>
          </a:p>
        </p:txBody>
      </p:sp>
      <p:sp>
        <p:nvSpPr>
          <p:cNvPr id="7" name="Text 5"/>
          <p:cNvSpPr/>
          <p:nvPr/>
        </p:nvSpPr>
        <p:spPr>
          <a:xfrm>
            <a:off x="658368" y="4800600"/>
            <a:ext cx="11057839" cy="1188720"/>
          </a:xfrm>
          <a:prstGeom prst="rect">
            <a:avLst/>
          </a:prstGeom>
          <a:noFill/>
          <a:ln/>
        </p:spPr>
        <p:txBody>
          <a:bodyPr wrap="square" lIns="0" tIns="0" rIns="0" bIns="0" rtlCol="0" anchor="ctr"/>
          <a:lstStyle/>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You will be under time pressure with a ticket asking for an update in fifteen minutes.</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At least one fault will have a fix that takes two seconds and destroys something you built earlier this week.</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The constraints in the change request are contractual. They do not relax because you are in a hurry.</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If you are about to delete a security object to restore service — stop, and consider what you are trading.</a:t>
            </a:r>
            <a:endParaRPr lang="en-US" sz="1350" dirty="0"/>
          </a:p>
          <a:p>
            <a:pPr marL="342900" indent="-342900">
              <a:spcAft>
                <a:spcPts val="600"/>
              </a:spcAft>
              <a:buSzPct val="100000"/>
              <a:buChar char="•"/>
            </a:pPr>
            <a:r>
              <a:rPr lang="en-US" sz="1350" dirty="0">
                <a:solidFill>
                  <a:srgbClr val="D8E6F2"/>
                </a:solidFill>
                <a:latin typeface="Calibri" pitchFamily="34" charset="0"/>
                <a:ea typeface="Calibri" pitchFamily="34" charset="-122"/>
                <a:cs typeface="Calibri" pitchFamily="34" charset="-120"/>
              </a:rPr>
              <a:t>Every action you take today appears in the audit trail for next week's assessment.</a:t>
            </a:r>
            <a:endParaRPr lang="en-US" sz="1350" dirty="0"/>
          </a:p>
        </p:txBody>
      </p:sp>
      <p:sp>
        <p:nvSpPr>
          <p:cNvPr id="8" name="Text 6"/>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9" name="Text 7"/>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225296" cy="292608"/>
          </a:xfrm>
          <a:prstGeom prst="roundRect">
            <a:avLst>
              <a:gd name="adj" fmla="val 50000"/>
            </a:avLst>
          </a:prstGeom>
          <a:solidFill>
            <a:srgbClr val="C97B1E"/>
          </a:solidFill>
          <a:ln w="12700">
            <a:solidFill>
              <a:srgbClr val="C97B1E"/>
            </a:solidFill>
            <a:prstDash val="solid"/>
          </a:ln>
        </p:spPr>
      </p:sp>
      <p:sp>
        <p:nvSpPr>
          <p:cNvPr id="3" name="Text 1"/>
          <p:cNvSpPr/>
          <p:nvPr/>
        </p:nvSpPr>
        <p:spPr>
          <a:xfrm>
            <a:off x="566928" y="384048"/>
            <a:ext cx="1225296"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 WEEK</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One application, five days</a:t>
            </a:r>
            <a:endParaRPr lang="en-US" sz="3200" dirty="0"/>
          </a:p>
        </p:txBody>
      </p:sp>
      <p:sp>
        <p:nvSpPr>
          <p:cNvPr id="5" name="Shape 3"/>
          <p:cNvSpPr/>
          <p:nvPr/>
        </p:nvSpPr>
        <p:spPr>
          <a:xfrm>
            <a:off x="685800" y="2286000"/>
            <a:ext cx="2084832" cy="2331720"/>
          </a:xfrm>
          <a:prstGeom prst="roundRect">
            <a:avLst>
              <a:gd name="adj" fmla="val 4386"/>
            </a:avLst>
          </a:prstGeom>
          <a:solidFill>
            <a:srgbClr val="1B4066"/>
          </a:solidFill>
          <a:ln w="12700">
            <a:solidFill>
              <a:srgbClr val="1B4066"/>
            </a:solidFill>
            <a:prstDash val="solid"/>
          </a:ln>
        </p:spPr>
      </p:sp>
      <p:sp>
        <p:nvSpPr>
          <p:cNvPr id="6" name="Text 4"/>
          <p:cNvSpPr/>
          <p:nvPr/>
        </p:nvSpPr>
        <p:spPr>
          <a:xfrm>
            <a:off x="685800" y="2395728"/>
            <a:ext cx="2084832" cy="329184"/>
          </a:xfrm>
          <a:prstGeom prst="rect">
            <a:avLst/>
          </a:prstGeom>
          <a:noFill/>
          <a:ln/>
        </p:spPr>
        <p:txBody>
          <a:bodyPr wrap="square" lIns="0" tIns="0" rIns="0" bIns="0" rtlCol="0" anchor="ctr"/>
          <a:lstStyle/>
          <a:p>
            <a:pPr algn="ctr" indent="0" marL="0">
              <a:buNone/>
            </a:pPr>
            <a:r>
              <a:rPr lang="en-US" sz="1200" b="1" dirty="0">
                <a:solidFill>
                  <a:srgbClr val="F2A03D"/>
                </a:solidFill>
                <a:latin typeface="Cambria" pitchFamily="34" charset="0"/>
                <a:ea typeface="Cambria" pitchFamily="34" charset="-122"/>
                <a:cs typeface="Cambria" pitchFamily="34" charset="-120"/>
              </a:rPr>
              <a:t>MON</a:t>
            </a:r>
            <a:endParaRPr lang="en-US" sz="1200" dirty="0"/>
          </a:p>
        </p:txBody>
      </p:sp>
      <p:sp>
        <p:nvSpPr>
          <p:cNvPr id="7" name="Text 5"/>
          <p:cNvSpPr/>
          <p:nvPr/>
        </p:nvSpPr>
        <p:spPr>
          <a:xfrm>
            <a:off x="758952" y="2743200"/>
            <a:ext cx="1938528"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Deploy it</a:t>
            </a:r>
            <a:endParaRPr lang="en-US" sz="1400" dirty="0"/>
          </a:p>
        </p:txBody>
      </p:sp>
      <p:sp>
        <p:nvSpPr>
          <p:cNvPr id="8" name="Text 6"/>
          <p:cNvSpPr/>
          <p:nvPr/>
        </p:nvSpPr>
        <p:spPr>
          <a:xfrm>
            <a:off x="777240" y="3291840"/>
            <a:ext cx="1901952" cy="1188720"/>
          </a:xfrm>
          <a:prstGeom prst="rect">
            <a:avLst/>
          </a:prstGeom>
          <a:noFill/>
          <a:ln/>
        </p:spPr>
        <p:txBody>
          <a:bodyPr wrap="square" lIns="0" tIns="0" rIns="0" bIns="0" rtlCol="0" anchor="t"/>
          <a:lstStyle/>
          <a:p>
            <a:pPr algn="ctr" indent="0" marL="0">
              <a:lnSpc>
                <a:spcPts val="1300"/>
              </a:lnSpc>
              <a:buNone/>
            </a:pPr>
            <a:r>
              <a:rPr lang="en-US" sz="1000" dirty="0">
                <a:solidFill>
                  <a:srgbClr val="D8E6F2"/>
                </a:solidFill>
                <a:latin typeface="Calibri" pitchFamily="34" charset="0"/>
                <a:ea typeface="Calibri" pitchFamily="34" charset="-122"/>
                <a:cs typeface="Calibri" pitchFamily="34" charset="-120"/>
              </a:rPr>
              <a:t>namespaces · pods</a:t>
            </a:r>
            <a:endParaRPr lang="en-US" sz="1000" dirty="0"/>
          </a:p>
          <a:p>
            <a:pPr algn="ctr" indent="0" marL="0">
              <a:lnSpc>
                <a:spcPts val="1300"/>
              </a:lnSpc>
              <a:buNone/>
            </a:pPr>
            <a:r>
              <a:rPr lang="en-US" sz="1000" dirty="0">
                <a:solidFill>
                  <a:srgbClr val="D8E6F2"/>
                </a:solidFill>
                <a:latin typeface="Calibri" pitchFamily="34" charset="0"/>
                <a:ea typeface="Calibri" pitchFamily="34" charset="-122"/>
                <a:cs typeface="Calibri" pitchFamily="34" charset="-120"/>
              </a:rPr>
              <a:t>deployments · services</a:t>
            </a:r>
            <a:endParaRPr lang="en-US" sz="1000" dirty="0"/>
          </a:p>
        </p:txBody>
      </p:sp>
      <p:sp>
        <p:nvSpPr>
          <p:cNvPr id="9" name="Shape 7"/>
          <p:cNvSpPr/>
          <p:nvPr/>
        </p:nvSpPr>
        <p:spPr>
          <a:xfrm>
            <a:off x="2788920" y="3456432"/>
            <a:ext cx="137160" cy="0"/>
          </a:xfrm>
          <a:prstGeom prst="line">
            <a:avLst/>
          </a:prstGeom>
          <a:noFill/>
          <a:ln w="25400">
            <a:solidFill>
              <a:srgbClr val="F2A03D"/>
            </a:solidFill>
            <a:prstDash val="solid"/>
            <a:tailEnd type="triangle"/>
          </a:ln>
        </p:spPr>
      </p:sp>
      <p:sp>
        <p:nvSpPr>
          <p:cNvPr id="10" name="Shape 8"/>
          <p:cNvSpPr/>
          <p:nvPr/>
        </p:nvSpPr>
        <p:spPr>
          <a:xfrm>
            <a:off x="2944368" y="2286000"/>
            <a:ext cx="2084832" cy="2331720"/>
          </a:xfrm>
          <a:prstGeom prst="roundRect">
            <a:avLst>
              <a:gd name="adj" fmla="val 4386"/>
            </a:avLst>
          </a:prstGeom>
          <a:solidFill>
            <a:srgbClr val="1B4066"/>
          </a:solidFill>
          <a:ln w="12700">
            <a:solidFill>
              <a:srgbClr val="1B4066"/>
            </a:solidFill>
            <a:prstDash val="solid"/>
          </a:ln>
        </p:spPr>
      </p:sp>
      <p:sp>
        <p:nvSpPr>
          <p:cNvPr id="11" name="Text 9"/>
          <p:cNvSpPr/>
          <p:nvPr/>
        </p:nvSpPr>
        <p:spPr>
          <a:xfrm>
            <a:off x="2944368" y="2395728"/>
            <a:ext cx="2084832" cy="329184"/>
          </a:xfrm>
          <a:prstGeom prst="rect">
            <a:avLst/>
          </a:prstGeom>
          <a:noFill/>
          <a:ln/>
        </p:spPr>
        <p:txBody>
          <a:bodyPr wrap="square" lIns="0" tIns="0" rIns="0" bIns="0" rtlCol="0" anchor="ctr"/>
          <a:lstStyle/>
          <a:p>
            <a:pPr algn="ctr" indent="0" marL="0">
              <a:buNone/>
            </a:pPr>
            <a:r>
              <a:rPr lang="en-US" sz="1200" b="1" dirty="0">
                <a:solidFill>
                  <a:srgbClr val="F2A03D"/>
                </a:solidFill>
                <a:latin typeface="Cambria" pitchFamily="34" charset="0"/>
                <a:ea typeface="Cambria" pitchFamily="34" charset="-122"/>
                <a:cs typeface="Cambria" pitchFamily="34" charset="-120"/>
              </a:rPr>
              <a:t>TUE</a:t>
            </a:r>
            <a:endParaRPr lang="en-US" sz="1200" dirty="0"/>
          </a:p>
        </p:txBody>
      </p:sp>
      <p:sp>
        <p:nvSpPr>
          <p:cNvPr id="12" name="Text 10"/>
          <p:cNvSpPr/>
          <p:nvPr/>
        </p:nvSpPr>
        <p:spPr>
          <a:xfrm>
            <a:off x="3017520" y="2743200"/>
            <a:ext cx="1938528"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Keep it up</a:t>
            </a:r>
            <a:endParaRPr lang="en-US" sz="1400" dirty="0"/>
          </a:p>
        </p:txBody>
      </p:sp>
      <p:sp>
        <p:nvSpPr>
          <p:cNvPr id="13" name="Text 11"/>
          <p:cNvSpPr/>
          <p:nvPr/>
        </p:nvSpPr>
        <p:spPr>
          <a:xfrm>
            <a:off x="3035808" y="3291840"/>
            <a:ext cx="1901952" cy="1188720"/>
          </a:xfrm>
          <a:prstGeom prst="rect">
            <a:avLst/>
          </a:prstGeom>
          <a:noFill/>
          <a:ln/>
        </p:spPr>
        <p:txBody>
          <a:bodyPr wrap="square" lIns="0" tIns="0" rIns="0" bIns="0" rtlCol="0" anchor="t"/>
          <a:lstStyle/>
          <a:p>
            <a:pPr algn="ctr" indent="0" marL="0">
              <a:lnSpc>
                <a:spcPts val="1300"/>
              </a:lnSpc>
              <a:buNone/>
            </a:pPr>
            <a:r>
              <a:rPr lang="en-US" sz="1000" dirty="0">
                <a:solidFill>
                  <a:srgbClr val="D8E6F2"/>
                </a:solidFill>
                <a:latin typeface="Calibri" pitchFamily="34" charset="0"/>
                <a:ea typeface="Calibri" pitchFamily="34" charset="-122"/>
                <a:cs typeface="Calibri" pitchFamily="34" charset="-120"/>
              </a:rPr>
              <a:t>resources · probes</a:t>
            </a:r>
            <a:endParaRPr lang="en-US" sz="1000" dirty="0"/>
          </a:p>
          <a:p>
            <a:pPr algn="ctr" indent="0" marL="0">
              <a:lnSpc>
                <a:spcPts val="1300"/>
              </a:lnSpc>
              <a:buNone/>
            </a:pPr>
            <a:r>
              <a:rPr lang="en-US" sz="1000" dirty="0">
                <a:solidFill>
                  <a:srgbClr val="D8E6F2"/>
                </a:solidFill>
                <a:latin typeface="Calibri" pitchFamily="34" charset="0"/>
                <a:ea typeface="Calibri" pitchFamily="34" charset="-122"/>
                <a:cs typeface="Calibri" pitchFamily="34" charset="-120"/>
              </a:rPr>
              <a:t>scaling · rollouts</a:t>
            </a:r>
            <a:endParaRPr lang="en-US" sz="1000" dirty="0"/>
          </a:p>
        </p:txBody>
      </p:sp>
      <p:sp>
        <p:nvSpPr>
          <p:cNvPr id="14" name="Shape 12"/>
          <p:cNvSpPr/>
          <p:nvPr/>
        </p:nvSpPr>
        <p:spPr>
          <a:xfrm>
            <a:off x="5047488" y="3456432"/>
            <a:ext cx="137160" cy="0"/>
          </a:xfrm>
          <a:prstGeom prst="line">
            <a:avLst/>
          </a:prstGeom>
          <a:noFill/>
          <a:ln w="25400">
            <a:solidFill>
              <a:srgbClr val="F2A03D"/>
            </a:solidFill>
            <a:prstDash val="solid"/>
            <a:tailEnd type="triangle"/>
          </a:ln>
        </p:spPr>
      </p:sp>
      <p:sp>
        <p:nvSpPr>
          <p:cNvPr id="15" name="Shape 13"/>
          <p:cNvSpPr/>
          <p:nvPr/>
        </p:nvSpPr>
        <p:spPr>
          <a:xfrm>
            <a:off x="5202936" y="2286000"/>
            <a:ext cx="2084832" cy="2331720"/>
          </a:xfrm>
          <a:prstGeom prst="roundRect">
            <a:avLst>
              <a:gd name="adj" fmla="val 4386"/>
            </a:avLst>
          </a:prstGeom>
          <a:solidFill>
            <a:srgbClr val="1B4066"/>
          </a:solidFill>
          <a:ln w="12700">
            <a:solidFill>
              <a:srgbClr val="1B4066"/>
            </a:solidFill>
            <a:prstDash val="solid"/>
          </a:ln>
        </p:spPr>
      </p:sp>
      <p:sp>
        <p:nvSpPr>
          <p:cNvPr id="16" name="Text 14"/>
          <p:cNvSpPr/>
          <p:nvPr/>
        </p:nvSpPr>
        <p:spPr>
          <a:xfrm>
            <a:off x="5202936" y="2395728"/>
            <a:ext cx="2084832" cy="329184"/>
          </a:xfrm>
          <a:prstGeom prst="rect">
            <a:avLst/>
          </a:prstGeom>
          <a:noFill/>
          <a:ln/>
        </p:spPr>
        <p:txBody>
          <a:bodyPr wrap="square" lIns="0" tIns="0" rIns="0" bIns="0" rtlCol="0" anchor="ctr"/>
          <a:lstStyle/>
          <a:p>
            <a:pPr algn="ctr" indent="0" marL="0">
              <a:buNone/>
            </a:pPr>
            <a:r>
              <a:rPr lang="en-US" sz="1200" b="1" dirty="0">
                <a:solidFill>
                  <a:srgbClr val="F2A03D"/>
                </a:solidFill>
                <a:latin typeface="Cambria" pitchFamily="34" charset="0"/>
                <a:ea typeface="Cambria" pitchFamily="34" charset="-122"/>
                <a:cs typeface="Cambria" pitchFamily="34" charset="-120"/>
              </a:rPr>
              <a:t>WED</a:t>
            </a:r>
            <a:endParaRPr lang="en-US" sz="1200" dirty="0"/>
          </a:p>
        </p:txBody>
      </p:sp>
      <p:sp>
        <p:nvSpPr>
          <p:cNvPr id="17" name="Text 15"/>
          <p:cNvSpPr/>
          <p:nvPr/>
        </p:nvSpPr>
        <p:spPr>
          <a:xfrm>
            <a:off x="5276088" y="2743200"/>
            <a:ext cx="1938528"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Give it memory</a:t>
            </a:r>
            <a:endParaRPr lang="en-US" sz="1400" dirty="0"/>
          </a:p>
        </p:txBody>
      </p:sp>
      <p:sp>
        <p:nvSpPr>
          <p:cNvPr id="18" name="Text 16"/>
          <p:cNvSpPr/>
          <p:nvPr/>
        </p:nvSpPr>
        <p:spPr>
          <a:xfrm>
            <a:off x="5294376" y="3291840"/>
            <a:ext cx="1901952" cy="1188720"/>
          </a:xfrm>
          <a:prstGeom prst="rect">
            <a:avLst/>
          </a:prstGeom>
          <a:noFill/>
          <a:ln/>
        </p:spPr>
        <p:txBody>
          <a:bodyPr wrap="square" lIns="0" tIns="0" rIns="0" bIns="0" rtlCol="0" anchor="t"/>
          <a:lstStyle/>
          <a:p>
            <a:pPr algn="ctr" indent="0" marL="0">
              <a:lnSpc>
                <a:spcPts val="1300"/>
              </a:lnSpc>
              <a:buNone/>
            </a:pPr>
            <a:r>
              <a:rPr lang="en-US" sz="1000" dirty="0">
                <a:solidFill>
                  <a:srgbClr val="D8E6F2"/>
                </a:solidFill>
                <a:latin typeface="Calibri" pitchFamily="34" charset="0"/>
                <a:ea typeface="Calibri" pitchFamily="34" charset="-122"/>
                <a:cs typeface="Calibri" pitchFamily="34" charset="-120"/>
              </a:rPr>
              <a:t>volumes · databases</a:t>
            </a:r>
            <a:endParaRPr lang="en-US" sz="1000" dirty="0"/>
          </a:p>
          <a:p>
            <a:pPr algn="ctr" indent="0" marL="0">
              <a:lnSpc>
                <a:spcPts val="1300"/>
              </a:lnSpc>
              <a:buNone/>
            </a:pPr>
            <a:r>
              <a:rPr lang="en-US" sz="1000" dirty="0">
                <a:solidFill>
                  <a:srgbClr val="D8E6F2"/>
                </a:solidFill>
                <a:latin typeface="Calibri" pitchFamily="34" charset="0"/>
                <a:ea typeface="Calibri" pitchFamily="34" charset="-122"/>
                <a:cs typeface="Calibri" pitchFamily="34" charset="-120"/>
              </a:rPr>
              <a:t>config · secrets</a:t>
            </a:r>
            <a:endParaRPr lang="en-US" sz="1000" dirty="0"/>
          </a:p>
        </p:txBody>
      </p:sp>
      <p:sp>
        <p:nvSpPr>
          <p:cNvPr id="19" name="Shape 17"/>
          <p:cNvSpPr/>
          <p:nvPr/>
        </p:nvSpPr>
        <p:spPr>
          <a:xfrm>
            <a:off x="7306056" y="3456432"/>
            <a:ext cx="137160" cy="0"/>
          </a:xfrm>
          <a:prstGeom prst="line">
            <a:avLst/>
          </a:prstGeom>
          <a:noFill/>
          <a:ln w="25400">
            <a:solidFill>
              <a:srgbClr val="F2A03D"/>
            </a:solidFill>
            <a:prstDash val="solid"/>
            <a:tailEnd type="triangle"/>
          </a:ln>
        </p:spPr>
      </p:sp>
      <p:sp>
        <p:nvSpPr>
          <p:cNvPr id="20" name="Shape 18"/>
          <p:cNvSpPr/>
          <p:nvPr/>
        </p:nvSpPr>
        <p:spPr>
          <a:xfrm>
            <a:off x="7461504" y="2286000"/>
            <a:ext cx="2084832" cy="2331720"/>
          </a:xfrm>
          <a:prstGeom prst="roundRect">
            <a:avLst>
              <a:gd name="adj" fmla="val 4386"/>
            </a:avLst>
          </a:prstGeom>
          <a:solidFill>
            <a:srgbClr val="1B4066"/>
          </a:solidFill>
          <a:ln w="12700">
            <a:solidFill>
              <a:srgbClr val="1B4066"/>
            </a:solidFill>
            <a:prstDash val="solid"/>
          </a:ln>
        </p:spPr>
      </p:sp>
      <p:sp>
        <p:nvSpPr>
          <p:cNvPr id="21" name="Text 19"/>
          <p:cNvSpPr/>
          <p:nvPr/>
        </p:nvSpPr>
        <p:spPr>
          <a:xfrm>
            <a:off x="7461504" y="2395728"/>
            <a:ext cx="2084832" cy="329184"/>
          </a:xfrm>
          <a:prstGeom prst="rect">
            <a:avLst/>
          </a:prstGeom>
          <a:noFill/>
          <a:ln/>
        </p:spPr>
        <p:txBody>
          <a:bodyPr wrap="square" lIns="0" tIns="0" rIns="0" bIns="0" rtlCol="0" anchor="ctr"/>
          <a:lstStyle/>
          <a:p>
            <a:pPr algn="ctr" indent="0" marL="0">
              <a:buNone/>
            </a:pPr>
            <a:r>
              <a:rPr lang="en-US" sz="1200" b="1" dirty="0">
                <a:solidFill>
                  <a:srgbClr val="F2A03D"/>
                </a:solidFill>
                <a:latin typeface="Cambria" pitchFamily="34" charset="0"/>
                <a:ea typeface="Cambria" pitchFamily="34" charset="-122"/>
                <a:cs typeface="Cambria" pitchFamily="34" charset="-120"/>
              </a:rPr>
              <a:t>THU</a:t>
            </a:r>
            <a:endParaRPr lang="en-US" sz="1200" dirty="0"/>
          </a:p>
        </p:txBody>
      </p:sp>
      <p:sp>
        <p:nvSpPr>
          <p:cNvPr id="22" name="Text 20"/>
          <p:cNvSpPr/>
          <p:nvPr/>
        </p:nvSpPr>
        <p:spPr>
          <a:xfrm>
            <a:off x="7534656" y="2743200"/>
            <a:ext cx="1938528"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Let the world in</a:t>
            </a:r>
            <a:endParaRPr lang="en-US" sz="1400" dirty="0"/>
          </a:p>
        </p:txBody>
      </p:sp>
      <p:sp>
        <p:nvSpPr>
          <p:cNvPr id="23" name="Text 21"/>
          <p:cNvSpPr/>
          <p:nvPr/>
        </p:nvSpPr>
        <p:spPr>
          <a:xfrm>
            <a:off x="7552944" y="3291840"/>
            <a:ext cx="1901952" cy="1188720"/>
          </a:xfrm>
          <a:prstGeom prst="rect">
            <a:avLst/>
          </a:prstGeom>
          <a:noFill/>
          <a:ln/>
        </p:spPr>
        <p:txBody>
          <a:bodyPr wrap="square" lIns="0" tIns="0" rIns="0" bIns="0" rtlCol="0" anchor="t"/>
          <a:lstStyle/>
          <a:p>
            <a:pPr algn="ctr" indent="0" marL="0">
              <a:lnSpc>
                <a:spcPts val="1300"/>
              </a:lnSpc>
              <a:buNone/>
            </a:pPr>
            <a:r>
              <a:rPr lang="en-US" sz="1000" dirty="0">
                <a:solidFill>
                  <a:srgbClr val="D8E6F2"/>
                </a:solidFill>
                <a:latin typeface="Calibri" pitchFamily="34" charset="0"/>
                <a:ea typeface="Calibri" pitchFamily="34" charset="-122"/>
                <a:cs typeface="Calibri" pitchFamily="34" charset="-120"/>
              </a:rPr>
              <a:t>services · DNS · ingress</a:t>
            </a:r>
            <a:endParaRPr lang="en-US" sz="1000" dirty="0"/>
          </a:p>
          <a:p>
            <a:pPr algn="ctr" indent="0" marL="0">
              <a:lnSpc>
                <a:spcPts val="1300"/>
              </a:lnSpc>
              <a:buNone/>
            </a:pPr>
            <a:r>
              <a:rPr lang="en-US" sz="1000" dirty="0">
                <a:solidFill>
                  <a:srgbClr val="D8E6F2"/>
                </a:solidFill>
                <a:latin typeface="Calibri" pitchFamily="34" charset="0"/>
                <a:ea typeface="Calibri" pitchFamily="34" charset="-122"/>
                <a:cs typeface="Calibri" pitchFamily="34" charset="-120"/>
              </a:rPr>
              <a:t>network policy</a:t>
            </a:r>
            <a:endParaRPr lang="en-US" sz="1000" dirty="0"/>
          </a:p>
        </p:txBody>
      </p:sp>
      <p:sp>
        <p:nvSpPr>
          <p:cNvPr id="24" name="Shape 22"/>
          <p:cNvSpPr/>
          <p:nvPr/>
        </p:nvSpPr>
        <p:spPr>
          <a:xfrm>
            <a:off x="9564624" y="3456432"/>
            <a:ext cx="137160" cy="0"/>
          </a:xfrm>
          <a:prstGeom prst="line">
            <a:avLst/>
          </a:prstGeom>
          <a:noFill/>
          <a:ln w="25400">
            <a:solidFill>
              <a:srgbClr val="F2A03D"/>
            </a:solidFill>
            <a:prstDash val="solid"/>
            <a:tailEnd type="triangle"/>
          </a:ln>
        </p:spPr>
      </p:sp>
      <p:sp>
        <p:nvSpPr>
          <p:cNvPr id="25" name="Shape 23"/>
          <p:cNvSpPr/>
          <p:nvPr/>
        </p:nvSpPr>
        <p:spPr>
          <a:xfrm>
            <a:off x="9720072" y="2286000"/>
            <a:ext cx="2084832" cy="2331720"/>
          </a:xfrm>
          <a:prstGeom prst="roundRect">
            <a:avLst>
              <a:gd name="adj" fmla="val 4386"/>
            </a:avLst>
          </a:prstGeom>
          <a:solidFill>
            <a:srgbClr val="1C7293"/>
          </a:solidFill>
          <a:ln w="12700">
            <a:solidFill>
              <a:srgbClr val="1C7293"/>
            </a:solidFill>
            <a:prstDash val="solid"/>
          </a:ln>
        </p:spPr>
      </p:sp>
      <p:sp>
        <p:nvSpPr>
          <p:cNvPr id="26" name="Text 24"/>
          <p:cNvSpPr/>
          <p:nvPr/>
        </p:nvSpPr>
        <p:spPr>
          <a:xfrm>
            <a:off x="9720072" y="2395728"/>
            <a:ext cx="2084832" cy="329184"/>
          </a:xfrm>
          <a:prstGeom prst="rect">
            <a:avLst/>
          </a:prstGeom>
          <a:noFill/>
          <a:ln/>
        </p:spPr>
        <p:txBody>
          <a:bodyPr wrap="square" lIns="0" tIns="0" rIns="0" bIns="0" rtlCol="0" anchor="ctr"/>
          <a:lstStyle/>
          <a:p>
            <a:pPr algn="ctr" indent="0" marL="0">
              <a:buNone/>
            </a:pPr>
            <a:r>
              <a:rPr lang="en-US" sz="1200" b="1" dirty="0">
                <a:solidFill>
                  <a:srgbClr val="F2A03D"/>
                </a:solidFill>
                <a:latin typeface="Cambria" pitchFamily="34" charset="0"/>
                <a:ea typeface="Cambria" pitchFamily="34" charset="-122"/>
                <a:cs typeface="Cambria" pitchFamily="34" charset="-120"/>
              </a:rPr>
              <a:t>FRI</a:t>
            </a:r>
            <a:endParaRPr lang="en-US" sz="1200" dirty="0"/>
          </a:p>
        </p:txBody>
      </p:sp>
      <p:sp>
        <p:nvSpPr>
          <p:cNvPr id="27" name="Text 25"/>
          <p:cNvSpPr/>
          <p:nvPr/>
        </p:nvSpPr>
        <p:spPr>
          <a:xfrm>
            <a:off x="9793224" y="2743200"/>
            <a:ext cx="1938528"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Run it</a:t>
            </a:r>
            <a:endParaRPr lang="en-US" sz="1400" dirty="0"/>
          </a:p>
        </p:txBody>
      </p:sp>
      <p:sp>
        <p:nvSpPr>
          <p:cNvPr id="28" name="Text 26"/>
          <p:cNvSpPr/>
          <p:nvPr/>
        </p:nvSpPr>
        <p:spPr>
          <a:xfrm>
            <a:off x="9811512" y="3291840"/>
            <a:ext cx="1901952" cy="1188720"/>
          </a:xfrm>
          <a:prstGeom prst="rect">
            <a:avLst/>
          </a:prstGeom>
          <a:noFill/>
          <a:ln/>
        </p:spPr>
        <p:txBody>
          <a:bodyPr wrap="square" lIns="0" tIns="0" rIns="0" bIns="0" rtlCol="0" anchor="t"/>
          <a:lstStyle/>
          <a:p>
            <a:pPr algn="ctr" indent="0" marL="0">
              <a:lnSpc>
                <a:spcPts val="1300"/>
              </a:lnSpc>
              <a:buNone/>
            </a:pPr>
            <a:r>
              <a:rPr lang="en-US" sz="1000" dirty="0">
                <a:solidFill>
                  <a:srgbClr val="D8E6F2"/>
                </a:solidFill>
                <a:latin typeface="Calibri" pitchFamily="34" charset="0"/>
                <a:ea typeface="Calibri" pitchFamily="34" charset="-122"/>
                <a:cs typeface="Calibri" pitchFamily="34" charset="-120"/>
              </a:rPr>
              <a:t>identity · packaging</a:t>
            </a:r>
            <a:endParaRPr lang="en-US" sz="1000" dirty="0"/>
          </a:p>
          <a:p>
            <a:pPr algn="ctr" indent="0" marL="0">
              <a:lnSpc>
                <a:spcPts val="1300"/>
              </a:lnSpc>
              <a:buNone/>
            </a:pPr>
            <a:r>
              <a:rPr lang="en-US" sz="1000" dirty="0">
                <a:solidFill>
                  <a:srgbClr val="D8E6F2"/>
                </a:solidFill>
                <a:latin typeface="Calibri" pitchFamily="34" charset="0"/>
                <a:ea typeface="Calibri" pitchFamily="34" charset="-122"/>
                <a:cs typeface="Calibri" pitchFamily="34" charset="-120"/>
              </a:rPr>
              <a:t>observability</a:t>
            </a:r>
            <a:endParaRPr lang="en-US" sz="1000" dirty="0"/>
          </a:p>
        </p:txBody>
      </p:sp>
      <p:sp>
        <p:nvSpPr>
          <p:cNvPr id="29" name="Shape 27"/>
          <p:cNvSpPr/>
          <p:nvPr/>
        </p:nvSpPr>
        <p:spPr>
          <a:xfrm>
            <a:off x="685800" y="4892040"/>
            <a:ext cx="10817352" cy="777240"/>
          </a:xfrm>
          <a:prstGeom prst="roundRect">
            <a:avLst>
              <a:gd name="adj" fmla="val 11765"/>
            </a:avLst>
          </a:prstGeom>
          <a:solidFill>
            <a:srgbClr val="12314F"/>
          </a:solidFill>
          <a:ln w="25400">
            <a:solidFill>
              <a:srgbClr val="F2A03D"/>
            </a:solidFill>
            <a:prstDash val="solid"/>
          </a:ln>
        </p:spPr>
      </p:sp>
      <p:sp>
        <p:nvSpPr>
          <p:cNvPr id="30" name="Text 28"/>
          <p:cNvSpPr/>
          <p:nvPr/>
        </p:nvSpPr>
        <p:spPr>
          <a:xfrm>
            <a:off x="777240" y="4892040"/>
            <a:ext cx="10634472" cy="777240"/>
          </a:xfrm>
          <a:prstGeom prst="rect">
            <a:avLst/>
          </a:prstGeom>
          <a:noFill/>
          <a:ln/>
        </p:spPr>
        <p:txBody>
          <a:bodyPr wrap="square" lIns="0" tIns="0" rIns="0" bIns="0" rtlCol="0" anchor="ctr"/>
          <a:lstStyle/>
          <a:p>
            <a:pPr algn="ctr" indent="0" marL="0">
              <a:buNone/>
            </a:pPr>
            <a:r>
              <a:rPr lang="en-US" sz="1300" b="1" dirty="0">
                <a:solidFill>
                  <a:srgbClr val="F2A03D"/>
                </a:solidFill>
                <a:latin typeface="Calibri" pitchFamily="34" charset="0"/>
                <a:ea typeface="Calibri" pitchFamily="34" charset="-122"/>
                <a:cs typeface="Calibri" pitchFamily="34" charset="-120"/>
              </a:rPr>
              <a:t>ONE application, extended every day. Nothing thrown away. The correlation ID you wrote on Monday is what finds the slow service on Friday.</a:t>
            </a:r>
            <a:endParaRPr lang="en-US" sz="1300" dirty="0"/>
          </a:p>
        </p:txBody>
      </p:sp>
      <p:sp>
        <p:nvSpPr>
          <p:cNvPr id="31" name="Text 29"/>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32" name="Text 30"/>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384048"/>
            <a:ext cx="1961388"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196138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END OF THE WEEK</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you built</a:t>
            </a:r>
            <a:endParaRPr lang="en-US" sz="3200" dirty="0"/>
          </a:p>
        </p:txBody>
      </p:sp>
      <p:sp>
        <p:nvSpPr>
          <p:cNvPr id="5" name="Text 3"/>
          <p:cNvSpPr/>
          <p:nvPr/>
        </p:nvSpPr>
        <p:spPr>
          <a:xfrm>
            <a:off x="566928" y="2103120"/>
            <a:ext cx="2524430" cy="1234440"/>
          </a:xfrm>
          <a:prstGeom prst="rect">
            <a:avLst/>
          </a:prstGeom>
          <a:noFill/>
          <a:ln/>
        </p:spPr>
        <p:txBody>
          <a:bodyPr wrap="square" lIns="0" tIns="0" rIns="0" bIns="0" rtlCol="0" anchor="ctr"/>
          <a:lstStyle/>
          <a:p>
            <a:pPr algn="ctr" indent="0" marL="0">
              <a:buNone/>
            </a:pPr>
            <a:r>
              <a:rPr lang="en-US" sz="5800" b="1" dirty="0">
                <a:solidFill>
                  <a:srgbClr val="1C7293"/>
                </a:solidFill>
                <a:latin typeface="Cambria" pitchFamily="34" charset="0"/>
                <a:ea typeface="Cambria" pitchFamily="34" charset="-122"/>
                <a:cs typeface="Cambria" pitchFamily="34" charset="-120"/>
              </a:rPr>
              <a:t>16</a:t>
            </a:r>
            <a:endParaRPr lang="en-US" sz="5800" dirty="0"/>
          </a:p>
        </p:txBody>
      </p:sp>
      <p:sp>
        <p:nvSpPr>
          <p:cNvPr id="6" name="Text 4"/>
          <p:cNvSpPr/>
          <p:nvPr/>
        </p:nvSpPr>
        <p:spPr>
          <a:xfrm>
            <a:off x="566928" y="3364992"/>
            <a:ext cx="252443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services, deployed,</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scaled, upgraded and</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recovered under load</a:t>
            </a:r>
            <a:endParaRPr lang="en-US" sz="1300" dirty="0"/>
          </a:p>
        </p:txBody>
      </p:sp>
      <p:sp>
        <p:nvSpPr>
          <p:cNvPr id="7" name="Text 5"/>
          <p:cNvSpPr/>
          <p:nvPr/>
        </p:nvSpPr>
        <p:spPr>
          <a:xfrm>
            <a:off x="3411398" y="2103120"/>
            <a:ext cx="2524430" cy="1234440"/>
          </a:xfrm>
          <a:prstGeom prst="rect">
            <a:avLst/>
          </a:prstGeom>
          <a:noFill/>
          <a:ln/>
        </p:spPr>
        <p:txBody>
          <a:bodyPr wrap="square" lIns="0" tIns="0" rIns="0" bIns="0" rtlCol="0" anchor="ctr"/>
          <a:lstStyle/>
          <a:p>
            <a:pPr algn="ctr" indent="0" marL="0">
              <a:buNone/>
            </a:pPr>
            <a:r>
              <a:rPr lang="en-US" sz="5800" b="1" dirty="0">
                <a:solidFill>
                  <a:srgbClr val="2E9E63"/>
                </a:solidFill>
                <a:latin typeface="Cambria" pitchFamily="34" charset="0"/>
                <a:ea typeface="Cambria" pitchFamily="34" charset="-122"/>
                <a:cs typeface="Cambria" pitchFamily="34" charset="-120"/>
              </a:rPr>
              <a:t>0</a:t>
            </a:r>
            <a:endParaRPr lang="en-US" sz="5800" dirty="0"/>
          </a:p>
        </p:txBody>
      </p:sp>
      <p:sp>
        <p:nvSpPr>
          <p:cNvPr id="8" name="Text 6"/>
          <p:cNvSpPr/>
          <p:nvPr/>
        </p:nvSpPr>
        <p:spPr>
          <a:xfrm>
            <a:off x="3411398" y="3364992"/>
            <a:ext cx="252443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payments lost across</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a rolling upgrade with</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three injected faults</a:t>
            </a:r>
            <a:endParaRPr lang="en-US" sz="1300" dirty="0"/>
          </a:p>
        </p:txBody>
      </p:sp>
      <p:sp>
        <p:nvSpPr>
          <p:cNvPr id="9" name="Text 7"/>
          <p:cNvSpPr/>
          <p:nvPr/>
        </p:nvSpPr>
        <p:spPr>
          <a:xfrm>
            <a:off x="6255868" y="2103120"/>
            <a:ext cx="2524430" cy="1234440"/>
          </a:xfrm>
          <a:prstGeom prst="rect">
            <a:avLst/>
          </a:prstGeom>
          <a:noFill/>
          <a:ln/>
        </p:spPr>
        <p:txBody>
          <a:bodyPr wrap="square" lIns="0" tIns="0" rIns="0" bIns="0" rtlCol="0" anchor="ctr"/>
          <a:lstStyle/>
          <a:p>
            <a:pPr algn="ctr" indent="0" marL="0">
              <a:buNone/>
            </a:pPr>
            <a:r>
              <a:rPr lang="en-US" sz="5800" b="1" dirty="0">
                <a:solidFill>
                  <a:srgbClr val="F2A03D"/>
                </a:solidFill>
                <a:latin typeface="Cambria" pitchFamily="34" charset="0"/>
                <a:ea typeface="Cambria" pitchFamily="34" charset="-122"/>
                <a:cs typeface="Cambria" pitchFamily="34" charset="-120"/>
              </a:rPr>
              <a:t>9</a:t>
            </a:r>
            <a:endParaRPr lang="en-US" sz="5800" dirty="0"/>
          </a:p>
        </p:txBody>
      </p:sp>
      <p:sp>
        <p:nvSpPr>
          <p:cNvPr id="10" name="Text 8"/>
          <p:cNvSpPr/>
          <p:nvPr/>
        </p:nvSpPr>
        <p:spPr>
          <a:xfrm>
            <a:off x="6255868" y="3364992"/>
            <a:ext cx="252443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alerts that fire on</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symptoms a merchant</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would actually feel</a:t>
            </a:r>
            <a:endParaRPr lang="en-US" sz="1300" dirty="0"/>
          </a:p>
        </p:txBody>
      </p:sp>
      <p:sp>
        <p:nvSpPr>
          <p:cNvPr id="11" name="Text 9"/>
          <p:cNvSpPr/>
          <p:nvPr/>
        </p:nvSpPr>
        <p:spPr>
          <a:xfrm>
            <a:off x="9100337" y="2103120"/>
            <a:ext cx="2524430" cy="1234440"/>
          </a:xfrm>
          <a:prstGeom prst="rect">
            <a:avLst/>
          </a:prstGeom>
          <a:noFill/>
          <a:ln/>
        </p:spPr>
        <p:txBody>
          <a:bodyPr wrap="square" lIns="0" tIns="0" rIns="0" bIns="0" rtlCol="0" anchor="ctr"/>
          <a:lstStyle/>
          <a:p>
            <a:pPr algn="ctr" indent="0" marL="0">
              <a:buNone/>
            </a:pPr>
            <a:r>
              <a:rPr lang="en-US" sz="5800" b="1" dirty="0">
                <a:solidFill>
                  <a:srgbClr val="8E6FBF"/>
                </a:solidFill>
                <a:latin typeface="Cambria" pitchFamily="34" charset="0"/>
                <a:ea typeface="Cambria" pitchFamily="34" charset="-122"/>
                <a:cs typeface="Cambria" pitchFamily="34" charset="-120"/>
              </a:rPr>
              <a:t>1</a:t>
            </a:r>
            <a:endParaRPr lang="en-US" sz="5800" dirty="0"/>
          </a:p>
        </p:txBody>
      </p:sp>
      <p:sp>
        <p:nvSpPr>
          <p:cNvPr id="12" name="Text 10"/>
          <p:cNvSpPr/>
          <p:nvPr/>
        </p:nvSpPr>
        <p:spPr>
          <a:xfrm>
            <a:off x="9100337" y="3364992"/>
            <a:ext cx="2524430" cy="868680"/>
          </a:xfrm>
          <a:prstGeom prst="rect">
            <a:avLst/>
          </a:prstGeom>
          <a:noFill/>
          <a:ln/>
        </p:spPr>
        <p:txBody>
          <a:bodyPr wrap="square" lIns="0" tIns="0" rIns="0" bIns="0" rtlCol="0" anchor="ctr"/>
          <a:lstStyle/>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command installs the</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entire platform on</a:t>
            </a:r>
            <a:endParaRPr lang="en-US" sz="1300" dirty="0"/>
          </a:p>
          <a:p>
            <a:pPr algn="ctr" indent="0" marL="0">
              <a:lnSpc>
                <a:spcPts val="1700"/>
              </a:lnSpc>
              <a:buNone/>
            </a:pPr>
            <a:r>
              <a:rPr lang="en-US" sz="1300" dirty="0">
                <a:solidFill>
                  <a:srgbClr val="D8E6F2"/>
                </a:solidFill>
                <a:latin typeface="Calibri" pitchFamily="34" charset="0"/>
                <a:ea typeface="Calibri" pitchFamily="34" charset="-122"/>
                <a:cs typeface="Calibri" pitchFamily="34" charset="-120"/>
              </a:rPr>
              <a:t>any cluster</a:t>
            </a:r>
            <a:endParaRPr lang="en-US" sz="1300" dirty="0"/>
          </a:p>
        </p:txBody>
      </p:sp>
      <p:sp>
        <p:nvSpPr>
          <p:cNvPr id="13" name="Text 11"/>
          <p:cNvSpPr/>
          <p:nvPr/>
        </p:nvSpPr>
        <p:spPr>
          <a:xfrm>
            <a:off x="566928" y="5486400"/>
            <a:ext cx="11057839" cy="548640"/>
          </a:xfrm>
          <a:prstGeom prst="rect">
            <a:avLst/>
          </a:prstGeom>
          <a:noFill/>
          <a:ln/>
        </p:spPr>
        <p:txBody>
          <a:bodyPr wrap="square" lIns="0" tIns="0" rIns="0" bIns="0" rtlCol="0" anchor="ctr"/>
          <a:lstStyle/>
          <a:p>
            <a:pPr algn="ctr" indent="0" marL="0">
              <a:buNone/>
            </a:pPr>
            <a:r>
              <a:rPr lang="en-US" sz="1400" i="1" dirty="0">
                <a:solidFill>
                  <a:srgbClr val="FFFFFF"/>
                </a:solidFill>
                <a:latin typeface="Calibri" pitchFamily="34" charset="0"/>
                <a:ea typeface="Calibri" pitchFamily="34" charset="-122"/>
                <a:cs typeface="Calibri" pitchFamily="34" charset="-120"/>
              </a:rPr>
              <a:t>The ledger balances to zero. Through an upgrade, three incidents and 110 minutes under pressure, the money still adds up.</a:t>
            </a:r>
            <a:endParaRPr lang="en-US" sz="1400" dirty="0"/>
          </a:p>
        </p:txBody>
      </p:sp>
      <p:sp>
        <p:nvSpPr>
          <p:cNvPr id="14" name="Text 12"/>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15" name="Text 13"/>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566928" y="384048"/>
            <a:ext cx="2066544" cy="292608"/>
          </a:xfrm>
          <a:prstGeom prst="roundRect">
            <a:avLst>
              <a:gd name="adj" fmla="val 50000"/>
            </a:avLst>
          </a:prstGeom>
          <a:solidFill>
            <a:srgbClr val="1C7293"/>
          </a:solidFill>
          <a:ln w="12700">
            <a:solidFill>
              <a:srgbClr val="1C7293"/>
            </a:solidFill>
            <a:prstDash val="solid"/>
          </a:ln>
        </p:spPr>
      </p:sp>
      <p:sp>
        <p:nvSpPr>
          <p:cNvPr id="3" name="Text 1"/>
          <p:cNvSpPr/>
          <p:nvPr/>
        </p:nvSpPr>
        <p:spPr>
          <a:xfrm>
            <a:off x="566928" y="384048"/>
            <a:ext cx="2066544"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WHERE TO GO NEXT</a:t>
            </a:r>
            <a:endParaRPr lang="en-US" sz="1100" dirty="0"/>
          </a:p>
        </p:txBody>
      </p:sp>
      <p:sp>
        <p:nvSpPr>
          <p:cNvPr id="4" name="Text 2"/>
          <p:cNvSpPr/>
          <p:nvPr/>
        </p:nvSpPr>
        <p:spPr>
          <a:xfrm>
            <a:off x="566928" y="841248"/>
            <a:ext cx="11057839" cy="777240"/>
          </a:xfrm>
          <a:prstGeom prst="rect">
            <a:avLst/>
          </a:prstGeom>
          <a:noFill/>
          <a:ln/>
        </p:spPr>
        <p:txBody>
          <a:bodyPr wrap="square" lIns="0" tIns="0" rIns="0" bIns="0" rtlCol="0" anchor="ctr"/>
          <a:lstStyle/>
          <a:p>
            <a:pPr indent="0" marL="0">
              <a:buNone/>
            </a:pPr>
            <a:r>
              <a:rPr lang="en-US" sz="3200" b="1" dirty="0">
                <a:solidFill>
                  <a:srgbClr val="0B1F3A"/>
                </a:solidFill>
                <a:latin typeface="Cambria" pitchFamily="34" charset="0"/>
                <a:ea typeface="Cambria" pitchFamily="34" charset="-122"/>
                <a:cs typeface="Cambria" pitchFamily="34" charset="-120"/>
              </a:rPr>
              <a:t>The honest list of what this course did not cover</a:t>
            </a:r>
            <a:endParaRPr lang="en-US" sz="3200" dirty="0"/>
          </a:p>
        </p:txBody>
      </p:sp>
      <p:sp>
        <p:nvSpPr>
          <p:cNvPr id="5" name="Text 3"/>
          <p:cNvSpPr/>
          <p:nvPr/>
        </p:nvSpPr>
        <p:spPr>
          <a:xfrm>
            <a:off x="566928" y="1783080"/>
            <a:ext cx="11057839" cy="548640"/>
          </a:xfrm>
          <a:prstGeom prst="rect">
            <a:avLst/>
          </a:prstGeom>
          <a:noFill/>
          <a:ln/>
        </p:spPr>
        <p:txBody>
          <a:bodyPr wrap="square" lIns="0" tIns="0" rIns="0" bIns="0" rtlCol="0" anchor="ctr"/>
          <a:lstStyle/>
          <a:p>
            <a:pPr indent="0" marL="0">
              <a:buNone/>
            </a:pPr>
            <a:r>
              <a:rPr lang="en-US" sz="1600" i="1" dirty="0">
                <a:solidFill>
                  <a:srgbClr val="1C7293"/>
                </a:solidFill>
                <a:latin typeface="Calibri" pitchFamily="34" charset="0"/>
                <a:ea typeface="Calibri" pitchFamily="34" charset="-122"/>
                <a:cs typeface="Calibri" pitchFamily="34" charset="-120"/>
              </a:rPr>
              <a:t>Five days is not enough for Kubernetes. Here is what to learn next, in the order it will matter.</a:t>
            </a:r>
            <a:endParaRPr lang="en-US" sz="1600" dirty="0"/>
          </a:p>
        </p:txBody>
      </p:sp>
      <p:sp>
        <p:nvSpPr>
          <p:cNvPr id="6" name="Text 4"/>
          <p:cNvSpPr/>
          <p:nvPr/>
        </p:nvSpPr>
        <p:spPr>
          <a:xfrm>
            <a:off x="640080" y="2441448"/>
            <a:ext cx="10966399" cy="3502152"/>
          </a:xfrm>
          <a:prstGeom prst="rect">
            <a:avLst/>
          </a:prstGeom>
          <a:noFill/>
          <a:ln/>
        </p:spPr>
        <p:txBody>
          <a:bodyPr wrap="square" lIns="0" tIns="0" rIns="0" bIns="0" rtlCol="0" anchor="ctr"/>
          <a:lstStyle/>
          <a:p>
            <a:pPr marL="342900" indent="-342900">
              <a:spcAft>
                <a:spcPts val="1000"/>
              </a:spcAft>
              <a:buSzPct val="100000"/>
              <a:buChar char="•"/>
            </a:pPr>
            <a:r>
              <a:rPr lang="en-US" sz="1500" dirty="0">
                <a:solidFill>
                  <a:srgbClr val="16232F"/>
                </a:solidFill>
                <a:latin typeface="Calibri" pitchFamily="34" charset="0"/>
                <a:ea typeface="Calibri" pitchFamily="34" charset="-122"/>
                <a:cs typeface="Calibri" pitchFamily="34" charset="-120"/>
              </a:rPr>
              <a:t>GitOps — ArgoCD or Flux. You applied changes by hand all week; production should apply them from a repository.</a:t>
            </a:r>
            <a:endParaRPr lang="en-US" sz="1500" dirty="0"/>
          </a:p>
          <a:p>
            <a:pPr marL="342900" indent="-342900">
              <a:spcAft>
                <a:spcPts val="1000"/>
              </a:spcAft>
              <a:buSzPct val="100000"/>
              <a:buChar char="•"/>
            </a:pPr>
            <a:r>
              <a:rPr lang="en-US" sz="1500" dirty="0">
                <a:solidFill>
                  <a:srgbClr val="16232F"/>
                </a:solidFill>
                <a:latin typeface="Calibri" pitchFamily="34" charset="0"/>
                <a:ea typeface="Calibri" pitchFamily="34" charset="-122"/>
                <a:cs typeface="Calibri" pitchFamily="34" charset="-120"/>
              </a:rPr>
              <a:t>Operators and CRDs — you consumed ServiceMonitor and PrometheusRule. Writing one teaches you what a controller really is.</a:t>
            </a:r>
            <a:endParaRPr lang="en-US" sz="1500" dirty="0"/>
          </a:p>
          <a:p>
            <a:pPr marL="342900" indent="-342900">
              <a:spcAft>
                <a:spcPts val="1000"/>
              </a:spcAft>
              <a:buSzPct val="100000"/>
              <a:buChar char="•"/>
            </a:pPr>
            <a:r>
              <a:rPr lang="en-US" sz="1500" dirty="0">
                <a:solidFill>
                  <a:srgbClr val="16232F"/>
                </a:solidFill>
                <a:latin typeface="Calibri" pitchFamily="34" charset="0"/>
                <a:ea typeface="Calibri" pitchFamily="34" charset="-122"/>
                <a:cs typeface="Calibri" pitchFamily="34" charset="-120"/>
              </a:rPr>
              <a:t>Multi-cluster and DR — everything here was one cluster. Failover is a different discipline.</a:t>
            </a:r>
            <a:endParaRPr lang="en-US" sz="1500" dirty="0"/>
          </a:p>
          <a:p>
            <a:pPr marL="342900" indent="-342900">
              <a:spcAft>
                <a:spcPts val="1000"/>
              </a:spcAft>
              <a:buSzPct val="100000"/>
              <a:buChar char="•"/>
            </a:pPr>
            <a:r>
              <a:rPr lang="en-US" sz="1500" dirty="0">
                <a:solidFill>
                  <a:srgbClr val="16232F"/>
                </a:solidFill>
                <a:latin typeface="Calibri" pitchFamily="34" charset="0"/>
                <a:ea typeface="Calibri" pitchFamily="34" charset="-122"/>
                <a:cs typeface="Calibri" pitchFamily="34" charset="-120"/>
              </a:rPr>
              <a:t>Service mesh — mTLS between services, and an honest look at whether the complexity is worth it for your platform.</a:t>
            </a:r>
            <a:endParaRPr lang="en-US" sz="1500" dirty="0"/>
          </a:p>
          <a:p>
            <a:pPr marL="342900" indent="-342900">
              <a:spcAft>
                <a:spcPts val="1000"/>
              </a:spcAft>
              <a:buSzPct val="100000"/>
              <a:buChar char="•"/>
            </a:pPr>
            <a:r>
              <a:rPr lang="en-US" sz="1500" dirty="0">
                <a:solidFill>
                  <a:srgbClr val="16232F"/>
                </a:solidFill>
                <a:latin typeface="Calibri" pitchFamily="34" charset="0"/>
                <a:ea typeface="Calibri" pitchFamily="34" charset="-122"/>
                <a:cs typeface="Calibri" pitchFamily="34" charset="-120"/>
              </a:rPr>
              <a:t>Cost — requests you never revisit are money you spend forever. Nothing in this course measured it.</a:t>
            </a:r>
            <a:endParaRPr lang="en-US" sz="1500" dirty="0"/>
          </a:p>
          <a:p>
            <a:pPr marL="342900" indent="-342900">
              <a:spcAft>
                <a:spcPts val="1000"/>
              </a:spcAft>
              <a:buSzPct val="100000"/>
              <a:buChar char="•"/>
            </a:pPr>
            <a:r>
              <a:rPr lang="en-US" sz="1500" dirty="0">
                <a:solidFill>
                  <a:srgbClr val="16232F"/>
                </a:solidFill>
                <a:latin typeface="Calibri" pitchFamily="34" charset="0"/>
                <a:ea typeface="Calibri" pitchFamily="34" charset="-122"/>
                <a:cs typeface="Calibri" pitchFamily="34" charset="-120"/>
              </a:rPr>
              <a:t>The CKA and CKAD exams — you have covered most of the CKAD syllabus and a good part of the CKA.</a:t>
            </a:r>
            <a:endParaRPr lang="en-US" sz="1500" dirty="0"/>
          </a:p>
        </p:txBody>
      </p:sp>
      <p:sp>
        <p:nvSpPr>
          <p:cNvPr id="7" name="Text 5"/>
          <p:cNvSpPr/>
          <p:nvPr/>
        </p:nvSpPr>
        <p:spPr>
          <a:xfrm>
            <a:off x="566928" y="6437376"/>
            <a:ext cx="7315200" cy="274320"/>
          </a:xfrm>
          <a:prstGeom prst="rect">
            <a:avLst/>
          </a:prstGeom>
          <a:noFill/>
          <a:ln/>
        </p:spPr>
        <p:txBody>
          <a:bodyPr wrap="square" lIns="0" tIns="0" rIns="0" bIns="0" rtlCol="0" anchor="ctr"/>
          <a:lstStyle/>
          <a:p>
            <a:pPr indent="0" marL="0">
              <a:buNone/>
            </a:pPr>
            <a:r>
              <a:rPr lang="en-US" sz="900" dirty="0">
                <a:solidFill>
                  <a:srgbClr val="63758B"/>
                </a:solidFill>
                <a:latin typeface="Calibri" pitchFamily="34" charset="0"/>
                <a:ea typeface="Calibri" pitchFamily="34" charset="-122"/>
                <a:cs typeface="Calibri" pitchFamily="34" charset="-120"/>
              </a:rPr>
              <a:t>AxisPay · Kubernetes Comprehensive · Day 5</a:t>
            </a:r>
            <a:endParaRPr lang="en-US" sz="900" dirty="0"/>
          </a:p>
        </p:txBody>
      </p:sp>
      <p:sp>
        <p:nvSpPr>
          <p:cNvPr id="8" name="Text 6"/>
          <p:cNvSpPr/>
          <p:nvPr/>
        </p:nvSpPr>
        <p:spPr>
          <a:xfrm>
            <a:off x="10984687" y="6437376"/>
            <a:ext cx="640080" cy="274320"/>
          </a:xfrm>
          <a:prstGeom prst="rect">
            <a:avLst/>
          </a:prstGeom>
          <a:noFill/>
          <a:ln/>
        </p:spPr>
        <p:txBody>
          <a:bodyPr wrap="square" lIns="0" tIns="0" rIns="0" bIns="0" rtlCol="0" anchor="ctr"/>
          <a:lstStyle/>
          <a:p>
            <a:pPr algn="r" indent="0" marL="0">
              <a:buNone/>
            </a:pPr>
            <a:r>
              <a:rPr lang="en-US" sz="900" dirty="0">
                <a:solidFill>
                  <a:srgbClr val="63758B"/>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Axis Financial Services (fictional)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AxisPay Kubernetes Comprehensive — Day 5</dc:title>
  <dc:subject>Security, Packaging, Observability and Production Operations</dc:subject>
  <dc:creator>AxisPay Curriculum Team</dc:creator>
  <cp:lastModifiedBy>AxisPay Curriculum Team</cp:lastModifiedBy>
  <cp:revision>1</cp:revision>
  <dcterms:created xsi:type="dcterms:W3CDTF">2026-08-10T23:31:06Z</dcterms:created>
  <dcterms:modified xsi:type="dcterms:W3CDTF">2026-08-10T23:31:06Z</dcterms:modified>
</cp:coreProperties>
</file>